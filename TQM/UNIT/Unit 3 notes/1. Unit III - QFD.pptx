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5"/>
  </p:notesMasterIdLst>
  <p:sldIdLst>
    <p:sldId id="264" r:id="rId5"/>
    <p:sldId id="687" r:id="rId6"/>
    <p:sldId id="1167" r:id="rId7"/>
    <p:sldId id="1168" r:id="rId8"/>
    <p:sldId id="1169" r:id="rId9"/>
    <p:sldId id="1170" r:id="rId10"/>
    <p:sldId id="1175" r:id="rId11"/>
    <p:sldId id="1171" r:id="rId12"/>
    <p:sldId id="1172" r:id="rId13"/>
    <p:sldId id="1173" r:id="rId14"/>
    <p:sldId id="1174" r:id="rId15"/>
    <p:sldId id="1176" r:id="rId16"/>
    <p:sldId id="1177" r:id="rId17"/>
    <p:sldId id="1178" r:id="rId18"/>
    <p:sldId id="1179" r:id="rId19"/>
    <p:sldId id="1180" r:id="rId20"/>
    <p:sldId id="1181" r:id="rId21"/>
    <p:sldId id="1182" r:id="rId22"/>
    <p:sldId id="1183" r:id="rId23"/>
    <p:sldId id="1184" r:id="rId24"/>
    <p:sldId id="1185" r:id="rId25"/>
    <p:sldId id="1186" r:id="rId26"/>
    <p:sldId id="1187" r:id="rId27"/>
    <p:sldId id="1188" r:id="rId28"/>
    <p:sldId id="1189" r:id="rId29"/>
    <p:sldId id="1190" r:id="rId30"/>
    <p:sldId id="1191" r:id="rId31"/>
    <p:sldId id="1193" r:id="rId32"/>
    <p:sldId id="1192" r:id="rId33"/>
    <p:sldId id="1166"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thish Kumar M - [Mechanical], Amrita Vishwa Vidyapeetham." initials="SKM[AVV" lastIdx="1" clrIdx="0">
    <p:extLst>
      <p:ext uri="{19B8F6BF-5375-455C-9EA6-DF929625EA0E}">
        <p15:presenceInfo xmlns:p15="http://schemas.microsoft.com/office/powerpoint/2012/main" userId="Sathish Kumar M - [Mechanical], Amrita Vishwa Vidyapeetham."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29" autoAdjust="0"/>
    <p:restoredTop sz="94061" autoAdjust="0"/>
  </p:normalViewPr>
  <p:slideViewPr>
    <p:cSldViewPr snapToGrid="0">
      <p:cViewPr varScale="1">
        <p:scale>
          <a:sx n="77" d="100"/>
          <a:sy n="77" d="100"/>
        </p:scale>
        <p:origin x="787" y="58"/>
      </p:cViewPr>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57318B-7A8A-4299-AEA3-1411F41B9684}" type="datetimeFigureOut">
              <a:rPr lang="en-GB" smtClean="0"/>
              <a:t>11/09/2024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B0EE7F-DECD-4B61-B42D-8BCEBAEC89FD}" type="slidenum">
              <a:rPr lang="en-GB" smtClean="0"/>
              <a:t>‹#›</a:t>
            </a:fld>
            <a:endParaRPr lang="en-GB"/>
          </a:p>
        </p:txBody>
      </p:sp>
    </p:spTree>
    <p:extLst>
      <p:ext uri="{BB962C8B-B14F-4D97-AF65-F5344CB8AC3E}">
        <p14:creationId xmlns:p14="http://schemas.microsoft.com/office/powerpoint/2010/main" val="4257216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BB0EE7F-DECD-4B61-B42D-8BCEBAEC89FD}" type="slidenum">
              <a:rPr lang="en-GB" smtClean="0"/>
              <a:t>1</a:t>
            </a:fld>
            <a:endParaRPr lang="en-GB"/>
          </a:p>
        </p:txBody>
      </p:sp>
    </p:spTree>
    <p:extLst>
      <p:ext uri="{BB962C8B-B14F-4D97-AF65-F5344CB8AC3E}">
        <p14:creationId xmlns:p14="http://schemas.microsoft.com/office/powerpoint/2010/main" val="1299181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https://theinvestorsbook.com/quality-function-deployment-qfd.html</a:t>
            </a:r>
          </a:p>
        </p:txBody>
      </p:sp>
      <p:sp>
        <p:nvSpPr>
          <p:cNvPr id="4" name="Slide Number Placeholder 3"/>
          <p:cNvSpPr>
            <a:spLocks noGrp="1"/>
          </p:cNvSpPr>
          <p:nvPr>
            <p:ph type="sldNum" sz="quarter" idx="5"/>
          </p:nvPr>
        </p:nvSpPr>
        <p:spPr/>
        <p:txBody>
          <a:bodyPr/>
          <a:lstStyle/>
          <a:p>
            <a:fld id="{1BB0EE7F-DECD-4B61-B42D-8BCEBAEC89FD}" type="slidenum">
              <a:rPr lang="en-GB" smtClean="0"/>
              <a:t>28</a:t>
            </a:fld>
            <a:endParaRPr lang="en-GB"/>
          </a:p>
        </p:txBody>
      </p:sp>
    </p:spTree>
    <p:extLst>
      <p:ext uri="{BB962C8B-B14F-4D97-AF65-F5344CB8AC3E}">
        <p14:creationId xmlns:p14="http://schemas.microsoft.com/office/powerpoint/2010/main" val="34693452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normAutofit/>
          </a:bodyPr>
          <a:lstStyle>
            <a:lvl1pPr algn="ctr">
              <a:defRPr sz="5400">
                <a:latin typeface="Arial" panose="020B0604020202020204" pitchFamily="34" charset="0"/>
                <a:cs typeface="Arial" panose="020B0604020202020204" pitchFamily="34" charset="0"/>
              </a:defRPr>
            </a:lvl1pPr>
          </a:lstStyle>
          <a:p>
            <a:r>
              <a:rPr lang="en-US"/>
              <a:t>Click to edit Master title style</a:t>
            </a:r>
            <a:endParaRPr lang="en-IN"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Tree>
    <p:extLst>
      <p:ext uri="{BB962C8B-B14F-4D97-AF65-F5344CB8AC3E}">
        <p14:creationId xmlns:p14="http://schemas.microsoft.com/office/powerpoint/2010/main" val="232548669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024872" cy="897144"/>
          </a:xfrm>
          <a:solidFill>
            <a:srgbClr val="AF1D4A"/>
          </a:solidFill>
        </p:spPr>
        <p:txBody>
          <a:bodyPr/>
          <a:lstStyle>
            <a:lvl1pPr>
              <a:defRPr>
                <a:solidFill>
                  <a:schemeClr val="bg1"/>
                </a:solidFill>
                <a:latin typeface="Arial" panose="020B0604020202020204" pitchFamily="34" charset="0"/>
                <a:cs typeface="Arial" panose="020B0604020202020204" pitchFamily="34" charset="0"/>
              </a:defRPr>
            </a:lvl1pPr>
          </a:lstStyle>
          <a:p>
            <a:r>
              <a:rPr lang="en-US" dirty="0"/>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pic>
        <p:nvPicPr>
          <p:cNvPr id="5" name="Picture 4" descr="A close up of a logo&#10;&#10;Description automatically generated">
            <a:extLst>
              <a:ext uri="{FF2B5EF4-FFF2-40B4-BE49-F238E27FC236}">
                <a16:creationId xmlns:a16="http://schemas.microsoft.com/office/drawing/2014/main" id="{DAF3D3DE-4523-4272-BE59-8D2437F5816D}"/>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682" t="34695" r="4058" b="31278"/>
          <a:stretch/>
        </p:blipFill>
        <p:spPr>
          <a:xfrm>
            <a:off x="8896016" y="5953539"/>
            <a:ext cx="1967056" cy="655982"/>
          </a:xfrm>
          <a:prstGeom prst="rect">
            <a:avLst/>
          </a:prstGeom>
        </p:spPr>
      </p:pic>
    </p:spTree>
    <p:extLst>
      <p:ext uri="{BB962C8B-B14F-4D97-AF65-F5344CB8AC3E}">
        <p14:creationId xmlns:p14="http://schemas.microsoft.com/office/powerpoint/2010/main" val="16687940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normAutofit/>
          </a:bodyPr>
          <a:lstStyle>
            <a:lvl1pPr>
              <a:defRPr sz="5400">
                <a:latin typeface="Arial" panose="020B0604020202020204" pitchFamily="34" charset="0"/>
                <a:cs typeface="Arial" panose="020B0604020202020204" pitchFamily="34" charset="0"/>
              </a:defRPr>
            </a:lvl1pPr>
          </a:lstStyle>
          <a:p>
            <a:r>
              <a:rPr lang="en-US"/>
              <a:t>Click to edit Master title style</a:t>
            </a:r>
            <a:endParaRPr lang="en-IN"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50924368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980660" y="1825625"/>
            <a:ext cx="5039139" cy="39987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039139" cy="39987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pic>
        <p:nvPicPr>
          <p:cNvPr id="6" name="Picture 5" descr="A close up of a logo&#10;&#10;Description automatically generated">
            <a:extLst>
              <a:ext uri="{FF2B5EF4-FFF2-40B4-BE49-F238E27FC236}">
                <a16:creationId xmlns:a16="http://schemas.microsoft.com/office/drawing/2014/main" id="{7C636576-C435-4227-AE32-FBC777B3BDED}"/>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682" t="34695" r="4058" b="31278"/>
          <a:stretch/>
        </p:blipFill>
        <p:spPr>
          <a:xfrm>
            <a:off x="8896016" y="5953539"/>
            <a:ext cx="1939624" cy="655982"/>
          </a:xfrm>
          <a:prstGeom prst="rect">
            <a:avLst/>
          </a:prstGeom>
        </p:spPr>
      </p:pic>
      <p:sp>
        <p:nvSpPr>
          <p:cNvPr id="8" name="Title 1">
            <a:extLst>
              <a:ext uri="{FF2B5EF4-FFF2-40B4-BE49-F238E27FC236}">
                <a16:creationId xmlns:a16="http://schemas.microsoft.com/office/drawing/2014/main" id="{80076A84-695B-4D81-B65B-036D08E10D12}"/>
              </a:ext>
            </a:extLst>
          </p:cNvPr>
          <p:cNvSpPr>
            <a:spLocks noGrp="1"/>
          </p:cNvSpPr>
          <p:nvPr>
            <p:ph type="title"/>
          </p:nvPr>
        </p:nvSpPr>
        <p:spPr>
          <a:xfrm>
            <a:off x="838200" y="365126"/>
            <a:ext cx="9997440" cy="897144"/>
          </a:xfrm>
          <a:solidFill>
            <a:srgbClr val="AF1D4A"/>
          </a:solidFill>
        </p:spPr>
        <p:txBody>
          <a:bodyPr/>
          <a:lstStyle>
            <a:lvl1pPr>
              <a:defRPr>
                <a:solidFill>
                  <a:schemeClr val="bg1"/>
                </a:solidFill>
                <a:latin typeface="Arial" panose="020B0604020202020204" pitchFamily="34" charset="0"/>
                <a:cs typeface="Arial" panose="020B0604020202020204" pitchFamily="34" charset="0"/>
              </a:defRPr>
            </a:lvl1pPr>
          </a:lstStyle>
          <a:p>
            <a:r>
              <a:rPr lang="en-US" dirty="0"/>
              <a:t>Click to edit Master title style</a:t>
            </a:r>
            <a:endParaRPr lang="en-IN" dirty="0"/>
          </a:p>
        </p:txBody>
      </p:sp>
    </p:spTree>
    <p:extLst>
      <p:ext uri="{BB962C8B-B14F-4D97-AF65-F5344CB8AC3E}">
        <p14:creationId xmlns:p14="http://schemas.microsoft.com/office/powerpoint/2010/main" val="227191062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978314" y="1681163"/>
            <a:ext cx="501926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78314" y="2505075"/>
            <a:ext cx="5019261" cy="33291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01926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019261" cy="33291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pic>
        <p:nvPicPr>
          <p:cNvPr id="8" name="Picture 7" descr="A close up of a logo&#10;&#10;Description automatically generated">
            <a:extLst>
              <a:ext uri="{FF2B5EF4-FFF2-40B4-BE49-F238E27FC236}">
                <a16:creationId xmlns:a16="http://schemas.microsoft.com/office/drawing/2014/main" id="{C9ECDAE0-0A74-4D72-8A95-D1CE68BB8C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682" t="34695" r="4058" b="31278"/>
          <a:stretch/>
        </p:blipFill>
        <p:spPr>
          <a:xfrm>
            <a:off x="8733677" y="6002200"/>
            <a:ext cx="2120251" cy="655982"/>
          </a:xfrm>
          <a:prstGeom prst="rect">
            <a:avLst/>
          </a:prstGeom>
        </p:spPr>
      </p:pic>
      <p:sp>
        <p:nvSpPr>
          <p:cNvPr id="10" name="Title 1">
            <a:extLst>
              <a:ext uri="{FF2B5EF4-FFF2-40B4-BE49-F238E27FC236}">
                <a16:creationId xmlns:a16="http://schemas.microsoft.com/office/drawing/2014/main" id="{92D40324-116D-46BF-A0D8-ACBB1FA58BAE}"/>
              </a:ext>
            </a:extLst>
          </p:cNvPr>
          <p:cNvSpPr>
            <a:spLocks noGrp="1"/>
          </p:cNvSpPr>
          <p:nvPr>
            <p:ph type="title"/>
          </p:nvPr>
        </p:nvSpPr>
        <p:spPr>
          <a:xfrm>
            <a:off x="838200" y="365126"/>
            <a:ext cx="10015728" cy="897144"/>
          </a:xfrm>
          <a:solidFill>
            <a:srgbClr val="AF1D4A"/>
          </a:solidFill>
        </p:spPr>
        <p:txBody>
          <a:bodyPr/>
          <a:lstStyle>
            <a:lvl1pPr>
              <a:defRPr>
                <a:solidFill>
                  <a:schemeClr val="bg1"/>
                </a:solidFill>
                <a:latin typeface="Arial" panose="020B0604020202020204" pitchFamily="34" charset="0"/>
                <a:cs typeface="Arial" panose="020B0604020202020204" pitchFamily="34" charset="0"/>
              </a:defRPr>
            </a:lvl1pPr>
          </a:lstStyle>
          <a:p>
            <a:r>
              <a:rPr lang="en-US" dirty="0"/>
              <a:t>Click to edit Master title style</a:t>
            </a:r>
            <a:endParaRPr lang="en-IN" dirty="0"/>
          </a:p>
        </p:txBody>
      </p:sp>
    </p:spTree>
    <p:extLst>
      <p:ext uri="{BB962C8B-B14F-4D97-AF65-F5344CB8AC3E}">
        <p14:creationId xmlns:p14="http://schemas.microsoft.com/office/powerpoint/2010/main" val="23055338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4" name="Picture 3" descr="A close up of a logo&#10;&#10;Description automatically generated">
            <a:extLst>
              <a:ext uri="{FF2B5EF4-FFF2-40B4-BE49-F238E27FC236}">
                <a16:creationId xmlns:a16="http://schemas.microsoft.com/office/drawing/2014/main" id="{1D5A8173-029E-4575-B1BE-7D44B32D742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682" t="34695" r="4058" b="31278"/>
          <a:stretch/>
        </p:blipFill>
        <p:spPr>
          <a:xfrm>
            <a:off x="8356520" y="6017547"/>
            <a:ext cx="2457784" cy="655982"/>
          </a:xfrm>
          <a:prstGeom prst="rect">
            <a:avLst/>
          </a:prstGeom>
        </p:spPr>
      </p:pic>
      <p:sp>
        <p:nvSpPr>
          <p:cNvPr id="6" name="Title 1">
            <a:extLst>
              <a:ext uri="{FF2B5EF4-FFF2-40B4-BE49-F238E27FC236}">
                <a16:creationId xmlns:a16="http://schemas.microsoft.com/office/drawing/2014/main" id="{FF2D2E05-3817-4F9D-BBEF-1D4FF77C6B84}"/>
              </a:ext>
            </a:extLst>
          </p:cNvPr>
          <p:cNvSpPr>
            <a:spLocks noGrp="1"/>
          </p:cNvSpPr>
          <p:nvPr>
            <p:ph type="title"/>
          </p:nvPr>
        </p:nvSpPr>
        <p:spPr>
          <a:xfrm>
            <a:off x="838200" y="365126"/>
            <a:ext cx="9976104" cy="897144"/>
          </a:xfrm>
          <a:solidFill>
            <a:srgbClr val="AF1D4A"/>
          </a:solidFill>
        </p:spPr>
        <p:txBody>
          <a:bodyPr/>
          <a:lstStyle>
            <a:lvl1pPr>
              <a:defRPr>
                <a:solidFill>
                  <a:schemeClr val="bg1"/>
                </a:solidFill>
                <a:latin typeface="Arial" panose="020B0604020202020204" pitchFamily="34" charset="0"/>
                <a:cs typeface="Arial" panose="020B0604020202020204" pitchFamily="34" charset="0"/>
              </a:defRPr>
            </a:lvl1pPr>
          </a:lstStyle>
          <a:p>
            <a:r>
              <a:rPr lang="en-US" dirty="0"/>
              <a:t>Click to edit Master title style</a:t>
            </a:r>
            <a:endParaRPr lang="en-IN" dirty="0"/>
          </a:p>
        </p:txBody>
      </p:sp>
    </p:spTree>
    <p:extLst>
      <p:ext uri="{BB962C8B-B14F-4D97-AF65-F5344CB8AC3E}">
        <p14:creationId xmlns:p14="http://schemas.microsoft.com/office/powerpoint/2010/main" val="196398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1" descr="A close up of a logo&#10;&#10;Description automatically generated">
            <a:extLst>
              <a:ext uri="{FF2B5EF4-FFF2-40B4-BE49-F238E27FC236}">
                <a16:creationId xmlns:a16="http://schemas.microsoft.com/office/drawing/2014/main" id="{5BF30093-AF1A-473D-8459-D65A198D7E30}"/>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682" t="34695" r="4058" b="31278"/>
          <a:stretch/>
        </p:blipFill>
        <p:spPr>
          <a:xfrm>
            <a:off x="8896016" y="5953539"/>
            <a:ext cx="1967056" cy="655982"/>
          </a:xfrm>
          <a:prstGeom prst="rect">
            <a:avLst/>
          </a:prstGeom>
        </p:spPr>
      </p:pic>
    </p:spTree>
    <p:extLst>
      <p:ext uri="{BB962C8B-B14F-4D97-AF65-F5344CB8AC3E}">
        <p14:creationId xmlns:p14="http://schemas.microsoft.com/office/powerpoint/2010/main" val="281367713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atin typeface="Arial" panose="020B0604020202020204" pitchFamily="34" charset="0"/>
                <a:cs typeface="Arial" panose="020B0604020202020204" pitchFamily="34" charset="0"/>
              </a:defRPr>
            </a:lvl1pPr>
          </a:lstStyle>
          <a:p>
            <a:r>
              <a:rPr lang="en-US"/>
              <a:t>Click to edit Master title style</a:t>
            </a:r>
            <a:endParaRPr lang="en-IN" dirty="0"/>
          </a:p>
        </p:txBody>
      </p:sp>
      <p:sp>
        <p:nvSpPr>
          <p:cNvPr id="3" name="Content Placeholder 2"/>
          <p:cNvSpPr>
            <a:spLocks noGrp="1"/>
          </p:cNvSpPr>
          <p:nvPr>
            <p:ph idx="1"/>
          </p:nvPr>
        </p:nvSpPr>
        <p:spPr>
          <a:xfrm>
            <a:off x="5183188" y="987425"/>
            <a:ext cx="6172200" cy="4873625"/>
          </a:xfrm>
        </p:spPr>
        <p:txBody>
          <a:bodyPr>
            <a:normAutofit/>
          </a:bodyPr>
          <a:lstStyle>
            <a:lvl1pPr>
              <a:defRPr sz="2000"/>
            </a:lvl1pPr>
            <a:lvl2pPr>
              <a:defRPr sz="20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5" name="Picture 4" descr="A close up of a logo&#10;&#10;Description automatically generated">
            <a:extLst>
              <a:ext uri="{FF2B5EF4-FFF2-40B4-BE49-F238E27FC236}">
                <a16:creationId xmlns:a16="http://schemas.microsoft.com/office/drawing/2014/main" id="{CAE8CF87-0C27-479A-9FCC-F0FA64D1A50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682" t="34695" r="4058" b="31278"/>
          <a:stretch/>
        </p:blipFill>
        <p:spPr>
          <a:xfrm>
            <a:off x="8896016" y="5953539"/>
            <a:ext cx="1967056" cy="655982"/>
          </a:xfrm>
          <a:prstGeom prst="rect">
            <a:avLst/>
          </a:prstGeom>
        </p:spPr>
      </p:pic>
    </p:spTree>
    <p:extLst>
      <p:ext uri="{BB962C8B-B14F-4D97-AF65-F5344CB8AC3E}">
        <p14:creationId xmlns:p14="http://schemas.microsoft.com/office/powerpoint/2010/main" val="391083475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atin typeface="Arial" panose="020B0604020202020204" pitchFamily="34" charset="0"/>
                <a:cs typeface="Arial" panose="020B0604020202020204" pitchFamily="34" charset="0"/>
              </a:defRPr>
            </a:lvl1pPr>
          </a:lstStyle>
          <a:p>
            <a:r>
              <a:rPr lang="en-US"/>
              <a:t>Click to edit Master title style</a:t>
            </a:r>
            <a:endParaRPr lang="en-IN" dirty="0"/>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5" name="Picture 4" descr="A close up of a logo&#10;&#10;Description automatically generated">
            <a:extLst>
              <a:ext uri="{FF2B5EF4-FFF2-40B4-BE49-F238E27FC236}">
                <a16:creationId xmlns:a16="http://schemas.microsoft.com/office/drawing/2014/main" id="{0484F575-B956-41D8-9BD9-542DF1FD66FD}"/>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682" t="34695" r="4058" b="31278"/>
          <a:stretch/>
        </p:blipFill>
        <p:spPr>
          <a:xfrm>
            <a:off x="8896016" y="5953539"/>
            <a:ext cx="1967056" cy="655982"/>
          </a:xfrm>
          <a:prstGeom prst="rect">
            <a:avLst/>
          </a:prstGeom>
        </p:spPr>
      </p:pic>
    </p:spTree>
    <p:extLst>
      <p:ext uri="{BB962C8B-B14F-4D97-AF65-F5344CB8AC3E}">
        <p14:creationId xmlns:p14="http://schemas.microsoft.com/office/powerpoint/2010/main" val="33021825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233505" y="1525371"/>
            <a:ext cx="7724987" cy="609398"/>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170589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dirty="0"/>
          </a:p>
        </p:txBody>
      </p:sp>
      <p:sp>
        <p:nvSpPr>
          <p:cNvPr id="3" name="Text Placeholder 2"/>
          <p:cNvSpPr>
            <a:spLocks noGrp="1"/>
          </p:cNvSpPr>
          <p:nvPr>
            <p:ph type="body" idx="1"/>
          </p:nvPr>
        </p:nvSpPr>
        <p:spPr>
          <a:xfrm>
            <a:off x="838200" y="1825625"/>
            <a:ext cx="10515600" cy="39907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grpSp>
        <p:nvGrpSpPr>
          <p:cNvPr id="32" name="Group 31"/>
          <p:cNvGrpSpPr/>
          <p:nvPr userDrawn="1"/>
        </p:nvGrpSpPr>
        <p:grpSpPr>
          <a:xfrm rot="5400000">
            <a:off x="10284402" y="4422774"/>
            <a:ext cx="2399145" cy="286385"/>
            <a:chOff x="838200" y="6096000"/>
            <a:chExt cx="2639060" cy="260350"/>
          </a:xfrm>
          <a:effectLst>
            <a:outerShdw blurRad="50800" dist="38100" dir="13500000" algn="br" rotWithShape="0">
              <a:prstClr val="black">
                <a:alpha val="40000"/>
              </a:prstClr>
            </a:outerShdw>
          </a:effectLst>
        </p:grpSpPr>
        <p:sp>
          <p:nvSpPr>
            <p:cNvPr id="23" name="Flowchart: Connector 22"/>
            <p:cNvSpPr/>
            <p:nvPr userDrawn="1"/>
          </p:nvSpPr>
          <p:spPr>
            <a:xfrm>
              <a:off x="838200" y="6096000"/>
              <a:ext cx="289560" cy="260350"/>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24" name="Flowchart: Connector 23"/>
            <p:cNvSpPr/>
            <p:nvPr userDrawn="1"/>
          </p:nvSpPr>
          <p:spPr>
            <a:xfrm>
              <a:off x="1127760" y="6096000"/>
              <a:ext cx="289560" cy="260350"/>
            </a:xfrm>
            <a:prstGeom prst="flowChartConnector">
              <a:avLst/>
            </a:prstGeom>
            <a:solidFill>
              <a:srgbClr val="3333FF"/>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25" name="Flowchart: Connector 24"/>
            <p:cNvSpPr/>
            <p:nvPr userDrawn="1"/>
          </p:nvSpPr>
          <p:spPr>
            <a:xfrm>
              <a:off x="1430020" y="6096000"/>
              <a:ext cx="289560" cy="260350"/>
            </a:xfrm>
            <a:prstGeom prst="flowChartConnector">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26" name="Flowchart: Connector 25"/>
            <p:cNvSpPr/>
            <p:nvPr userDrawn="1"/>
          </p:nvSpPr>
          <p:spPr>
            <a:xfrm>
              <a:off x="1729740" y="6096000"/>
              <a:ext cx="289560" cy="260350"/>
            </a:xfrm>
            <a:prstGeom prst="flowChartConnector">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27" name="Flowchart: Connector 26"/>
            <p:cNvSpPr/>
            <p:nvPr userDrawn="1"/>
          </p:nvSpPr>
          <p:spPr>
            <a:xfrm>
              <a:off x="2019300" y="6096000"/>
              <a:ext cx="289560" cy="260350"/>
            </a:xfrm>
            <a:prstGeom prst="flowChartConnector">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28" name="Flowchart: Connector 27"/>
            <p:cNvSpPr/>
            <p:nvPr userDrawn="1"/>
          </p:nvSpPr>
          <p:spPr>
            <a:xfrm>
              <a:off x="2308860" y="6096000"/>
              <a:ext cx="289560" cy="260350"/>
            </a:xfrm>
            <a:prstGeom prst="flowChartConnector">
              <a:avLst/>
            </a:prstGeom>
            <a:solidFill>
              <a:srgbClr val="FFFFFF"/>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29" name="Flowchart: Connector 28"/>
            <p:cNvSpPr/>
            <p:nvPr userDrawn="1"/>
          </p:nvSpPr>
          <p:spPr>
            <a:xfrm>
              <a:off x="2600960" y="6096000"/>
              <a:ext cx="289560" cy="260350"/>
            </a:xfrm>
            <a:prstGeom prst="flowChartConnector">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30" name="Flowchart: Connector 29"/>
            <p:cNvSpPr/>
            <p:nvPr userDrawn="1"/>
          </p:nvSpPr>
          <p:spPr>
            <a:xfrm>
              <a:off x="2900680" y="6096000"/>
              <a:ext cx="289560" cy="260350"/>
            </a:xfrm>
            <a:prstGeom prst="flowChartConnector">
              <a:avLst/>
            </a:prstGeom>
            <a:solidFill>
              <a:srgbClr val="FF99FF"/>
            </a:solidFill>
            <a:ln>
              <a:solidFill>
                <a:srgbClr val="FF9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31" name="Flowchart: Connector 30"/>
            <p:cNvSpPr/>
            <p:nvPr userDrawn="1"/>
          </p:nvSpPr>
          <p:spPr>
            <a:xfrm>
              <a:off x="3187700" y="6096000"/>
              <a:ext cx="289560" cy="260350"/>
            </a:xfrm>
            <a:prstGeom prst="flowChartConnector">
              <a:avLst/>
            </a:prstGeom>
            <a:solidFill>
              <a:srgbClr val="00CCFF"/>
            </a:solidFill>
            <a:ln>
              <a:solidFill>
                <a:srgbClr val="00CC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grpSp>
      <p:grpSp>
        <p:nvGrpSpPr>
          <p:cNvPr id="33" name="Group 32"/>
          <p:cNvGrpSpPr/>
          <p:nvPr userDrawn="1"/>
        </p:nvGrpSpPr>
        <p:grpSpPr>
          <a:xfrm>
            <a:off x="838200" y="6082983"/>
            <a:ext cx="2639060" cy="286385"/>
            <a:chOff x="838200" y="6096000"/>
            <a:chExt cx="2639060" cy="260350"/>
          </a:xfrm>
          <a:effectLst>
            <a:outerShdw blurRad="50800" dist="38100" dir="16200000" rotWithShape="0">
              <a:prstClr val="black">
                <a:alpha val="40000"/>
              </a:prstClr>
            </a:outerShdw>
          </a:effectLst>
        </p:grpSpPr>
        <p:sp>
          <p:nvSpPr>
            <p:cNvPr id="34" name="Flowchart: Connector 33"/>
            <p:cNvSpPr/>
            <p:nvPr userDrawn="1"/>
          </p:nvSpPr>
          <p:spPr>
            <a:xfrm>
              <a:off x="838200" y="6096000"/>
              <a:ext cx="289560" cy="260350"/>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35" name="Flowchart: Connector 34"/>
            <p:cNvSpPr/>
            <p:nvPr userDrawn="1"/>
          </p:nvSpPr>
          <p:spPr>
            <a:xfrm>
              <a:off x="1127760" y="6096000"/>
              <a:ext cx="289560" cy="260350"/>
            </a:xfrm>
            <a:prstGeom prst="flowChartConnector">
              <a:avLst/>
            </a:prstGeom>
            <a:solidFill>
              <a:srgbClr val="3333FF"/>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36" name="Flowchart: Connector 35"/>
            <p:cNvSpPr/>
            <p:nvPr userDrawn="1"/>
          </p:nvSpPr>
          <p:spPr>
            <a:xfrm>
              <a:off x="1430020" y="6096000"/>
              <a:ext cx="289560" cy="260350"/>
            </a:xfrm>
            <a:prstGeom prst="flowChartConnector">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37" name="Flowchart: Connector 36"/>
            <p:cNvSpPr/>
            <p:nvPr userDrawn="1"/>
          </p:nvSpPr>
          <p:spPr>
            <a:xfrm>
              <a:off x="1729740" y="6096000"/>
              <a:ext cx="289560" cy="260350"/>
            </a:xfrm>
            <a:prstGeom prst="flowChartConnector">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38" name="Flowchart: Connector 37"/>
            <p:cNvSpPr/>
            <p:nvPr userDrawn="1"/>
          </p:nvSpPr>
          <p:spPr>
            <a:xfrm>
              <a:off x="2019300" y="6096000"/>
              <a:ext cx="289560" cy="260350"/>
            </a:xfrm>
            <a:prstGeom prst="flowChartConnector">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39" name="Flowchart: Connector 38"/>
            <p:cNvSpPr/>
            <p:nvPr userDrawn="1"/>
          </p:nvSpPr>
          <p:spPr>
            <a:xfrm>
              <a:off x="2308860" y="6096000"/>
              <a:ext cx="289560" cy="260350"/>
            </a:xfrm>
            <a:prstGeom prst="flowChartConnector">
              <a:avLst/>
            </a:prstGeom>
            <a:solidFill>
              <a:srgbClr val="FFFFFF"/>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40" name="Flowchart: Connector 39"/>
            <p:cNvSpPr/>
            <p:nvPr userDrawn="1"/>
          </p:nvSpPr>
          <p:spPr>
            <a:xfrm>
              <a:off x="2600960" y="6096000"/>
              <a:ext cx="289560" cy="260350"/>
            </a:xfrm>
            <a:prstGeom prst="flowChartConnector">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41" name="Flowchart: Connector 40"/>
            <p:cNvSpPr/>
            <p:nvPr userDrawn="1"/>
          </p:nvSpPr>
          <p:spPr>
            <a:xfrm>
              <a:off x="2900680" y="6096000"/>
              <a:ext cx="289560" cy="260350"/>
            </a:xfrm>
            <a:prstGeom prst="flowChartConnector">
              <a:avLst/>
            </a:prstGeom>
            <a:solidFill>
              <a:srgbClr val="FF99FF"/>
            </a:solidFill>
            <a:ln>
              <a:solidFill>
                <a:srgbClr val="FF9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42" name="Flowchart: Connector 41"/>
            <p:cNvSpPr/>
            <p:nvPr userDrawn="1"/>
          </p:nvSpPr>
          <p:spPr>
            <a:xfrm>
              <a:off x="3187700" y="6096000"/>
              <a:ext cx="289560" cy="260350"/>
            </a:xfrm>
            <a:prstGeom prst="flowChartConnector">
              <a:avLst/>
            </a:prstGeom>
            <a:solidFill>
              <a:srgbClr val="00CCFF"/>
            </a:solidFill>
            <a:ln>
              <a:solidFill>
                <a:srgbClr val="00CC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grpSp>
    </p:spTree>
    <p:extLst>
      <p:ext uri="{BB962C8B-B14F-4D97-AF65-F5344CB8AC3E}">
        <p14:creationId xmlns:p14="http://schemas.microsoft.com/office/powerpoint/2010/main" val="42503543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1" r:id="rId10"/>
  </p:sldLayoutIdLst>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hf sldNum="0" hdr="0" ftr="0" dt="0"/>
  <p:txStyles>
    <p:titleStyle>
      <a:lvl1pPr algn="l" defTabSz="914400"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26937F8-66AD-4534-8544-87CB8628F672}"/>
              </a:ext>
            </a:extLst>
          </p:cNvPr>
          <p:cNvSpPr txBox="1"/>
          <p:nvPr/>
        </p:nvSpPr>
        <p:spPr>
          <a:xfrm>
            <a:off x="247305" y="248330"/>
            <a:ext cx="11281718" cy="4216539"/>
          </a:xfrm>
          <a:prstGeom prst="rect">
            <a:avLst/>
          </a:prstGeom>
          <a:noFill/>
        </p:spPr>
        <p:txBody>
          <a:bodyPr wrap="square" rtlCol="0">
            <a:spAutoFit/>
          </a:bodyPr>
          <a:lstStyle/>
          <a:p>
            <a:pPr algn="ctr"/>
            <a:r>
              <a:rPr lang="en-IN" sz="4800" b="1" dirty="0">
                <a:solidFill>
                  <a:srgbClr val="800000"/>
                </a:solidFill>
                <a:latin typeface="Times New Roman" panose="02020603050405020304" pitchFamily="18" charset="0"/>
                <a:cs typeface="Times New Roman" panose="02020603050405020304" pitchFamily="18" charset="0"/>
              </a:rPr>
              <a:t>Welcome to </a:t>
            </a:r>
          </a:p>
          <a:p>
            <a:pPr algn="ctr"/>
            <a:r>
              <a:rPr lang="en-IN" sz="4800" b="1" dirty="0">
                <a:solidFill>
                  <a:srgbClr val="800000"/>
                </a:solidFill>
                <a:latin typeface="Times New Roman" panose="02020603050405020304" pitchFamily="18" charset="0"/>
                <a:cs typeface="Times New Roman" panose="02020603050405020304" pitchFamily="18" charset="0"/>
              </a:rPr>
              <a:t>Total Quality Management </a:t>
            </a:r>
          </a:p>
          <a:p>
            <a:pPr algn="ctr"/>
            <a:r>
              <a:rPr lang="en-IN" sz="4800" b="1" dirty="0">
                <a:solidFill>
                  <a:srgbClr val="800000"/>
                </a:solidFill>
                <a:latin typeface="Times New Roman" panose="02020603050405020304" pitchFamily="18" charset="0"/>
                <a:cs typeface="Times New Roman" panose="02020603050405020304" pitchFamily="18" charset="0"/>
              </a:rPr>
              <a:t>(19MEE347)</a:t>
            </a:r>
          </a:p>
          <a:p>
            <a:pPr algn="ctr"/>
            <a:endParaRPr lang="en-IN" sz="4400" b="1" dirty="0">
              <a:solidFill>
                <a:srgbClr val="FFC000"/>
              </a:solidFill>
              <a:latin typeface="Times New Roman" panose="02020603050405020304" pitchFamily="18" charset="0"/>
              <a:cs typeface="Times New Roman" panose="02020603050405020304" pitchFamily="18" charset="0"/>
            </a:endParaRPr>
          </a:p>
          <a:p>
            <a:pPr algn="ctr"/>
            <a:r>
              <a:rPr lang="en-IN" sz="4400" b="1" dirty="0">
                <a:solidFill>
                  <a:srgbClr val="FFC000"/>
                </a:solidFill>
                <a:latin typeface="Times New Roman" panose="02020603050405020304" pitchFamily="18" charset="0"/>
                <a:cs typeface="Times New Roman" panose="02020603050405020304" pitchFamily="18" charset="0"/>
              </a:rPr>
              <a:t>Unit 3 – Quality Function Deployment</a:t>
            </a:r>
          </a:p>
          <a:p>
            <a:pPr algn="ctr"/>
            <a:endParaRPr lang="en-IN" sz="3600" b="1" dirty="0">
              <a:solidFill>
                <a:srgbClr val="FF00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F655C8B-5034-404C-99D8-7F9D1F7AD815}"/>
              </a:ext>
            </a:extLst>
          </p:cNvPr>
          <p:cNvSpPr txBox="1"/>
          <p:nvPr/>
        </p:nvSpPr>
        <p:spPr>
          <a:xfrm>
            <a:off x="1225553" y="4464869"/>
            <a:ext cx="9740893" cy="1323439"/>
          </a:xfrm>
          <a:prstGeom prst="rect">
            <a:avLst/>
          </a:prstGeom>
          <a:solidFill>
            <a:srgbClr val="AE1237"/>
          </a:solidFill>
        </p:spPr>
        <p:txBody>
          <a:bodyPr wrap="square" rtlCol="0">
            <a:spAutoFit/>
          </a:bodyPr>
          <a:lstStyle/>
          <a:p>
            <a:pPr algn="ctr"/>
            <a:r>
              <a:rPr lang="en-IN" sz="4000" b="1" dirty="0">
                <a:solidFill>
                  <a:schemeClr val="bg1"/>
                </a:solidFill>
                <a:latin typeface="Times New Roman" panose="02020603050405020304" pitchFamily="18" charset="0"/>
                <a:cs typeface="Times New Roman" panose="02020603050405020304" pitchFamily="18" charset="0"/>
              </a:rPr>
              <a:t>Name: Dr. </a:t>
            </a:r>
            <a:r>
              <a:rPr lang="en-IN" sz="4000" b="1">
                <a:solidFill>
                  <a:schemeClr val="bg1"/>
                </a:solidFill>
                <a:latin typeface="Times New Roman" panose="02020603050405020304" pitchFamily="18" charset="0"/>
                <a:cs typeface="Times New Roman" panose="02020603050405020304" pitchFamily="18" charset="0"/>
              </a:rPr>
              <a:t>Sunil Kumar</a:t>
            </a:r>
            <a:endParaRPr lang="en-IN" sz="4000" b="1" dirty="0">
              <a:solidFill>
                <a:schemeClr val="bg1"/>
              </a:solidFill>
              <a:latin typeface="Times New Roman" panose="02020603050405020304" pitchFamily="18" charset="0"/>
              <a:cs typeface="Times New Roman" panose="02020603050405020304" pitchFamily="18" charset="0"/>
            </a:endParaRPr>
          </a:p>
          <a:p>
            <a:pPr algn="ctr"/>
            <a:r>
              <a:rPr lang="en-IN" sz="4000" b="1" dirty="0">
                <a:solidFill>
                  <a:schemeClr val="bg1"/>
                </a:solidFill>
                <a:latin typeface="Times New Roman" panose="02020603050405020304" pitchFamily="18" charset="0"/>
                <a:cs typeface="Times New Roman" panose="02020603050405020304" pitchFamily="18" charset="0"/>
              </a:rPr>
              <a:t>Department of Mechanical Engineering</a:t>
            </a:r>
          </a:p>
        </p:txBody>
      </p:sp>
    </p:spTree>
    <p:extLst>
      <p:ext uri="{BB962C8B-B14F-4D97-AF65-F5344CB8AC3E}">
        <p14:creationId xmlns:p14="http://schemas.microsoft.com/office/powerpoint/2010/main" val="36633384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1"/>
            <a:ext cx="5035068"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IN" dirty="0"/>
              <a:t>Introduction - QFD</a:t>
            </a:r>
            <a:endParaRPr dirty="0"/>
          </a:p>
        </p:txBody>
      </p:sp>
      <p:sp>
        <p:nvSpPr>
          <p:cNvPr id="13" name="TextBox 12">
            <a:extLst>
              <a:ext uri="{FF2B5EF4-FFF2-40B4-BE49-F238E27FC236}">
                <a16:creationId xmlns:a16="http://schemas.microsoft.com/office/drawing/2014/main" id="{5457BCB2-9522-C535-FEF6-2B78E2B6B988}"/>
              </a:ext>
            </a:extLst>
          </p:cNvPr>
          <p:cNvSpPr txBox="1"/>
          <p:nvPr/>
        </p:nvSpPr>
        <p:spPr>
          <a:xfrm>
            <a:off x="259603" y="959496"/>
            <a:ext cx="11185145" cy="1135247"/>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altLang="en-US" sz="2400" dirty="0"/>
              <a:t>Quality Function Deployment (QFD) is an approach to design introduced in Japan in 1966 by Yoji </a:t>
            </a:r>
            <a:r>
              <a:rPr lang="en-US" altLang="en-US" sz="2400" dirty="0" err="1"/>
              <a:t>Akao</a:t>
            </a:r>
            <a:r>
              <a:rPr lang="en-US" altLang="en-US" sz="2400" dirty="0"/>
              <a:t>.</a:t>
            </a:r>
          </a:p>
        </p:txBody>
      </p:sp>
      <p:sp>
        <p:nvSpPr>
          <p:cNvPr id="3" name="Rectangle 2">
            <a:extLst>
              <a:ext uri="{FF2B5EF4-FFF2-40B4-BE49-F238E27FC236}">
                <a16:creationId xmlns:a16="http://schemas.microsoft.com/office/drawing/2014/main" id="{AFEF85DA-3D46-C41E-3F83-CAE0F75A9548}"/>
              </a:ext>
            </a:extLst>
          </p:cNvPr>
          <p:cNvSpPr txBox="1">
            <a:spLocks noChangeArrowheads="1"/>
          </p:cNvSpPr>
          <p:nvPr/>
        </p:nvSpPr>
        <p:spPr>
          <a:xfrm>
            <a:off x="259602" y="2560566"/>
            <a:ext cx="11185145" cy="293224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lang="en-US" altLang="en-US" sz="2400" dirty="0">
                <a:latin typeface="+mj-lt"/>
              </a:rPr>
              <a:t>Dr. </a:t>
            </a:r>
            <a:r>
              <a:rPr lang="en-US" altLang="en-US" sz="2400" dirty="0" err="1">
                <a:latin typeface="+mj-lt"/>
              </a:rPr>
              <a:t>Akao</a:t>
            </a:r>
            <a:r>
              <a:rPr lang="en-US" altLang="en-US" sz="2400" dirty="0">
                <a:latin typeface="+mj-lt"/>
              </a:rPr>
              <a:t> is a professor of industrial Engineering at </a:t>
            </a:r>
            <a:r>
              <a:rPr lang="en-US" altLang="en-US" sz="2400" dirty="0" err="1">
                <a:latin typeface="+mj-lt"/>
              </a:rPr>
              <a:t>Tamagawa</a:t>
            </a:r>
            <a:r>
              <a:rPr lang="en-US" altLang="en-US" sz="2400" dirty="0">
                <a:latin typeface="+mj-lt"/>
              </a:rPr>
              <a:t> University in Tokyo and is one of the foremost leaders in the TQC movement in Japan.  He has long led and participated in many of the key research committees of the Union of Japanese Scientists and Engineers (JUSE), the Japanese Standards Association (JSA) and the Japanese Society for Quality Control (JSQC)</a:t>
            </a:r>
          </a:p>
          <a:p>
            <a:pPr algn="just">
              <a:lnSpc>
                <a:spcPct val="150000"/>
              </a:lnSpc>
            </a:pPr>
            <a:endParaRPr lang="en-US" altLang="en-US" sz="2400" dirty="0">
              <a:latin typeface="+mj-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1"/>
            <a:ext cx="5035068"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IN" dirty="0"/>
              <a:t>Why QFD ???</a:t>
            </a:r>
            <a:endParaRPr dirty="0"/>
          </a:p>
        </p:txBody>
      </p:sp>
      <p:sp>
        <p:nvSpPr>
          <p:cNvPr id="13" name="TextBox 12">
            <a:extLst>
              <a:ext uri="{FF2B5EF4-FFF2-40B4-BE49-F238E27FC236}">
                <a16:creationId xmlns:a16="http://schemas.microsoft.com/office/drawing/2014/main" id="{5457BCB2-9522-C535-FEF6-2B78E2B6B988}"/>
              </a:ext>
            </a:extLst>
          </p:cNvPr>
          <p:cNvSpPr txBox="1"/>
          <p:nvPr/>
        </p:nvSpPr>
        <p:spPr>
          <a:xfrm>
            <a:off x="442452" y="1210219"/>
            <a:ext cx="10840064" cy="3905236"/>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altLang="en-US" sz="2400" dirty="0"/>
              <a:t>A lack of well defined product development processes in research and design can be the root cause for the ruination of a company.</a:t>
            </a:r>
          </a:p>
          <a:p>
            <a:pPr marL="342900" indent="-342900" algn="just">
              <a:lnSpc>
                <a:spcPct val="150000"/>
              </a:lnSpc>
              <a:buFont typeface="Arial" panose="020B0604020202020204" pitchFamily="34" charset="0"/>
              <a:buChar char="•"/>
            </a:pPr>
            <a:endParaRPr lang="en-US" altLang="en-US" sz="2400" dirty="0"/>
          </a:p>
          <a:p>
            <a:pPr marL="342900" indent="-342900" algn="just">
              <a:lnSpc>
                <a:spcPct val="150000"/>
              </a:lnSpc>
              <a:buFont typeface="Arial" panose="020B0604020202020204" pitchFamily="34" charset="0"/>
              <a:buChar char="•"/>
            </a:pPr>
            <a:r>
              <a:rPr lang="en-US" altLang="en-US" sz="2400" dirty="0"/>
              <a:t>To have a successful product, we must understand user needs.</a:t>
            </a:r>
          </a:p>
          <a:p>
            <a:pPr marL="342900" indent="-342900" algn="just">
              <a:lnSpc>
                <a:spcPct val="150000"/>
              </a:lnSpc>
              <a:buFont typeface="Arial" panose="020B0604020202020204" pitchFamily="34" charset="0"/>
              <a:buChar char="•"/>
            </a:pPr>
            <a:endParaRPr lang="en-US" altLang="en-US" sz="2400" dirty="0"/>
          </a:p>
          <a:p>
            <a:pPr marL="342900" indent="-342900" algn="just">
              <a:lnSpc>
                <a:spcPct val="150000"/>
              </a:lnSpc>
              <a:buFont typeface="Arial" panose="020B0604020202020204" pitchFamily="34" charset="0"/>
              <a:buChar char="•"/>
            </a:pPr>
            <a:r>
              <a:rPr lang="en-US" altLang="en-US" sz="2400" dirty="0"/>
              <a:t>QFD provides a formal process to understand user needs and to weave these needs across the entire product development cycle including manufacturing.</a:t>
            </a:r>
          </a:p>
        </p:txBody>
      </p:sp>
    </p:spTree>
    <p:extLst>
      <p:ext uri="{BB962C8B-B14F-4D97-AF65-F5344CB8AC3E}">
        <p14:creationId xmlns:p14="http://schemas.microsoft.com/office/powerpoint/2010/main" val="7376944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1"/>
            <a:ext cx="5035068"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IN" dirty="0"/>
              <a:t>QFD - Definition</a:t>
            </a:r>
            <a:endParaRPr dirty="0"/>
          </a:p>
        </p:txBody>
      </p:sp>
      <p:sp>
        <p:nvSpPr>
          <p:cNvPr id="13" name="TextBox 12">
            <a:extLst>
              <a:ext uri="{FF2B5EF4-FFF2-40B4-BE49-F238E27FC236}">
                <a16:creationId xmlns:a16="http://schemas.microsoft.com/office/drawing/2014/main" id="{5457BCB2-9522-C535-FEF6-2B78E2B6B988}"/>
              </a:ext>
            </a:extLst>
          </p:cNvPr>
          <p:cNvSpPr txBox="1"/>
          <p:nvPr/>
        </p:nvSpPr>
        <p:spPr>
          <a:xfrm>
            <a:off x="442452" y="1210219"/>
            <a:ext cx="10840064" cy="2601738"/>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altLang="en-US" sz="2800" dirty="0"/>
              <a:t>QFD is a very systematic and organized approach of taking customer needs and demands in the consideration when designing a new products and services or when improving existing products and services.</a:t>
            </a:r>
          </a:p>
        </p:txBody>
      </p:sp>
    </p:spTree>
    <p:extLst>
      <p:ext uri="{BB962C8B-B14F-4D97-AF65-F5344CB8AC3E}">
        <p14:creationId xmlns:p14="http://schemas.microsoft.com/office/powerpoint/2010/main" val="9082716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2"/>
            <a:ext cx="10146100"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US" dirty="0">
                <a:latin typeface="+mj-lt"/>
              </a:rPr>
              <a:t>C</a:t>
            </a:r>
            <a:r>
              <a:rPr lang="en-IN" dirty="0" err="1">
                <a:latin typeface="+mj-lt"/>
              </a:rPr>
              <a:t>ustomer</a:t>
            </a:r>
            <a:r>
              <a:rPr lang="en-IN" dirty="0">
                <a:latin typeface="+mj-lt"/>
              </a:rPr>
              <a:t> Driven Product Development</a:t>
            </a:r>
            <a:endParaRPr dirty="0">
              <a:latin typeface="+mj-lt"/>
            </a:endParaRPr>
          </a:p>
        </p:txBody>
      </p:sp>
      <p:sp>
        <p:nvSpPr>
          <p:cNvPr id="3" name="Rectangle 3">
            <a:extLst>
              <a:ext uri="{FF2B5EF4-FFF2-40B4-BE49-F238E27FC236}">
                <a16:creationId xmlns:a16="http://schemas.microsoft.com/office/drawing/2014/main" id="{D7137B3B-6B75-28C2-59E0-B05532D18D98}"/>
              </a:ext>
            </a:extLst>
          </p:cNvPr>
          <p:cNvSpPr>
            <a:spLocks noChangeArrowheads="1"/>
          </p:cNvSpPr>
          <p:nvPr/>
        </p:nvSpPr>
        <p:spPr bwMode="auto">
          <a:xfrm>
            <a:off x="1500546" y="2277111"/>
            <a:ext cx="1519238" cy="144303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latin typeface="+mj-lt"/>
            </a:endParaRPr>
          </a:p>
        </p:txBody>
      </p:sp>
      <p:sp>
        <p:nvSpPr>
          <p:cNvPr id="4" name="Oval 4">
            <a:extLst>
              <a:ext uri="{FF2B5EF4-FFF2-40B4-BE49-F238E27FC236}">
                <a16:creationId xmlns:a16="http://schemas.microsoft.com/office/drawing/2014/main" id="{A3091824-A3A9-AAE9-AEB7-3A25D1C16C3F}"/>
              </a:ext>
            </a:extLst>
          </p:cNvPr>
          <p:cNvSpPr>
            <a:spLocks noChangeArrowheads="1"/>
          </p:cNvSpPr>
          <p:nvPr/>
        </p:nvSpPr>
        <p:spPr bwMode="auto">
          <a:xfrm>
            <a:off x="1652946" y="2429511"/>
            <a:ext cx="152400" cy="152400"/>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a:solidFill>
                <a:srgbClr val="FF0000"/>
              </a:solidFill>
              <a:latin typeface="+mj-lt"/>
            </a:endParaRPr>
          </a:p>
        </p:txBody>
      </p:sp>
      <p:sp>
        <p:nvSpPr>
          <p:cNvPr id="5" name="Rectangle 12">
            <a:extLst>
              <a:ext uri="{FF2B5EF4-FFF2-40B4-BE49-F238E27FC236}">
                <a16:creationId xmlns:a16="http://schemas.microsoft.com/office/drawing/2014/main" id="{8C8FF870-4FA0-6246-26A9-B8CDFFFC8642}"/>
              </a:ext>
            </a:extLst>
          </p:cNvPr>
          <p:cNvSpPr>
            <a:spLocks noChangeArrowheads="1"/>
          </p:cNvSpPr>
          <p:nvPr/>
        </p:nvSpPr>
        <p:spPr bwMode="auto">
          <a:xfrm>
            <a:off x="1500546" y="1746886"/>
            <a:ext cx="1519238" cy="531812"/>
          </a:xfrm>
          <a:prstGeom prst="rect">
            <a:avLst/>
          </a:prstGeom>
          <a:solidFill>
            <a:srgbClr val="CCFF99"/>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solidFill>
                  <a:srgbClr val="0000FF"/>
                </a:solidFill>
                <a:latin typeface="+mj-lt"/>
              </a:rPr>
              <a:t>Design </a:t>
            </a:r>
          </a:p>
          <a:p>
            <a:pPr algn="ctr" eaLnBrk="1" hangingPunct="1"/>
            <a:r>
              <a:rPr lang="en-US" altLang="en-US">
                <a:solidFill>
                  <a:srgbClr val="0000FF"/>
                </a:solidFill>
                <a:latin typeface="+mj-lt"/>
              </a:rPr>
              <a:t>Requirements</a:t>
            </a:r>
          </a:p>
        </p:txBody>
      </p:sp>
      <p:sp>
        <p:nvSpPr>
          <p:cNvPr id="6" name="Rectangle 13">
            <a:extLst>
              <a:ext uri="{FF2B5EF4-FFF2-40B4-BE49-F238E27FC236}">
                <a16:creationId xmlns:a16="http://schemas.microsoft.com/office/drawing/2014/main" id="{9EE447F9-4F19-C8FF-1823-1472C5722EEE}"/>
              </a:ext>
            </a:extLst>
          </p:cNvPr>
          <p:cNvSpPr>
            <a:spLocks noChangeArrowheads="1"/>
          </p:cNvSpPr>
          <p:nvPr/>
        </p:nvSpPr>
        <p:spPr bwMode="auto">
          <a:xfrm>
            <a:off x="1197334" y="2277111"/>
            <a:ext cx="303212" cy="1443037"/>
          </a:xfrm>
          <a:prstGeom prst="rect">
            <a:avLst/>
          </a:prstGeom>
          <a:solidFill>
            <a:srgbClr val="B69CB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b="1">
                <a:solidFill>
                  <a:srgbClr val="0000FF"/>
                </a:solidFill>
                <a:latin typeface="+mj-lt"/>
              </a:rPr>
              <a:t>C</a:t>
            </a:r>
            <a:r>
              <a:rPr lang="en-US" altLang="en-US" sz="1400" b="1">
                <a:solidFill>
                  <a:srgbClr val="0000FF"/>
                </a:solidFill>
                <a:latin typeface="+mj-lt"/>
              </a:rPr>
              <a:t>u</a:t>
            </a:r>
          </a:p>
          <a:p>
            <a:pPr algn="ctr" eaLnBrk="1" hangingPunct="1"/>
            <a:r>
              <a:rPr lang="en-US" altLang="en-US" sz="1400" b="1">
                <a:solidFill>
                  <a:srgbClr val="0000FF"/>
                </a:solidFill>
                <a:latin typeface="+mj-lt"/>
              </a:rPr>
              <a:t>Sto</a:t>
            </a:r>
          </a:p>
          <a:p>
            <a:pPr algn="ctr" eaLnBrk="1" hangingPunct="1"/>
            <a:r>
              <a:rPr lang="en-US" altLang="en-US" sz="1400" b="1">
                <a:solidFill>
                  <a:srgbClr val="0000FF"/>
                </a:solidFill>
                <a:latin typeface="+mj-lt"/>
              </a:rPr>
              <a:t>mer</a:t>
            </a:r>
          </a:p>
          <a:p>
            <a:pPr algn="ctr" eaLnBrk="1" hangingPunct="1"/>
            <a:endParaRPr lang="en-US" altLang="en-US" sz="1400" b="1">
              <a:solidFill>
                <a:srgbClr val="0000FF"/>
              </a:solidFill>
              <a:latin typeface="+mj-lt"/>
            </a:endParaRPr>
          </a:p>
          <a:p>
            <a:pPr algn="ctr" eaLnBrk="1" hangingPunct="1"/>
            <a:r>
              <a:rPr lang="en-US" altLang="en-US" sz="1400" b="1">
                <a:solidFill>
                  <a:srgbClr val="0000FF"/>
                </a:solidFill>
                <a:latin typeface="+mj-lt"/>
              </a:rPr>
              <a:t>vo</a:t>
            </a:r>
          </a:p>
          <a:p>
            <a:pPr algn="ctr" eaLnBrk="1" hangingPunct="1"/>
            <a:r>
              <a:rPr lang="en-US" altLang="en-US" sz="1400" b="1">
                <a:solidFill>
                  <a:srgbClr val="0000FF"/>
                </a:solidFill>
                <a:latin typeface="+mj-lt"/>
              </a:rPr>
              <a:t>ice</a:t>
            </a:r>
          </a:p>
        </p:txBody>
      </p:sp>
      <p:sp>
        <p:nvSpPr>
          <p:cNvPr id="7" name="Line 14">
            <a:extLst>
              <a:ext uri="{FF2B5EF4-FFF2-40B4-BE49-F238E27FC236}">
                <a16:creationId xmlns:a16="http://schemas.microsoft.com/office/drawing/2014/main" id="{BF7C57FA-AAA4-EEC3-DEDB-8521E7C7618B}"/>
              </a:ext>
            </a:extLst>
          </p:cNvPr>
          <p:cNvSpPr>
            <a:spLocks noChangeShapeType="1"/>
          </p:cNvSpPr>
          <p:nvPr/>
        </p:nvSpPr>
        <p:spPr bwMode="auto">
          <a:xfrm flipV="1">
            <a:off x="1500546" y="988061"/>
            <a:ext cx="835025" cy="758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8" name="Line 15">
            <a:extLst>
              <a:ext uri="{FF2B5EF4-FFF2-40B4-BE49-F238E27FC236}">
                <a16:creationId xmlns:a16="http://schemas.microsoft.com/office/drawing/2014/main" id="{4F7C3AFE-792E-9979-72C5-E44C26EC1DFF}"/>
              </a:ext>
            </a:extLst>
          </p:cNvPr>
          <p:cNvSpPr>
            <a:spLocks noChangeShapeType="1"/>
          </p:cNvSpPr>
          <p:nvPr/>
        </p:nvSpPr>
        <p:spPr bwMode="auto">
          <a:xfrm>
            <a:off x="2259371" y="988061"/>
            <a:ext cx="760413" cy="758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9" name="AutoShape 19">
            <a:extLst>
              <a:ext uri="{FF2B5EF4-FFF2-40B4-BE49-F238E27FC236}">
                <a16:creationId xmlns:a16="http://schemas.microsoft.com/office/drawing/2014/main" id="{F825EA11-2424-07B3-837E-A3445C3F45AD}"/>
              </a:ext>
            </a:extLst>
          </p:cNvPr>
          <p:cNvSpPr>
            <a:spLocks noChangeArrowheads="1"/>
          </p:cNvSpPr>
          <p:nvPr/>
        </p:nvSpPr>
        <p:spPr bwMode="auto">
          <a:xfrm>
            <a:off x="1576746" y="2808923"/>
            <a:ext cx="303213" cy="227013"/>
          </a:xfrm>
          <a:prstGeom prst="triangle">
            <a:avLst>
              <a:gd name="adj" fmla="val 50000"/>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latin typeface="+mj-lt"/>
            </a:endParaRPr>
          </a:p>
        </p:txBody>
      </p:sp>
      <p:sp>
        <p:nvSpPr>
          <p:cNvPr id="10" name="AutoShape 21">
            <a:extLst>
              <a:ext uri="{FF2B5EF4-FFF2-40B4-BE49-F238E27FC236}">
                <a16:creationId xmlns:a16="http://schemas.microsoft.com/office/drawing/2014/main" id="{80F4D5BC-61D2-AC80-4B2D-9F3905E1AFDA}"/>
              </a:ext>
            </a:extLst>
          </p:cNvPr>
          <p:cNvSpPr>
            <a:spLocks noChangeArrowheads="1"/>
          </p:cNvSpPr>
          <p:nvPr/>
        </p:nvSpPr>
        <p:spPr bwMode="auto">
          <a:xfrm>
            <a:off x="2564171" y="2429511"/>
            <a:ext cx="303213" cy="227012"/>
          </a:xfrm>
          <a:prstGeom prst="triangle">
            <a:avLst>
              <a:gd name="adj" fmla="val 50000"/>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latin typeface="+mj-lt"/>
            </a:endParaRPr>
          </a:p>
        </p:txBody>
      </p:sp>
      <p:sp>
        <p:nvSpPr>
          <p:cNvPr id="11" name="Oval 24">
            <a:extLst>
              <a:ext uri="{FF2B5EF4-FFF2-40B4-BE49-F238E27FC236}">
                <a16:creationId xmlns:a16="http://schemas.microsoft.com/office/drawing/2014/main" id="{44A6495F-CFC3-5DC5-083A-FFDD854EF832}"/>
              </a:ext>
            </a:extLst>
          </p:cNvPr>
          <p:cNvSpPr>
            <a:spLocks noChangeArrowheads="1"/>
          </p:cNvSpPr>
          <p:nvPr/>
        </p:nvSpPr>
        <p:spPr bwMode="auto">
          <a:xfrm>
            <a:off x="2259371" y="2505711"/>
            <a:ext cx="152400" cy="152400"/>
          </a:xfrm>
          <a:prstGeom prst="ellipse">
            <a:avLst/>
          </a:prstGeom>
          <a:solidFill>
            <a:srgbClr val="F2F20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a:solidFill>
                <a:srgbClr val="FFFF00"/>
              </a:solidFill>
              <a:latin typeface="+mj-lt"/>
            </a:endParaRPr>
          </a:p>
        </p:txBody>
      </p:sp>
      <p:sp>
        <p:nvSpPr>
          <p:cNvPr id="12" name="Oval 25">
            <a:extLst>
              <a:ext uri="{FF2B5EF4-FFF2-40B4-BE49-F238E27FC236}">
                <a16:creationId xmlns:a16="http://schemas.microsoft.com/office/drawing/2014/main" id="{4E854BAA-4609-B71E-090C-3B85E290C93F}"/>
              </a:ext>
            </a:extLst>
          </p:cNvPr>
          <p:cNvSpPr>
            <a:spLocks noChangeArrowheads="1"/>
          </p:cNvSpPr>
          <p:nvPr/>
        </p:nvSpPr>
        <p:spPr bwMode="auto">
          <a:xfrm>
            <a:off x="2106971" y="2959736"/>
            <a:ext cx="152400" cy="152400"/>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a:solidFill>
                <a:srgbClr val="FF0000"/>
              </a:solidFill>
              <a:latin typeface="+mj-lt"/>
            </a:endParaRPr>
          </a:p>
        </p:txBody>
      </p:sp>
      <p:sp>
        <p:nvSpPr>
          <p:cNvPr id="14" name="Oval 26">
            <a:extLst>
              <a:ext uri="{FF2B5EF4-FFF2-40B4-BE49-F238E27FC236}">
                <a16:creationId xmlns:a16="http://schemas.microsoft.com/office/drawing/2014/main" id="{35A13F58-3C44-4A99-DDFB-F036F51FBFF8}"/>
              </a:ext>
            </a:extLst>
          </p:cNvPr>
          <p:cNvSpPr>
            <a:spLocks noChangeArrowheads="1"/>
          </p:cNvSpPr>
          <p:nvPr/>
        </p:nvSpPr>
        <p:spPr bwMode="auto">
          <a:xfrm>
            <a:off x="2638784" y="2885123"/>
            <a:ext cx="152400" cy="152400"/>
          </a:xfrm>
          <a:prstGeom prst="ellipse">
            <a:avLst/>
          </a:prstGeom>
          <a:solidFill>
            <a:srgbClr val="F2F20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latin typeface="+mj-lt"/>
            </a:endParaRPr>
          </a:p>
        </p:txBody>
      </p:sp>
      <p:sp>
        <p:nvSpPr>
          <p:cNvPr id="15" name="Oval 28">
            <a:extLst>
              <a:ext uri="{FF2B5EF4-FFF2-40B4-BE49-F238E27FC236}">
                <a16:creationId xmlns:a16="http://schemas.microsoft.com/office/drawing/2014/main" id="{2EDAE02E-5650-99C2-2221-5EC1AFDC911F}"/>
              </a:ext>
            </a:extLst>
          </p:cNvPr>
          <p:cNvSpPr>
            <a:spLocks noChangeArrowheads="1"/>
          </p:cNvSpPr>
          <p:nvPr/>
        </p:nvSpPr>
        <p:spPr bwMode="auto">
          <a:xfrm>
            <a:off x="1652946" y="3339148"/>
            <a:ext cx="152400" cy="152400"/>
          </a:xfrm>
          <a:prstGeom prst="ellipse">
            <a:avLst/>
          </a:prstGeom>
          <a:solidFill>
            <a:srgbClr val="F2F20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a:solidFill>
                <a:srgbClr val="FFFF00"/>
              </a:solidFill>
              <a:latin typeface="+mj-lt"/>
            </a:endParaRPr>
          </a:p>
        </p:txBody>
      </p:sp>
      <p:sp>
        <p:nvSpPr>
          <p:cNvPr id="16" name="AutoShape 29">
            <a:extLst>
              <a:ext uri="{FF2B5EF4-FFF2-40B4-BE49-F238E27FC236}">
                <a16:creationId xmlns:a16="http://schemas.microsoft.com/office/drawing/2014/main" id="{753922A3-4E03-8C50-2DC9-97E47DA87BEF}"/>
              </a:ext>
            </a:extLst>
          </p:cNvPr>
          <p:cNvSpPr>
            <a:spLocks noChangeArrowheads="1"/>
          </p:cNvSpPr>
          <p:nvPr/>
        </p:nvSpPr>
        <p:spPr bwMode="auto">
          <a:xfrm>
            <a:off x="2259371" y="3264536"/>
            <a:ext cx="303213" cy="227012"/>
          </a:xfrm>
          <a:prstGeom prst="triangle">
            <a:avLst>
              <a:gd name="adj" fmla="val 50000"/>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latin typeface="+mj-lt"/>
            </a:endParaRPr>
          </a:p>
        </p:txBody>
      </p:sp>
      <p:sp>
        <p:nvSpPr>
          <p:cNvPr id="17" name="Rectangle 30">
            <a:extLst>
              <a:ext uri="{FF2B5EF4-FFF2-40B4-BE49-F238E27FC236}">
                <a16:creationId xmlns:a16="http://schemas.microsoft.com/office/drawing/2014/main" id="{D8844851-2F89-F4D7-BEE0-7EC59966F2BB}"/>
              </a:ext>
            </a:extLst>
          </p:cNvPr>
          <p:cNvSpPr>
            <a:spLocks noChangeArrowheads="1"/>
          </p:cNvSpPr>
          <p:nvPr/>
        </p:nvSpPr>
        <p:spPr bwMode="auto">
          <a:xfrm>
            <a:off x="3778609" y="3340736"/>
            <a:ext cx="1519237" cy="144303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latin typeface="+mj-lt"/>
            </a:endParaRPr>
          </a:p>
        </p:txBody>
      </p:sp>
      <p:sp>
        <p:nvSpPr>
          <p:cNvPr id="18" name="Rectangle 31">
            <a:extLst>
              <a:ext uri="{FF2B5EF4-FFF2-40B4-BE49-F238E27FC236}">
                <a16:creationId xmlns:a16="http://schemas.microsoft.com/office/drawing/2014/main" id="{037B4A5B-55A6-9FD4-4AB0-242289009B60}"/>
              </a:ext>
            </a:extLst>
          </p:cNvPr>
          <p:cNvSpPr>
            <a:spLocks noChangeArrowheads="1"/>
          </p:cNvSpPr>
          <p:nvPr/>
        </p:nvSpPr>
        <p:spPr bwMode="auto">
          <a:xfrm>
            <a:off x="6053496" y="4553586"/>
            <a:ext cx="1519238" cy="144303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latin typeface="+mj-lt"/>
            </a:endParaRPr>
          </a:p>
        </p:txBody>
      </p:sp>
      <p:sp>
        <p:nvSpPr>
          <p:cNvPr id="19" name="Rectangle 32">
            <a:extLst>
              <a:ext uri="{FF2B5EF4-FFF2-40B4-BE49-F238E27FC236}">
                <a16:creationId xmlns:a16="http://schemas.microsoft.com/office/drawing/2014/main" id="{142E7CC0-D1BF-2542-3467-789101531458}"/>
              </a:ext>
            </a:extLst>
          </p:cNvPr>
          <p:cNvSpPr>
            <a:spLocks noChangeArrowheads="1"/>
          </p:cNvSpPr>
          <p:nvPr/>
        </p:nvSpPr>
        <p:spPr bwMode="auto">
          <a:xfrm>
            <a:off x="8329971" y="4932998"/>
            <a:ext cx="1519238" cy="144303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latin typeface="+mj-lt"/>
            </a:endParaRPr>
          </a:p>
        </p:txBody>
      </p:sp>
      <p:sp>
        <p:nvSpPr>
          <p:cNvPr id="20" name="Rectangle 33">
            <a:extLst>
              <a:ext uri="{FF2B5EF4-FFF2-40B4-BE49-F238E27FC236}">
                <a16:creationId xmlns:a16="http://schemas.microsoft.com/office/drawing/2014/main" id="{3508D9E0-8CDD-91C0-6DD7-AC6F08BAF87A}"/>
              </a:ext>
            </a:extLst>
          </p:cNvPr>
          <p:cNvSpPr>
            <a:spLocks noChangeArrowheads="1"/>
          </p:cNvSpPr>
          <p:nvPr/>
        </p:nvSpPr>
        <p:spPr bwMode="auto">
          <a:xfrm>
            <a:off x="8028346" y="4934586"/>
            <a:ext cx="303213" cy="1443037"/>
          </a:xfrm>
          <a:prstGeom prst="rect">
            <a:avLst/>
          </a:prstGeom>
          <a:solidFill>
            <a:srgbClr val="B69CB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a:solidFill>
                <a:srgbClr val="0000FF"/>
              </a:solidFill>
              <a:latin typeface="+mj-lt"/>
            </a:endParaRPr>
          </a:p>
          <a:p>
            <a:pPr algn="ctr" eaLnBrk="1" hangingPunct="1"/>
            <a:r>
              <a:rPr lang="en-US" altLang="en-US" sz="1400" b="1">
                <a:solidFill>
                  <a:srgbClr val="0000FF"/>
                </a:solidFill>
                <a:latin typeface="+mj-lt"/>
              </a:rPr>
              <a:t>P</a:t>
            </a:r>
          </a:p>
          <a:p>
            <a:pPr algn="ctr" eaLnBrk="1" hangingPunct="1"/>
            <a:r>
              <a:rPr lang="en-US" altLang="en-US" sz="1400" b="1">
                <a:solidFill>
                  <a:srgbClr val="0000FF"/>
                </a:solidFill>
                <a:latin typeface="+mj-lt"/>
              </a:rPr>
              <a:t>r</a:t>
            </a:r>
          </a:p>
          <a:p>
            <a:pPr algn="ctr" eaLnBrk="1" hangingPunct="1"/>
            <a:r>
              <a:rPr lang="en-US" altLang="en-US" sz="1400" b="1">
                <a:solidFill>
                  <a:srgbClr val="0000FF"/>
                </a:solidFill>
                <a:latin typeface="+mj-lt"/>
              </a:rPr>
              <a:t>o</a:t>
            </a:r>
          </a:p>
          <a:p>
            <a:pPr algn="ctr" eaLnBrk="1" hangingPunct="1"/>
            <a:r>
              <a:rPr lang="en-US" altLang="en-US" sz="1400" b="1">
                <a:solidFill>
                  <a:srgbClr val="0000FF"/>
                </a:solidFill>
                <a:latin typeface="+mj-lt"/>
              </a:rPr>
              <a:t>c</a:t>
            </a:r>
          </a:p>
          <a:p>
            <a:pPr algn="ctr" eaLnBrk="1" hangingPunct="1"/>
            <a:r>
              <a:rPr lang="en-US" altLang="en-US" sz="1400" b="1">
                <a:solidFill>
                  <a:srgbClr val="0000FF"/>
                </a:solidFill>
                <a:latin typeface="+mj-lt"/>
              </a:rPr>
              <a:t>e</a:t>
            </a:r>
          </a:p>
          <a:p>
            <a:pPr algn="ctr" eaLnBrk="1" hangingPunct="1"/>
            <a:r>
              <a:rPr lang="en-US" altLang="en-US" sz="1400" b="1">
                <a:solidFill>
                  <a:srgbClr val="0000FF"/>
                </a:solidFill>
                <a:latin typeface="+mj-lt"/>
              </a:rPr>
              <a:t>s</a:t>
            </a:r>
          </a:p>
          <a:p>
            <a:pPr algn="ctr" eaLnBrk="1" hangingPunct="1"/>
            <a:r>
              <a:rPr lang="en-US" altLang="en-US" sz="1400" b="1">
                <a:solidFill>
                  <a:srgbClr val="0000FF"/>
                </a:solidFill>
                <a:latin typeface="+mj-lt"/>
              </a:rPr>
              <a:t>s</a:t>
            </a:r>
          </a:p>
          <a:p>
            <a:pPr algn="ctr" eaLnBrk="1" hangingPunct="1"/>
            <a:endParaRPr lang="en-US" altLang="en-US" sz="1600">
              <a:solidFill>
                <a:srgbClr val="0000FF"/>
              </a:solidFill>
              <a:latin typeface="+mj-lt"/>
            </a:endParaRPr>
          </a:p>
        </p:txBody>
      </p:sp>
      <p:sp>
        <p:nvSpPr>
          <p:cNvPr id="21" name="Rectangle 34">
            <a:extLst>
              <a:ext uri="{FF2B5EF4-FFF2-40B4-BE49-F238E27FC236}">
                <a16:creationId xmlns:a16="http://schemas.microsoft.com/office/drawing/2014/main" id="{E78109DD-4A72-68E8-58DB-38E9F2EBC75D}"/>
              </a:ext>
            </a:extLst>
          </p:cNvPr>
          <p:cNvSpPr>
            <a:spLocks noChangeArrowheads="1"/>
          </p:cNvSpPr>
          <p:nvPr/>
        </p:nvSpPr>
        <p:spPr bwMode="auto">
          <a:xfrm>
            <a:off x="5751871" y="4553586"/>
            <a:ext cx="303213" cy="1443037"/>
          </a:xfrm>
          <a:prstGeom prst="rect">
            <a:avLst/>
          </a:prstGeom>
          <a:solidFill>
            <a:srgbClr val="B69CB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solidFill>
                  <a:srgbClr val="0000FF"/>
                </a:solidFill>
                <a:latin typeface="+mj-lt"/>
              </a:rPr>
              <a:t>P</a:t>
            </a:r>
          </a:p>
          <a:p>
            <a:pPr algn="ctr" eaLnBrk="1" hangingPunct="1"/>
            <a:r>
              <a:rPr lang="en-US" altLang="en-US">
                <a:solidFill>
                  <a:srgbClr val="0000FF"/>
                </a:solidFill>
                <a:latin typeface="+mj-lt"/>
              </a:rPr>
              <a:t>a</a:t>
            </a:r>
          </a:p>
          <a:p>
            <a:pPr algn="ctr" eaLnBrk="1" hangingPunct="1"/>
            <a:r>
              <a:rPr lang="en-US" altLang="en-US">
                <a:solidFill>
                  <a:srgbClr val="0000FF"/>
                </a:solidFill>
                <a:latin typeface="+mj-lt"/>
              </a:rPr>
              <a:t>r</a:t>
            </a:r>
          </a:p>
          <a:p>
            <a:pPr algn="ctr" eaLnBrk="1" hangingPunct="1"/>
            <a:r>
              <a:rPr lang="en-US" altLang="en-US">
                <a:solidFill>
                  <a:srgbClr val="0000FF"/>
                </a:solidFill>
                <a:latin typeface="+mj-lt"/>
              </a:rPr>
              <a:t>t</a:t>
            </a:r>
          </a:p>
          <a:p>
            <a:pPr algn="ctr" eaLnBrk="1" hangingPunct="1"/>
            <a:r>
              <a:rPr lang="en-US" altLang="en-US">
                <a:solidFill>
                  <a:srgbClr val="0000FF"/>
                </a:solidFill>
                <a:latin typeface="+mj-lt"/>
              </a:rPr>
              <a:t>s</a:t>
            </a:r>
          </a:p>
        </p:txBody>
      </p:sp>
      <p:sp>
        <p:nvSpPr>
          <p:cNvPr id="22" name="Rectangle 35">
            <a:extLst>
              <a:ext uri="{FF2B5EF4-FFF2-40B4-BE49-F238E27FC236}">
                <a16:creationId xmlns:a16="http://schemas.microsoft.com/office/drawing/2014/main" id="{FFDB3533-59F8-17D5-7AC9-7CC43C629602}"/>
              </a:ext>
            </a:extLst>
          </p:cNvPr>
          <p:cNvSpPr>
            <a:spLocks noChangeArrowheads="1"/>
          </p:cNvSpPr>
          <p:nvPr/>
        </p:nvSpPr>
        <p:spPr bwMode="auto">
          <a:xfrm>
            <a:off x="3475396" y="3339148"/>
            <a:ext cx="303213" cy="1443038"/>
          </a:xfrm>
          <a:prstGeom prst="rect">
            <a:avLst/>
          </a:prstGeom>
          <a:solidFill>
            <a:srgbClr val="B69CB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sz="1600">
              <a:solidFill>
                <a:srgbClr val="0000FF"/>
              </a:solidFill>
              <a:latin typeface="+mj-lt"/>
            </a:endParaRPr>
          </a:p>
          <a:p>
            <a:pPr algn="ctr" eaLnBrk="1" hangingPunct="1"/>
            <a:r>
              <a:rPr lang="en-US" altLang="en-US" sz="1600">
                <a:solidFill>
                  <a:srgbClr val="0000FF"/>
                </a:solidFill>
                <a:latin typeface="+mj-lt"/>
              </a:rPr>
              <a:t>D</a:t>
            </a:r>
          </a:p>
          <a:p>
            <a:pPr algn="ctr" eaLnBrk="1" hangingPunct="1"/>
            <a:r>
              <a:rPr lang="en-US" altLang="en-US" sz="1600">
                <a:solidFill>
                  <a:srgbClr val="0000FF"/>
                </a:solidFill>
                <a:latin typeface="+mj-lt"/>
              </a:rPr>
              <a:t>e</a:t>
            </a:r>
          </a:p>
          <a:p>
            <a:pPr algn="ctr" eaLnBrk="1" hangingPunct="1"/>
            <a:r>
              <a:rPr lang="en-US" altLang="en-US" sz="1600">
                <a:solidFill>
                  <a:srgbClr val="0000FF"/>
                </a:solidFill>
                <a:latin typeface="+mj-lt"/>
              </a:rPr>
              <a:t>s</a:t>
            </a:r>
          </a:p>
          <a:p>
            <a:pPr algn="ctr" eaLnBrk="1" hangingPunct="1"/>
            <a:r>
              <a:rPr lang="en-US" altLang="en-US" sz="1600">
                <a:solidFill>
                  <a:srgbClr val="0000FF"/>
                </a:solidFill>
                <a:latin typeface="+mj-lt"/>
              </a:rPr>
              <a:t>i</a:t>
            </a:r>
          </a:p>
          <a:p>
            <a:pPr algn="ctr" eaLnBrk="1" hangingPunct="1"/>
            <a:r>
              <a:rPr lang="en-US" altLang="en-US" sz="1600">
                <a:solidFill>
                  <a:srgbClr val="0000FF"/>
                </a:solidFill>
                <a:latin typeface="+mj-lt"/>
              </a:rPr>
              <a:t>g</a:t>
            </a:r>
          </a:p>
          <a:p>
            <a:pPr algn="ctr" eaLnBrk="1" hangingPunct="1"/>
            <a:r>
              <a:rPr lang="en-US" altLang="en-US" sz="1600">
                <a:solidFill>
                  <a:srgbClr val="0000FF"/>
                </a:solidFill>
                <a:latin typeface="+mj-lt"/>
              </a:rPr>
              <a:t>n</a:t>
            </a:r>
          </a:p>
          <a:p>
            <a:pPr algn="ctr" eaLnBrk="1" hangingPunct="1"/>
            <a:endParaRPr lang="en-US" altLang="en-US">
              <a:solidFill>
                <a:srgbClr val="0000FF"/>
              </a:solidFill>
              <a:latin typeface="+mj-lt"/>
            </a:endParaRPr>
          </a:p>
        </p:txBody>
      </p:sp>
      <p:sp>
        <p:nvSpPr>
          <p:cNvPr id="23" name="Rectangle 36">
            <a:extLst>
              <a:ext uri="{FF2B5EF4-FFF2-40B4-BE49-F238E27FC236}">
                <a16:creationId xmlns:a16="http://schemas.microsoft.com/office/drawing/2014/main" id="{7518B482-9711-EC82-336C-C284FB99C666}"/>
              </a:ext>
            </a:extLst>
          </p:cNvPr>
          <p:cNvSpPr>
            <a:spLocks noChangeArrowheads="1"/>
          </p:cNvSpPr>
          <p:nvPr/>
        </p:nvSpPr>
        <p:spPr bwMode="auto">
          <a:xfrm>
            <a:off x="6053496" y="4021773"/>
            <a:ext cx="1519238" cy="531813"/>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solidFill>
                  <a:srgbClr val="0000FF"/>
                </a:solidFill>
                <a:latin typeface="+mj-lt"/>
              </a:rPr>
              <a:t>Process </a:t>
            </a:r>
          </a:p>
          <a:p>
            <a:pPr algn="ctr" eaLnBrk="1" hangingPunct="1"/>
            <a:r>
              <a:rPr lang="en-US" altLang="en-US">
                <a:solidFill>
                  <a:srgbClr val="0000FF"/>
                </a:solidFill>
                <a:latin typeface="+mj-lt"/>
              </a:rPr>
              <a:t>Requirements</a:t>
            </a:r>
          </a:p>
        </p:txBody>
      </p:sp>
      <p:sp>
        <p:nvSpPr>
          <p:cNvPr id="24" name="Rectangle 37">
            <a:extLst>
              <a:ext uri="{FF2B5EF4-FFF2-40B4-BE49-F238E27FC236}">
                <a16:creationId xmlns:a16="http://schemas.microsoft.com/office/drawing/2014/main" id="{0B446C50-46EC-B32B-D8C5-653DDA1BF98B}"/>
              </a:ext>
            </a:extLst>
          </p:cNvPr>
          <p:cNvSpPr>
            <a:spLocks noChangeArrowheads="1"/>
          </p:cNvSpPr>
          <p:nvPr/>
        </p:nvSpPr>
        <p:spPr bwMode="auto">
          <a:xfrm>
            <a:off x="8329971" y="4402773"/>
            <a:ext cx="1519238" cy="531813"/>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solidFill>
                  <a:srgbClr val="0000FF"/>
                </a:solidFill>
                <a:latin typeface="+mj-lt"/>
              </a:rPr>
              <a:t>Production </a:t>
            </a:r>
          </a:p>
          <a:p>
            <a:pPr algn="ctr" eaLnBrk="1" hangingPunct="1"/>
            <a:r>
              <a:rPr lang="en-US" altLang="en-US">
                <a:solidFill>
                  <a:srgbClr val="0000FF"/>
                </a:solidFill>
                <a:latin typeface="+mj-lt"/>
              </a:rPr>
              <a:t>Standards</a:t>
            </a:r>
          </a:p>
        </p:txBody>
      </p:sp>
      <p:sp>
        <p:nvSpPr>
          <p:cNvPr id="25" name="Rectangle 38">
            <a:extLst>
              <a:ext uri="{FF2B5EF4-FFF2-40B4-BE49-F238E27FC236}">
                <a16:creationId xmlns:a16="http://schemas.microsoft.com/office/drawing/2014/main" id="{5AE85C7B-D45A-1197-07EF-E39E88A135F8}"/>
              </a:ext>
            </a:extLst>
          </p:cNvPr>
          <p:cNvSpPr>
            <a:spLocks noChangeArrowheads="1"/>
          </p:cNvSpPr>
          <p:nvPr/>
        </p:nvSpPr>
        <p:spPr bwMode="auto">
          <a:xfrm>
            <a:off x="3777021" y="2808923"/>
            <a:ext cx="1519238" cy="531813"/>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dirty="0">
                <a:solidFill>
                  <a:srgbClr val="0000FF"/>
                </a:solidFill>
                <a:latin typeface="+mj-lt"/>
              </a:rPr>
              <a:t>Parts</a:t>
            </a:r>
          </a:p>
          <a:p>
            <a:pPr algn="ctr" eaLnBrk="1" hangingPunct="1"/>
            <a:r>
              <a:rPr lang="en-US" altLang="en-US" dirty="0">
                <a:solidFill>
                  <a:srgbClr val="0000FF"/>
                </a:solidFill>
                <a:latin typeface="+mj-lt"/>
              </a:rPr>
              <a:t>Requirements</a:t>
            </a:r>
          </a:p>
        </p:txBody>
      </p:sp>
      <p:sp>
        <p:nvSpPr>
          <p:cNvPr id="26" name="Oval 39">
            <a:extLst>
              <a:ext uri="{FF2B5EF4-FFF2-40B4-BE49-F238E27FC236}">
                <a16:creationId xmlns:a16="http://schemas.microsoft.com/office/drawing/2014/main" id="{C7A15BC6-45BE-41AC-23FE-98280316A13D}"/>
              </a:ext>
            </a:extLst>
          </p:cNvPr>
          <p:cNvSpPr>
            <a:spLocks noChangeArrowheads="1"/>
          </p:cNvSpPr>
          <p:nvPr/>
        </p:nvSpPr>
        <p:spPr bwMode="auto">
          <a:xfrm>
            <a:off x="4385034" y="3947161"/>
            <a:ext cx="152400" cy="152400"/>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a:solidFill>
                <a:srgbClr val="FF0000"/>
              </a:solidFill>
              <a:latin typeface="+mj-lt"/>
            </a:endParaRPr>
          </a:p>
        </p:txBody>
      </p:sp>
      <p:sp>
        <p:nvSpPr>
          <p:cNvPr id="27" name="Oval 40">
            <a:extLst>
              <a:ext uri="{FF2B5EF4-FFF2-40B4-BE49-F238E27FC236}">
                <a16:creationId xmlns:a16="http://schemas.microsoft.com/office/drawing/2014/main" id="{1F730E0B-0F0F-5F90-14CE-A4A89B7D5412}"/>
              </a:ext>
            </a:extLst>
          </p:cNvPr>
          <p:cNvSpPr>
            <a:spLocks noChangeArrowheads="1"/>
          </p:cNvSpPr>
          <p:nvPr/>
        </p:nvSpPr>
        <p:spPr bwMode="auto">
          <a:xfrm>
            <a:off x="4840646" y="4402773"/>
            <a:ext cx="152400" cy="152400"/>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a:solidFill>
                <a:srgbClr val="FF0000"/>
              </a:solidFill>
              <a:latin typeface="+mj-lt"/>
            </a:endParaRPr>
          </a:p>
        </p:txBody>
      </p:sp>
      <p:sp>
        <p:nvSpPr>
          <p:cNvPr id="28" name="Oval 41">
            <a:extLst>
              <a:ext uri="{FF2B5EF4-FFF2-40B4-BE49-F238E27FC236}">
                <a16:creationId xmlns:a16="http://schemas.microsoft.com/office/drawing/2014/main" id="{8337AD33-F641-1861-5238-B8818312D44F}"/>
              </a:ext>
            </a:extLst>
          </p:cNvPr>
          <p:cNvSpPr>
            <a:spLocks noChangeArrowheads="1"/>
          </p:cNvSpPr>
          <p:nvPr/>
        </p:nvSpPr>
        <p:spPr bwMode="auto">
          <a:xfrm>
            <a:off x="6964721" y="4856798"/>
            <a:ext cx="152400" cy="152400"/>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a:solidFill>
                <a:srgbClr val="FF0000"/>
              </a:solidFill>
              <a:latin typeface="+mj-lt"/>
            </a:endParaRPr>
          </a:p>
        </p:txBody>
      </p:sp>
      <p:sp>
        <p:nvSpPr>
          <p:cNvPr id="29" name="Oval 42">
            <a:extLst>
              <a:ext uri="{FF2B5EF4-FFF2-40B4-BE49-F238E27FC236}">
                <a16:creationId xmlns:a16="http://schemas.microsoft.com/office/drawing/2014/main" id="{8A0D307D-3448-6789-CA05-8532CFED06B4}"/>
              </a:ext>
            </a:extLst>
          </p:cNvPr>
          <p:cNvSpPr>
            <a:spLocks noChangeArrowheads="1"/>
          </p:cNvSpPr>
          <p:nvPr/>
        </p:nvSpPr>
        <p:spPr bwMode="auto">
          <a:xfrm>
            <a:off x="6358296" y="5312411"/>
            <a:ext cx="152400" cy="152400"/>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a:solidFill>
                <a:srgbClr val="FF0000"/>
              </a:solidFill>
              <a:latin typeface="+mj-lt"/>
            </a:endParaRPr>
          </a:p>
        </p:txBody>
      </p:sp>
      <p:sp>
        <p:nvSpPr>
          <p:cNvPr id="30" name="Oval 43">
            <a:extLst>
              <a:ext uri="{FF2B5EF4-FFF2-40B4-BE49-F238E27FC236}">
                <a16:creationId xmlns:a16="http://schemas.microsoft.com/office/drawing/2014/main" id="{2BA5D685-4D1E-993B-8523-E5069748099A}"/>
              </a:ext>
            </a:extLst>
          </p:cNvPr>
          <p:cNvSpPr>
            <a:spLocks noChangeArrowheads="1"/>
          </p:cNvSpPr>
          <p:nvPr/>
        </p:nvSpPr>
        <p:spPr bwMode="auto">
          <a:xfrm>
            <a:off x="8483959" y="5085398"/>
            <a:ext cx="152400" cy="152400"/>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a:solidFill>
                <a:srgbClr val="FF0000"/>
              </a:solidFill>
              <a:latin typeface="+mj-lt"/>
            </a:endParaRPr>
          </a:p>
        </p:txBody>
      </p:sp>
      <p:sp>
        <p:nvSpPr>
          <p:cNvPr id="31" name="Oval 44">
            <a:extLst>
              <a:ext uri="{FF2B5EF4-FFF2-40B4-BE49-F238E27FC236}">
                <a16:creationId xmlns:a16="http://schemas.microsoft.com/office/drawing/2014/main" id="{7ED9D35C-EA1D-798A-4C1F-128D214509F9}"/>
              </a:ext>
            </a:extLst>
          </p:cNvPr>
          <p:cNvSpPr>
            <a:spLocks noChangeArrowheads="1"/>
          </p:cNvSpPr>
          <p:nvPr/>
        </p:nvSpPr>
        <p:spPr bwMode="auto">
          <a:xfrm>
            <a:off x="9014184" y="5768023"/>
            <a:ext cx="152400" cy="152400"/>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a:solidFill>
                <a:srgbClr val="FF0000"/>
              </a:solidFill>
              <a:latin typeface="+mj-lt"/>
            </a:endParaRPr>
          </a:p>
        </p:txBody>
      </p:sp>
      <p:sp>
        <p:nvSpPr>
          <p:cNvPr id="32" name="AutoShape 45">
            <a:extLst>
              <a:ext uri="{FF2B5EF4-FFF2-40B4-BE49-F238E27FC236}">
                <a16:creationId xmlns:a16="http://schemas.microsoft.com/office/drawing/2014/main" id="{FB2E4940-9309-3270-6379-D2A2D11B149B}"/>
              </a:ext>
            </a:extLst>
          </p:cNvPr>
          <p:cNvSpPr>
            <a:spLocks noChangeArrowheads="1"/>
          </p:cNvSpPr>
          <p:nvPr/>
        </p:nvSpPr>
        <p:spPr bwMode="auto">
          <a:xfrm>
            <a:off x="4081821" y="3567748"/>
            <a:ext cx="303213" cy="227013"/>
          </a:xfrm>
          <a:prstGeom prst="triangle">
            <a:avLst>
              <a:gd name="adj" fmla="val 50000"/>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latin typeface="+mj-lt"/>
            </a:endParaRPr>
          </a:p>
        </p:txBody>
      </p:sp>
      <p:sp>
        <p:nvSpPr>
          <p:cNvPr id="33" name="AutoShape 46">
            <a:extLst>
              <a:ext uri="{FF2B5EF4-FFF2-40B4-BE49-F238E27FC236}">
                <a16:creationId xmlns:a16="http://schemas.microsoft.com/office/drawing/2014/main" id="{F2F56EFC-33DF-E037-CB83-FE96A253DF14}"/>
              </a:ext>
            </a:extLst>
          </p:cNvPr>
          <p:cNvSpPr>
            <a:spLocks noChangeArrowheads="1"/>
          </p:cNvSpPr>
          <p:nvPr/>
        </p:nvSpPr>
        <p:spPr bwMode="auto">
          <a:xfrm>
            <a:off x="4840646" y="3416936"/>
            <a:ext cx="303213" cy="227012"/>
          </a:xfrm>
          <a:prstGeom prst="triangle">
            <a:avLst>
              <a:gd name="adj" fmla="val 50000"/>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latin typeface="+mj-lt"/>
            </a:endParaRPr>
          </a:p>
        </p:txBody>
      </p:sp>
      <p:sp>
        <p:nvSpPr>
          <p:cNvPr id="34" name="AutoShape 47">
            <a:extLst>
              <a:ext uri="{FF2B5EF4-FFF2-40B4-BE49-F238E27FC236}">
                <a16:creationId xmlns:a16="http://schemas.microsoft.com/office/drawing/2014/main" id="{7F46E59A-4AAB-9999-3069-2E4A53758441}"/>
              </a:ext>
            </a:extLst>
          </p:cNvPr>
          <p:cNvSpPr>
            <a:spLocks noChangeArrowheads="1"/>
          </p:cNvSpPr>
          <p:nvPr/>
        </p:nvSpPr>
        <p:spPr bwMode="auto">
          <a:xfrm>
            <a:off x="4081821" y="4402773"/>
            <a:ext cx="303213" cy="227013"/>
          </a:xfrm>
          <a:prstGeom prst="triangle">
            <a:avLst>
              <a:gd name="adj" fmla="val 50000"/>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latin typeface="+mj-lt"/>
            </a:endParaRPr>
          </a:p>
        </p:txBody>
      </p:sp>
      <p:sp>
        <p:nvSpPr>
          <p:cNvPr id="35" name="AutoShape 48">
            <a:extLst>
              <a:ext uri="{FF2B5EF4-FFF2-40B4-BE49-F238E27FC236}">
                <a16:creationId xmlns:a16="http://schemas.microsoft.com/office/drawing/2014/main" id="{3F92572E-5696-0765-9134-B51E95B7FF6D}"/>
              </a:ext>
            </a:extLst>
          </p:cNvPr>
          <p:cNvSpPr>
            <a:spLocks noChangeArrowheads="1"/>
          </p:cNvSpPr>
          <p:nvPr/>
        </p:nvSpPr>
        <p:spPr bwMode="auto">
          <a:xfrm>
            <a:off x="6131284" y="4707573"/>
            <a:ext cx="303212" cy="227013"/>
          </a:xfrm>
          <a:prstGeom prst="triangle">
            <a:avLst>
              <a:gd name="adj" fmla="val 50000"/>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latin typeface="+mj-lt"/>
            </a:endParaRPr>
          </a:p>
        </p:txBody>
      </p:sp>
      <p:sp>
        <p:nvSpPr>
          <p:cNvPr id="36" name="AutoShape 49">
            <a:extLst>
              <a:ext uri="{FF2B5EF4-FFF2-40B4-BE49-F238E27FC236}">
                <a16:creationId xmlns:a16="http://schemas.microsoft.com/office/drawing/2014/main" id="{CB0E9B59-663A-7B30-7A89-E401C81C544B}"/>
              </a:ext>
            </a:extLst>
          </p:cNvPr>
          <p:cNvSpPr>
            <a:spLocks noChangeArrowheads="1"/>
          </p:cNvSpPr>
          <p:nvPr/>
        </p:nvSpPr>
        <p:spPr bwMode="auto">
          <a:xfrm>
            <a:off x="6205896" y="5541011"/>
            <a:ext cx="303213" cy="227012"/>
          </a:xfrm>
          <a:prstGeom prst="triangle">
            <a:avLst>
              <a:gd name="adj" fmla="val 50000"/>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latin typeface="+mj-lt"/>
            </a:endParaRPr>
          </a:p>
        </p:txBody>
      </p:sp>
      <p:sp>
        <p:nvSpPr>
          <p:cNvPr id="37" name="AutoShape 50">
            <a:extLst>
              <a:ext uri="{FF2B5EF4-FFF2-40B4-BE49-F238E27FC236}">
                <a16:creationId xmlns:a16="http://schemas.microsoft.com/office/drawing/2014/main" id="{9CEBBCD4-5A25-66B1-B383-D9A4A082E9E5}"/>
              </a:ext>
            </a:extLst>
          </p:cNvPr>
          <p:cNvSpPr>
            <a:spLocks noChangeArrowheads="1"/>
          </p:cNvSpPr>
          <p:nvPr/>
        </p:nvSpPr>
        <p:spPr bwMode="auto">
          <a:xfrm>
            <a:off x="9318984" y="5541011"/>
            <a:ext cx="303212" cy="227012"/>
          </a:xfrm>
          <a:prstGeom prst="triangle">
            <a:avLst>
              <a:gd name="adj" fmla="val 50000"/>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latin typeface="+mj-lt"/>
            </a:endParaRPr>
          </a:p>
        </p:txBody>
      </p:sp>
      <p:sp>
        <p:nvSpPr>
          <p:cNvPr id="38" name="AutoShape 51">
            <a:extLst>
              <a:ext uri="{FF2B5EF4-FFF2-40B4-BE49-F238E27FC236}">
                <a16:creationId xmlns:a16="http://schemas.microsoft.com/office/drawing/2014/main" id="{7CE39AEA-73BC-3B6E-8CDE-E263F6CCC1B5}"/>
              </a:ext>
            </a:extLst>
          </p:cNvPr>
          <p:cNvSpPr>
            <a:spLocks noChangeArrowheads="1"/>
          </p:cNvSpPr>
          <p:nvPr/>
        </p:nvSpPr>
        <p:spPr bwMode="auto">
          <a:xfrm>
            <a:off x="7040921" y="5237798"/>
            <a:ext cx="303213" cy="227013"/>
          </a:xfrm>
          <a:prstGeom prst="triangle">
            <a:avLst>
              <a:gd name="adj" fmla="val 50000"/>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latin typeface="+mj-lt"/>
            </a:endParaRPr>
          </a:p>
        </p:txBody>
      </p:sp>
      <p:sp>
        <p:nvSpPr>
          <p:cNvPr id="39" name="Oval 52">
            <a:extLst>
              <a:ext uri="{FF2B5EF4-FFF2-40B4-BE49-F238E27FC236}">
                <a16:creationId xmlns:a16="http://schemas.microsoft.com/office/drawing/2014/main" id="{4151AB44-035C-7570-A314-7DF8CE2A7391}"/>
              </a:ext>
            </a:extLst>
          </p:cNvPr>
          <p:cNvSpPr>
            <a:spLocks noChangeArrowheads="1"/>
          </p:cNvSpPr>
          <p:nvPr/>
        </p:nvSpPr>
        <p:spPr bwMode="auto">
          <a:xfrm>
            <a:off x="9241196" y="6071236"/>
            <a:ext cx="152400" cy="152400"/>
          </a:xfrm>
          <a:prstGeom prst="ellipse">
            <a:avLst/>
          </a:prstGeom>
          <a:solidFill>
            <a:srgbClr val="F2F20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a:solidFill>
                <a:srgbClr val="FFFF00"/>
              </a:solidFill>
              <a:latin typeface="+mj-lt"/>
            </a:endParaRPr>
          </a:p>
        </p:txBody>
      </p:sp>
      <p:sp>
        <p:nvSpPr>
          <p:cNvPr id="40" name="Oval 53">
            <a:extLst>
              <a:ext uri="{FF2B5EF4-FFF2-40B4-BE49-F238E27FC236}">
                <a16:creationId xmlns:a16="http://schemas.microsoft.com/office/drawing/2014/main" id="{BE6934FD-080C-7F1C-74D0-25B8A3AEFB0A}"/>
              </a:ext>
            </a:extLst>
          </p:cNvPr>
          <p:cNvSpPr>
            <a:spLocks noChangeArrowheads="1"/>
          </p:cNvSpPr>
          <p:nvPr/>
        </p:nvSpPr>
        <p:spPr bwMode="auto">
          <a:xfrm>
            <a:off x="8558571" y="5995036"/>
            <a:ext cx="152400" cy="152400"/>
          </a:xfrm>
          <a:prstGeom prst="ellipse">
            <a:avLst/>
          </a:prstGeom>
          <a:solidFill>
            <a:srgbClr val="F2F20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a:solidFill>
                <a:srgbClr val="FFFF00"/>
              </a:solidFill>
              <a:latin typeface="+mj-lt"/>
            </a:endParaRPr>
          </a:p>
        </p:txBody>
      </p:sp>
      <p:sp>
        <p:nvSpPr>
          <p:cNvPr id="41" name="Oval 54">
            <a:extLst>
              <a:ext uri="{FF2B5EF4-FFF2-40B4-BE49-F238E27FC236}">
                <a16:creationId xmlns:a16="http://schemas.microsoft.com/office/drawing/2014/main" id="{CD5828CB-C90E-36EE-F899-721188CDF17B}"/>
              </a:ext>
            </a:extLst>
          </p:cNvPr>
          <p:cNvSpPr>
            <a:spLocks noChangeArrowheads="1"/>
          </p:cNvSpPr>
          <p:nvPr/>
        </p:nvSpPr>
        <p:spPr bwMode="auto">
          <a:xfrm>
            <a:off x="3853221" y="3415348"/>
            <a:ext cx="152400" cy="152400"/>
          </a:xfrm>
          <a:prstGeom prst="ellipse">
            <a:avLst/>
          </a:prstGeom>
          <a:solidFill>
            <a:srgbClr val="F2F20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a:solidFill>
                <a:srgbClr val="FFFF00"/>
              </a:solidFill>
              <a:latin typeface="+mj-lt"/>
            </a:endParaRPr>
          </a:p>
        </p:txBody>
      </p:sp>
      <p:sp>
        <p:nvSpPr>
          <p:cNvPr id="42" name="Oval 55">
            <a:extLst>
              <a:ext uri="{FF2B5EF4-FFF2-40B4-BE49-F238E27FC236}">
                <a16:creationId xmlns:a16="http://schemas.microsoft.com/office/drawing/2014/main" id="{DB95D8A0-91D4-B55D-8301-3E3AE57EF57B}"/>
              </a:ext>
            </a:extLst>
          </p:cNvPr>
          <p:cNvSpPr>
            <a:spLocks noChangeArrowheads="1"/>
          </p:cNvSpPr>
          <p:nvPr/>
        </p:nvSpPr>
        <p:spPr bwMode="auto">
          <a:xfrm>
            <a:off x="4916846" y="4021773"/>
            <a:ext cx="152400" cy="152400"/>
          </a:xfrm>
          <a:prstGeom prst="ellipse">
            <a:avLst/>
          </a:prstGeom>
          <a:solidFill>
            <a:srgbClr val="F2F20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a:solidFill>
                <a:srgbClr val="FFFF00"/>
              </a:solidFill>
              <a:latin typeface="+mj-lt"/>
            </a:endParaRPr>
          </a:p>
        </p:txBody>
      </p:sp>
      <p:sp>
        <p:nvSpPr>
          <p:cNvPr id="43" name="Oval 56">
            <a:extLst>
              <a:ext uri="{FF2B5EF4-FFF2-40B4-BE49-F238E27FC236}">
                <a16:creationId xmlns:a16="http://schemas.microsoft.com/office/drawing/2014/main" id="{598671FE-D96F-9CF3-1DC5-CE05E33D078E}"/>
              </a:ext>
            </a:extLst>
          </p:cNvPr>
          <p:cNvSpPr>
            <a:spLocks noChangeArrowheads="1"/>
          </p:cNvSpPr>
          <p:nvPr/>
        </p:nvSpPr>
        <p:spPr bwMode="auto">
          <a:xfrm>
            <a:off x="9469796" y="5236211"/>
            <a:ext cx="152400" cy="152400"/>
          </a:xfrm>
          <a:prstGeom prst="ellipse">
            <a:avLst/>
          </a:prstGeom>
          <a:solidFill>
            <a:srgbClr val="F2F20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a:solidFill>
                <a:srgbClr val="FFFF00"/>
              </a:solidFill>
              <a:latin typeface="+mj-lt"/>
            </a:endParaRPr>
          </a:p>
        </p:txBody>
      </p:sp>
      <p:sp>
        <p:nvSpPr>
          <p:cNvPr id="44" name="Oval 57">
            <a:extLst>
              <a:ext uri="{FF2B5EF4-FFF2-40B4-BE49-F238E27FC236}">
                <a16:creationId xmlns:a16="http://schemas.microsoft.com/office/drawing/2014/main" id="{66D0A89F-706C-B094-73BE-9AE4365848A7}"/>
              </a:ext>
            </a:extLst>
          </p:cNvPr>
          <p:cNvSpPr>
            <a:spLocks noChangeArrowheads="1"/>
          </p:cNvSpPr>
          <p:nvPr/>
        </p:nvSpPr>
        <p:spPr bwMode="auto">
          <a:xfrm>
            <a:off x="7267934" y="5615623"/>
            <a:ext cx="152400" cy="152400"/>
          </a:xfrm>
          <a:prstGeom prst="ellipse">
            <a:avLst/>
          </a:prstGeom>
          <a:solidFill>
            <a:srgbClr val="F2F20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a:solidFill>
                <a:srgbClr val="FFFF00"/>
              </a:solidFill>
              <a:latin typeface="+mj-lt"/>
            </a:endParaRPr>
          </a:p>
        </p:txBody>
      </p:sp>
      <p:sp>
        <p:nvSpPr>
          <p:cNvPr id="45" name="Oval 58">
            <a:extLst>
              <a:ext uri="{FF2B5EF4-FFF2-40B4-BE49-F238E27FC236}">
                <a16:creationId xmlns:a16="http://schemas.microsoft.com/office/drawing/2014/main" id="{953BC41F-8751-5DA0-C5ED-9B78A1A98F88}"/>
              </a:ext>
            </a:extLst>
          </p:cNvPr>
          <p:cNvSpPr>
            <a:spLocks noChangeArrowheads="1"/>
          </p:cNvSpPr>
          <p:nvPr/>
        </p:nvSpPr>
        <p:spPr bwMode="auto">
          <a:xfrm>
            <a:off x="6813909" y="5615623"/>
            <a:ext cx="152400" cy="152400"/>
          </a:xfrm>
          <a:prstGeom prst="ellipse">
            <a:avLst/>
          </a:prstGeom>
          <a:solidFill>
            <a:srgbClr val="F2F20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a:solidFill>
                <a:srgbClr val="FFFF00"/>
              </a:solidFill>
              <a:latin typeface="+mj-lt"/>
            </a:endParaRPr>
          </a:p>
        </p:txBody>
      </p:sp>
      <p:sp>
        <p:nvSpPr>
          <p:cNvPr id="46" name="Oval 59">
            <a:extLst>
              <a:ext uri="{FF2B5EF4-FFF2-40B4-BE49-F238E27FC236}">
                <a16:creationId xmlns:a16="http://schemas.microsoft.com/office/drawing/2014/main" id="{644463A4-0604-C663-D7DB-F05F865E6F47}"/>
              </a:ext>
            </a:extLst>
          </p:cNvPr>
          <p:cNvSpPr>
            <a:spLocks noChangeArrowheads="1"/>
          </p:cNvSpPr>
          <p:nvPr/>
        </p:nvSpPr>
        <p:spPr bwMode="auto">
          <a:xfrm>
            <a:off x="6509109" y="4932998"/>
            <a:ext cx="152400" cy="152400"/>
          </a:xfrm>
          <a:prstGeom prst="ellipse">
            <a:avLst/>
          </a:prstGeom>
          <a:solidFill>
            <a:srgbClr val="F2F20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a:solidFill>
                <a:srgbClr val="FFFF00"/>
              </a:solidFill>
              <a:latin typeface="+mj-lt"/>
            </a:endParaRPr>
          </a:p>
        </p:txBody>
      </p:sp>
      <p:sp>
        <p:nvSpPr>
          <p:cNvPr id="47" name="AutoShape 60">
            <a:extLst>
              <a:ext uri="{FF2B5EF4-FFF2-40B4-BE49-F238E27FC236}">
                <a16:creationId xmlns:a16="http://schemas.microsoft.com/office/drawing/2014/main" id="{9889BE1B-F2D9-9111-6A18-5DF54CC77E86}"/>
              </a:ext>
            </a:extLst>
          </p:cNvPr>
          <p:cNvSpPr>
            <a:spLocks noChangeArrowheads="1"/>
          </p:cNvSpPr>
          <p:nvPr/>
        </p:nvSpPr>
        <p:spPr bwMode="auto">
          <a:xfrm>
            <a:off x="8939571" y="5085398"/>
            <a:ext cx="303213" cy="227013"/>
          </a:xfrm>
          <a:prstGeom prst="triangle">
            <a:avLst>
              <a:gd name="adj" fmla="val 50000"/>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latin typeface="+mj-lt"/>
            </a:endParaRPr>
          </a:p>
        </p:txBody>
      </p:sp>
      <p:sp>
        <p:nvSpPr>
          <p:cNvPr id="48" name="AutoShape 61">
            <a:extLst>
              <a:ext uri="{FF2B5EF4-FFF2-40B4-BE49-F238E27FC236}">
                <a16:creationId xmlns:a16="http://schemas.microsoft.com/office/drawing/2014/main" id="{BDE5E3B1-2AB3-4AB9-5A1A-376829E65852}"/>
              </a:ext>
            </a:extLst>
          </p:cNvPr>
          <p:cNvSpPr>
            <a:spLocks noChangeArrowheads="1"/>
          </p:cNvSpPr>
          <p:nvPr/>
        </p:nvSpPr>
        <p:spPr bwMode="auto">
          <a:xfrm>
            <a:off x="8560159" y="5388611"/>
            <a:ext cx="303212" cy="227012"/>
          </a:xfrm>
          <a:prstGeom prst="triangle">
            <a:avLst>
              <a:gd name="adj" fmla="val 50000"/>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latin typeface="+mj-lt"/>
            </a:endParaRPr>
          </a:p>
        </p:txBody>
      </p:sp>
      <p:sp>
        <p:nvSpPr>
          <p:cNvPr id="49" name="Line 63">
            <a:extLst>
              <a:ext uri="{FF2B5EF4-FFF2-40B4-BE49-F238E27FC236}">
                <a16:creationId xmlns:a16="http://schemas.microsoft.com/office/drawing/2014/main" id="{6BA27B5F-D1DB-7202-EA64-E6912CB8F265}"/>
              </a:ext>
            </a:extLst>
          </p:cNvPr>
          <p:cNvSpPr>
            <a:spLocks noChangeShapeType="1"/>
          </p:cNvSpPr>
          <p:nvPr/>
        </p:nvSpPr>
        <p:spPr bwMode="auto">
          <a:xfrm>
            <a:off x="3019784" y="1973898"/>
            <a:ext cx="1508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0" name="Line 66">
            <a:extLst>
              <a:ext uri="{FF2B5EF4-FFF2-40B4-BE49-F238E27FC236}">
                <a16:creationId xmlns:a16="http://schemas.microsoft.com/office/drawing/2014/main" id="{5CBB92C2-3670-B52E-EEE7-522E218EA80D}"/>
              </a:ext>
            </a:extLst>
          </p:cNvPr>
          <p:cNvSpPr>
            <a:spLocks noChangeShapeType="1"/>
          </p:cNvSpPr>
          <p:nvPr/>
        </p:nvSpPr>
        <p:spPr bwMode="auto">
          <a:xfrm>
            <a:off x="7574321" y="4174173"/>
            <a:ext cx="15081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1" name="Line 70">
            <a:extLst>
              <a:ext uri="{FF2B5EF4-FFF2-40B4-BE49-F238E27FC236}">
                <a16:creationId xmlns:a16="http://schemas.microsoft.com/office/drawing/2014/main" id="{F4F60692-DEA3-97A4-1D04-52246E0CF937}"/>
              </a:ext>
            </a:extLst>
          </p:cNvPr>
          <p:cNvSpPr>
            <a:spLocks noChangeShapeType="1"/>
          </p:cNvSpPr>
          <p:nvPr/>
        </p:nvSpPr>
        <p:spPr bwMode="auto">
          <a:xfrm>
            <a:off x="5296259" y="3112136"/>
            <a:ext cx="1508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2" name="Line 71">
            <a:extLst>
              <a:ext uri="{FF2B5EF4-FFF2-40B4-BE49-F238E27FC236}">
                <a16:creationId xmlns:a16="http://schemas.microsoft.com/office/drawing/2014/main" id="{6E25B091-5A58-FD60-9972-699FEB7457BC}"/>
              </a:ext>
            </a:extLst>
          </p:cNvPr>
          <p:cNvSpPr>
            <a:spLocks noChangeShapeType="1"/>
          </p:cNvSpPr>
          <p:nvPr/>
        </p:nvSpPr>
        <p:spPr bwMode="auto">
          <a:xfrm>
            <a:off x="3170596" y="1973898"/>
            <a:ext cx="0" cy="23526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3" name="Line 72">
            <a:extLst>
              <a:ext uri="{FF2B5EF4-FFF2-40B4-BE49-F238E27FC236}">
                <a16:creationId xmlns:a16="http://schemas.microsoft.com/office/drawing/2014/main" id="{E96B6A04-9CC8-43A2-08CB-4543C1E3EB50}"/>
              </a:ext>
            </a:extLst>
          </p:cNvPr>
          <p:cNvSpPr>
            <a:spLocks noChangeShapeType="1"/>
          </p:cNvSpPr>
          <p:nvPr/>
        </p:nvSpPr>
        <p:spPr bwMode="auto">
          <a:xfrm>
            <a:off x="3170596" y="4326573"/>
            <a:ext cx="30321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4" name="Line 73">
            <a:extLst>
              <a:ext uri="{FF2B5EF4-FFF2-40B4-BE49-F238E27FC236}">
                <a16:creationId xmlns:a16="http://schemas.microsoft.com/office/drawing/2014/main" id="{AF1D9FDC-694A-91D5-BD34-8EA8F3883FA9}"/>
              </a:ext>
            </a:extLst>
          </p:cNvPr>
          <p:cNvSpPr>
            <a:spLocks noChangeShapeType="1"/>
          </p:cNvSpPr>
          <p:nvPr/>
        </p:nvSpPr>
        <p:spPr bwMode="auto">
          <a:xfrm flipH="1">
            <a:off x="5447071" y="3112136"/>
            <a:ext cx="0" cy="2276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5" name="Line 74">
            <a:extLst>
              <a:ext uri="{FF2B5EF4-FFF2-40B4-BE49-F238E27FC236}">
                <a16:creationId xmlns:a16="http://schemas.microsoft.com/office/drawing/2014/main" id="{6598C14D-5E9D-35FA-CF57-1E4C239D876D}"/>
              </a:ext>
            </a:extLst>
          </p:cNvPr>
          <p:cNvSpPr>
            <a:spLocks noChangeShapeType="1"/>
          </p:cNvSpPr>
          <p:nvPr/>
        </p:nvSpPr>
        <p:spPr bwMode="auto">
          <a:xfrm>
            <a:off x="5447071" y="5388611"/>
            <a:ext cx="304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6" name="Line 75">
            <a:extLst>
              <a:ext uri="{FF2B5EF4-FFF2-40B4-BE49-F238E27FC236}">
                <a16:creationId xmlns:a16="http://schemas.microsoft.com/office/drawing/2014/main" id="{315262DA-DA7F-5D5B-02A4-E368B49F2BCA}"/>
              </a:ext>
            </a:extLst>
          </p:cNvPr>
          <p:cNvSpPr>
            <a:spLocks noChangeShapeType="1"/>
          </p:cNvSpPr>
          <p:nvPr/>
        </p:nvSpPr>
        <p:spPr bwMode="auto">
          <a:xfrm>
            <a:off x="7725134" y="4174173"/>
            <a:ext cx="0" cy="17462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7" name="Line 76">
            <a:extLst>
              <a:ext uri="{FF2B5EF4-FFF2-40B4-BE49-F238E27FC236}">
                <a16:creationId xmlns:a16="http://schemas.microsoft.com/office/drawing/2014/main" id="{A046B7EA-0D82-2CA6-1C58-1FAFF2B81727}"/>
              </a:ext>
            </a:extLst>
          </p:cNvPr>
          <p:cNvSpPr>
            <a:spLocks noChangeShapeType="1"/>
          </p:cNvSpPr>
          <p:nvPr/>
        </p:nvSpPr>
        <p:spPr bwMode="auto">
          <a:xfrm>
            <a:off x="7725134" y="5920423"/>
            <a:ext cx="30321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8" name="Text Box 77">
            <a:extLst>
              <a:ext uri="{FF2B5EF4-FFF2-40B4-BE49-F238E27FC236}">
                <a16:creationId xmlns:a16="http://schemas.microsoft.com/office/drawing/2014/main" id="{029E5201-1066-13FD-674E-45BE504EBED8}"/>
              </a:ext>
            </a:extLst>
          </p:cNvPr>
          <p:cNvSpPr txBox="1">
            <a:spLocks noChangeArrowheads="1"/>
          </p:cNvSpPr>
          <p:nvPr/>
        </p:nvSpPr>
        <p:spPr bwMode="auto">
          <a:xfrm>
            <a:off x="5780446" y="1089977"/>
            <a:ext cx="4038600"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000" b="1" dirty="0">
                <a:latin typeface="+mj-lt"/>
              </a:rPr>
              <a:t>Phase I: Product Planning</a:t>
            </a:r>
          </a:p>
          <a:p>
            <a:pPr eaLnBrk="1" hangingPunct="1">
              <a:spcBef>
                <a:spcPct val="50000"/>
              </a:spcBef>
            </a:pPr>
            <a:r>
              <a:rPr lang="en-US" altLang="en-US" sz="2000" b="1" dirty="0">
                <a:latin typeface="+mj-lt"/>
              </a:rPr>
              <a:t>Phase II: Part Deployment</a:t>
            </a:r>
          </a:p>
          <a:p>
            <a:pPr eaLnBrk="1" hangingPunct="1">
              <a:spcBef>
                <a:spcPct val="50000"/>
              </a:spcBef>
            </a:pPr>
            <a:r>
              <a:rPr lang="en-US" altLang="en-US" sz="2000" b="1" dirty="0">
                <a:latin typeface="+mj-lt"/>
              </a:rPr>
              <a:t>Phase III: Process Planning</a:t>
            </a:r>
          </a:p>
          <a:p>
            <a:pPr eaLnBrk="1" hangingPunct="1">
              <a:spcBef>
                <a:spcPct val="50000"/>
              </a:spcBef>
            </a:pPr>
            <a:r>
              <a:rPr lang="en-US" altLang="en-US" sz="2000" b="1" dirty="0">
                <a:latin typeface="+mj-lt"/>
              </a:rPr>
              <a:t>Phase IV: Production planning</a:t>
            </a:r>
          </a:p>
        </p:txBody>
      </p:sp>
      <p:sp>
        <p:nvSpPr>
          <p:cNvPr id="59" name="Rectangle 78">
            <a:extLst>
              <a:ext uri="{FF2B5EF4-FFF2-40B4-BE49-F238E27FC236}">
                <a16:creationId xmlns:a16="http://schemas.microsoft.com/office/drawing/2014/main" id="{6928931A-0292-9BCB-F8FF-1E69DECB56B7}"/>
              </a:ext>
            </a:extLst>
          </p:cNvPr>
          <p:cNvSpPr>
            <a:spLocks noChangeArrowheads="1"/>
          </p:cNvSpPr>
          <p:nvPr/>
        </p:nvSpPr>
        <p:spPr bwMode="auto">
          <a:xfrm>
            <a:off x="1256071" y="3872548"/>
            <a:ext cx="19050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000" b="1" dirty="0">
                <a:latin typeface="+mj-lt"/>
              </a:rPr>
              <a:t>Phase I: Product Planning</a:t>
            </a:r>
          </a:p>
        </p:txBody>
      </p:sp>
      <p:sp>
        <p:nvSpPr>
          <p:cNvPr id="60" name="Rectangle 79">
            <a:extLst>
              <a:ext uri="{FF2B5EF4-FFF2-40B4-BE49-F238E27FC236}">
                <a16:creationId xmlns:a16="http://schemas.microsoft.com/office/drawing/2014/main" id="{83DCAEF9-408F-B302-2424-2ECF3CB4BD76}"/>
              </a:ext>
            </a:extLst>
          </p:cNvPr>
          <p:cNvSpPr>
            <a:spLocks noChangeArrowheads="1"/>
          </p:cNvSpPr>
          <p:nvPr/>
        </p:nvSpPr>
        <p:spPr bwMode="auto">
          <a:xfrm>
            <a:off x="3341586" y="4859585"/>
            <a:ext cx="19050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000" b="1" dirty="0">
                <a:latin typeface="+mj-lt"/>
              </a:rPr>
              <a:t>Phase II: Part Deployment</a:t>
            </a:r>
          </a:p>
        </p:txBody>
      </p:sp>
      <p:sp>
        <p:nvSpPr>
          <p:cNvPr id="61" name="Rectangle 80">
            <a:extLst>
              <a:ext uri="{FF2B5EF4-FFF2-40B4-BE49-F238E27FC236}">
                <a16:creationId xmlns:a16="http://schemas.microsoft.com/office/drawing/2014/main" id="{6B821EF9-60F7-815B-6D30-E26A8FD50D6F}"/>
              </a:ext>
            </a:extLst>
          </p:cNvPr>
          <p:cNvSpPr>
            <a:spLocks noChangeArrowheads="1"/>
          </p:cNvSpPr>
          <p:nvPr/>
        </p:nvSpPr>
        <p:spPr bwMode="auto">
          <a:xfrm>
            <a:off x="5361346" y="6099810"/>
            <a:ext cx="24384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000" b="1" dirty="0">
                <a:latin typeface="+mj-lt"/>
              </a:rPr>
              <a:t>Phase III: Process Planning</a:t>
            </a:r>
          </a:p>
        </p:txBody>
      </p:sp>
      <p:sp>
        <p:nvSpPr>
          <p:cNvPr id="62" name="Rectangle 81">
            <a:extLst>
              <a:ext uri="{FF2B5EF4-FFF2-40B4-BE49-F238E27FC236}">
                <a16:creationId xmlns:a16="http://schemas.microsoft.com/office/drawing/2014/main" id="{95D41384-5F40-D4BB-2EDD-C0003A5117C6}"/>
              </a:ext>
            </a:extLst>
          </p:cNvPr>
          <p:cNvSpPr>
            <a:spLocks noChangeArrowheads="1"/>
          </p:cNvSpPr>
          <p:nvPr/>
        </p:nvSpPr>
        <p:spPr bwMode="auto">
          <a:xfrm>
            <a:off x="9757133" y="4840688"/>
            <a:ext cx="1704976"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000" b="1" dirty="0">
                <a:latin typeface="+mj-lt"/>
              </a:rPr>
              <a:t>Phase IV: Production planning</a:t>
            </a:r>
          </a:p>
        </p:txBody>
      </p:sp>
    </p:spTree>
    <p:extLst>
      <p:ext uri="{BB962C8B-B14F-4D97-AF65-F5344CB8AC3E}">
        <p14:creationId xmlns:p14="http://schemas.microsoft.com/office/powerpoint/2010/main" val="21487174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1"/>
            <a:ext cx="5035068"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IN" dirty="0"/>
              <a:t>QFD - Benefits</a:t>
            </a:r>
            <a:endParaRPr dirty="0"/>
          </a:p>
        </p:txBody>
      </p:sp>
      <p:sp>
        <p:nvSpPr>
          <p:cNvPr id="7" name="TextBox 6">
            <a:extLst>
              <a:ext uri="{FF2B5EF4-FFF2-40B4-BE49-F238E27FC236}">
                <a16:creationId xmlns:a16="http://schemas.microsoft.com/office/drawing/2014/main" id="{CC8D8E84-2168-F3E6-FDEA-63D46560361F}"/>
              </a:ext>
            </a:extLst>
          </p:cNvPr>
          <p:cNvSpPr txBox="1"/>
          <p:nvPr/>
        </p:nvSpPr>
        <p:spPr>
          <a:xfrm>
            <a:off x="1530145" y="1501481"/>
            <a:ext cx="8262784" cy="2960169"/>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altLang="en-US" sz="3200" b="1" dirty="0">
                <a:solidFill>
                  <a:srgbClr val="FF0000"/>
                </a:solidFill>
              </a:rPr>
              <a:t>Customer Driven</a:t>
            </a:r>
          </a:p>
          <a:p>
            <a:pPr marL="457200" indent="-457200">
              <a:lnSpc>
                <a:spcPct val="150000"/>
              </a:lnSpc>
              <a:buFont typeface="Arial" panose="020B0604020202020204" pitchFamily="34" charset="0"/>
              <a:buChar char="•"/>
            </a:pPr>
            <a:r>
              <a:rPr lang="en-US" altLang="en-US" sz="3200" b="1" dirty="0">
                <a:solidFill>
                  <a:srgbClr val="FF0000"/>
                </a:solidFill>
              </a:rPr>
              <a:t>Reduces Implementation Time</a:t>
            </a:r>
          </a:p>
          <a:p>
            <a:pPr marL="457200" indent="-457200">
              <a:lnSpc>
                <a:spcPct val="150000"/>
              </a:lnSpc>
              <a:buFont typeface="Arial" panose="020B0604020202020204" pitchFamily="34" charset="0"/>
              <a:buChar char="•"/>
            </a:pPr>
            <a:r>
              <a:rPr lang="en-US" altLang="en-US" sz="3200" b="1" dirty="0">
                <a:solidFill>
                  <a:srgbClr val="FF0000"/>
                </a:solidFill>
              </a:rPr>
              <a:t>Promotes Teamwork</a:t>
            </a:r>
          </a:p>
          <a:p>
            <a:pPr marL="457200" indent="-457200">
              <a:lnSpc>
                <a:spcPct val="150000"/>
              </a:lnSpc>
              <a:buFont typeface="Arial" panose="020B0604020202020204" pitchFamily="34" charset="0"/>
              <a:buChar char="•"/>
            </a:pPr>
            <a:r>
              <a:rPr lang="en-US" altLang="en-US" sz="3200" b="1" dirty="0">
                <a:solidFill>
                  <a:srgbClr val="FF0000"/>
                </a:solidFill>
              </a:rPr>
              <a:t>Provides Documentation</a:t>
            </a:r>
            <a:endParaRPr lang="en-IN" sz="3200" b="1" dirty="0">
              <a:solidFill>
                <a:srgbClr val="FF0000"/>
              </a:solidFill>
            </a:endParaRPr>
          </a:p>
        </p:txBody>
      </p:sp>
    </p:spTree>
    <p:extLst>
      <p:ext uri="{BB962C8B-B14F-4D97-AF65-F5344CB8AC3E}">
        <p14:creationId xmlns:p14="http://schemas.microsoft.com/office/powerpoint/2010/main" val="32889530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1"/>
            <a:ext cx="5035068"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IN" dirty="0"/>
              <a:t>QFD - Benefits</a:t>
            </a:r>
            <a:endParaRPr dirty="0"/>
          </a:p>
        </p:txBody>
      </p:sp>
      <p:sp>
        <p:nvSpPr>
          <p:cNvPr id="3" name="Rectangle 2">
            <a:extLst>
              <a:ext uri="{FF2B5EF4-FFF2-40B4-BE49-F238E27FC236}">
                <a16:creationId xmlns:a16="http://schemas.microsoft.com/office/drawing/2014/main" id="{95436BAA-D9C8-9515-B437-D38B7868EE7A}"/>
              </a:ext>
            </a:extLst>
          </p:cNvPr>
          <p:cNvSpPr txBox="1">
            <a:spLocks noChangeArrowheads="1"/>
          </p:cNvSpPr>
          <p:nvPr/>
        </p:nvSpPr>
        <p:spPr>
          <a:xfrm>
            <a:off x="498511" y="981177"/>
            <a:ext cx="9592319" cy="552286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sz="2800" b="1" u="sng" dirty="0">
                <a:solidFill>
                  <a:srgbClr val="FF0000"/>
                </a:solidFill>
                <a:latin typeface="+mj-lt"/>
              </a:rPr>
              <a:t>CUSTOMER DRIVEN</a:t>
            </a:r>
          </a:p>
          <a:p>
            <a:pPr>
              <a:lnSpc>
                <a:spcPct val="200000"/>
              </a:lnSpc>
              <a:buFontTx/>
              <a:buChar char="•"/>
            </a:pPr>
            <a:r>
              <a:rPr lang="en-US" altLang="en-US" sz="2800" b="1" dirty="0">
                <a:latin typeface="+mj-lt"/>
              </a:rPr>
              <a:t>Creates forces on customer requirements </a:t>
            </a:r>
          </a:p>
          <a:p>
            <a:pPr>
              <a:lnSpc>
                <a:spcPct val="200000"/>
              </a:lnSpc>
              <a:buFontTx/>
              <a:buChar char="•"/>
            </a:pPr>
            <a:r>
              <a:rPr lang="en-US" altLang="en-US" sz="2800" b="1" dirty="0">
                <a:latin typeface="+mj-lt"/>
              </a:rPr>
              <a:t>Uses competitive information effectively </a:t>
            </a:r>
          </a:p>
          <a:p>
            <a:pPr>
              <a:lnSpc>
                <a:spcPct val="200000"/>
              </a:lnSpc>
              <a:buFontTx/>
              <a:buChar char="•"/>
            </a:pPr>
            <a:r>
              <a:rPr lang="en-US" altLang="en-US" sz="2800" b="1" dirty="0">
                <a:latin typeface="+mj-lt"/>
              </a:rPr>
              <a:t>Prioritizes resources</a:t>
            </a:r>
          </a:p>
          <a:p>
            <a:pPr>
              <a:lnSpc>
                <a:spcPct val="200000"/>
              </a:lnSpc>
              <a:buFontTx/>
              <a:buChar char="•"/>
            </a:pPr>
            <a:r>
              <a:rPr lang="en-US" altLang="en-US" sz="2800" b="1" dirty="0">
                <a:latin typeface="+mj-lt"/>
              </a:rPr>
              <a:t>Identifies items that can be acted upon</a:t>
            </a:r>
          </a:p>
          <a:p>
            <a:pPr>
              <a:lnSpc>
                <a:spcPct val="200000"/>
              </a:lnSpc>
              <a:buFontTx/>
              <a:buChar char="•"/>
            </a:pPr>
            <a:r>
              <a:rPr lang="en-US" altLang="en-US" sz="2800" b="1" dirty="0">
                <a:latin typeface="+mj-lt"/>
              </a:rPr>
              <a:t>Structures resident experience / Information</a:t>
            </a:r>
          </a:p>
          <a:p>
            <a:pPr>
              <a:lnSpc>
                <a:spcPct val="200000"/>
              </a:lnSpc>
              <a:buFontTx/>
              <a:buChar char="•"/>
            </a:pPr>
            <a:endParaRPr lang="en-US" altLang="en-US" sz="2800" b="1" dirty="0">
              <a:latin typeface="+mj-lt"/>
            </a:endParaRPr>
          </a:p>
        </p:txBody>
      </p:sp>
    </p:spTree>
    <p:extLst>
      <p:ext uri="{BB962C8B-B14F-4D97-AF65-F5344CB8AC3E}">
        <p14:creationId xmlns:p14="http://schemas.microsoft.com/office/powerpoint/2010/main" val="36046191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1"/>
            <a:ext cx="5035068"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IN" dirty="0"/>
              <a:t>QFD - Benefits</a:t>
            </a:r>
            <a:endParaRPr dirty="0"/>
          </a:p>
        </p:txBody>
      </p:sp>
      <p:sp>
        <p:nvSpPr>
          <p:cNvPr id="3" name="Rectangle 2">
            <a:extLst>
              <a:ext uri="{FF2B5EF4-FFF2-40B4-BE49-F238E27FC236}">
                <a16:creationId xmlns:a16="http://schemas.microsoft.com/office/drawing/2014/main" id="{95436BAA-D9C8-9515-B437-D38B7868EE7A}"/>
              </a:ext>
            </a:extLst>
          </p:cNvPr>
          <p:cNvSpPr txBox="1">
            <a:spLocks noChangeArrowheads="1"/>
          </p:cNvSpPr>
          <p:nvPr/>
        </p:nvSpPr>
        <p:spPr>
          <a:xfrm>
            <a:off x="613565" y="966428"/>
            <a:ext cx="9592319" cy="535618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sz="2800" b="1" u="sng" dirty="0">
                <a:solidFill>
                  <a:srgbClr val="FF0000"/>
                </a:solidFill>
                <a:latin typeface="+mj-lt"/>
              </a:rPr>
              <a:t>REDUCES IMPLEMENTATION TIME</a:t>
            </a:r>
          </a:p>
          <a:p>
            <a:pPr>
              <a:lnSpc>
                <a:spcPct val="200000"/>
              </a:lnSpc>
              <a:buFontTx/>
              <a:buChar char="•"/>
            </a:pPr>
            <a:r>
              <a:rPr lang="en-US" altLang="en-US" sz="2800" b="1" dirty="0">
                <a:latin typeface="+mj-lt"/>
              </a:rPr>
              <a:t>Decreases midstream design charge</a:t>
            </a:r>
          </a:p>
          <a:p>
            <a:pPr>
              <a:lnSpc>
                <a:spcPct val="200000"/>
              </a:lnSpc>
              <a:buFontTx/>
              <a:buChar char="•"/>
            </a:pPr>
            <a:r>
              <a:rPr lang="en-US" altLang="en-US" sz="2800" b="1" dirty="0">
                <a:latin typeface="+mj-lt"/>
              </a:rPr>
              <a:t>Limits post introduction problems</a:t>
            </a:r>
          </a:p>
          <a:p>
            <a:pPr>
              <a:lnSpc>
                <a:spcPct val="200000"/>
              </a:lnSpc>
              <a:buFontTx/>
              <a:buChar char="•"/>
            </a:pPr>
            <a:r>
              <a:rPr lang="en-US" altLang="en-US" sz="2800" b="1" dirty="0">
                <a:latin typeface="+mj-lt"/>
              </a:rPr>
              <a:t>Avoids future development redundancies</a:t>
            </a:r>
          </a:p>
          <a:p>
            <a:pPr>
              <a:lnSpc>
                <a:spcPct val="200000"/>
              </a:lnSpc>
              <a:buFontTx/>
              <a:buChar char="•"/>
            </a:pPr>
            <a:r>
              <a:rPr lang="en-US" altLang="en-US" sz="2800" b="1" dirty="0">
                <a:latin typeface="+mj-lt"/>
              </a:rPr>
              <a:t>Identifies future application opportunities</a:t>
            </a:r>
          </a:p>
          <a:p>
            <a:pPr>
              <a:lnSpc>
                <a:spcPct val="200000"/>
              </a:lnSpc>
              <a:buFontTx/>
              <a:buChar char="•"/>
            </a:pPr>
            <a:r>
              <a:rPr lang="en-US" altLang="en-US" sz="2800" b="1" dirty="0">
                <a:latin typeface="+mj-lt"/>
              </a:rPr>
              <a:t>Surfaces missing assumptions</a:t>
            </a:r>
          </a:p>
          <a:p>
            <a:pPr>
              <a:lnSpc>
                <a:spcPct val="200000"/>
              </a:lnSpc>
              <a:buFontTx/>
              <a:buChar char="•"/>
            </a:pPr>
            <a:endParaRPr lang="en-US" altLang="en-US" sz="2800" b="1" dirty="0">
              <a:latin typeface="+mj-lt"/>
            </a:endParaRPr>
          </a:p>
        </p:txBody>
      </p:sp>
    </p:spTree>
    <p:extLst>
      <p:ext uri="{BB962C8B-B14F-4D97-AF65-F5344CB8AC3E}">
        <p14:creationId xmlns:p14="http://schemas.microsoft.com/office/powerpoint/2010/main" val="4019936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1"/>
            <a:ext cx="5035068"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IN" dirty="0"/>
              <a:t>QFD - Benefits</a:t>
            </a:r>
            <a:endParaRPr dirty="0"/>
          </a:p>
        </p:txBody>
      </p:sp>
      <p:sp>
        <p:nvSpPr>
          <p:cNvPr id="3" name="Rectangle 2">
            <a:extLst>
              <a:ext uri="{FF2B5EF4-FFF2-40B4-BE49-F238E27FC236}">
                <a16:creationId xmlns:a16="http://schemas.microsoft.com/office/drawing/2014/main" id="{95436BAA-D9C8-9515-B437-D38B7868EE7A}"/>
              </a:ext>
            </a:extLst>
          </p:cNvPr>
          <p:cNvSpPr txBox="1">
            <a:spLocks noChangeArrowheads="1"/>
          </p:cNvSpPr>
          <p:nvPr/>
        </p:nvSpPr>
        <p:spPr>
          <a:xfrm>
            <a:off x="613565" y="1169014"/>
            <a:ext cx="9592319" cy="451997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sz="2800" b="1" u="sng" dirty="0">
                <a:solidFill>
                  <a:srgbClr val="FF0000"/>
                </a:solidFill>
                <a:latin typeface="+mj-lt"/>
              </a:rPr>
              <a:t>PROMOTES TEAMWORK</a:t>
            </a:r>
          </a:p>
          <a:p>
            <a:pPr>
              <a:lnSpc>
                <a:spcPct val="200000"/>
              </a:lnSpc>
              <a:buFontTx/>
              <a:buChar char="•"/>
            </a:pPr>
            <a:r>
              <a:rPr lang="en-US" altLang="en-US" sz="2800" b="1" dirty="0">
                <a:latin typeface="+mj-lt"/>
              </a:rPr>
              <a:t>Consensus based</a:t>
            </a:r>
          </a:p>
          <a:p>
            <a:pPr>
              <a:lnSpc>
                <a:spcPct val="200000"/>
              </a:lnSpc>
              <a:buFontTx/>
              <a:buChar char="•"/>
            </a:pPr>
            <a:r>
              <a:rPr lang="en-US" altLang="en-US" sz="2800" b="1" dirty="0">
                <a:latin typeface="+mj-lt"/>
              </a:rPr>
              <a:t>Creates communication at interfaces</a:t>
            </a:r>
          </a:p>
          <a:p>
            <a:pPr>
              <a:lnSpc>
                <a:spcPct val="200000"/>
              </a:lnSpc>
              <a:buFontTx/>
              <a:buChar char="•"/>
            </a:pPr>
            <a:r>
              <a:rPr lang="en-US" altLang="en-US" sz="2800" b="1" dirty="0">
                <a:latin typeface="+mj-lt"/>
              </a:rPr>
              <a:t>Identifies actions at interfaces</a:t>
            </a:r>
          </a:p>
          <a:p>
            <a:pPr>
              <a:lnSpc>
                <a:spcPct val="200000"/>
              </a:lnSpc>
              <a:buFontTx/>
              <a:buChar char="•"/>
            </a:pPr>
            <a:r>
              <a:rPr lang="en-US" altLang="en-US" sz="2800" b="1" dirty="0">
                <a:latin typeface="+mj-lt"/>
              </a:rPr>
              <a:t>Creates global view out of details</a:t>
            </a:r>
          </a:p>
          <a:p>
            <a:pPr>
              <a:lnSpc>
                <a:spcPct val="200000"/>
              </a:lnSpc>
              <a:buFontTx/>
              <a:buChar char="•"/>
            </a:pPr>
            <a:endParaRPr lang="en-US" altLang="en-US" sz="2800" b="1" dirty="0">
              <a:latin typeface="+mj-lt"/>
            </a:endParaRPr>
          </a:p>
        </p:txBody>
      </p:sp>
    </p:spTree>
    <p:extLst>
      <p:ext uri="{BB962C8B-B14F-4D97-AF65-F5344CB8AC3E}">
        <p14:creationId xmlns:p14="http://schemas.microsoft.com/office/powerpoint/2010/main" val="35320225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1"/>
            <a:ext cx="5035068"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IN" dirty="0"/>
              <a:t>QFD - Benefits</a:t>
            </a:r>
            <a:endParaRPr dirty="0"/>
          </a:p>
        </p:txBody>
      </p:sp>
      <p:sp>
        <p:nvSpPr>
          <p:cNvPr id="3" name="Rectangle 2">
            <a:extLst>
              <a:ext uri="{FF2B5EF4-FFF2-40B4-BE49-F238E27FC236}">
                <a16:creationId xmlns:a16="http://schemas.microsoft.com/office/drawing/2014/main" id="{95436BAA-D9C8-9515-B437-D38B7868EE7A}"/>
              </a:ext>
            </a:extLst>
          </p:cNvPr>
          <p:cNvSpPr txBox="1">
            <a:spLocks noChangeArrowheads="1"/>
          </p:cNvSpPr>
          <p:nvPr/>
        </p:nvSpPr>
        <p:spPr>
          <a:xfrm>
            <a:off x="613565" y="1169013"/>
            <a:ext cx="9592319" cy="549281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en-US" sz="2800" u="sng" dirty="0">
                <a:solidFill>
                  <a:srgbClr val="FF0000"/>
                </a:solidFill>
                <a:latin typeface="+mj-lt"/>
              </a:rPr>
              <a:t>PROVIDES DOCUMENTATION</a:t>
            </a:r>
          </a:p>
          <a:p>
            <a:pPr>
              <a:lnSpc>
                <a:spcPct val="150000"/>
              </a:lnSpc>
              <a:buFontTx/>
              <a:buChar char="•"/>
            </a:pPr>
            <a:r>
              <a:rPr lang="en-US" altLang="en-US" sz="2800" dirty="0">
                <a:latin typeface="+mj-lt"/>
              </a:rPr>
              <a:t>Documents rationale for design </a:t>
            </a:r>
          </a:p>
          <a:p>
            <a:pPr>
              <a:lnSpc>
                <a:spcPct val="150000"/>
              </a:lnSpc>
              <a:buFontTx/>
              <a:buChar char="•"/>
            </a:pPr>
            <a:r>
              <a:rPr lang="en-US" altLang="en-US" sz="2800" dirty="0">
                <a:latin typeface="+mj-lt"/>
              </a:rPr>
              <a:t> Is easy to assimilate</a:t>
            </a:r>
          </a:p>
          <a:p>
            <a:pPr>
              <a:lnSpc>
                <a:spcPct val="150000"/>
              </a:lnSpc>
              <a:buFontTx/>
              <a:buChar char="•"/>
            </a:pPr>
            <a:r>
              <a:rPr lang="en-US" altLang="en-US" sz="2800" dirty="0">
                <a:latin typeface="+mj-lt"/>
              </a:rPr>
              <a:t> Adds structure to the information</a:t>
            </a:r>
          </a:p>
          <a:p>
            <a:pPr>
              <a:lnSpc>
                <a:spcPct val="150000"/>
              </a:lnSpc>
              <a:buFontTx/>
              <a:buChar char="•"/>
            </a:pPr>
            <a:r>
              <a:rPr lang="en-US" altLang="en-US" sz="2800" dirty="0">
                <a:latin typeface="+mj-lt"/>
              </a:rPr>
              <a:t>Adapts to changes, a living document</a:t>
            </a:r>
          </a:p>
          <a:p>
            <a:pPr>
              <a:lnSpc>
                <a:spcPct val="150000"/>
              </a:lnSpc>
              <a:buFontTx/>
              <a:buChar char="•"/>
            </a:pPr>
            <a:r>
              <a:rPr lang="en-US" altLang="en-US" sz="2800" dirty="0">
                <a:latin typeface="+mj-lt"/>
              </a:rPr>
              <a:t>Provides framework for sensitivity analysis</a:t>
            </a:r>
          </a:p>
          <a:p>
            <a:pPr>
              <a:lnSpc>
                <a:spcPct val="150000"/>
              </a:lnSpc>
              <a:buFontTx/>
              <a:buChar char="•"/>
            </a:pPr>
            <a:endParaRPr lang="en-US" altLang="en-US" sz="2800" dirty="0">
              <a:latin typeface="+mj-lt"/>
            </a:endParaRPr>
          </a:p>
        </p:txBody>
      </p:sp>
    </p:spTree>
    <p:extLst>
      <p:ext uri="{BB962C8B-B14F-4D97-AF65-F5344CB8AC3E}">
        <p14:creationId xmlns:p14="http://schemas.microsoft.com/office/powerpoint/2010/main" val="5289957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2" y="196171"/>
            <a:ext cx="6642643"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IN" dirty="0"/>
              <a:t>Voice of the Customer</a:t>
            </a:r>
          </a:p>
        </p:txBody>
      </p:sp>
      <p:sp>
        <p:nvSpPr>
          <p:cNvPr id="4" name="Rectangle 3">
            <a:extLst>
              <a:ext uri="{FF2B5EF4-FFF2-40B4-BE49-F238E27FC236}">
                <a16:creationId xmlns:a16="http://schemas.microsoft.com/office/drawing/2014/main" id="{315B898F-364A-E3E6-9E1D-576B84670049}"/>
              </a:ext>
            </a:extLst>
          </p:cNvPr>
          <p:cNvSpPr txBox="1">
            <a:spLocks noChangeArrowheads="1"/>
          </p:cNvSpPr>
          <p:nvPr/>
        </p:nvSpPr>
        <p:spPr>
          <a:xfrm>
            <a:off x="643914" y="1059972"/>
            <a:ext cx="10550211" cy="4373543"/>
          </a:xfrm>
          <a:prstGeom prst="rect">
            <a:avLst/>
          </a:prstGeom>
          <a:no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en-US" sz="2400" dirty="0">
                <a:latin typeface="+mj-lt"/>
              </a:rPr>
              <a:t>Driving Force Behind QFD</a:t>
            </a:r>
          </a:p>
          <a:p>
            <a:pPr lvl="1">
              <a:lnSpc>
                <a:spcPct val="150000"/>
              </a:lnSpc>
            </a:pPr>
            <a:r>
              <a:rPr lang="en-US" altLang="en-US" sz="2400" dirty="0">
                <a:latin typeface="+mj-lt"/>
              </a:rPr>
              <a:t>Customer Dictates Attributes Of Product</a:t>
            </a:r>
          </a:p>
          <a:p>
            <a:pPr>
              <a:lnSpc>
                <a:spcPct val="150000"/>
              </a:lnSpc>
            </a:pPr>
            <a:r>
              <a:rPr lang="en-US" altLang="en-US" sz="2400" dirty="0">
                <a:latin typeface="+mj-lt"/>
              </a:rPr>
              <a:t>Customer Satisfaction</a:t>
            </a:r>
          </a:p>
          <a:p>
            <a:pPr lvl="1">
              <a:lnSpc>
                <a:spcPct val="150000"/>
              </a:lnSpc>
            </a:pPr>
            <a:r>
              <a:rPr lang="en-US" altLang="en-US" sz="2400" dirty="0">
                <a:latin typeface="+mj-lt"/>
              </a:rPr>
              <a:t>Meeting Or Exceeding Customer Expectations</a:t>
            </a:r>
          </a:p>
          <a:p>
            <a:pPr lvl="1">
              <a:lnSpc>
                <a:spcPct val="150000"/>
              </a:lnSpc>
            </a:pPr>
            <a:r>
              <a:rPr lang="en-US" altLang="en-US" sz="2400" dirty="0">
                <a:latin typeface="+mj-lt"/>
              </a:rPr>
              <a:t>Customer Expectations Can Be Vague &amp; General In Nature</a:t>
            </a:r>
          </a:p>
          <a:p>
            <a:pPr lvl="1">
              <a:lnSpc>
                <a:spcPct val="150000"/>
              </a:lnSpc>
            </a:pPr>
            <a:r>
              <a:rPr lang="en-US" altLang="en-US" sz="2400" dirty="0">
                <a:latin typeface="+mj-lt"/>
              </a:rPr>
              <a:t>Customer Expectations Must Be Taken Literally, Not Translated Into What The Organization Desires</a:t>
            </a:r>
          </a:p>
        </p:txBody>
      </p:sp>
    </p:spTree>
    <p:extLst>
      <p:ext uri="{BB962C8B-B14F-4D97-AF65-F5344CB8AC3E}">
        <p14:creationId xmlns:p14="http://schemas.microsoft.com/office/powerpoint/2010/main" val="6253217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2" y="196170"/>
            <a:ext cx="8559933"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IN" dirty="0"/>
              <a:t>Collecting Customer Information</a:t>
            </a:r>
            <a:endParaRPr dirty="0"/>
          </a:p>
        </p:txBody>
      </p:sp>
      <p:sp>
        <p:nvSpPr>
          <p:cNvPr id="4" name="Rectangle 3">
            <a:extLst>
              <a:ext uri="{FF2B5EF4-FFF2-40B4-BE49-F238E27FC236}">
                <a16:creationId xmlns:a16="http://schemas.microsoft.com/office/drawing/2014/main" id="{315B898F-364A-E3E6-9E1D-576B84670049}"/>
              </a:ext>
            </a:extLst>
          </p:cNvPr>
          <p:cNvSpPr txBox="1">
            <a:spLocks noChangeArrowheads="1"/>
          </p:cNvSpPr>
          <p:nvPr/>
        </p:nvSpPr>
        <p:spPr>
          <a:xfrm>
            <a:off x="820894" y="1242228"/>
            <a:ext cx="10550211" cy="4373543"/>
          </a:xfrm>
          <a:prstGeom prst="rect">
            <a:avLst/>
          </a:prstGeom>
          <a:no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en-US" sz="2800" dirty="0">
                <a:latin typeface="+mj-lt"/>
              </a:rPr>
              <a:t>What Does Customer Really Want ?</a:t>
            </a:r>
          </a:p>
          <a:p>
            <a:pPr>
              <a:lnSpc>
                <a:spcPct val="150000"/>
              </a:lnSpc>
            </a:pPr>
            <a:r>
              <a:rPr lang="en-US" altLang="en-US" sz="2800" dirty="0">
                <a:latin typeface="+mj-lt"/>
              </a:rPr>
              <a:t>What Are Customer’s Expectations ?</a:t>
            </a:r>
          </a:p>
          <a:p>
            <a:pPr>
              <a:lnSpc>
                <a:spcPct val="150000"/>
              </a:lnSpc>
            </a:pPr>
            <a:r>
              <a:rPr lang="en-US" altLang="en-US" sz="2800" dirty="0">
                <a:latin typeface="+mj-lt"/>
              </a:rPr>
              <a:t>Are Customer’s Expectations Used To Drive Design Process ?</a:t>
            </a:r>
          </a:p>
          <a:p>
            <a:pPr>
              <a:lnSpc>
                <a:spcPct val="150000"/>
              </a:lnSpc>
            </a:pPr>
            <a:r>
              <a:rPr lang="en-US" altLang="en-US" sz="2800" dirty="0">
                <a:latin typeface="+mj-lt"/>
              </a:rPr>
              <a:t>What Can Design Team Do To Achieve Customer Satisfaction?</a:t>
            </a:r>
          </a:p>
        </p:txBody>
      </p:sp>
    </p:spTree>
    <p:extLst>
      <p:ext uri="{BB962C8B-B14F-4D97-AF65-F5344CB8AC3E}">
        <p14:creationId xmlns:p14="http://schemas.microsoft.com/office/powerpoint/2010/main" val="28017344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2" y="196170"/>
            <a:ext cx="8559933"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IN" dirty="0"/>
              <a:t>Types Of Customer Information</a:t>
            </a:r>
            <a:endParaRPr dirty="0"/>
          </a:p>
        </p:txBody>
      </p:sp>
      <p:sp>
        <p:nvSpPr>
          <p:cNvPr id="4" name="Rectangle 3">
            <a:extLst>
              <a:ext uri="{FF2B5EF4-FFF2-40B4-BE49-F238E27FC236}">
                <a16:creationId xmlns:a16="http://schemas.microsoft.com/office/drawing/2014/main" id="{315B898F-364A-E3E6-9E1D-576B84670049}"/>
              </a:ext>
            </a:extLst>
          </p:cNvPr>
          <p:cNvSpPr txBox="1">
            <a:spLocks noChangeArrowheads="1"/>
          </p:cNvSpPr>
          <p:nvPr/>
        </p:nvSpPr>
        <p:spPr>
          <a:xfrm>
            <a:off x="599668" y="947261"/>
            <a:ext cx="10550211" cy="5261810"/>
          </a:xfrm>
          <a:prstGeom prst="rect">
            <a:avLst/>
          </a:prstGeom>
          <a:no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en-US" sz="2800" b="1" dirty="0">
                <a:latin typeface="+mj-lt"/>
              </a:rPr>
              <a:t>Solicited, Measurable, Routine</a:t>
            </a:r>
          </a:p>
          <a:p>
            <a:pPr lvl="1">
              <a:lnSpc>
                <a:spcPct val="100000"/>
              </a:lnSpc>
            </a:pPr>
            <a:r>
              <a:rPr lang="en-US" altLang="en-US" sz="2800" dirty="0" err="1">
                <a:latin typeface="+mj-lt"/>
              </a:rPr>
              <a:t>Cus</a:t>
            </a:r>
            <a:r>
              <a:rPr lang="en-US" altLang="en-US" sz="2800" dirty="0">
                <a:latin typeface="+mj-lt"/>
              </a:rPr>
              <a:t>. &amp; Market Surveys, Trade Trials</a:t>
            </a:r>
          </a:p>
          <a:p>
            <a:pPr>
              <a:lnSpc>
                <a:spcPct val="100000"/>
              </a:lnSpc>
            </a:pPr>
            <a:r>
              <a:rPr lang="en-US" altLang="en-US" sz="2800" b="1" dirty="0">
                <a:latin typeface="+mj-lt"/>
              </a:rPr>
              <a:t>Unsolicited, Measurable, Routine</a:t>
            </a:r>
          </a:p>
          <a:p>
            <a:pPr lvl="1">
              <a:lnSpc>
                <a:spcPct val="100000"/>
              </a:lnSpc>
            </a:pPr>
            <a:r>
              <a:rPr lang="en-US" altLang="en-US" sz="2800" dirty="0">
                <a:latin typeface="+mj-lt"/>
              </a:rPr>
              <a:t>Customer Complaints, Lawsuits</a:t>
            </a:r>
          </a:p>
          <a:p>
            <a:pPr>
              <a:lnSpc>
                <a:spcPct val="100000"/>
              </a:lnSpc>
            </a:pPr>
            <a:r>
              <a:rPr lang="en-US" altLang="en-US" sz="2800" b="1" dirty="0">
                <a:latin typeface="+mj-lt"/>
              </a:rPr>
              <a:t>Solicited, Subjective, Routine</a:t>
            </a:r>
          </a:p>
          <a:p>
            <a:pPr lvl="1">
              <a:lnSpc>
                <a:spcPct val="100000"/>
              </a:lnSpc>
            </a:pPr>
            <a:r>
              <a:rPr lang="en-US" altLang="en-US" sz="2800" dirty="0">
                <a:latin typeface="+mj-lt"/>
              </a:rPr>
              <a:t>Focus Groups</a:t>
            </a:r>
          </a:p>
          <a:p>
            <a:pPr>
              <a:lnSpc>
                <a:spcPct val="100000"/>
              </a:lnSpc>
            </a:pPr>
            <a:r>
              <a:rPr lang="en-US" altLang="en-US" sz="2800" b="1" dirty="0">
                <a:latin typeface="+mj-lt"/>
              </a:rPr>
              <a:t>Solicited, Subjective, Haphazard</a:t>
            </a:r>
          </a:p>
          <a:p>
            <a:pPr lvl="1">
              <a:lnSpc>
                <a:spcPct val="100000"/>
              </a:lnSpc>
            </a:pPr>
            <a:r>
              <a:rPr lang="en-US" altLang="en-US" sz="2800" dirty="0">
                <a:latin typeface="+mj-lt"/>
              </a:rPr>
              <a:t>Trade &amp; </a:t>
            </a:r>
            <a:r>
              <a:rPr lang="en-US" altLang="en-US" sz="2800" dirty="0" err="1">
                <a:latin typeface="+mj-lt"/>
              </a:rPr>
              <a:t>Cus</a:t>
            </a:r>
            <a:r>
              <a:rPr lang="en-US" altLang="en-US" sz="2800" dirty="0">
                <a:latin typeface="+mj-lt"/>
              </a:rPr>
              <a:t>. Visits, </a:t>
            </a:r>
            <a:r>
              <a:rPr lang="en-US" altLang="en-US" sz="2800" dirty="0" err="1">
                <a:latin typeface="+mj-lt"/>
              </a:rPr>
              <a:t>Indep</a:t>
            </a:r>
            <a:r>
              <a:rPr lang="en-US" altLang="en-US" sz="2800" dirty="0">
                <a:latin typeface="+mj-lt"/>
              </a:rPr>
              <a:t>. Consultants</a:t>
            </a:r>
          </a:p>
          <a:p>
            <a:pPr>
              <a:lnSpc>
                <a:spcPct val="100000"/>
              </a:lnSpc>
            </a:pPr>
            <a:r>
              <a:rPr lang="en-US" altLang="en-US" sz="2800" b="1" dirty="0">
                <a:latin typeface="+mj-lt"/>
              </a:rPr>
              <a:t>Unsolicited, Subjective, Haphazard</a:t>
            </a:r>
          </a:p>
          <a:p>
            <a:pPr lvl="1">
              <a:lnSpc>
                <a:spcPct val="100000"/>
              </a:lnSpc>
            </a:pPr>
            <a:r>
              <a:rPr lang="en-US" altLang="en-US" sz="2800" dirty="0">
                <a:latin typeface="+mj-lt"/>
              </a:rPr>
              <a:t>Conventions, Vendors, Suppliers</a:t>
            </a:r>
          </a:p>
        </p:txBody>
      </p:sp>
    </p:spTree>
    <p:extLst>
      <p:ext uri="{BB962C8B-B14F-4D97-AF65-F5344CB8AC3E}">
        <p14:creationId xmlns:p14="http://schemas.microsoft.com/office/powerpoint/2010/main" val="30901062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0"/>
            <a:ext cx="5536514"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IN" dirty="0"/>
              <a:t>House of Quality</a:t>
            </a:r>
            <a:endParaRPr dirty="0"/>
          </a:p>
        </p:txBody>
      </p:sp>
      <p:sp>
        <p:nvSpPr>
          <p:cNvPr id="3" name="Rectangle 3">
            <a:extLst>
              <a:ext uri="{FF2B5EF4-FFF2-40B4-BE49-F238E27FC236}">
                <a16:creationId xmlns:a16="http://schemas.microsoft.com/office/drawing/2014/main" id="{AB352559-A9A1-99EB-FB2A-FD8E1DACD92B}"/>
              </a:ext>
            </a:extLst>
          </p:cNvPr>
          <p:cNvSpPr>
            <a:spLocks noChangeArrowheads="1"/>
          </p:cNvSpPr>
          <p:nvPr/>
        </p:nvSpPr>
        <p:spPr bwMode="auto">
          <a:xfrm>
            <a:off x="4056625" y="3048819"/>
            <a:ext cx="2997200" cy="635000"/>
          </a:xfrm>
          <a:prstGeom prst="rect">
            <a:avLst/>
          </a:prstGeom>
          <a:noFill/>
          <a:ln w="508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5" name="Rectangle 4">
            <a:extLst>
              <a:ext uri="{FF2B5EF4-FFF2-40B4-BE49-F238E27FC236}">
                <a16:creationId xmlns:a16="http://schemas.microsoft.com/office/drawing/2014/main" id="{2DFC25EE-1683-E197-0E6E-AD6B3BD92BED}"/>
              </a:ext>
            </a:extLst>
          </p:cNvPr>
          <p:cNvSpPr>
            <a:spLocks noChangeArrowheads="1"/>
          </p:cNvSpPr>
          <p:nvPr/>
        </p:nvSpPr>
        <p:spPr bwMode="auto">
          <a:xfrm>
            <a:off x="4053450" y="3810819"/>
            <a:ext cx="3000375" cy="1701800"/>
          </a:xfrm>
          <a:prstGeom prst="rect">
            <a:avLst/>
          </a:prstGeom>
          <a:noFill/>
          <a:ln w="508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6" name="Rectangle 5">
            <a:extLst>
              <a:ext uri="{FF2B5EF4-FFF2-40B4-BE49-F238E27FC236}">
                <a16:creationId xmlns:a16="http://schemas.microsoft.com/office/drawing/2014/main" id="{A88FED8B-64C6-E396-90D4-B4C011BCAD1C}"/>
              </a:ext>
            </a:extLst>
          </p:cNvPr>
          <p:cNvSpPr>
            <a:spLocks noChangeArrowheads="1"/>
          </p:cNvSpPr>
          <p:nvPr/>
        </p:nvSpPr>
        <p:spPr bwMode="auto">
          <a:xfrm>
            <a:off x="4029456" y="3126607"/>
            <a:ext cx="3057888" cy="511616"/>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75000"/>
              </a:lnSpc>
            </a:pPr>
            <a:r>
              <a:rPr lang="en-US" altLang="en-US" sz="1800" b="1">
                <a:latin typeface="+mj-lt"/>
              </a:rPr>
              <a:t>Technical Descriptors</a:t>
            </a:r>
          </a:p>
          <a:p>
            <a:pPr algn="ctr">
              <a:lnSpc>
                <a:spcPct val="75000"/>
              </a:lnSpc>
            </a:pPr>
            <a:r>
              <a:rPr lang="en-US" altLang="en-US" sz="1800" b="1">
                <a:latin typeface="+mj-lt"/>
              </a:rPr>
              <a:t>(Voice of the organization)</a:t>
            </a:r>
          </a:p>
        </p:txBody>
      </p:sp>
      <p:grpSp>
        <p:nvGrpSpPr>
          <p:cNvPr id="7" name="Group 8">
            <a:extLst>
              <a:ext uri="{FF2B5EF4-FFF2-40B4-BE49-F238E27FC236}">
                <a16:creationId xmlns:a16="http://schemas.microsoft.com/office/drawing/2014/main" id="{1A752973-7CEB-FA33-6570-F9F95BD1C75E}"/>
              </a:ext>
            </a:extLst>
          </p:cNvPr>
          <p:cNvGrpSpPr>
            <a:grpSpLocks/>
          </p:cNvGrpSpPr>
          <p:nvPr/>
        </p:nvGrpSpPr>
        <p:grpSpPr bwMode="auto">
          <a:xfrm>
            <a:off x="4056625" y="5639619"/>
            <a:ext cx="2997200" cy="566738"/>
            <a:chOff x="1840" y="3664"/>
            <a:chExt cx="1888" cy="357"/>
          </a:xfrm>
        </p:grpSpPr>
        <p:sp>
          <p:nvSpPr>
            <p:cNvPr id="8" name="Rectangle 6">
              <a:extLst>
                <a:ext uri="{FF2B5EF4-FFF2-40B4-BE49-F238E27FC236}">
                  <a16:creationId xmlns:a16="http://schemas.microsoft.com/office/drawing/2014/main" id="{2B1B1B82-DD04-2D95-C5E7-721F0E436591}"/>
                </a:ext>
              </a:extLst>
            </p:cNvPr>
            <p:cNvSpPr>
              <a:spLocks noChangeArrowheads="1"/>
            </p:cNvSpPr>
            <p:nvPr/>
          </p:nvSpPr>
          <p:spPr bwMode="auto">
            <a:xfrm>
              <a:off x="1840" y="3664"/>
              <a:ext cx="1888" cy="352"/>
            </a:xfrm>
            <a:prstGeom prst="rect">
              <a:avLst/>
            </a:prstGeom>
            <a:noFill/>
            <a:ln w="508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9" name="Rectangle 7">
              <a:extLst>
                <a:ext uri="{FF2B5EF4-FFF2-40B4-BE49-F238E27FC236}">
                  <a16:creationId xmlns:a16="http://schemas.microsoft.com/office/drawing/2014/main" id="{C330F8A4-8261-084D-C523-7088FAF54EDF}"/>
                </a:ext>
              </a:extLst>
            </p:cNvPr>
            <p:cNvSpPr>
              <a:spLocks noChangeArrowheads="1"/>
            </p:cNvSpPr>
            <p:nvPr/>
          </p:nvSpPr>
          <p:spPr bwMode="auto">
            <a:xfrm>
              <a:off x="2038" y="3699"/>
              <a:ext cx="1494" cy="32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75000"/>
                </a:lnSpc>
              </a:pPr>
              <a:r>
                <a:rPr lang="en-US" altLang="en-US" sz="1800" b="1">
                  <a:latin typeface="+mj-lt"/>
                </a:rPr>
                <a:t>Prioritized Technical</a:t>
              </a:r>
            </a:p>
            <a:p>
              <a:pPr algn="ctr">
                <a:lnSpc>
                  <a:spcPct val="75000"/>
                </a:lnSpc>
              </a:pPr>
              <a:r>
                <a:rPr lang="en-US" altLang="en-US" sz="1800" b="1">
                  <a:latin typeface="+mj-lt"/>
                </a:rPr>
                <a:t>Descriptors</a:t>
              </a:r>
            </a:p>
          </p:txBody>
        </p:sp>
      </p:grpSp>
      <p:sp>
        <p:nvSpPr>
          <p:cNvPr id="10" name="Rectangle 9">
            <a:extLst>
              <a:ext uri="{FF2B5EF4-FFF2-40B4-BE49-F238E27FC236}">
                <a16:creationId xmlns:a16="http://schemas.microsoft.com/office/drawing/2014/main" id="{2ABAA0CD-96E9-137E-BF09-235461155B5F}"/>
              </a:ext>
            </a:extLst>
          </p:cNvPr>
          <p:cNvSpPr>
            <a:spLocks noChangeArrowheads="1"/>
          </p:cNvSpPr>
          <p:nvPr/>
        </p:nvSpPr>
        <p:spPr bwMode="auto">
          <a:xfrm>
            <a:off x="4297500" y="2231257"/>
            <a:ext cx="2510687" cy="7193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75000"/>
              </a:lnSpc>
            </a:pPr>
            <a:r>
              <a:rPr lang="en-US" altLang="en-US" sz="1800" b="1" dirty="0">
                <a:latin typeface="+mj-lt"/>
              </a:rPr>
              <a:t>Interrelationship</a:t>
            </a:r>
          </a:p>
          <a:p>
            <a:pPr algn="ctr">
              <a:lnSpc>
                <a:spcPct val="75000"/>
              </a:lnSpc>
            </a:pPr>
            <a:r>
              <a:rPr lang="en-US" altLang="en-US" sz="1800" b="1" dirty="0">
                <a:latin typeface="+mj-lt"/>
              </a:rPr>
              <a:t>between</a:t>
            </a:r>
          </a:p>
          <a:p>
            <a:pPr algn="ctr">
              <a:lnSpc>
                <a:spcPct val="75000"/>
              </a:lnSpc>
            </a:pPr>
            <a:r>
              <a:rPr lang="en-US" altLang="en-US" sz="1800" b="1" dirty="0">
                <a:latin typeface="+mj-lt"/>
              </a:rPr>
              <a:t>Technical Descriptors</a:t>
            </a:r>
          </a:p>
        </p:txBody>
      </p:sp>
      <p:sp>
        <p:nvSpPr>
          <p:cNvPr id="11" name="Rectangle 10">
            <a:extLst>
              <a:ext uri="{FF2B5EF4-FFF2-40B4-BE49-F238E27FC236}">
                <a16:creationId xmlns:a16="http://schemas.microsoft.com/office/drawing/2014/main" id="{DDD37636-91CA-B36E-AA96-A5B35FB88C68}"/>
              </a:ext>
            </a:extLst>
          </p:cNvPr>
          <p:cNvSpPr>
            <a:spLocks noChangeArrowheads="1"/>
          </p:cNvSpPr>
          <p:nvPr/>
        </p:nvSpPr>
        <p:spPr bwMode="auto">
          <a:xfrm>
            <a:off x="2913625" y="3823519"/>
            <a:ext cx="1012825" cy="1689100"/>
          </a:xfrm>
          <a:prstGeom prst="rect">
            <a:avLst/>
          </a:prstGeom>
          <a:noFill/>
          <a:ln w="508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12" name="Rectangle 11">
            <a:extLst>
              <a:ext uri="{FF2B5EF4-FFF2-40B4-BE49-F238E27FC236}">
                <a16:creationId xmlns:a16="http://schemas.microsoft.com/office/drawing/2014/main" id="{4E0D4E3C-1FE1-4BDB-B5FE-F6063E5628DB}"/>
              </a:ext>
            </a:extLst>
          </p:cNvPr>
          <p:cNvSpPr>
            <a:spLocks noChangeArrowheads="1"/>
          </p:cNvSpPr>
          <p:nvPr/>
        </p:nvSpPr>
        <p:spPr bwMode="auto">
          <a:xfrm rot="16200000">
            <a:off x="2414357" y="4230706"/>
            <a:ext cx="2103438" cy="927114"/>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75000"/>
              </a:lnSpc>
            </a:pPr>
            <a:r>
              <a:rPr lang="en-US" altLang="en-US" sz="1800" b="1">
                <a:latin typeface="+mj-lt"/>
              </a:rPr>
              <a:t>Customer Requirements</a:t>
            </a:r>
          </a:p>
          <a:p>
            <a:pPr algn="ctr">
              <a:lnSpc>
                <a:spcPct val="75000"/>
              </a:lnSpc>
            </a:pPr>
            <a:r>
              <a:rPr lang="en-US" altLang="en-US" sz="1800" b="1">
                <a:latin typeface="+mj-lt"/>
              </a:rPr>
              <a:t>(Voice of the Customer)</a:t>
            </a:r>
          </a:p>
        </p:txBody>
      </p:sp>
      <p:sp>
        <p:nvSpPr>
          <p:cNvPr id="13" name="Rectangle 12">
            <a:extLst>
              <a:ext uri="{FF2B5EF4-FFF2-40B4-BE49-F238E27FC236}">
                <a16:creationId xmlns:a16="http://schemas.microsoft.com/office/drawing/2014/main" id="{C4FC3B83-5BF5-A99E-373F-C36776322C00}"/>
              </a:ext>
            </a:extLst>
          </p:cNvPr>
          <p:cNvSpPr>
            <a:spLocks noChangeArrowheads="1"/>
          </p:cNvSpPr>
          <p:nvPr/>
        </p:nvSpPr>
        <p:spPr bwMode="auto">
          <a:xfrm>
            <a:off x="7176063" y="3813994"/>
            <a:ext cx="1095375" cy="1697038"/>
          </a:xfrm>
          <a:prstGeom prst="rect">
            <a:avLst/>
          </a:prstGeom>
          <a:noFill/>
          <a:ln w="508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14" name="Rectangle 13">
            <a:extLst>
              <a:ext uri="{FF2B5EF4-FFF2-40B4-BE49-F238E27FC236}">
                <a16:creationId xmlns:a16="http://schemas.microsoft.com/office/drawing/2014/main" id="{A0C91222-2225-744B-18D0-6532F8CF4B51}"/>
              </a:ext>
            </a:extLst>
          </p:cNvPr>
          <p:cNvSpPr>
            <a:spLocks noChangeArrowheads="1"/>
          </p:cNvSpPr>
          <p:nvPr/>
        </p:nvSpPr>
        <p:spPr bwMode="auto">
          <a:xfrm rot="16200000">
            <a:off x="6664887" y="4308388"/>
            <a:ext cx="2124075" cy="7193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75000"/>
              </a:lnSpc>
            </a:pPr>
            <a:r>
              <a:rPr lang="en-US" altLang="en-US" sz="1800" b="1">
                <a:latin typeface="+mj-lt"/>
              </a:rPr>
              <a:t>Prioritized Customer</a:t>
            </a:r>
          </a:p>
          <a:p>
            <a:pPr algn="ctr">
              <a:lnSpc>
                <a:spcPct val="75000"/>
              </a:lnSpc>
            </a:pPr>
            <a:r>
              <a:rPr lang="en-US" altLang="en-US" sz="1800" b="1">
                <a:latin typeface="+mj-lt"/>
              </a:rPr>
              <a:t>Requirements</a:t>
            </a:r>
          </a:p>
        </p:txBody>
      </p:sp>
      <p:sp>
        <p:nvSpPr>
          <p:cNvPr id="15" name="Rectangle 14">
            <a:extLst>
              <a:ext uri="{FF2B5EF4-FFF2-40B4-BE49-F238E27FC236}">
                <a16:creationId xmlns:a16="http://schemas.microsoft.com/office/drawing/2014/main" id="{E5963F07-3112-C763-28EB-5FD8CB6BFD5F}"/>
              </a:ext>
            </a:extLst>
          </p:cNvPr>
          <p:cNvSpPr>
            <a:spLocks noChangeArrowheads="1"/>
          </p:cNvSpPr>
          <p:nvPr/>
        </p:nvSpPr>
        <p:spPr bwMode="auto">
          <a:xfrm>
            <a:off x="4183625" y="4295007"/>
            <a:ext cx="2743200" cy="92397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800" b="1">
                <a:latin typeface="+mj-lt"/>
              </a:rPr>
              <a:t>Relationship between</a:t>
            </a:r>
          </a:p>
          <a:p>
            <a:pPr algn="ctr"/>
            <a:r>
              <a:rPr lang="en-US" altLang="en-US" sz="1800" b="1">
                <a:latin typeface="+mj-lt"/>
              </a:rPr>
              <a:t>Requirements and Descriptors</a:t>
            </a:r>
          </a:p>
        </p:txBody>
      </p:sp>
      <p:sp>
        <p:nvSpPr>
          <p:cNvPr id="16" name="Line 15">
            <a:extLst>
              <a:ext uri="{FF2B5EF4-FFF2-40B4-BE49-F238E27FC236}">
                <a16:creationId xmlns:a16="http://schemas.microsoft.com/office/drawing/2014/main" id="{13702354-8872-FEFD-542C-EF675E24AB21}"/>
              </a:ext>
            </a:extLst>
          </p:cNvPr>
          <p:cNvSpPr>
            <a:spLocks noChangeShapeType="1"/>
          </p:cNvSpPr>
          <p:nvPr/>
        </p:nvSpPr>
        <p:spPr bwMode="auto">
          <a:xfrm>
            <a:off x="4031225" y="2947219"/>
            <a:ext cx="3048000"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grpSp>
        <p:nvGrpSpPr>
          <p:cNvPr id="17" name="Group 18">
            <a:extLst>
              <a:ext uri="{FF2B5EF4-FFF2-40B4-BE49-F238E27FC236}">
                <a16:creationId xmlns:a16="http://schemas.microsoft.com/office/drawing/2014/main" id="{C162F5B8-11F4-8139-A04A-0A412DC557CC}"/>
              </a:ext>
            </a:extLst>
          </p:cNvPr>
          <p:cNvGrpSpPr>
            <a:grpSpLocks/>
          </p:cNvGrpSpPr>
          <p:nvPr/>
        </p:nvGrpSpPr>
        <p:grpSpPr bwMode="auto">
          <a:xfrm>
            <a:off x="4031225" y="1194619"/>
            <a:ext cx="3048000" cy="1752600"/>
            <a:chOff x="1824" y="864"/>
            <a:chExt cx="1920" cy="1104"/>
          </a:xfrm>
        </p:grpSpPr>
        <p:sp>
          <p:nvSpPr>
            <p:cNvPr id="18" name="Line 16">
              <a:extLst>
                <a:ext uri="{FF2B5EF4-FFF2-40B4-BE49-F238E27FC236}">
                  <a16:creationId xmlns:a16="http://schemas.microsoft.com/office/drawing/2014/main" id="{6BA0D97F-DF59-8D59-53AB-D3736B0C5B18}"/>
                </a:ext>
              </a:extLst>
            </p:cNvPr>
            <p:cNvSpPr>
              <a:spLocks noChangeShapeType="1"/>
            </p:cNvSpPr>
            <p:nvPr/>
          </p:nvSpPr>
          <p:spPr bwMode="auto">
            <a:xfrm flipH="1">
              <a:off x="1824" y="864"/>
              <a:ext cx="964" cy="1104"/>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9" name="Line 17">
              <a:extLst>
                <a:ext uri="{FF2B5EF4-FFF2-40B4-BE49-F238E27FC236}">
                  <a16:creationId xmlns:a16="http://schemas.microsoft.com/office/drawing/2014/main" id="{0C4B88AC-1728-D08B-378F-7B54E13C5F1B}"/>
                </a:ext>
              </a:extLst>
            </p:cNvPr>
            <p:cNvSpPr>
              <a:spLocks noChangeShapeType="1"/>
            </p:cNvSpPr>
            <p:nvPr/>
          </p:nvSpPr>
          <p:spPr bwMode="auto">
            <a:xfrm>
              <a:off x="2788" y="864"/>
              <a:ext cx="956" cy="1097"/>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grpSp>
    </p:spTree>
    <p:extLst>
      <p:ext uri="{BB962C8B-B14F-4D97-AF65-F5344CB8AC3E}">
        <p14:creationId xmlns:p14="http://schemas.microsoft.com/office/powerpoint/2010/main" val="12264439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0"/>
            <a:ext cx="7262074"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IN" dirty="0"/>
              <a:t>Building a House of Quality</a:t>
            </a:r>
            <a:endParaRPr dirty="0"/>
          </a:p>
        </p:txBody>
      </p:sp>
      <p:sp>
        <p:nvSpPr>
          <p:cNvPr id="4" name="Rectangle 3">
            <a:extLst>
              <a:ext uri="{FF2B5EF4-FFF2-40B4-BE49-F238E27FC236}">
                <a16:creationId xmlns:a16="http://schemas.microsoft.com/office/drawing/2014/main" id="{46B93AEA-03A6-9ABB-B03C-942186028F02}"/>
              </a:ext>
            </a:extLst>
          </p:cNvPr>
          <p:cNvSpPr txBox="1">
            <a:spLocks noChangeArrowheads="1"/>
          </p:cNvSpPr>
          <p:nvPr/>
        </p:nvSpPr>
        <p:spPr>
          <a:xfrm>
            <a:off x="725129" y="1170039"/>
            <a:ext cx="8153400" cy="4114800"/>
          </a:xfrm>
          <a:prstGeom prst="rect">
            <a:avLst/>
          </a:prstGeom>
          <a:no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800" dirty="0">
                <a:latin typeface="+mj-lt"/>
              </a:rPr>
              <a:t>List Customer Requirements (What’s)</a:t>
            </a:r>
          </a:p>
          <a:p>
            <a:r>
              <a:rPr lang="en-US" altLang="en-US" sz="2800" dirty="0">
                <a:latin typeface="+mj-lt"/>
              </a:rPr>
              <a:t>List Technical Descriptors (How’s)</a:t>
            </a:r>
          </a:p>
          <a:p>
            <a:r>
              <a:rPr lang="en-US" altLang="en-US" sz="2800" dirty="0">
                <a:latin typeface="+mj-lt"/>
              </a:rPr>
              <a:t>Develop Relationship (What’s &amp; How’s)</a:t>
            </a:r>
          </a:p>
          <a:p>
            <a:r>
              <a:rPr lang="en-US" altLang="en-US" sz="2800" dirty="0">
                <a:latin typeface="+mj-lt"/>
              </a:rPr>
              <a:t>Develop Interrelationship (How’s)</a:t>
            </a:r>
          </a:p>
          <a:p>
            <a:r>
              <a:rPr lang="en-US" altLang="en-US" sz="2800" dirty="0">
                <a:latin typeface="+mj-lt"/>
              </a:rPr>
              <a:t>Competitive Assessments</a:t>
            </a:r>
          </a:p>
          <a:p>
            <a:r>
              <a:rPr lang="en-US" altLang="en-US" sz="2800" dirty="0">
                <a:latin typeface="+mj-lt"/>
              </a:rPr>
              <a:t>Prioritize Customer Requirements</a:t>
            </a:r>
          </a:p>
          <a:p>
            <a:r>
              <a:rPr lang="en-US" altLang="en-US" sz="2800" dirty="0">
                <a:latin typeface="+mj-lt"/>
              </a:rPr>
              <a:t>Prioritize Technical Descriptors</a:t>
            </a:r>
          </a:p>
        </p:txBody>
      </p:sp>
    </p:spTree>
    <p:extLst>
      <p:ext uri="{BB962C8B-B14F-4D97-AF65-F5344CB8AC3E}">
        <p14:creationId xmlns:p14="http://schemas.microsoft.com/office/powerpoint/2010/main" val="8631892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3" y="196170"/>
            <a:ext cx="3418342"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IN" dirty="0">
                <a:latin typeface="+mj-lt"/>
              </a:rPr>
              <a:t>QFD Matrix</a:t>
            </a:r>
            <a:endParaRPr dirty="0">
              <a:latin typeface="+mj-lt"/>
            </a:endParaRPr>
          </a:p>
        </p:txBody>
      </p:sp>
      <p:sp>
        <p:nvSpPr>
          <p:cNvPr id="3" name="Line 3">
            <a:extLst>
              <a:ext uri="{FF2B5EF4-FFF2-40B4-BE49-F238E27FC236}">
                <a16:creationId xmlns:a16="http://schemas.microsoft.com/office/drawing/2014/main" id="{C4EBFF6E-755A-DB65-F0C2-DC2117CB8A37}"/>
              </a:ext>
            </a:extLst>
          </p:cNvPr>
          <p:cNvSpPr>
            <a:spLocks noChangeShapeType="1"/>
          </p:cNvSpPr>
          <p:nvPr/>
        </p:nvSpPr>
        <p:spPr bwMode="auto">
          <a:xfrm flipV="1">
            <a:off x="4810125" y="152400"/>
            <a:ext cx="779463" cy="715963"/>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 name="Line 4">
            <a:extLst>
              <a:ext uri="{FF2B5EF4-FFF2-40B4-BE49-F238E27FC236}">
                <a16:creationId xmlns:a16="http://schemas.microsoft.com/office/drawing/2014/main" id="{0FF26831-E35E-66F4-D90C-2225C84CA25E}"/>
              </a:ext>
            </a:extLst>
          </p:cNvPr>
          <p:cNvSpPr>
            <a:spLocks noChangeShapeType="1"/>
          </p:cNvSpPr>
          <p:nvPr/>
        </p:nvSpPr>
        <p:spPr bwMode="auto">
          <a:xfrm flipH="1" flipV="1">
            <a:off x="4908550" y="779463"/>
            <a:ext cx="95250" cy="8890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6" name="Line 5">
            <a:extLst>
              <a:ext uri="{FF2B5EF4-FFF2-40B4-BE49-F238E27FC236}">
                <a16:creationId xmlns:a16="http://schemas.microsoft.com/office/drawing/2014/main" id="{CB9C205D-A3F1-413D-EBA3-FB86F5DB9866}"/>
              </a:ext>
            </a:extLst>
          </p:cNvPr>
          <p:cNvSpPr>
            <a:spLocks noChangeShapeType="1"/>
          </p:cNvSpPr>
          <p:nvPr/>
        </p:nvSpPr>
        <p:spPr bwMode="auto">
          <a:xfrm flipH="1" flipV="1">
            <a:off x="5003800" y="688975"/>
            <a:ext cx="198438" cy="179388"/>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7" name="Line 6">
            <a:extLst>
              <a:ext uri="{FF2B5EF4-FFF2-40B4-BE49-F238E27FC236}">
                <a16:creationId xmlns:a16="http://schemas.microsoft.com/office/drawing/2014/main" id="{C521D012-74F7-0ECD-B309-09EFF68B5CFE}"/>
              </a:ext>
            </a:extLst>
          </p:cNvPr>
          <p:cNvSpPr>
            <a:spLocks noChangeShapeType="1"/>
          </p:cNvSpPr>
          <p:nvPr/>
        </p:nvSpPr>
        <p:spPr bwMode="auto">
          <a:xfrm flipH="1" flipV="1">
            <a:off x="5102225" y="600075"/>
            <a:ext cx="295275" cy="268288"/>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8" name="Line 7">
            <a:extLst>
              <a:ext uri="{FF2B5EF4-FFF2-40B4-BE49-F238E27FC236}">
                <a16:creationId xmlns:a16="http://schemas.microsoft.com/office/drawing/2014/main" id="{754AEF89-96A6-F2B0-9561-21362C40E46D}"/>
              </a:ext>
            </a:extLst>
          </p:cNvPr>
          <p:cNvSpPr>
            <a:spLocks noChangeShapeType="1"/>
          </p:cNvSpPr>
          <p:nvPr/>
        </p:nvSpPr>
        <p:spPr bwMode="auto">
          <a:xfrm flipH="1" flipV="1">
            <a:off x="5202238" y="511175"/>
            <a:ext cx="388937" cy="357188"/>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9" name="Line 8">
            <a:extLst>
              <a:ext uri="{FF2B5EF4-FFF2-40B4-BE49-F238E27FC236}">
                <a16:creationId xmlns:a16="http://schemas.microsoft.com/office/drawing/2014/main" id="{559A61B3-D400-E06A-338B-2D3E6D16E7A3}"/>
              </a:ext>
            </a:extLst>
          </p:cNvPr>
          <p:cNvSpPr>
            <a:spLocks noChangeShapeType="1"/>
          </p:cNvSpPr>
          <p:nvPr/>
        </p:nvSpPr>
        <p:spPr bwMode="auto">
          <a:xfrm flipH="1" flipV="1">
            <a:off x="5299075" y="420688"/>
            <a:ext cx="490538" cy="447675"/>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0" name="Line 9">
            <a:extLst>
              <a:ext uri="{FF2B5EF4-FFF2-40B4-BE49-F238E27FC236}">
                <a16:creationId xmlns:a16="http://schemas.microsoft.com/office/drawing/2014/main" id="{F55A18E3-99D7-3134-972F-6783ABB052DF}"/>
              </a:ext>
            </a:extLst>
          </p:cNvPr>
          <p:cNvSpPr>
            <a:spLocks noChangeShapeType="1"/>
          </p:cNvSpPr>
          <p:nvPr/>
        </p:nvSpPr>
        <p:spPr bwMode="auto">
          <a:xfrm flipH="1" flipV="1">
            <a:off x="5397500" y="331788"/>
            <a:ext cx="585788" cy="536575"/>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1" name="Line 10">
            <a:extLst>
              <a:ext uri="{FF2B5EF4-FFF2-40B4-BE49-F238E27FC236}">
                <a16:creationId xmlns:a16="http://schemas.microsoft.com/office/drawing/2014/main" id="{9C335FE7-0850-7C02-DE52-F08EED03B4D2}"/>
              </a:ext>
            </a:extLst>
          </p:cNvPr>
          <p:cNvSpPr>
            <a:spLocks noChangeShapeType="1"/>
          </p:cNvSpPr>
          <p:nvPr/>
        </p:nvSpPr>
        <p:spPr bwMode="auto">
          <a:xfrm flipH="1" flipV="1">
            <a:off x="5494338" y="241300"/>
            <a:ext cx="685800" cy="627063"/>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2" name="Line 11">
            <a:extLst>
              <a:ext uri="{FF2B5EF4-FFF2-40B4-BE49-F238E27FC236}">
                <a16:creationId xmlns:a16="http://schemas.microsoft.com/office/drawing/2014/main" id="{62946FD0-ABA5-0883-E956-4091A9CA3DAA}"/>
              </a:ext>
            </a:extLst>
          </p:cNvPr>
          <p:cNvSpPr>
            <a:spLocks noChangeShapeType="1"/>
          </p:cNvSpPr>
          <p:nvPr/>
        </p:nvSpPr>
        <p:spPr bwMode="auto">
          <a:xfrm flipH="1" flipV="1">
            <a:off x="5589588" y="152400"/>
            <a:ext cx="779462" cy="715963"/>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3" name="Line 12">
            <a:extLst>
              <a:ext uri="{FF2B5EF4-FFF2-40B4-BE49-F238E27FC236}">
                <a16:creationId xmlns:a16="http://schemas.microsoft.com/office/drawing/2014/main" id="{A3F44BBB-362C-2474-2602-59597DF2C8F1}"/>
              </a:ext>
            </a:extLst>
          </p:cNvPr>
          <p:cNvSpPr>
            <a:spLocks noChangeShapeType="1"/>
          </p:cNvSpPr>
          <p:nvPr/>
        </p:nvSpPr>
        <p:spPr bwMode="auto">
          <a:xfrm flipV="1">
            <a:off x="6173788" y="779463"/>
            <a:ext cx="96837" cy="8890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4" name="Line 13">
            <a:extLst>
              <a:ext uri="{FF2B5EF4-FFF2-40B4-BE49-F238E27FC236}">
                <a16:creationId xmlns:a16="http://schemas.microsoft.com/office/drawing/2014/main" id="{440B76BD-CB47-0416-F568-1C768DC9CF60}"/>
              </a:ext>
            </a:extLst>
          </p:cNvPr>
          <p:cNvSpPr>
            <a:spLocks noChangeShapeType="1"/>
          </p:cNvSpPr>
          <p:nvPr/>
        </p:nvSpPr>
        <p:spPr bwMode="auto">
          <a:xfrm flipV="1">
            <a:off x="5976938" y="688975"/>
            <a:ext cx="196850" cy="179388"/>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5" name="Line 14">
            <a:extLst>
              <a:ext uri="{FF2B5EF4-FFF2-40B4-BE49-F238E27FC236}">
                <a16:creationId xmlns:a16="http://schemas.microsoft.com/office/drawing/2014/main" id="{FA174683-BF5F-244D-961D-6B750B559051}"/>
              </a:ext>
            </a:extLst>
          </p:cNvPr>
          <p:cNvSpPr>
            <a:spLocks noChangeShapeType="1"/>
          </p:cNvSpPr>
          <p:nvPr/>
        </p:nvSpPr>
        <p:spPr bwMode="auto">
          <a:xfrm flipV="1">
            <a:off x="5781675" y="600075"/>
            <a:ext cx="295275" cy="268288"/>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6" name="Line 15">
            <a:extLst>
              <a:ext uri="{FF2B5EF4-FFF2-40B4-BE49-F238E27FC236}">
                <a16:creationId xmlns:a16="http://schemas.microsoft.com/office/drawing/2014/main" id="{9D45A30B-C03F-ABDF-43B6-29AF9D96C025}"/>
              </a:ext>
            </a:extLst>
          </p:cNvPr>
          <p:cNvSpPr>
            <a:spLocks noChangeShapeType="1"/>
          </p:cNvSpPr>
          <p:nvPr/>
        </p:nvSpPr>
        <p:spPr bwMode="auto">
          <a:xfrm flipV="1">
            <a:off x="5586413" y="511175"/>
            <a:ext cx="390525" cy="357188"/>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7" name="Line 16">
            <a:extLst>
              <a:ext uri="{FF2B5EF4-FFF2-40B4-BE49-F238E27FC236}">
                <a16:creationId xmlns:a16="http://schemas.microsoft.com/office/drawing/2014/main" id="{14D1E1B6-45F0-D5D5-81E0-D46651423129}"/>
              </a:ext>
            </a:extLst>
          </p:cNvPr>
          <p:cNvSpPr>
            <a:spLocks noChangeShapeType="1"/>
          </p:cNvSpPr>
          <p:nvPr/>
        </p:nvSpPr>
        <p:spPr bwMode="auto">
          <a:xfrm flipV="1">
            <a:off x="5389563" y="420688"/>
            <a:ext cx="488950" cy="447675"/>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8" name="Line 17">
            <a:extLst>
              <a:ext uri="{FF2B5EF4-FFF2-40B4-BE49-F238E27FC236}">
                <a16:creationId xmlns:a16="http://schemas.microsoft.com/office/drawing/2014/main" id="{F4D2F49F-3D3C-6F4C-D6F6-744B97FB1735}"/>
              </a:ext>
            </a:extLst>
          </p:cNvPr>
          <p:cNvSpPr>
            <a:spLocks noChangeShapeType="1"/>
          </p:cNvSpPr>
          <p:nvPr/>
        </p:nvSpPr>
        <p:spPr bwMode="auto">
          <a:xfrm flipV="1">
            <a:off x="5195888" y="331788"/>
            <a:ext cx="585787" cy="536575"/>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9" name="Line 18">
            <a:extLst>
              <a:ext uri="{FF2B5EF4-FFF2-40B4-BE49-F238E27FC236}">
                <a16:creationId xmlns:a16="http://schemas.microsoft.com/office/drawing/2014/main" id="{7FC18F27-701A-AAC8-E7C2-EB8F8F1B7FBD}"/>
              </a:ext>
            </a:extLst>
          </p:cNvPr>
          <p:cNvSpPr>
            <a:spLocks noChangeShapeType="1"/>
          </p:cNvSpPr>
          <p:nvPr/>
        </p:nvSpPr>
        <p:spPr bwMode="auto">
          <a:xfrm flipV="1">
            <a:off x="4997450" y="241300"/>
            <a:ext cx="687388" cy="627063"/>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0" name="Line 19">
            <a:extLst>
              <a:ext uri="{FF2B5EF4-FFF2-40B4-BE49-F238E27FC236}">
                <a16:creationId xmlns:a16="http://schemas.microsoft.com/office/drawing/2014/main" id="{D901F4D7-C33C-E3DF-B0C7-029AA2D5DA98}"/>
              </a:ext>
            </a:extLst>
          </p:cNvPr>
          <p:cNvSpPr>
            <a:spLocks noChangeShapeType="1"/>
          </p:cNvSpPr>
          <p:nvPr/>
        </p:nvSpPr>
        <p:spPr bwMode="auto">
          <a:xfrm flipH="1">
            <a:off x="4803775" y="876300"/>
            <a:ext cx="157003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1" name="Rectangle 20">
            <a:extLst>
              <a:ext uri="{FF2B5EF4-FFF2-40B4-BE49-F238E27FC236}">
                <a16:creationId xmlns:a16="http://schemas.microsoft.com/office/drawing/2014/main" id="{1C40D77D-5AE2-BA84-1496-202E80CB1611}"/>
              </a:ext>
            </a:extLst>
          </p:cNvPr>
          <p:cNvSpPr>
            <a:spLocks noChangeArrowheads="1"/>
          </p:cNvSpPr>
          <p:nvPr/>
        </p:nvSpPr>
        <p:spPr bwMode="auto">
          <a:xfrm>
            <a:off x="2576513" y="5589588"/>
            <a:ext cx="2323200" cy="277641"/>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200" b="1">
                <a:latin typeface="+mj-lt"/>
              </a:rPr>
              <a:t>Absolute Weight and Percent</a:t>
            </a:r>
          </a:p>
        </p:txBody>
      </p:sp>
      <p:sp>
        <p:nvSpPr>
          <p:cNvPr id="22" name="Line 21">
            <a:extLst>
              <a:ext uri="{FF2B5EF4-FFF2-40B4-BE49-F238E27FC236}">
                <a16:creationId xmlns:a16="http://schemas.microsoft.com/office/drawing/2014/main" id="{812D3B4B-2768-CD96-C5C2-C93888A5BD0E}"/>
              </a:ext>
            </a:extLst>
          </p:cNvPr>
          <p:cNvSpPr>
            <a:spLocks noChangeShapeType="1"/>
          </p:cNvSpPr>
          <p:nvPr/>
        </p:nvSpPr>
        <p:spPr bwMode="auto">
          <a:xfrm>
            <a:off x="2641600" y="5259388"/>
            <a:ext cx="393700"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3" name="Line 22">
            <a:extLst>
              <a:ext uri="{FF2B5EF4-FFF2-40B4-BE49-F238E27FC236}">
                <a16:creationId xmlns:a16="http://schemas.microsoft.com/office/drawing/2014/main" id="{B40D0D89-2D17-7CF9-22DA-723D98EF4244}"/>
              </a:ext>
            </a:extLst>
          </p:cNvPr>
          <p:cNvSpPr>
            <a:spLocks noChangeShapeType="1"/>
          </p:cNvSpPr>
          <p:nvPr/>
        </p:nvSpPr>
        <p:spPr bwMode="auto">
          <a:xfrm>
            <a:off x="2641600" y="5629275"/>
            <a:ext cx="216693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4" name="Line 23">
            <a:extLst>
              <a:ext uri="{FF2B5EF4-FFF2-40B4-BE49-F238E27FC236}">
                <a16:creationId xmlns:a16="http://schemas.microsoft.com/office/drawing/2014/main" id="{51D0F81C-8B86-6A64-4BA3-DDE3B902E17A}"/>
              </a:ext>
            </a:extLst>
          </p:cNvPr>
          <p:cNvSpPr>
            <a:spLocks noChangeShapeType="1"/>
          </p:cNvSpPr>
          <p:nvPr/>
        </p:nvSpPr>
        <p:spPr bwMode="auto">
          <a:xfrm>
            <a:off x="5003800" y="5259388"/>
            <a:ext cx="0" cy="74295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5" name="Line 24">
            <a:extLst>
              <a:ext uri="{FF2B5EF4-FFF2-40B4-BE49-F238E27FC236}">
                <a16:creationId xmlns:a16="http://schemas.microsoft.com/office/drawing/2014/main" id="{03E13192-CCBF-0116-D53C-B650E277EFD2}"/>
              </a:ext>
            </a:extLst>
          </p:cNvPr>
          <p:cNvSpPr>
            <a:spLocks noChangeShapeType="1"/>
          </p:cNvSpPr>
          <p:nvPr/>
        </p:nvSpPr>
        <p:spPr bwMode="auto">
          <a:xfrm>
            <a:off x="2641600" y="5818188"/>
            <a:ext cx="216693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6" name="Line 25">
            <a:extLst>
              <a:ext uri="{FF2B5EF4-FFF2-40B4-BE49-F238E27FC236}">
                <a16:creationId xmlns:a16="http://schemas.microsoft.com/office/drawing/2014/main" id="{F9C7BB2A-730E-5027-DD17-CF9711A06F6D}"/>
              </a:ext>
            </a:extLst>
          </p:cNvPr>
          <p:cNvSpPr>
            <a:spLocks noChangeShapeType="1"/>
          </p:cNvSpPr>
          <p:nvPr/>
        </p:nvSpPr>
        <p:spPr bwMode="auto">
          <a:xfrm>
            <a:off x="2641600" y="5446713"/>
            <a:ext cx="216693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7" name="Line 26">
            <a:extLst>
              <a:ext uri="{FF2B5EF4-FFF2-40B4-BE49-F238E27FC236}">
                <a16:creationId xmlns:a16="http://schemas.microsoft.com/office/drawing/2014/main" id="{8C5792F0-30F9-4574-F2C7-0B079D9D653E}"/>
              </a:ext>
            </a:extLst>
          </p:cNvPr>
          <p:cNvSpPr>
            <a:spLocks noChangeShapeType="1"/>
          </p:cNvSpPr>
          <p:nvPr/>
        </p:nvSpPr>
        <p:spPr bwMode="auto">
          <a:xfrm>
            <a:off x="3035300" y="5259388"/>
            <a:ext cx="177323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8" name="Line 27">
            <a:extLst>
              <a:ext uri="{FF2B5EF4-FFF2-40B4-BE49-F238E27FC236}">
                <a16:creationId xmlns:a16="http://schemas.microsoft.com/office/drawing/2014/main" id="{9E4B4A17-C2C9-E49B-ADCC-784B47F6B439}"/>
              </a:ext>
            </a:extLst>
          </p:cNvPr>
          <p:cNvSpPr>
            <a:spLocks noChangeShapeType="1"/>
          </p:cNvSpPr>
          <p:nvPr/>
        </p:nvSpPr>
        <p:spPr bwMode="auto">
          <a:xfrm>
            <a:off x="5202238" y="5259388"/>
            <a:ext cx="1587" cy="74295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9" name="Line 28">
            <a:extLst>
              <a:ext uri="{FF2B5EF4-FFF2-40B4-BE49-F238E27FC236}">
                <a16:creationId xmlns:a16="http://schemas.microsoft.com/office/drawing/2014/main" id="{0B022C8F-A735-3E58-1B42-2535174AFAF6}"/>
              </a:ext>
            </a:extLst>
          </p:cNvPr>
          <p:cNvSpPr>
            <a:spLocks noChangeShapeType="1"/>
          </p:cNvSpPr>
          <p:nvPr/>
        </p:nvSpPr>
        <p:spPr bwMode="auto">
          <a:xfrm>
            <a:off x="5397500" y="5259388"/>
            <a:ext cx="1588" cy="74295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0" name="Line 29">
            <a:extLst>
              <a:ext uri="{FF2B5EF4-FFF2-40B4-BE49-F238E27FC236}">
                <a16:creationId xmlns:a16="http://schemas.microsoft.com/office/drawing/2014/main" id="{C8FE6B63-91C1-99EF-955E-0EAEDF7CC30F}"/>
              </a:ext>
            </a:extLst>
          </p:cNvPr>
          <p:cNvSpPr>
            <a:spLocks noChangeShapeType="1"/>
          </p:cNvSpPr>
          <p:nvPr/>
        </p:nvSpPr>
        <p:spPr bwMode="auto">
          <a:xfrm>
            <a:off x="5595938" y="5259388"/>
            <a:ext cx="0" cy="74295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1" name="Line 30">
            <a:extLst>
              <a:ext uri="{FF2B5EF4-FFF2-40B4-BE49-F238E27FC236}">
                <a16:creationId xmlns:a16="http://schemas.microsoft.com/office/drawing/2014/main" id="{9E9DC4A5-461A-E3F9-36CD-24D5A7EA7F5E}"/>
              </a:ext>
            </a:extLst>
          </p:cNvPr>
          <p:cNvSpPr>
            <a:spLocks noChangeShapeType="1"/>
          </p:cNvSpPr>
          <p:nvPr/>
        </p:nvSpPr>
        <p:spPr bwMode="auto">
          <a:xfrm>
            <a:off x="5792788" y="5259388"/>
            <a:ext cx="4762" cy="741362"/>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2" name="Line 31">
            <a:extLst>
              <a:ext uri="{FF2B5EF4-FFF2-40B4-BE49-F238E27FC236}">
                <a16:creationId xmlns:a16="http://schemas.microsoft.com/office/drawing/2014/main" id="{C6B56670-29ED-B00C-9A85-C86411DDC2CF}"/>
              </a:ext>
            </a:extLst>
          </p:cNvPr>
          <p:cNvSpPr>
            <a:spLocks noChangeShapeType="1"/>
          </p:cNvSpPr>
          <p:nvPr/>
        </p:nvSpPr>
        <p:spPr bwMode="auto">
          <a:xfrm>
            <a:off x="5989638" y="5259388"/>
            <a:ext cx="0" cy="74295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3" name="Line 32">
            <a:extLst>
              <a:ext uri="{FF2B5EF4-FFF2-40B4-BE49-F238E27FC236}">
                <a16:creationId xmlns:a16="http://schemas.microsoft.com/office/drawing/2014/main" id="{AD0D964F-2B61-3658-E2AB-8D98EE4A5C2A}"/>
              </a:ext>
            </a:extLst>
          </p:cNvPr>
          <p:cNvSpPr>
            <a:spLocks noChangeShapeType="1"/>
          </p:cNvSpPr>
          <p:nvPr/>
        </p:nvSpPr>
        <p:spPr bwMode="auto">
          <a:xfrm>
            <a:off x="6184900" y="5259388"/>
            <a:ext cx="0" cy="74295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4" name="Line 33">
            <a:extLst>
              <a:ext uri="{FF2B5EF4-FFF2-40B4-BE49-F238E27FC236}">
                <a16:creationId xmlns:a16="http://schemas.microsoft.com/office/drawing/2014/main" id="{500A3BE2-8188-469E-CFDB-965078F30B2C}"/>
              </a:ext>
            </a:extLst>
          </p:cNvPr>
          <p:cNvSpPr>
            <a:spLocks noChangeShapeType="1"/>
          </p:cNvSpPr>
          <p:nvPr/>
        </p:nvSpPr>
        <p:spPr bwMode="auto">
          <a:xfrm>
            <a:off x="2641600" y="5259388"/>
            <a:ext cx="0" cy="74295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5" name="Line 34">
            <a:extLst>
              <a:ext uri="{FF2B5EF4-FFF2-40B4-BE49-F238E27FC236}">
                <a16:creationId xmlns:a16="http://schemas.microsoft.com/office/drawing/2014/main" id="{DD67361F-9982-B79C-1E8A-5F45BB12E622}"/>
              </a:ext>
            </a:extLst>
          </p:cNvPr>
          <p:cNvSpPr>
            <a:spLocks noChangeShapeType="1"/>
          </p:cNvSpPr>
          <p:nvPr/>
        </p:nvSpPr>
        <p:spPr bwMode="auto">
          <a:xfrm>
            <a:off x="2641600" y="6002338"/>
            <a:ext cx="216693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6" name="Line 35">
            <a:extLst>
              <a:ext uri="{FF2B5EF4-FFF2-40B4-BE49-F238E27FC236}">
                <a16:creationId xmlns:a16="http://schemas.microsoft.com/office/drawing/2014/main" id="{53FB8116-3D3F-85E3-33DF-8EB147A30FD2}"/>
              </a:ext>
            </a:extLst>
          </p:cNvPr>
          <p:cNvSpPr>
            <a:spLocks noChangeShapeType="1"/>
          </p:cNvSpPr>
          <p:nvPr/>
        </p:nvSpPr>
        <p:spPr bwMode="auto">
          <a:xfrm>
            <a:off x="4808538" y="5259388"/>
            <a:ext cx="0" cy="187325"/>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7" name="Line 36">
            <a:extLst>
              <a:ext uri="{FF2B5EF4-FFF2-40B4-BE49-F238E27FC236}">
                <a16:creationId xmlns:a16="http://schemas.microsoft.com/office/drawing/2014/main" id="{027AE2C6-66F9-7B29-044C-69B3904D72FF}"/>
              </a:ext>
            </a:extLst>
          </p:cNvPr>
          <p:cNvSpPr>
            <a:spLocks noChangeShapeType="1"/>
          </p:cNvSpPr>
          <p:nvPr/>
        </p:nvSpPr>
        <p:spPr bwMode="auto">
          <a:xfrm>
            <a:off x="4810125" y="6002338"/>
            <a:ext cx="1571625"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8" name="Line 37">
            <a:extLst>
              <a:ext uri="{FF2B5EF4-FFF2-40B4-BE49-F238E27FC236}">
                <a16:creationId xmlns:a16="http://schemas.microsoft.com/office/drawing/2014/main" id="{92CE4DAE-A22A-781A-2BBF-251322D4372F}"/>
              </a:ext>
            </a:extLst>
          </p:cNvPr>
          <p:cNvSpPr>
            <a:spLocks noChangeShapeType="1"/>
          </p:cNvSpPr>
          <p:nvPr/>
        </p:nvSpPr>
        <p:spPr bwMode="auto">
          <a:xfrm>
            <a:off x="6383338" y="5259388"/>
            <a:ext cx="0" cy="930275"/>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9" name="Line 38">
            <a:extLst>
              <a:ext uri="{FF2B5EF4-FFF2-40B4-BE49-F238E27FC236}">
                <a16:creationId xmlns:a16="http://schemas.microsoft.com/office/drawing/2014/main" id="{53EA2DD3-26C4-7014-B373-E21F00C6920F}"/>
              </a:ext>
            </a:extLst>
          </p:cNvPr>
          <p:cNvSpPr>
            <a:spLocks noChangeShapeType="1"/>
          </p:cNvSpPr>
          <p:nvPr/>
        </p:nvSpPr>
        <p:spPr bwMode="auto">
          <a:xfrm>
            <a:off x="4808538" y="6002338"/>
            <a:ext cx="0" cy="369887"/>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40" name="Line 39">
            <a:extLst>
              <a:ext uri="{FF2B5EF4-FFF2-40B4-BE49-F238E27FC236}">
                <a16:creationId xmlns:a16="http://schemas.microsoft.com/office/drawing/2014/main" id="{3AB03EA2-9E47-73F7-102D-4D6055CC9494}"/>
              </a:ext>
            </a:extLst>
          </p:cNvPr>
          <p:cNvSpPr>
            <a:spLocks noChangeShapeType="1"/>
          </p:cNvSpPr>
          <p:nvPr/>
        </p:nvSpPr>
        <p:spPr bwMode="auto">
          <a:xfrm>
            <a:off x="4810125" y="6372225"/>
            <a:ext cx="1573213"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41" name="Line 40">
            <a:extLst>
              <a:ext uri="{FF2B5EF4-FFF2-40B4-BE49-F238E27FC236}">
                <a16:creationId xmlns:a16="http://schemas.microsoft.com/office/drawing/2014/main" id="{E3D8BE7B-2810-2E52-C7D9-6F66BDE873C9}"/>
              </a:ext>
            </a:extLst>
          </p:cNvPr>
          <p:cNvSpPr>
            <a:spLocks noChangeShapeType="1"/>
          </p:cNvSpPr>
          <p:nvPr/>
        </p:nvSpPr>
        <p:spPr bwMode="auto">
          <a:xfrm flipV="1">
            <a:off x="6383338" y="6189663"/>
            <a:ext cx="0" cy="182562"/>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42" name="Rectangle 41">
            <a:extLst>
              <a:ext uri="{FF2B5EF4-FFF2-40B4-BE49-F238E27FC236}">
                <a16:creationId xmlns:a16="http://schemas.microsoft.com/office/drawing/2014/main" id="{E15B0E54-3C41-E400-5D5B-6F64EDF9F5FC}"/>
              </a:ext>
            </a:extLst>
          </p:cNvPr>
          <p:cNvSpPr>
            <a:spLocks noChangeArrowheads="1"/>
          </p:cNvSpPr>
          <p:nvPr/>
        </p:nvSpPr>
        <p:spPr bwMode="auto">
          <a:xfrm>
            <a:off x="4745038" y="5970588"/>
            <a:ext cx="1697037" cy="46230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200" b="1">
                <a:latin typeface="+mj-lt"/>
              </a:rPr>
              <a:t>Prioritized Technical Descriptors</a:t>
            </a:r>
          </a:p>
        </p:txBody>
      </p:sp>
      <p:sp>
        <p:nvSpPr>
          <p:cNvPr id="43" name="Rectangle 42">
            <a:extLst>
              <a:ext uri="{FF2B5EF4-FFF2-40B4-BE49-F238E27FC236}">
                <a16:creationId xmlns:a16="http://schemas.microsoft.com/office/drawing/2014/main" id="{87531BCC-CE82-59DA-BB45-F6301358A3D0}"/>
              </a:ext>
            </a:extLst>
          </p:cNvPr>
          <p:cNvSpPr>
            <a:spLocks noChangeArrowheads="1"/>
          </p:cNvSpPr>
          <p:nvPr/>
        </p:nvSpPr>
        <p:spPr bwMode="auto">
          <a:xfrm>
            <a:off x="2574925" y="5233988"/>
            <a:ext cx="2338589" cy="277641"/>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200" b="1">
                <a:latin typeface="+mj-lt"/>
              </a:rPr>
              <a:t>Degree of Technical Difficulty</a:t>
            </a:r>
          </a:p>
        </p:txBody>
      </p:sp>
      <p:sp>
        <p:nvSpPr>
          <p:cNvPr id="44" name="Rectangle 43">
            <a:extLst>
              <a:ext uri="{FF2B5EF4-FFF2-40B4-BE49-F238E27FC236}">
                <a16:creationId xmlns:a16="http://schemas.microsoft.com/office/drawing/2014/main" id="{FB138A9E-83F5-25D4-0D05-953E820A4D9A}"/>
              </a:ext>
            </a:extLst>
          </p:cNvPr>
          <p:cNvSpPr>
            <a:spLocks noChangeArrowheads="1"/>
          </p:cNvSpPr>
          <p:nvPr/>
        </p:nvSpPr>
        <p:spPr bwMode="auto">
          <a:xfrm>
            <a:off x="2581275" y="5780088"/>
            <a:ext cx="2252668" cy="277641"/>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200" b="1">
                <a:latin typeface="+mj-lt"/>
              </a:rPr>
              <a:t>Relative Weight and Percent</a:t>
            </a:r>
          </a:p>
        </p:txBody>
      </p:sp>
      <p:sp>
        <p:nvSpPr>
          <p:cNvPr id="45" name="Rectangle 44">
            <a:extLst>
              <a:ext uri="{FF2B5EF4-FFF2-40B4-BE49-F238E27FC236}">
                <a16:creationId xmlns:a16="http://schemas.microsoft.com/office/drawing/2014/main" id="{4F502A25-3B0F-034F-6BED-5AE6074B9D72}"/>
              </a:ext>
            </a:extLst>
          </p:cNvPr>
          <p:cNvSpPr>
            <a:spLocks noChangeArrowheads="1"/>
          </p:cNvSpPr>
          <p:nvPr/>
        </p:nvSpPr>
        <p:spPr bwMode="auto">
          <a:xfrm>
            <a:off x="2578100" y="5411788"/>
            <a:ext cx="1089401" cy="277641"/>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200" b="1">
                <a:latin typeface="+mj-lt"/>
              </a:rPr>
              <a:t>Target Value</a:t>
            </a:r>
          </a:p>
        </p:txBody>
      </p:sp>
      <p:sp>
        <p:nvSpPr>
          <p:cNvPr id="46" name="Line 45">
            <a:extLst>
              <a:ext uri="{FF2B5EF4-FFF2-40B4-BE49-F238E27FC236}">
                <a16:creationId xmlns:a16="http://schemas.microsoft.com/office/drawing/2014/main" id="{3FA33500-202F-F4ED-6E68-CA0146D41CA1}"/>
              </a:ext>
            </a:extLst>
          </p:cNvPr>
          <p:cNvSpPr>
            <a:spLocks noChangeShapeType="1"/>
          </p:cNvSpPr>
          <p:nvPr/>
        </p:nvSpPr>
        <p:spPr bwMode="auto">
          <a:xfrm>
            <a:off x="4808538" y="5446713"/>
            <a:ext cx="0" cy="555625"/>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47" name="Line 46">
            <a:extLst>
              <a:ext uri="{FF2B5EF4-FFF2-40B4-BE49-F238E27FC236}">
                <a16:creationId xmlns:a16="http://schemas.microsoft.com/office/drawing/2014/main" id="{5784E5BF-C07F-64CA-7AF5-180CE2ACBA77}"/>
              </a:ext>
            </a:extLst>
          </p:cNvPr>
          <p:cNvSpPr>
            <a:spLocks noChangeShapeType="1"/>
          </p:cNvSpPr>
          <p:nvPr/>
        </p:nvSpPr>
        <p:spPr bwMode="auto">
          <a:xfrm>
            <a:off x="4808538" y="5259388"/>
            <a:ext cx="1574800"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48" name="Line 47">
            <a:extLst>
              <a:ext uri="{FF2B5EF4-FFF2-40B4-BE49-F238E27FC236}">
                <a16:creationId xmlns:a16="http://schemas.microsoft.com/office/drawing/2014/main" id="{39CF1063-31FE-A99D-6214-2185AE9C5969}"/>
              </a:ext>
            </a:extLst>
          </p:cNvPr>
          <p:cNvSpPr>
            <a:spLocks noChangeShapeType="1"/>
          </p:cNvSpPr>
          <p:nvPr/>
        </p:nvSpPr>
        <p:spPr bwMode="auto">
          <a:xfrm>
            <a:off x="4808538" y="5446713"/>
            <a:ext cx="1574800"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49" name="Line 48">
            <a:extLst>
              <a:ext uri="{FF2B5EF4-FFF2-40B4-BE49-F238E27FC236}">
                <a16:creationId xmlns:a16="http://schemas.microsoft.com/office/drawing/2014/main" id="{A1C0798D-F0D1-52D6-6C0F-8F1572C5A1C5}"/>
              </a:ext>
            </a:extLst>
          </p:cNvPr>
          <p:cNvSpPr>
            <a:spLocks noChangeShapeType="1"/>
          </p:cNvSpPr>
          <p:nvPr/>
        </p:nvSpPr>
        <p:spPr bwMode="auto">
          <a:xfrm>
            <a:off x="4808538" y="5629275"/>
            <a:ext cx="1574800"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0" name="Line 49">
            <a:extLst>
              <a:ext uri="{FF2B5EF4-FFF2-40B4-BE49-F238E27FC236}">
                <a16:creationId xmlns:a16="http://schemas.microsoft.com/office/drawing/2014/main" id="{44CB3AF2-D4C3-2B84-34DC-1B92D4D21E78}"/>
              </a:ext>
            </a:extLst>
          </p:cNvPr>
          <p:cNvSpPr>
            <a:spLocks noChangeShapeType="1"/>
          </p:cNvSpPr>
          <p:nvPr/>
        </p:nvSpPr>
        <p:spPr bwMode="auto">
          <a:xfrm>
            <a:off x="4808538" y="5818188"/>
            <a:ext cx="1574800"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1" name="Line 50">
            <a:extLst>
              <a:ext uri="{FF2B5EF4-FFF2-40B4-BE49-F238E27FC236}">
                <a16:creationId xmlns:a16="http://schemas.microsoft.com/office/drawing/2014/main" id="{61F3B24D-C7B3-A9C4-858C-66609AF3C9F8}"/>
              </a:ext>
            </a:extLst>
          </p:cNvPr>
          <p:cNvSpPr>
            <a:spLocks noChangeShapeType="1"/>
          </p:cNvSpPr>
          <p:nvPr/>
        </p:nvSpPr>
        <p:spPr bwMode="auto">
          <a:xfrm>
            <a:off x="5005388" y="3063875"/>
            <a:ext cx="0" cy="1589088"/>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2" name="Line 51">
            <a:extLst>
              <a:ext uri="{FF2B5EF4-FFF2-40B4-BE49-F238E27FC236}">
                <a16:creationId xmlns:a16="http://schemas.microsoft.com/office/drawing/2014/main" id="{15A58D6E-F1E3-D5D6-2664-BB5FD0723A57}"/>
              </a:ext>
            </a:extLst>
          </p:cNvPr>
          <p:cNvSpPr>
            <a:spLocks noChangeShapeType="1"/>
          </p:cNvSpPr>
          <p:nvPr/>
        </p:nvSpPr>
        <p:spPr bwMode="auto">
          <a:xfrm>
            <a:off x="4810125" y="3262313"/>
            <a:ext cx="2168525"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3" name="Line 52">
            <a:extLst>
              <a:ext uri="{FF2B5EF4-FFF2-40B4-BE49-F238E27FC236}">
                <a16:creationId xmlns:a16="http://schemas.microsoft.com/office/drawing/2014/main" id="{39EA851F-6301-29A5-E5FC-DE2FC4372B33}"/>
              </a:ext>
            </a:extLst>
          </p:cNvPr>
          <p:cNvSpPr>
            <a:spLocks noChangeShapeType="1"/>
          </p:cNvSpPr>
          <p:nvPr/>
        </p:nvSpPr>
        <p:spPr bwMode="auto">
          <a:xfrm>
            <a:off x="4810125" y="3460750"/>
            <a:ext cx="2168525"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4" name="Line 53">
            <a:extLst>
              <a:ext uri="{FF2B5EF4-FFF2-40B4-BE49-F238E27FC236}">
                <a16:creationId xmlns:a16="http://schemas.microsoft.com/office/drawing/2014/main" id="{CFA7B5ED-9DFE-7760-3D52-291A2C0BF3EC}"/>
              </a:ext>
            </a:extLst>
          </p:cNvPr>
          <p:cNvSpPr>
            <a:spLocks noChangeShapeType="1"/>
          </p:cNvSpPr>
          <p:nvPr/>
        </p:nvSpPr>
        <p:spPr bwMode="auto">
          <a:xfrm>
            <a:off x="4810125" y="3660775"/>
            <a:ext cx="2168525"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5" name="Line 54">
            <a:extLst>
              <a:ext uri="{FF2B5EF4-FFF2-40B4-BE49-F238E27FC236}">
                <a16:creationId xmlns:a16="http://schemas.microsoft.com/office/drawing/2014/main" id="{5A915DF0-6F68-57DA-933A-923ED0E6DCC4}"/>
              </a:ext>
            </a:extLst>
          </p:cNvPr>
          <p:cNvSpPr>
            <a:spLocks noChangeShapeType="1"/>
          </p:cNvSpPr>
          <p:nvPr/>
        </p:nvSpPr>
        <p:spPr bwMode="auto">
          <a:xfrm>
            <a:off x="4810125" y="3857625"/>
            <a:ext cx="2168525"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6" name="Line 55">
            <a:extLst>
              <a:ext uri="{FF2B5EF4-FFF2-40B4-BE49-F238E27FC236}">
                <a16:creationId xmlns:a16="http://schemas.microsoft.com/office/drawing/2014/main" id="{8821B8D6-42D5-E121-9302-70A14E9F5560}"/>
              </a:ext>
            </a:extLst>
          </p:cNvPr>
          <p:cNvSpPr>
            <a:spLocks noChangeShapeType="1"/>
          </p:cNvSpPr>
          <p:nvPr/>
        </p:nvSpPr>
        <p:spPr bwMode="auto">
          <a:xfrm>
            <a:off x="4810125" y="4057650"/>
            <a:ext cx="2168525"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7" name="Line 56">
            <a:extLst>
              <a:ext uri="{FF2B5EF4-FFF2-40B4-BE49-F238E27FC236}">
                <a16:creationId xmlns:a16="http://schemas.microsoft.com/office/drawing/2014/main" id="{6BB8E6B4-6199-C447-F55B-C57F32EFA6F9}"/>
              </a:ext>
            </a:extLst>
          </p:cNvPr>
          <p:cNvSpPr>
            <a:spLocks noChangeShapeType="1"/>
          </p:cNvSpPr>
          <p:nvPr/>
        </p:nvSpPr>
        <p:spPr bwMode="auto">
          <a:xfrm>
            <a:off x="4810125" y="4254500"/>
            <a:ext cx="2168525"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8" name="Line 57">
            <a:extLst>
              <a:ext uri="{FF2B5EF4-FFF2-40B4-BE49-F238E27FC236}">
                <a16:creationId xmlns:a16="http://schemas.microsoft.com/office/drawing/2014/main" id="{E17EF789-E3C6-56C1-6E78-3DB20E0414BB}"/>
              </a:ext>
            </a:extLst>
          </p:cNvPr>
          <p:cNvSpPr>
            <a:spLocks noChangeShapeType="1"/>
          </p:cNvSpPr>
          <p:nvPr/>
        </p:nvSpPr>
        <p:spPr bwMode="auto">
          <a:xfrm>
            <a:off x="4810125" y="4454525"/>
            <a:ext cx="2168525"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9" name="Line 58">
            <a:extLst>
              <a:ext uri="{FF2B5EF4-FFF2-40B4-BE49-F238E27FC236}">
                <a16:creationId xmlns:a16="http://schemas.microsoft.com/office/drawing/2014/main" id="{EB8EEB9C-78C0-925A-29C1-1C9BBDE6CEAE}"/>
              </a:ext>
            </a:extLst>
          </p:cNvPr>
          <p:cNvSpPr>
            <a:spLocks noChangeShapeType="1"/>
          </p:cNvSpPr>
          <p:nvPr/>
        </p:nvSpPr>
        <p:spPr bwMode="auto">
          <a:xfrm>
            <a:off x="5402263" y="3063875"/>
            <a:ext cx="0" cy="1589088"/>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60" name="Line 59">
            <a:extLst>
              <a:ext uri="{FF2B5EF4-FFF2-40B4-BE49-F238E27FC236}">
                <a16:creationId xmlns:a16="http://schemas.microsoft.com/office/drawing/2014/main" id="{CC9A0B03-701A-55E5-BA5B-544513DCC1E2}"/>
              </a:ext>
            </a:extLst>
          </p:cNvPr>
          <p:cNvSpPr>
            <a:spLocks noChangeShapeType="1"/>
          </p:cNvSpPr>
          <p:nvPr/>
        </p:nvSpPr>
        <p:spPr bwMode="auto">
          <a:xfrm>
            <a:off x="5597525" y="3063875"/>
            <a:ext cx="0" cy="1589088"/>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61" name="Line 60">
            <a:extLst>
              <a:ext uri="{FF2B5EF4-FFF2-40B4-BE49-F238E27FC236}">
                <a16:creationId xmlns:a16="http://schemas.microsoft.com/office/drawing/2014/main" id="{B53F358F-3AD4-4913-0F8E-4F73651B6CCF}"/>
              </a:ext>
            </a:extLst>
          </p:cNvPr>
          <p:cNvSpPr>
            <a:spLocks noChangeShapeType="1"/>
          </p:cNvSpPr>
          <p:nvPr/>
        </p:nvSpPr>
        <p:spPr bwMode="auto">
          <a:xfrm>
            <a:off x="5795963" y="3063875"/>
            <a:ext cx="0" cy="1589088"/>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62" name="Line 61">
            <a:extLst>
              <a:ext uri="{FF2B5EF4-FFF2-40B4-BE49-F238E27FC236}">
                <a16:creationId xmlns:a16="http://schemas.microsoft.com/office/drawing/2014/main" id="{70E13BC1-F814-EE8E-91B8-AD73534A7044}"/>
              </a:ext>
            </a:extLst>
          </p:cNvPr>
          <p:cNvSpPr>
            <a:spLocks noChangeShapeType="1"/>
          </p:cNvSpPr>
          <p:nvPr/>
        </p:nvSpPr>
        <p:spPr bwMode="auto">
          <a:xfrm>
            <a:off x="5991225" y="3063875"/>
            <a:ext cx="0" cy="1589088"/>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63" name="Line 62">
            <a:extLst>
              <a:ext uri="{FF2B5EF4-FFF2-40B4-BE49-F238E27FC236}">
                <a16:creationId xmlns:a16="http://schemas.microsoft.com/office/drawing/2014/main" id="{05A11632-3A95-DCF7-DF4A-0E8D4681BCFC}"/>
              </a:ext>
            </a:extLst>
          </p:cNvPr>
          <p:cNvSpPr>
            <a:spLocks noChangeShapeType="1"/>
          </p:cNvSpPr>
          <p:nvPr/>
        </p:nvSpPr>
        <p:spPr bwMode="auto">
          <a:xfrm>
            <a:off x="6191250" y="3063875"/>
            <a:ext cx="0" cy="1589088"/>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64" name="Line 63">
            <a:extLst>
              <a:ext uri="{FF2B5EF4-FFF2-40B4-BE49-F238E27FC236}">
                <a16:creationId xmlns:a16="http://schemas.microsoft.com/office/drawing/2014/main" id="{B1390847-AB70-C7EC-FD7A-421C9B0FE802}"/>
              </a:ext>
            </a:extLst>
          </p:cNvPr>
          <p:cNvSpPr>
            <a:spLocks noChangeShapeType="1"/>
          </p:cNvSpPr>
          <p:nvPr/>
        </p:nvSpPr>
        <p:spPr bwMode="auto">
          <a:xfrm>
            <a:off x="6584950" y="3063875"/>
            <a:ext cx="0" cy="1589088"/>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65" name="Line 64">
            <a:extLst>
              <a:ext uri="{FF2B5EF4-FFF2-40B4-BE49-F238E27FC236}">
                <a16:creationId xmlns:a16="http://schemas.microsoft.com/office/drawing/2014/main" id="{9BC78DA7-4302-8815-BFBB-E61C1B6D6430}"/>
              </a:ext>
            </a:extLst>
          </p:cNvPr>
          <p:cNvSpPr>
            <a:spLocks noChangeShapeType="1"/>
          </p:cNvSpPr>
          <p:nvPr/>
        </p:nvSpPr>
        <p:spPr bwMode="auto">
          <a:xfrm>
            <a:off x="6783388" y="3063875"/>
            <a:ext cx="0" cy="1589088"/>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66" name="Line 65">
            <a:extLst>
              <a:ext uri="{FF2B5EF4-FFF2-40B4-BE49-F238E27FC236}">
                <a16:creationId xmlns:a16="http://schemas.microsoft.com/office/drawing/2014/main" id="{6FD264CA-5B56-1CAD-6509-ED55DB55ED17}"/>
              </a:ext>
            </a:extLst>
          </p:cNvPr>
          <p:cNvSpPr>
            <a:spLocks noChangeShapeType="1"/>
          </p:cNvSpPr>
          <p:nvPr/>
        </p:nvSpPr>
        <p:spPr bwMode="auto">
          <a:xfrm flipH="1">
            <a:off x="3035300" y="4057650"/>
            <a:ext cx="393700"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67" name="Line 66">
            <a:extLst>
              <a:ext uri="{FF2B5EF4-FFF2-40B4-BE49-F238E27FC236}">
                <a16:creationId xmlns:a16="http://schemas.microsoft.com/office/drawing/2014/main" id="{0C389440-290D-B253-CD7A-823824493572}"/>
              </a:ext>
            </a:extLst>
          </p:cNvPr>
          <p:cNvSpPr>
            <a:spLocks noChangeShapeType="1"/>
          </p:cNvSpPr>
          <p:nvPr/>
        </p:nvSpPr>
        <p:spPr bwMode="auto">
          <a:xfrm>
            <a:off x="3625850" y="4851400"/>
            <a:ext cx="118268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68" name="Line 67">
            <a:extLst>
              <a:ext uri="{FF2B5EF4-FFF2-40B4-BE49-F238E27FC236}">
                <a16:creationId xmlns:a16="http://schemas.microsoft.com/office/drawing/2014/main" id="{53915119-48B3-8826-0C91-CB965F70DCB7}"/>
              </a:ext>
            </a:extLst>
          </p:cNvPr>
          <p:cNvSpPr>
            <a:spLocks noChangeShapeType="1"/>
          </p:cNvSpPr>
          <p:nvPr/>
        </p:nvSpPr>
        <p:spPr bwMode="auto">
          <a:xfrm>
            <a:off x="3624263" y="5049838"/>
            <a:ext cx="1184275"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69" name="Line 68">
            <a:extLst>
              <a:ext uri="{FF2B5EF4-FFF2-40B4-BE49-F238E27FC236}">
                <a16:creationId xmlns:a16="http://schemas.microsoft.com/office/drawing/2014/main" id="{1AD0F6DB-04A7-DCAD-37A9-A67D002A6B5F}"/>
              </a:ext>
            </a:extLst>
          </p:cNvPr>
          <p:cNvSpPr>
            <a:spLocks noChangeShapeType="1"/>
          </p:cNvSpPr>
          <p:nvPr/>
        </p:nvSpPr>
        <p:spPr bwMode="auto">
          <a:xfrm>
            <a:off x="5005388" y="4652963"/>
            <a:ext cx="0" cy="595312"/>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70" name="Line 69">
            <a:extLst>
              <a:ext uri="{FF2B5EF4-FFF2-40B4-BE49-F238E27FC236}">
                <a16:creationId xmlns:a16="http://schemas.microsoft.com/office/drawing/2014/main" id="{879DB98D-1832-77CF-0555-EBBD9CC6B517}"/>
              </a:ext>
            </a:extLst>
          </p:cNvPr>
          <p:cNvSpPr>
            <a:spLocks noChangeShapeType="1"/>
          </p:cNvSpPr>
          <p:nvPr/>
        </p:nvSpPr>
        <p:spPr bwMode="auto">
          <a:xfrm>
            <a:off x="3625850" y="4652963"/>
            <a:ext cx="0" cy="598487"/>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71" name="Line 70">
            <a:extLst>
              <a:ext uri="{FF2B5EF4-FFF2-40B4-BE49-F238E27FC236}">
                <a16:creationId xmlns:a16="http://schemas.microsoft.com/office/drawing/2014/main" id="{7D7661CE-907D-FEE3-E9C1-E803D68D8A16}"/>
              </a:ext>
            </a:extLst>
          </p:cNvPr>
          <p:cNvSpPr>
            <a:spLocks noChangeShapeType="1"/>
          </p:cNvSpPr>
          <p:nvPr/>
        </p:nvSpPr>
        <p:spPr bwMode="auto">
          <a:xfrm flipH="1">
            <a:off x="5203825" y="4652963"/>
            <a:ext cx="1588" cy="595312"/>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72" name="Line 71">
            <a:extLst>
              <a:ext uri="{FF2B5EF4-FFF2-40B4-BE49-F238E27FC236}">
                <a16:creationId xmlns:a16="http://schemas.microsoft.com/office/drawing/2014/main" id="{1339B7EC-49F2-B67A-4B94-1D71209DE7B1}"/>
              </a:ext>
            </a:extLst>
          </p:cNvPr>
          <p:cNvSpPr>
            <a:spLocks noChangeShapeType="1"/>
          </p:cNvSpPr>
          <p:nvPr/>
        </p:nvSpPr>
        <p:spPr bwMode="auto">
          <a:xfrm flipH="1">
            <a:off x="5400675" y="4652963"/>
            <a:ext cx="1588" cy="595312"/>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73" name="Line 72">
            <a:extLst>
              <a:ext uri="{FF2B5EF4-FFF2-40B4-BE49-F238E27FC236}">
                <a16:creationId xmlns:a16="http://schemas.microsoft.com/office/drawing/2014/main" id="{B2D04B1B-63F9-9756-A664-1346A6CB4A06}"/>
              </a:ext>
            </a:extLst>
          </p:cNvPr>
          <p:cNvSpPr>
            <a:spLocks noChangeShapeType="1"/>
          </p:cNvSpPr>
          <p:nvPr/>
        </p:nvSpPr>
        <p:spPr bwMode="auto">
          <a:xfrm>
            <a:off x="5597525" y="4652963"/>
            <a:ext cx="0" cy="595312"/>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74" name="Line 73">
            <a:extLst>
              <a:ext uri="{FF2B5EF4-FFF2-40B4-BE49-F238E27FC236}">
                <a16:creationId xmlns:a16="http://schemas.microsoft.com/office/drawing/2014/main" id="{4D7A4DB3-057B-E1F3-7659-F429137AA890}"/>
              </a:ext>
            </a:extLst>
          </p:cNvPr>
          <p:cNvSpPr>
            <a:spLocks noChangeShapeType="1"/>
          </p:cNvSpPr>
          <p:nvPr/>
        </p:nvSpPr>
        <p:spPr bwMode="auto">
          <a:xfrm>
            <a:off x="5795963" y="4652963"/>
            <a:ext cx="1587" cy="598487"/>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75" name="Line 74">
            <a:extLst>
              <a:ext uri="{FF2B5EF4-FFF2-40B4-BE49-F238E27FC236}">
                <a16:creationId xmlns:a16="http://schemas.microsoft.com/office/drawing/2014/main" id="{22D4AE50-01EE-911B-0BDC-50BA9A7E5073}"/>
              </a:ext>
            </a:extLst>
          </p:cNvPr>
          <p:cNvSpPr>
            <a:spLocks noChangeShapeType="1"/>
          </p:cNvSpPr>
          <p:nvPr/>
        </p:nvSpPr>
        <p:spPr bwMode="auto">
          <a:xfrm>
            <a:off x="5991225" y="4652963"/>
            <a:ext cx="0" cy="595312"/>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76" name="Line 75">
            <a:extLst>
              <a:ext uri="{FF2B5EF4-FFF2-40B4-BE49-F238E27FC236}">
                <a16:creationId xmlns:a16="http://schemas.microsoft.com/office/drawing/2014/main" id="{A8C6E30A-48B1-E685-F963-2D7225D5B8DD}"/>
              </a:ext>
            </a:extLst>
          </p:cNvPr>
          <p:cNvSpPr>
            <a:spLocks noChangeShapeType="1"/>
          </p:cNvSpPr>
          <p:nvPr/>
        </p:nvSpPr>
        <p:spPr bwMode="auto">
          <a:xfrm>
            <a:off x="6191250" y="4652963"/>
            <a:ext cx="1588" cy="60325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77" name="Line 76">
            <a:extLst>
              <a:ext uri="{FF2B5EF4-FFF2-40B4-BE49-F238E27FC236}">
                <a16:creationId xmlns:a16="http://schemas.microsoft.com/office/drawing/2014/main" id="{F28104F5-0B55-F03B-963D-82A9CBC40226}"/>
              </a:ext>
            </a:extLst>
          </p:cNvPr>
          <p:cNvSpPr>
            <a:spLocks noChangeShapeType="1"/>
          </p:cNvSpPr>
          <p:nvPr/>
        </p:nvSpPr>
        <p:spPr bwMode="auto">
          <a:xfrm>
            <a:off x="4810125" y="4851400"/>
            <a:ext cx="1573213"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78" name="Line 77">
            <a:extLst>
              <a:ext uri="{FF2B5EF4-FFF2-40B4-BE49-F238E27FC236}">
                <a16:creationId xmlns:a16="http://schemas.microsoft.com/office/drawing/2014/main" id="{6C813610-F3FC-D982-25FB-8BB5C479334E}"/>
              </a:ext>
            </a:extLst>
          </p:cNvPr>
          <p:cNvSpPr>
            <a:spLocks noChangeShapeType="1"/>
          </p:cNvSpPr>
          <p:nvPr/>
        </p:nvSpPr>
        <p:spPr bwMode="auto">
          <a:xfrm>
            <a:off x="4810125" y="5049838"/>
            <a:ext cx="1573213"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79" name="Line 78">
            <a:extLst>
              <a:ext uri="{FF2B5EF4-FFF2-40B4-BE49-F238E27FC236}">
                <a16:creationId xmlns:a16="http://schemas.microsoft.com/office/drawing/2014/main" id="{BD0374EC-667E-37A9-F281-E809E038F391}"/>
              </a:ext>
            </a:extLst>
          </p:cNvPr>
          <p:cNvSpPr>
            <a:spLocks noChangeShapeType="1"/>
          </p:cNvSpPr>
          <p:nvPr/>
        </p:nvSpPr>
        <p:spPr bwMode="auto">
          <a:xfrm>
            <a:off x="7177088" y="3063875"/>
            <a:ext cx="0" cy="1589088"/>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80" name="Line 79">
            <a:extLst>
              <a:ext uri="{FF2B5EF4-FFF2-40B4-BE49-F238E27FC236}">
                <a16:creationId xmlns:a16="http://schemas.microsoft.com/office/drawing/2014/main" id="{BAC237BA-F059-BCA4-628F-30699AC4409C}"/>
              </a:ext>
            </a:extLst>
          </p:cNvPr>
          <p:cNvSpPr>
            <a:spLocks noChangeShapeType="1"/>
          </p:cNvSpPr>
          <p:nvPr/>
        </p:nvSpPr>
        <p:spPr bwMode="auto">
          <a:xfrm>
            <a:off x="7373938" y="3063875"/>
            <a:ext cx="0" cy="1589088"/>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81" name="Line 80">
            <a:extLst>
              <a:ext uri="{FF2B5EF4-FFF2-40B4-BE49-F238E27FC236}">
                <a16:creationId xmlns:a16="http://schemas.microsoft.com/office/drawing/2014/main" id="{78F2F580-786A-B22E-0B03-69D7651B93C6}"/>
              </a:ext>
            </a:extLst>
          </p:cNvPr>
          <p:cNvSpPr>
            <a:spLocks noChangeShapeType="1"/>
          </p:cNvSpPr>
          <p:nvPr/>
        </p:nvSpPr>
        <p:spPr bwMode="auto">
          <a:xfrm flipV="1">
            <a:off x="5794375" y="1276350"/>
            <a:ext cx="0" cy="396875"/>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82" name="Line 81">
            <a:extLst>
              <a:ext uri="{FF2B5EF4-FFF2-40B4-BE49-F238E27FC236}">
                <a16:creationId xmlns:a16="http://schemas.microsoft.com/office/drawing/2014/main" id="{6D3292C4-B911-954E-879B-D29BFA7231A3}"/>
              </a:ext>
            </a:extLst>
          </p:cNvPr>
          <p:cNvSpPr>
            <a:spLocks noChangeShapeType="1"/>
          </p:cNvSpPr>
          <p:nvPr/>
        </p:nvSpPr>
        <p:spPr bwMode="auto">
          <a:xfrm>
            <a:off x="2641600" y="3063875"/>
            <a:ext cx="216693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83" name="Line 82">
            <a:extLst>
              <a:ext uri="{FF2B5EF4-FFF2-40B4-BE49-F238E27FC236}">
                <a16:creationId xmlns:a16="http://schemas.microsoft.com/office/drawing/2014/main" id="{D3E1C269-F41D-B41D-009C-3DC22A8A6A2F}"/>
              </a:ext>
            </a:extLst>
          </p:cNvPr>
          <p:cNvSpPr>
            <a:spLocks noChangeShapeType="1"/>
          </p:cNvSpPr>
          <p:nvPr/>
        </p:nvSpPr>
        <p:spPr bwMode="auto">
          <a:xfrm>
            <a:off x="3035300" y="3063875"/>
            <a:ext cx="0" cy="1589088"/>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84" name="Line 83">
            <a:extLst>
              <a:ext uri="{FF2B5EF4-FFF2-40B4-BE49-F238E27FC236}">
                <a16:creationId xmlns:a16="http://schemas.microsoft.com/office/drawing/2014/main" id="{94E90CD4-89E6-9C87-9EF8-586CCC15243F}"/>
              </a:ext>
            </a:extLst>
          </p:cNvPr>
          <p:cNvSpPr>
            <a:spLocks noChangeShapeType="1"/>
          </p:cNvSpPr>
          <p:nvPr/>
        </p:nvSpPr>
        <p:spPr bwMode="auto">
          <a:xfrm>
            <a:off x="2641600" y="3063875"/>
            <a:ext cx="0" cy="1589088"/>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85" name="Line 84">
            <a:extLst>
              <a:ext uri="{FF2B5EF4-FFF2-40B4-BE49-F238E27FC236}">
                <a16:creationId xmlns:a16="http://schemas.microsoft.com/office/drawing/2014/main" id="{D57AB8AD-89EB-93BE-E909-E75FAC3C0C98}"/>
              </a:ext>
            </a:extLst>
          </p:cNvPr>
          <p:cNvSpPr>
            <a:spLocks noChangeShapeType="1"/>
          </p:cNvSpPr>
          <p:nvPr/>
        </p:nvSpPr>
        <p:spPr bwMode="auto">
          <a:xfrm>
            <a:off x="2641600" y="4652963"/>
            <a:ext cx="216693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86" name="Line 85">
            <a:extLst>
              <a:ext uri="{FF2B5EF4-FFF2-40B4-BE49-F238E27FC236}">
                <a16:creationId xmlns:a16="http://schemas.microsoft.com/office/drawing/2014/main" id="{2CBB318E-0EED-B42D-4526-ABA3A268342C}"/>
              </a:ext>
            </a:extLst>
          </p:cNvPr>
          <p:cNvSpPr>
            <a:spLocks noChangeShapeType="1"/>
          </p:cNvSpPr>
          <p:nvPr/>
        </p:nvSpPr>
        <p:spPr bwMode="auto">
          <a:xfrm>
            <a:off x="2641600" y="4652963"/>
            <a:ext cx="0" cy="3175"/>
          </a:xfrm>
          <a:prstGeom prst="line">
            <a:avLst/>
          </a:prstGeom>
          <a:noFill/>
          <a:ln w="254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87" name="Line 86">
            <a:extLst>
              <a:ext uri="{FF2B5EF4-FFF2-40B4-BE49-F238E27FC236}">
                <a16:creationId xmlns:a16="http://schemas.microsoft.com/office/drawing/2014/main" id="{5F2B1A79-0560-2706-4048-43E3CAA114B9}"/>
              </a:ext>
            </a:extLst>
          </p:cNvPr>
          <p:cNvSpPr>
            <a:spLocks noChangeShapeType="1"/>
          </p:cNvSpPr>
          <p:nvPr/>
        </p:nvSpPr>
        <p:spPr bwMode="auto">
          <a:xfrm>
            <a:off x="2641600" y="4652963"/>
            <a:ext cx="0" cy="593725"/>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88" name="Line 87">
            <a:extLst>
              <a:ext uri="{FF2B5EF4-FFF2-40B4-BE49-F238E27FC236}">
                <a16:creationId xmlns:a16="http://schemas.microsoft.com/office/drawing/2014/main" id="{C8277A80-BD0D-498E-4881-DCC62E7F7A87}"/>
              </a:ext>
            </a:extLst>
          </p:cNvPr>
          <p:cNvSpPr>
            <a:spLocks noChangeShapeType="1"/>
          </p:cNvSpPr>
          <p:nvPr/>
        </p:nvSpPr>
        <p:spPr bwMode="auto">
          <a:xfrm>
            <a:off x="4810125" y="4652963"/>
            <a:ext cx="1588" cy="614362"/>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89" name="Line 88">
            <a:extLst>
              <a:ext uri="{FF2B5EF4-FFF2-40B4-BE49-F238E27FC236}">
                <a16:creationId xmlns:a16="http://schemas.microsoft.com/office/drawing/2014/main" id="{482E1A50-5152-1624-8CE2-6196836DBE34}"/>
              </a:ext>
            </a:extLst>
          </p:cNvPr>
          <p:cNvSpPr>
            <a:spLocks noChangeShapeType="1"/>
          </p:cNvSpPr>
          <p:nvPr/>
        </p:nvSpPr>
        <p:spPr bwMode="auto">
          <a:xfrm>
            <a:off x="6978650" y="3063875"/>
            <a:ext cx="0" cy="1589088"/>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90" name="Line 89">
            <a:extLst>
              <a:ext uri="{FF2B5EF4-FFF2-40B4-BE49-F238E27FC236}">
                <a16:creationId xmlns:a16="http://schemas.microsoft.com/office/drawing/2014/main" id="{92453FF9-A88E-A605-15ED-40C0270DBC0B}"/>
              </a:ext>
            </a:extLst>
          </p:cNvPr>
          <p:cNvSpPr>
            <a:spLocks noChangeShapeType="1"/>
          </p:cNvSpPr>
          <p:nvPr/>
        </p:nvSpPr>
        <p:spPr bwMode="auto">
          <a:xfrm>
            <a:off x="3429000" y="3063875"/>
            <a:ext cx="0" cy="1589088"/>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91" name="Line 90">
            <a:extLst>
              <a:ext uri="{FF2B5EF4-FFF2-40B4-BE49-F238E27FC236}">
                <a16:creationId xmlns:a16="http://schemas.microsoft.com/office/drawing/2014/main" id="{7669B930-413B-0D2A-54C0-7D27C536A16C}"/>
              </a:ext>
            </a:extLst>
          </p:cNvPr>
          <p:cNvSpPr>
            <a:spLocks noChangeShapeType="1"/>
          </p:cNvSpPr>
          <p:nvPr/>
        </p:nvSpPr>
        <p:spPr bwMode="auto">
          <a:xfrm>
            <a:off x="3429000" y="3262313"/>
            <a:ext cx="137953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92" name="Line 91">
            <a:extLst>
              <a:ext uri="{FF2B5EF4-FFF2-40B4-BE49-F238E27FC236}">
                <a16:creationId xmlns:a16="http://schemas.microsoft.com/office/drawing/2014/main" id="{C192A5E3-EA4E-F2B9-14B0-30EBA396E251}"/>
              </a:ext>
            </a:extLst>
          </p:cNvPr>
          <p:cNvSpPr>
            <a:spLocks noChangeShapeType="1"/>
          </p:cNvSpPr>
          <p:nvPr/>
        </p:nvSpPr>
        <p:spPr bwMode="auto">
          <a:xfrm>
            <a:off x="3429000" y="3460750"/>
            <a:ext cx="137953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93" name="Line 92">
            <a:extLst>
              <a:ext uri="{FF2B5EF4-FFF2-40B4-BE49-F238E27FC236}">
                <a16:creationId xmlns:a16="http://schemas.microsoft.com/office/drawing/2014/main" id="{4EA217F2-4750-DF22-234D-68539A3559B7}"/>
              </a:ext>
            </a:extLst>
          </p:cNvPr>
          <p:cNvSpPr>
            <a:spLocks noChangeShapeType="1"/>
          </p:cNvSpPr>
          <p:nvPr/>
        </p:nvSpPr>
        <p:spPr bwMode="auto">
          <a:xfrm>
            <a:off x="3429000" y="3660775"/>
            <a:ext cx="137953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94" name="Line 93">
            <a:extLst>
              <a:ext uri="{FF2B5EF4-FFF2-40B4-BE49-F238E27FC236}">
                <a16:creationId xmlns:a16="http://schemas.microsoft.com/office/drawing/2014/main" id="{7A430826-4F05-962D-2E9A-6CDC76FF3E3C}"/>
              </a:ext>
            </a:extLst>
          </p:cNvPr>
          <p:cNvSpPr>
            <a:spLocks noChangeShapeType="1"/>
          </p:cNvSpPr>
          <p:nvPr/>
        </p:nvSpPr>
        <p:spPr bwMode="auto">
          <a:xfrm>
            <a:off x="3429000" y="3857625"/>
            <a:ext cx="137953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95" name="Line 94">
            <a:extLst>
              <a:ext uri="{FF2B5EF4-FFF2-40B4-BE49-F238E27FC236}">
                <a16:creationId xmlns:a16="http://schemas.microsoft.com/office/drawing/2014/main" id="{E493158F-F98E-2CC8-CDCC-F02B97C48670}"/>
              </a:ext>
            </a:extLst>
          </p:cNvPr>
          <p:cNvSpPr>
            <a:spLocks noChangeShapeType="1"/>
          </p:cNvSpPr>
          <p:nvPr/>
        </p:nvSpPr>
        <p:spPr bwMode="auto">
          <a:xfrm>
            <a:off x="3429000" y="4057650"/>
            <a:ext cx="137953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96" name="Line 95">
            <a:extLst>
              <a:ext uri="{FF2B5EF4-FFF2-40B4-BE49-F238E27FC236}">
                <a16:creationId xmlns:a16="http://schemas.microsoft.com/office/drawing/2014/main" id="{7FD6983A-9F5A-EAE9-93CF-F50442BA034D}"/>
              </a:ext>
            </a:extLst>
          </p:cNvPr>
          <p:cNvSpPr>
            <a:spLocks noChangeShapeType="1"/>
          </p:cNvSpPr>
          <p:nvPr/>
        </p:nvSpPr>
        <p:spPr bwMode="auto">
          <a:xfrm>
            <a:off x="3429000" y="4254500"/>
            <a:ext cx="137953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97" name="Line 96">
            <a:extLst>
              <a:ext uri="{FF2B5EF4-FFF2-40B4-BE49-F238E27FC236}">
                <a16:creationId xmlns:a16="http://schemas.microsoft.com/office/drawing/2014/main" id="{769712F0-68B7-A132-6581-305BBC36D2E4}"/>
              </a:ext>
            </a:extLst>
          </p:cNvPr>
          <p:cNvSpPr>
            <a:spLocks noChangeShapeType="1"/>
          </p:cNvSpPr>
          <p:nvPr/>
        </p:nvSpPr>
        <p:spPr bwMode="auto">
          <a:xfrm>
            <a:off x="3429000" y="4454525"/>
            <a:ext cx="137953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98" name="Line 97">
            <a:extLst>
              <a:ext uri="{FF2B5EF4-FFF2-40B4-BE49-F238E27FC236}">
                <a16:creationId xmlns:a16="http://schemas.microsoft.com/office/drawing/2014/main" id="{D8DD16A8-F74C-3467-64FD-9A796DC07A50}"/>
              </a:ext>
            </a:extLst>
          </p:cNvPr>
          <p:cNvSpPr>
            <a:spLocks noChangeShapeType="1"/>
          </p:cNvSpPr>
          <p:nvPr/>
        </p:nvSpPr>
        <p:spPr bwMode="auto">
          <a:xfrm>
            <a:off x="4810125" y="3063875"/>
            <a:ext cx="0" cy="1589088"/>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99" name="Line 98">
            <a:extLst>
              <a:ext uri="{FF2B5EF4-FFF2-40B4-BE49-F238E27FC236}">
                <a16:creationId xmlns:a16="http://schemas.microsoft.com/office/drawing/2014/main" id="{2D015DE5-29C2-0603-0F9F-3CB06701AEC9}"/>
              </a:ext>
            </a:extLst>
          </p:cNvPr>
          <p:cNvSpPr>
            <a:spLocks noChangeShapeType="1"/>
          </p:cNvSpPr>
          <p:nvPr/>
        </p:nvSpPr>
        <p:spPr bwMode="auto">
          <a:xfrm>
            <a:off x="4810125" y="4652963"/>
            <a:ext cx="1573213"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00" name="Line 99">
            <a:extLst>
              <a:ext uri="{FF2B5EF4-FFF2-40B4-BE49-F238E27FC236}">
                <a16:creationId xmlns:a16="http://schemas.microsoft.com/office/drawing/2014/main" id="{84ED031F-B7A7-F005-9582-120CFBC24973}"/>
              </a:ext>
            </a:extLst>
          </p:cNvPr>
          <p:cNvSpPr>
            <a:spLocks noChangeShapeType="1"/>
          </p:cNvSpPr>
          <p:nvPr/>
        </p:nvSpPr>
        <p:spPr bwMode="auto">
          <a:xfrm>
            <a:off x="6386513" y="3063875"/>
            <a:ext cx="0" cy="1589088"/>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01" name="Line 100">
            <a:extLst>
              <a:ext uri="{FF2B5EF4-FFF2-40B4-BE49-F238E27FC236}">
                <a16:creationId xmlns:a16="http://schemas.microsoft.com/office/drawing/2014/main" id="{14B71D95-9E9F-283F-CD48-DEB9495CE1CE}"/>
              </a:ext>
            </a:extLst>
          </p:cNvPr>
          <p:cNvSpPr>
            <a:spLocks noChangeShapeType="1"/>
          </p:cNvSpPr>
          <p:nvPr/>
        </p:nvSpPr>
        <p:spPr bwMode="auto">
          <a:xfrm>
            <a:off x="5005388" y="1673225"/>
            <a:ext cx="0" cy="139065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02" name="Line 101">
            <a:extLst>
              <a:ext uri="{FF2B5EF4-FFF2-40B4-BE49-F238E27FC236}">
                <a16:creationId xmlns:a16="http://schemas.microsoft.com/office/drawing/2014/main" id="{D483A062-2261-2D6B-DAB2-9C1C88E02E20}"/>
              </a:ext>
            </a:extLst>
          </p:cNvPr>
          <p:cNvSpPr>
            <a:spLocks noChangeShapeType="1"/>
          </p:cNvSpPr>
          <p:nvPr/>
        </p:nvSpPr>
        <p:spPr bwMode="auto">
          <a:xfrm>
            <a:off x="5203825" y="1673225"/>
            <a:ext cx="0" cy="1387475"/>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03" name="Line 102">
            <a:extLst>
              <a:ext uri="{FF2B5EF4-FFF2-40B4-BE49-F238E27FC236}">
                <a16:creationId xmlns:a16="http://schemas.microsoft.com/office/drawing/2014/main" id="{BE70A69D-48AA-BBDB-AF82-6F4B2BAB3224}"/>
              </a:ext>
            </a:extLst>
          </p:cNvPr>
          <p:cNvSpPr>
            <a:spLocks noChangeShapeType="1"/>
          </p:cNvSpPr>
          <p:nvPr/>
        </p:nvSpPr>
        <p:spPr bwMode="auto">
          <a:xfrm>
            <a:off x="5400675" y="1673225"/>
            <a:ext cx="0" cy="1387475"/>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04" name="Line 103">
            <a:extLst>
              <a:ext uri="{FF2B5EF4-FFF2-40B4-BE49-F238E27FC236}">
                <a16:creationId xmlns:a16="http://schemas.microsoft.com/office/drawing/2014/main" id="{19088A93-AB8B-8EE9-B558-08A9AC091737}"/>
              </a:ext>
            </a:extLst>
          </p:cNvPr>
          <p:cNvSpPr>
            <a:spLocks noChangeShapeType="1"/>
          </p:cNvSpPr>
          <p:nvPr/>
        </p:nvSpPr>
        <p:spPr bwMode="auto">
          <a:xfrm>
            <a:off x="5597525" y="1673225"/>
            <a:ext cx="0" cy="139065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05" name="Line 104">
            <a:extLst>
              <a:ext uri="{FF2B5EF4-FFF2-40B4-BE49-F238E27FC236}">
                <a16:creationId xmlns:a16="http://schemas.microsoft.com/office/drawing/2014/main" id="{8DC5A5A2-3098-E67F-A4EC-197B4B9AB3A8}"/>
              </a:ext>
            </a:extLst>
          </p:cNvPr>
          <p:cNvSpPr>
            <a:spLocks noChangeShapeType="1"/>
          </p:cNvSpPr>
          <p:nvPr/>
        </p:nvSpPr>
        <p:spPr bwMode="auto">
          <a:xfrm>
            <a:off x="5794375" y="1673225"/>
            <a:ext cx="0" cy="139065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06" name="Line 105">
            <a:extLst>
              <a:ext uri="{FF2B5EF4-FFF2-40B4-BE49-F238E27FC236}">
                <a16:creationId xmlns:a16="http://schemas.microsoft.com/office/drawing/2014/main" id="{C4F744B6-46ED-DDC6-5D70-E7544965FA77}"/>
              </a:ext>
            </a:extLst>
          </p:cNvPr>
          <p:cNvSpPr>
            <a:spLocks noChangeShapeType="1"/>
          </p:cNvSpPr>
          <p:nvPr/>
        </p:nvSpPr>
        <p:spPr bwMode="auto">
          <a:xfrm>
            <a:off x="5991225" y="1673225"/>
            <a:ext cx="0" cy="139065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07" name="Line 106">
            <a:extLst>
              <a:ext uri="{FF2B5EF4-FFF2-40B4-BE49-F238E27FC236}">
                <a16:creationId xmlns:a16="http://schemas.microsoft.com/office/drawing/2014/main" id="{CD61C2CB-5861-FD3B-0628-62125FEE9CE1}"/>
              </a:ext>
            </a:extLst>
          </p:cNvPr>
          <p:cNvSpPr>
            <a:spLocks noChangeShapeType="1"/>
          </p:cNvSpPr>
          <p:nvPr/>
        </p:nvSpPr>
        <p:spPr bwMode="auto">
          <a:xfrm>
            <a:off x="6188075" y="1673225"/>
            <a:ext cx="0" cy="138430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08" name="Line 107">
            <a:extLst>
              <a:ext uri="{FF2B5EF4-FFF2-40B4-BE49-F238E27FC236}">
                <a16:creationId xmlns:a16="http://schemas.microsoft.com/office/drawing/2014/main" id="{97B1F1AA-B640-2AB1-7134-53A4C8A6118A}"/>
              </a:ext>
            </a:extLst>
          </p:cNvPr>
          <p:cNvSpPr>
            <a:spLocks noChangeShapeType="1"/>
          </p:cNvSpPr>
          <p:nvPr/>
        </p:nvSpPr>
        <p:spPr bwMode="auto">
          <a:xfrm>
            <a:off x="4810125" y="1673225"/>
            <a:ext cx="1573213"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09" name="Line 108">
            <a:extLst>
              <a:ext uri="{FF2B5EF4-FFF2-40B4-BE49-F238E27FC236}">
                <a16:creationId xmlns:a16="http://schemas.microsoft.com/office/drawing/2014/main" id="{56739B8A-D73A-40F2-52DD-CDEBE690B30F}"/>
              </a:ext>
            </a:extLst>
          </p:cNvPr>
          <p:cNvSpPr>
            <a:spLocks noChangeShapeType="1"/>
          </p:cNvSpPr>
          <p:nvPr/>
        </p:nvSpPr>
        <p:spPr bwMode="auto">
          <a:xfrm>
            <a:off x="4810125" y="3063875"/>
            <a:ext cx="2168525"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10" name="Line 109">
            <a:extLst>
              <a:ext uri="{FF2B5EF4-FFF2-40B4-BE49-F238E27FC236}">
                <a16:creationId xmlns:a16="http://schemas.microsoft.com/office/drawing/2014/main" id="{D1310519-E667-D2E5-3C37-C231439DD685}"/>
              </a:ext>
            </a:extLst>
          </p:cNvPr>
          <p:cNvSpPr>
            <a:spLocks noChangeShapeType="1"/>
          </p:cNvSpPr>
          <p:nvPr/>
        </p:nvSpPr>
        <p:spPr bwMode="auto">
          <a:xfrm flipV="1">
            <a:off x="4810125" y="1679575"/>
            <a:ext cx="0" cy="138430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11" name="Line 110">
            <a:extLst>
              <a:ext uri="{FF2B5EF4-FFF2-40B4-BE49-F238E27FC236}">
                <a16:creationId xmlns:a16="http://schemas.microsoft.com/office/drawing/2014/main" id="{43AB2EA9-E06F-E340-82F5-9269559107F1}"/>
              </a:ext>
            </a:extLst>
          </p:cNvPr>
          <p:cNvSpPr>
            <a:spLocks noChangeShapeType="1"/>
          </p:cNvSpPr>
          <p:nvPr/>
        </p:nvSpPr>
        <p:spPr bwMode="auto">
          <a:xfrm>
            <a:off x="6386513" y="1673225"/>
            <a:ext cx="0" cy="139065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12" name="Rectangle 111">
            <a:extLst>
              <a:ext uri="{FF2B5EF4-FFF2-40B4-BE49-F238E27FC236}">
                <a16:creationId xmlns:a16="http://schemas.microsoft.com/office/drawing/2014/main" id="{E2DD8BFB-B9DE-8077-967F-0B630B1812E0}"/>
              </a:ext>
            </a:extLst>
          </p:cNvPr>
          <p:cNvSpPr>
            <a:spLocks noChangeArrowheads="1"/>
          </p:cNvSpPr>
          <p:nvPr/>
        </p:nvSpPr>
        <p:spPr bwMode="auto">
          <a:xfrm rot="16200000">
            <a:off x="2107407" y="3688556"/>
            <a:ext cx="1500188" cy="42227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90000"/>
              </a:lnSpc>
            </a:pPr>
            <a:r>
              <a:rPr lang="en-US" altLang="en-US" sz="1200" b="1">
                <a:latin typeface="+mj-lt"/>
              </a:rPr>
              <a:t>Customer Requirements</a:t>
            </a:r>
          </a:p>
        </p:txBody>
      </p:sp>
      <p:sp>
        <p:nvSpPr>
          <p:cNvPr id="113" name="Line 112">
            <a:extLst>
              <a:ext uri="{FF2B5EF4-FFF2-40B4-BE49-F238E27FC236}">
                <a16:creationId xmlns:a16="http://schemas.microsoft.com/office/drawing/2014/main" id="{576FE363-E547-186E-2E72-81DFCEA430F1}"/>
              </a:ext>
            </a:extLst>
          </p:cNvPr>
          <p:cNvSpPr>
            <a:spLocks noChangeShapeType="1"/>
          </p:cNvSpPr>
          <p:nvPr/>
        </p:nvSpPr>
        <p:spPr bwMode="auto">
          <a:xfrm>
            <a:off x="6386513" y="4652963"/>
            <a:ext cx="0" cy="1787525"/>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14" name="Rectangle 113">
            <a:extLst>
              <a:ext uri="{FF2B5EF4-FFF2-40B4-BE49-F238E27FC236}">
                <a16:creationId xmlns:a16="http://schemas.microsoft.com/office/drawing/2014/main" id="{28879812-EB1A-6188-86F3-A66ADB31EDDD}"/>
              </a:ext>
            </a:extLst>
          </p:cNvPr>
          <p:cNvSpPr>
            <a:spLocks noChangeArrowheads="1"/>
          </p:cNvSpPr>
          <p:nvPr/>
        </p:nvSpPr>
        <p:spPr bwMode="auto">
          <a:xfrm rot="16200000">
            <a:off x="7521575" y="3570288"/>
            <a:ext cx="1457325" cy="5588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85000"/>
              </a:lnSpc>
            </a:pPr>
            <a:r>
              <a:rPr lang="en-US" altLang="en-US" sz="1200" b="1">
                <a:latin typeface="+mj-lt"/>
              </a:rPr>
              <a:t>Prioritized Customer</a:t>
            </a:r>
          </a:p>
          <a:p>
            <a:pPr algn="ctr">
              <a:lnSpc>
                <a:spcPct val="85000"/>
              </a:lnSpc>
            </a:pPr>
            <a:r>
              <a:rPr lang="en-US" altLang="en-US" sz="1200" b="1">
                <a:latin typeface="+mj-lt"/>
              </a:rPr>
              <a:t>Requirements</a:t>
            </a:r>
          </a:p>
        </p:txBody>
      </p:sp>
      <p:sp>
        <p:nvSpPr>
          <p:cNvPr id="115" name="Line 114">
            <a:extLst>
              <a:ext uri="{FF2B5EF4-FFF2-40B4-BE49-F238E27FC236}">
                <a16:creationId xmlns:a16="http://schemas.microsoft.com/office/drawing/2014/main" id="{7DF2F35A-0496-426C-1FBD-FD782E18886E}"/>
              </a:ext>
            </a:extLst>
          </p:cNvPr>
          <p:cNvSpPr>
            <a:spLocks noChangeShapeType="1"/>
          </p:cNvSpPr>
          <p:nvPr/>
        </p:nvSpPr>
        <p:spPr bwMode="auto">
          <a:xfrm>
            <a:off x="6386513" y="6440488"/>
            <a:ext cx="592137"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16" name="Line 115">
            <a:extLst>
              <a:ext uri="{FF2B5EF4-FFF2-40B4-BE49-F238E27FC236}">
                <a16:creationId xmlns:a16="http://schemas.microsoft.com/office/drawing/2014/main" id="{1C45EAD4-7B64-017F-3D85-5230BB5A73A3}"/>
              </a:ext>
            </a:extLst>
          </p:cNvPr>
          <p:cNvSpPr>
            <a:spLocks noChangeShapeType="1"/>
          </p:cNvSpPr>
          <p:nvPr/>
        </p:nvSpPr>
        <p:spPr bwMode="auto">
          <a:xfrm flipV="1">
            <a:off x="4810125" y="1276350"/>
            <a:ext cx="0" cy="396875"/>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17" name="Line 116">
            <a:extLst>
              <a:ext uri="{FF2B5EF4-FFF2-40B4-BE49-F238E27FC236}">
                <a16:creationId xmlns:a16="http://schemas.microsoft.com/office/drawing/2014/main" id="{1AB381E1-BFFE-58D2-9EF8-D06F87C92B8B}"/>
              </a:ext>
            </a:extLst>
          </p:cNvPr>
          <p:cNvSpPr>
            <a:spLocks noChangeShapeType="1"/>
          </p:cNvSpPr>
          <p:nvPr/>
        </p:nvSpPr>
        <p:spPr bwMode="auto">
          <a:xfrm>
            <a:off x="6386513" y="1276350"/>
            <a:ext cx="0" cy="396875"/>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18" name="Line 117">
            <a:extLst>
              <a:ext uri="{FF2B5EF4-FFF2-40B4-BE49-F238E27FC236}">
                <a16:creationId xmlns:a16="http://schemas.microsoft.com/office/drawing/2014/main" id="{D958C834-8238-BEFE-8886-B1B9EFE682D6}"/>
              </a:ext>
            </a:extLst>
          </p:cNvPr>
          <p:cNvSpPr>
            <a:spLocks noChangeShapeType="1"/>
          </p:cNvSpPr>
          <p:nvPr/>
        </p:nvSpPr>
        <p:spPr bwMode="auto">
          <a:xfrm>
            <a:off x="4810125" y="1276350"/>
            <a:ext cx="1573213"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19" name="Rectangle 118">
            <a:extLst>
              <a:ext uri="{FF2B5EF4-FFF2-40B4-BE49-F238E27FC236}">
                <a16:creationId xmlns:a16="http://schemas.microsoft.com/office/drawing/2014/main" id="{633C264B-9C31-3827-09D4-4A84053C355C}"/>
              </a:ext>
            </a:extLst>
          </p:cNvPr>
          <p:cNvSpPr>
            <a:spLocks noChangeArrowheads="1"/>
          </p:cNvSpPr>
          <p:nvPr/>
        </p:nvSpPr>
        <p:spPr bwMode="auto">
          <a:xfrm>
            <a:off x="4835525" y="887413"/>
            <a:ext cx="1524000" cy="42227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90000"/>
              </a:lnSpc>
            </a:pPr>
            <a:r>
              <a:rPr lang="en-US" altLang="en-US" sz="1200" b="1">
                <a:latin typeface="+mj-lt"/>
              </a:rPr>
              <a:t>Technical Descriptors</a:t>
            </a:r>
          </a:p>
        </p:txBody>
      </p:sp>
      <p:sp>
        <p:nvSpPr>
          <p:cNvPr id="120" name="Line 119">
            <a:extLst>
              <a:ext uri="{FF2B5EF4-FFF2-40B4-BE49-F238E27FC236}">
                <a16:creationId xmlns:a16="http://schemas.microsoft.com/office/drawing/2014/main" id="{6FE7F9AA-09FC-019D-5ED9-7BA24CB690F8}"/>
              </a:ext>
            </a:extLst>
          </p:cNvPr>
          <p:cNvSpPr>
            <a:spLocks noChangeShapeType="1"/>
          </p:cNvSpPr>
          <p:nvPr/>
        </p:nvSpPr>
        <p:spPr bwMode="auto">
          <a:xfrm>
            <a:off x="6978650" y="3063875"/>
            <a:ext cx="590550"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21" name="Line 120">
            <a:extLst>
              <a:ext uri="{FF2B5EF4-FFF2-40B4-BE49-F238E27FC236}">
                <a16:creationId xmlns:a16="http://schemas.microsoft.com/office/drawing/2014/main" id="{CE03C500-46D5-43CC-731C-15DE3B3D9F88}"/>
              </a:ext>
            </a:extLst>
          </p:cNvPr>
          <p:cNvSpPr>
            <a:spLocks noChangeShapeType="1"/>
          </p:cNvSpPr>
          <p:nvPr/>
        </p:nvSpPr>
        <p:spPr bwMode="auto">
          <a:xfrm>
            <a:off x="6978650" y="4652963"/>
            <a:ext cx="590550"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22" name="Line 121">
            <a:extLst>
              <a:ext uri="{FF2B5EF4-FFF2-40B4-BE49-F238E27FC236}">
                <a16:creationId xmlns:a16="http://schemas.microsoft.com/office/drawing/2014/main" id="{F9772FB8-2850-E540-F23C-86B0C2E3F8A6}"/>
              </a:ext>
            </a:extLst>
          </p:cNvPr>
          <p:cNvSpPr>
            <a:spLocks noChangeShapeType="1"/>
          </p:cNvSpPr>
          <p:nvPr/>
        </p:nvSpPr>
        <p:spPr bwMode="auto">
          <a:xfrm flipV="1">
            <a:off x="3427413" y="1673225"/>
            <a:ext cx="0" cy="139065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23" name="Line 122">
            <a:extLst>
              <a:ext uri="{FF2B5EF4-FFF2-40B4-BE49-F238E27FC236}">
                <a16:creationId xmlns:a16="http://schemas.microsoft.com/office/drawing/2014/main" id="{B94D44A3-6246-B3AE-4BC1-B9D504A673A7}"/>
              </a:ext>
            </a:extLst>
          </p:cNvPr>
          <p:cNvSpPr>
            <a:spLocks noChangeShapeType="1"/>
          </p:cNvSpPr>
          <p:nvPr/>
        </p:nvSpPr>
        <p:spPr bwMode="auto">
          <a:xfrm flipV="1">
            <a:off x="3033713" y="1276350"/>
            <a:ext cx="0" cy="1787525"/>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24" name="Line 123">
            <a:extLst>
              <a:ext uri="{FF2B5EF4-FFF2-40B4-BE49-F238E27FC236}">
                <a16:creationId xmlns:a16="http://schemas.microsoft.com/office/drawing/2014/main" id="{DB5AE808-1249-EBB7-E638-03E83541071C}"/>
              </a:ext>
            </a:extLst>
          </p:cNvPr>
          <p:cNvSpPr>
            <a:spLocks noChangeShapeType="1"/>
          </p:cNvSpPr>
          <p:nvPr/>
        </p:nvSpPr>
        <p:spPr bwMode="auto">
          <a:xfrm>
            <a:off x="3427413" y="1673225"/>
            <a:ext cx="1381125"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25" name="Line 124">
            <a:extLst>
              <a:ext uri="{FF2B5EF4-FFF2-40B4-BE49-F238E27FC236}">
                <a16:creationId xmlns:a16="http://schemas.microsoft.com/office/drawing/2014/main" id="{1D34260C-1E89-AC9D-2F3A-BC67FD7DE2C6}"/>
              </a:ext>
            </a:extLst>
          </p:cNvPr>
          <p:cNvSpPr>
            <a:spLocks noChangeShapeType="1"/>
          </p:cNvSpPr>
          <p:nvPr/>
        </p:nvSpPr>
        <p:spPr bwMode="auto">
          <a:xfrm>
            <a:off x="3033713" y="1276350"/>
            <a:ext cx="1774825" cy="1787525"/>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26" name="Rectangle 125">
            <a:extLst>
              <a:ext uri="{FF2B5EF4-FFF2-40B4-BE49-F238E27FC236}">
                <a16:creationId xmlns:a16="http://schemas.microsoft.com/office/drawing/2014/main" id="{15329FE3-DF3B-2EBE-2A97-D4F9B6D69137}"/>
              </a:ext>
            </a:extLst>
          </p:cNvPr>
          <p:cNvSpPr>
            <a:spLocks noChangeArrowheads="1"/>
          </p:cNvSpPr>
          <p:nvPr/>
        </p:nvSpPr>
        <p:spPr bwMode="auto">
          <a:xfrm>
            <a:off x="4027024" y="1331913"/>
            <a:ext cx="778804" cy="277641"/>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200" b="1">
                <a:latin typeface="+mj-lt"/>
              </a:rPr>
              <a:t>Primary</a:t>
            </a:r>
          </a:p>
        </p:txBody>
      </p:sp>
      <p:sp>
        <p:nvSpPr>
          <p:cNvPr id="127" name="Rectangle 126">
            <a:extLst>
              <a:ext uri="{FF2B5EF4-FFF2-40B4-BE49-F238E27FC236}">
                <a16:creationId xmlns:a16="http://schemas.microsoft.com/office/drawing/2014/main" id="{4C258C01-4C59-1D1C-D59F-89F97BB6E4F5}"/>
              </a:ext>
            </a:extLst>
          </p:cNvPr>
          <p:cNvSpPr>
            <a:spLocks noChangeArrowheads="1"/>
          </p:cNvSpPr>
          <p:nvPr/>
        </p:nvSpPr>
        <p:spPr bwMode="auto">
          <a:xfrm rot="16200000">
            <a:off x="2821317" y="2547231"/>
            <a:ext cx="778804" cy="277641"/>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200" b="1">
                <a:latin typeface="+mj-lt"/>
              </a:rPr>
              <a:t>Primary</a:t>
            </a:r>
          </a:p>
        </p:txBody>
      </p:sp>
      <p:sp>
        <p:nvSpPr>
          <p:cNvPr id="128" name="Rectangle 127">
            <a:extLst>
              <a:ext uri="{FF2B5EF4-FFF2-40B4-BE49-F238E27FC236}">
                <a16:creationId xmlns:a16="http://schemas.microsoft.com/office/drawing/2014/main" id="{EC7BECA5-3B03-DC1C-2148-56F7D2214969}"/>
              </a:ext>
            </a:extLst>
          </p:cNvPr>
          <p:cNvSpPr>
            <a:spLocks noChangeArrowheads="1"/>
          </p:cNvSpPr>
          <p:nvPr/>
        </p:nvSpPr>
        <p:spPr bwMode="auto">
          <a:xfrm rot="16200000">
            <a:off x="3159984" y="2432137"/>
            <a:ext cx="971420" cy="277641"/>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200" b="1">
                <a:latin typeface="+mj-lt"/>
              </a:rPr>
              <a:t>Secondary</a:t>
            </a:r>
          </a:p>
        </p:txBody>
      </p:sp>
      <p:sp>
        <p:nvSpPr>
          <p:cNvPr id="129" name="Rectangle 128">
            <a:extLst>
              <a:ext uri="{FF2B5EF4-FFF2-40B4-BE49-F238E27FC236}">
                <a16:creationId xmlns:a16="http://schemas.microsoft.com/office/drawing/2014/main" id="{D35C745C-9436-62DB-9783-5D89DF50B684}"/>
              </a:ext>
            </a:extLst>
          </p:cNvPr>
          <p:cNvSpPr>
            <a:spLocks noChangeArrowheads="1"/>
          </p:cNvSpPr>
          <p:nvPr/>
        </p:nvSpPr>
        <p:spPr bwMode="auto">
          <a:xfrm>
            <a:off x="3810859" y="1778000"/>
            <a:ext cx="971420" cy="277641"/>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200" b="1">
                <a:latin typeface="+mj-lt"/>
              </a:rPr>
              <a:t>Secondary</a:t>
            </a:r>
          </a:p>
        </p:txBody>
      </p:sp>
      <p:sp>
        <p:nvSpPr>
          <p:cNvPr id="130" name="Rectangle 129">
            <a:extLst>
              <a:ext uri="{FF2B5EF4-FFF2-40B4-BE49-F238E27FC236}">
                <a16:creationId xmlns:a16="http://schemas.microsoft.com/office/drawing/2014/main" id="{A3C84E5E-F832-C44C-8C42-6B39C54D9C4D}"/>
              </a:ext>
            </a:extLst>
          </p:cNvPr>
          <p:cNvSpPr>
            <a:spLocks noChangeArrowheads="1"/>
          </p:cNvSpPr>
          <p:nvPr/>
        </p:nvSpPr>
        <p:spPr bwMode="auto">
          <a:xfrm>
            <a:off x="2589507" y="4673600"/>
            <a:ext cx="1088438" cy="53617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80000"/>
              </a:lnSpc>
            </a:pPr>
            <a:r>
              <a:rPr lang="en-US" altLang="en-US" sz="1200" b="1">
                <a:latin typeface="+mj-lt"/>
              </a:rPr>
              <a:t>Technical</a:t>
            </a:r>
          </a:p>
          <a:p>
            <a:pPr algn="ctr">
              <a:lnSpc>
                <a:spcPct val="80000"/>
              </a:lnSpc>
            </a:pPr>
            <a:r>
              <a:rPr lang="en-US" altLang="en-US" sz="1200" b="1">
                <a:latin typeface="+mj-lt"/>
              </a:rPr>
              <a:t>Competitive</a:t>
            </a:r>
          </a:p>
          <a:p>
            <a:pPr algn="ctr">
              <a:lnSpc>
                <a:spcPct val="80000"/>
              </a:lnSpc>
            </a:pPr>
            <a:r>
              <a:rPr lang="en-US" altLang="en-US" sz="1200" b="1">
                <a:latin typeface="+mj-lt"/>
              </a:rPr>
              <a:t>Assessment</a:t>
            </a:r>
          </a:p>
        </p:txBody>
      </p:sp>
      <p:sp>
        <p:nvSpPr>
          <p:cNvPr id="131" name="Rectangle 130">
            <a:extLst>
              <a:ext uri="{FF2B5EF4-FFF2-40B4-BE49-F238E27FC236}">
                <a16:creationId xmlns:a16="http://schemas.microsoft.com/office/drawing/2014/main" id="{4C08D00D-A17C-4266-6565-49455023B85A}"/>
              </a:ext>
            </a:extLst>
          </p:cNvPr>
          <p:cNvSpPr>
            <a:spLocks noChangeArrowheads="1"/>
          </p:cNvSpPr>
          <p:nvPr/>
        </p:nvSpPr>
        <p:spPr bwMode="auto">
          <a:xfrm rot="16200000">
            <a:off x="6132807" y="5662814"/>
            <a:ext cx="1088438" cy="53617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80000"/>
              </a:lnSpc>
            </a:pPr>
            <a:r>
              <a:rPr lang="en-US" altLang="en-US" sz="1200" b="1">
                <a:latin typeface="+mj-lt"/>
              </a:rPr>
              <a:t>Customer</a:t>
            </a:r>
          </a:p>
          <a:p>
            <a:pPr algn="ctr">
              <a:lnSpc>
                <a:spcPct val="80000"/>
              </a:lnSpc>
            </a:pPr>
            <a:r>
              <a:rPr lang="en-US" altLang="en-US" sz="1200" b="1">
                <a:latin typeface="+mj-lt"/>
              </a:rPr>
              <a:t>Competitive</a:t>
            </a:r>
          </a:p>
          <a:p>
            <a:pPr algn="ctr">
              <a:lnSpc>
                <a:spcPct val="80000"/>
              </a:lnSpc>
            </a:pPr>
            <a:r>
              <a:rPr lang="en-US" altLang="en-US" sz="1200" b="1">
                <a:latin typeface="+mj-lt"/>
              </a:rPr>
              <a:t>Assessment</a:t>
            </a:r>
          </a:p>
        </p:txBody>
      </p:sp>
      <p:sp>
        <p:nvSpPr>
          <p:cNvPr id="132" name="Line 131">
            <a:extLst>
              <a:ext uri="{FF2B5EF4-FFF2-40B4-BE49-F238E27FC236}">
                <a16:creationId xmlns:a16="http://schemas.microsoft.com/office/drawing/2014/main" id="{2889CFED-9388-491F-AA8B-EF050D4CF1DE}"/>
              </a:ext>
            </a:extLst>
          </p:cNvPr>
          <p:cNvSpPr>
            <a:spLocks noChangeShapeType="1"/>
          </p:cNvSpPr>
          <p:nvPr/>
        </p:nvSpPr>
        <p:spPr bwMode="auto">
          <a:xfrm>
            <a:off x="6584950" y="4652963"/>
            <a:ext cx="0" cy="79375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33" name="Line 132">
            <a:extLst>
              <a:ext uri="{FF2B5EF4-FFF2-40B4-BE49-F238E27FC236}">
                <a16:creationId xmlns:a16="http://schemas.microsoft.com/office/drawing/2014/main" id="{704A5B06-2E1F-ABFD-980F-8B599BDCB575}"/>
              </a:ext>
            </a:extLst>
          </p:cNvPr>
          <p:cNvSpPr>
            <a:spLocks noChangeShapeType="1"/>
          </p:cNvSpPr>
          <p:nvPr/>
        </p:nvSpPr>
        <p:spPr bwMode="auto">
          <a:xfrm>
            <a:off x="6781800" y="4652963"/>
            <a:ext cx="0" cy="79375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34" name="Line 133">
            <a:extLst>
              <a:ext uri="{FF2B5EF4-FFF2-40B4-BE49-F238E27FC236}">
                <a16:creationId xmlns:a16="http://schemas.microsoft.com/office/drawing/2014/main" id="{B0AA23FF-B4E5-CA4B-199B-6BCAAA2D6E98}"/>
              </a:ext>
            </a:extLst>
          </p:cNvPr>
          <p:cNvSpPr>
            <a:spLocks noChangeShapeType="1"/>
          </p:cNvSpPr>
          <p:nvPr/>
        </p:nvSpPr>
        <p:spPr bwMode="auto">
          <a:xfrm>
            <a:off x="6978650" y="4652963"/>
            <a:ext cx="0" cy="1787525"/>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35" name="Line 134">
            <a:extLst>
              <a:ext uri="{FF2B5EF4-FFF2-40B4-BE49-F238E27FC236}">
                <a16:creationId xmlns:a16="http://schemas.microsoft.com/office/drawing/2014/main" id="{8D10A9A3-5D20-CFB0-709D-20D6F6800F4C}"/>
              </a:ext>
            </a:extLst>
          </p:cNvPr>
          <p:cNvSpPr>
            <a:spLocks noChangeShapeType="1"/>
          </p:cNvSpPr>
          <p:nvPr/>
        </p:nvSpPr>
        <p:spPr bwMode="auto">
          <a:xfrm>
            <a:off x="6978650" y="6440488"/>
            <a:ext cx="59213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36" name="Line 135">
            <a:extLst>
              <a:ext uri="{FF2B5EF4-FFF2-40B4-BE49-F238E27FC236}">
                <a16:creationId xmlns:a16="http://schemas.microsoft.com/office/drawing/2014/main" id="{EADA8381-A523-FAAB-C475-88C8DA4F2CC0}"/>
              </a:ext>
            </a:extLst>
          </p:cNvPr>
          <p:cNvSpPr>
            <a:spLocks noChangeShapeType="1"/>
          </p:cNvSpPr>
          <p:nvPr/>
        </p:nvSpPr>
        <p:spPr bwMode="auto">
          <a:xfrm>
            <a:off x="6386513" y="5446713"/>
            <a:ext cx="592137"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37" name="Rectangle 136">
            <a:extLst>
              <a:ext uri="{FF2B5EF4-FFF2-40B4-BE49-F238E27FC236}">
                <a16:creationId xmlns:a16="http://schemas.microsoft.com/office/drawing/2014/main" id="{DED94E2D-CC44-9412-99A8-CECCB67BF58F}"/>
              </a:ext>
            </a:extLst>
          </p:cNvPr>
          <p:cNvSpPr>
            <a:spLocks noChangeArrowheads="1"/>
          </p:cNvSpPr>
          <p:nvPr/>
        </p:nvSpPr>
        <p:spPr bwMode="auto">
          <a:xfrm>
            <a:off x="3603625" y="4629150"/>
            <a:ext cx="547688" cy="66833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105000"/>
              </a:lnSpc>
            </a:pPr>
            <a:r>
              <a:rPr lang="en-US" altLang="en-US" sz="1200" b="1">
                <a:latin typeface="+mj-lt"/>
              </a:rPr>
              <a:t>Our</a:t>
            </a:r>
          </a:p>
          <a:p>
            <a:pPr>
              <a:lnSpc>
                <a:spcPct val="105000"/>
              </a:lnSpc>
            </a:pPr>
            <a:r>
              <a:rPr lang="en-US" altLang="en-US" sz="1200" b="1">
                <a:latin typeface="+mj-lt"/>
              </a:rPr>
              <a:t>A’s</a:t>
            </a:r>
          </a:p>
          <a:p>
            <a:pPr>
              <a:lnSpc>
                <a:spcPct val="105000"/>
              </a:lnSpc>
            </a:pPr>
            <a:r>
              <a:rPr lang="en-US" altLang="en-US" sz="1200" b="1">
                <a:latin typeface="+mj-lt"/>
              </a:rPr>
              <a:t>B’s</a:t>
            </a:r>
          </a:p>
        </p:txBody>
      </p:sp>
      <p:sp>
        <p:nvSpPr>
          <p:cNvPr id="138" name="Line 137">
            <a:extLst>
              <a:ext uri="{FF2B5EF4-FFF2-40B4-BE49-F238E27FC236}">
                <a16:creationId xmlns:a16="http://schemas.microsoft.com/office/drawing/2014/main" id="{5DA4E4DA-7F70-CA4A-1888-921901A60E50}"/>
              </a:ext>
            </a:extLst>
          </p:cNvPr>
          <p:cNvSpPr>
            <a:spLocks noChangeShapeType="1"/>
          </p:cNvSpPr>
          <p:nvPr/>
        </p:nvSpPr>
        <p:spPr bwMode="auto">
          <a:xfrm>
            <a:off x="7964488" y="3063875"/>
            <a:ext cx="0" cy="1589088"/>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39" name="Line 138">
            <a:extLst>
              <a:ext uri="{FF2B5EF4-FFF2-40B4-BE49-F238E27FC236}">
                <a16:creationId xmlns:a16="http://schemas.microsoft.com/office/drawing/2014/main" id="{3849A1C8-FE80-81F6-8215-C887C5E08BE9}"/>
              </a:ext>
            </a:extLst>
          </p:cNvPr>
          <p:cNvSpPr>
            <a:spLocks noChangeShapeType="1"/>
          </p:cNvSpPr>
          <p:nvPr/>
        </p:nvSpPr>
        <p:spPr bwMode="auto">
          <a:xfrm>
            <a:off x="7964488" y="4652963"/>
            <a:ext cx="0" cy="1782762"/>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40" name="Line 139">
            <a:extLst>
              <a:ext uri="{FF2B5EF4-FFF2-40B4-BE49-F238E27FC236}">
                <a16:creationId xmlns:a16="http://schemas.microsoft.com/office/drawing/2014/main" id="{C2E8951D-2DA3-A88C-E1CD-FD35E775CFF9}"/>
              </a:ext>
            </a:extLst>
          </p:cNvPr>
          <p:cNvSpPr>
            <a:spLocks noChangeShapeType="1"/>
          </p:cNvSpPr>
          <p:nvPr/>
        </p:nvSpPr>
        <p:spPr bwMode="auto">
          <a:xfrm flipH="1">
            <a:off x="7569200" y="6440488"/>
            <a:ext cx="39528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41" name="Line 140">
            <a:extLst>
              <a:ext uri="{FF2B5EF4-FFF2-40B4-BE49-F238E27FC236}">
                <a16:creationId xmlns:a16="http://schemas.microsoft.com/office/drawing/2014/main" id="{A6432C16-99EF-B8DB-379E-7A7D088AF204}"/>
              </a:ext>
            </a:extLst>
          </p:cNvPr>
          <p:cNvSpPr>
            <a:spLocks noChangeShapeType="1"/>
          </p:cNvSpPr>
          <p:nvPr/>
        </p:nvSpPr>
        <p:spPr bwMode="auto">
          <a:xfrm flipV="1">
            <a:off x="7569200" y="3062288"/>
            <a:ext cx="941388" cy="1587"/>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42" name="Line 141">
            <a:extLst>
              <a:ext uri="{FF2B5EF4-FFF2-40B4-BE49-F238E27FC236}">
                <a16:creationId xmlns:a16="http://schemas.microsoft.com/office/drawing/2014/main" id="{3404A705-B4D5-D433-053C-7C41DF17E3AF}"/>
              </a:ext>
            </a:extLst>
          </p:cNvPr>
          <p:cNvSpPr>
            <a:spLocks noChangeShapeType="1"/>
          </p:cNvSpPr>
          <p:nvPr/>
        </p:nvSpPr>
        <p:spPr bwMode="auto">
          <a:xfrm>
            <a:off x="7569200" y="4652963"/>
            <a:ext cx="39528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43" name="Line 142">
            <a:extLst>
              <a:ext uri="{FF2B5EF4-FFF2-40B4-BE49-F238E27FC236}">
                <a16:creationId xmlns:a16="http://schemas.microsoft.com/office/drawing/2014/main" id="{0D48CB03-FDBB-8EB0-AA0A-25613DDC8977}"/>
              </a:ext>
            </a:extLst>
          </p:cNvPr>
          <p:cNvSpPr>
            <a:spLocks noChangeShapeType="1"/>
          </p:cNvSpPr>
          <p:nvPr/>
        </p:nvSpPr>
        <p:spPr bwMode="auto">
          <a:xfrm>
            <a:off x="7947025" y="4652963"/>
            <a:ext cx="563563"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44" name="Line 143">
            <a:extLst>
              <a:ext uri="{FF2B5EF4-FFF2-40B4-BE49-F238E27FC236}">
                <a16:creationId xmlns:a16="http://schemas.microsoft.com/office/drawing/2014/main" id="{7AC96407-0C5E-2A78-A31D-CA34E6EE53A5}"/>
              </a:ext>
            </a:extLst>
          </p:cNvPr>
          <p:cNvSpPr>
            <a:spLocks noChangeShapeType="1"/>
          </p:cNvSpPr>
          <p:nvPr/>
        </p:nvSpPr>
        <p:spPr bwMode="auto">
          <a:xfrm>
            <a:off x="6978650" y="3262313"/>
            <a:ext cx="98583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45" name="Line 144">
            <a:extLst>
              <a:ext uri="{FF2B5EF4-FFF2-40B4-BE49-F238E27FC236}">
                <a16:creationId xmlns:a16="http://schemas.microsoft.com/office/drawing/2014/main" id="{5E9F7341-A59F-4E6B-7C18-EC2E064BDB4C}"/>
              </a:ext>
            </a:extLst>
          </p:cNvPr>
          <p:cNvSpPr>
            <a:spLocks noChangeShapeType="1"/>
          </p:cNvSpPr>
          <p:nvPr/>
        </p:nvSpPr>
        <p:spPr bwMode="auto">
          <a:xfrm>
            <a:off x="6978650" y="3857625"/>
            <a:ext cx="98583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46" name="Line 145">
            <a:extLst>
              <a:ext uri="{FF2B5EF4-FFF2-40B4-BE49-F238E27FC236}">
                <a16:creationId xmlns:a16="http://schemas.microsoft.com/office/drawing/2014/main" id="{28CB56FD-D5E5-ACA5-C8AE-E001D6A628CE}"/>
              </a:ext>
            </a:extLst>
          </p:cNvPr>
          <p:cNvSpPr>
            <a:spLocks noChangeShapeType="1"/>
          </p:cNvSpPr>
          <p:nvPr/>
        </p:nvSpPr>
        <p:spPr bwMode="auto">
          <a:xfrm>
            <a:off x="6978650" y="4057650"/>
            <a:ext cx="98583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47" name="Line 146">
            <a:extLst>
              <a:ext uri="{FF2B5EF4-FFF2-40B4-BE49-F238E27FC236}">
                <a16:creationId xmlns:a16="http://schemas.microsoft.com/office/drawing/2014/main" id="{E2DF157A-0305-B78A-DC55-3B722CAA0228}"/>
              </a:ext>
            </a:extLst>
          </p:cNvPr>
          <p:cNvSpPr>
            <a:spLocks noChangeShapeType="1"/>
          </p:cNvSpPr>
          <p:nvPr/>
        </p:nvSpPr>
        <p:spPr bwMode="auto">
          <a:xfrm>
            <a:off x="6978650" y="4254500"/>
            <a:ext cx="98583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48" name="Line 147">
            <a:extLst>
              <a:ext uri="{FF2B5EF4-FFF2-40B4-BE49-F238E27FC236}">
                <a16:creationId xmlns:a16="http://schemas.microsoft.com/office/drawing/2014/main" id="{D8EF865E-015F-562B-53B6-CF937FC584F7}"/>
              </a:ext>
            </a:extLst>
          </p:cNvPr>
          <p:cNvSpPr>
            <a:spLocks noChangeShapeType="1"/>
          </p:cNvSpPr>
          <p:nvPr/>
        </p:nvSpPr>
        <p:spPr bwMode="auto">
          <a:xfrm>
            <a:off x="6978650" y="4454525"/>
            <a:ext cx="98583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49" name="Line 148">
            <a:extLst>
              <a:ext uri="{FF2B5EF4-FFF2-40B4-BE49-F238E27FC236}">
                <a16:creationId xmlns:a16="http://schemas.microsoft.com/office/drawing/2014/main" id="{13EA379A-4F72-C7A3-6757-483C8A67E712}"/>
              </a:ext>
            </a:extLst>
          </p:cNvPr>
          <p:cNvSpPr>
            <a:spLocks noChangeShapeType="1"/>
          </p:cNvSpPr>
          <p:nvPr/>
        </p:nvSpPr>
        <p:spPr bwMode="auto">
          <a:xfrm>
            <a:off x="6978650" y="3460750"/>
            <a:ext cx="98583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50" name="Line 149">
            <a:extLst>
              <a:ext uri="{FF2B5EF4-FFF2-40B4-BE49-F238E27FC236}">
                <a16:creationId xmlns:a16="http://schemas.microsoft.com/office/drawing/2014/main" id="{47376310-A218-136E-E320-4220293199CD}"/>
              </a:ext>
            </a:extLst>
          </p:cNvPr>
          <p:cNvSpPr>
            <a:spLocks noChangeShapeType="1"/>
          </p:cNvSpPr>
          <p:nvPr/>
        </p:nvSpPr>
        <p:spPr bwMode="auto">
          <a:xfrm>
            <a:off x="6978650" y="3660775"/>
            <a:ext cx="98583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51" name="Line 150">
            <a:extLst>
              <a:ext uri="{FF2B5EF4-FFF2-40B4-BE49-F238E27FC236}">
                <a16:creationId xmlns:a16="http://schemas.microsoft.com/office/drawing/2014/main" id="{424484B4-34E3-E841-396E-E527CD28552D}"/>
              </a:ext>
            </a:extLst>
          </p:cNvPr>
          <p:cNvSpPr>
            <a:spLocks noChangeShapeType="1"/>
          </p:cNvSpPr>
          <p:nvPr/>
        </p:nvSpPr>
        <p:spPr bwMode="auto">
          <a:xfrm>
            <a:off x="5203825" y="3063875"/>
            <a:ext cx="0" cy="1589088"/>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52" name="Rectangle 151">
            <a:extLst>
              <a:ext uri="{FF2B5EF4-FFF2-40B4-BE49-F238E27FC236}">
                <a16:creationId xmlns:a16="http://schemas.microsoft.com/office/drawing/2014/main" id="{83F1C931-1006-2940-8029-281A06B1BC13}"/>
              </a:ext>
            </a:extLst>
          </p:cNvPr>
          <p:cNvSpPr>
            <a:spLocks noChangeArrowheads="1"/>
          </p:cNvSpPr>
          <p:nvPr/>
        </p:nvSpPr>
        <p:spPr bwMode="auto">
          <a:xfrm rot="16200000">
            <a:off x="6546851" y="4982495"/>
            <a:ext cx="1858962" cy="105067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105000"/>
              </a:lnSpc>
            </a:pPr>
            <a:r>
              <a:rPr lang="en-US" altLang="en-US" sz="1200" b="1" dirty="0">
                <a:latin typeface="+mj-lt"/>
              </a:rPr>
              <a:t>Customer Importance</a:t>
            </a:r>
          </a:p>
          <a:p>
            <a:pPr>
              <a:lnSpc>
                <a:spcPct val="105000"/>
              </a:lnSpc>
            </a:pPr>
            <a:r>
              <a:rPr lang="en-US" altLang="en-US" sz="1200" b="1" dirty="0">
                <a:latin typeface="+mj-lt"/>
              </a:rPr>
              <a:t>Target Value</a:t>
            </a:r>
          </a:p>
          <a:p>
            <a:pPr>
              <a:lnSpc>
                <a:spcPct val="105000"/>
              </a:lnSpc>
            </a:pPr>
            <a:r>
              <a:rPr lang="en-US" altLang="en-US" sz="1200" b="1" dirty="0">
                <a:latin typeface="+mj-lt"/>
              </a:rPr>
              <a:t>Scale-up Factor</a:t>
            </a:r>
          </a:p>
          <a:p>
            <a:pPr>
              <a:lnSpc>
                <a:spcPct val="105000"/>
              </a:lnSpc>
            </a:pPr>
            <a:r>
              <a:rPr lang="en-US" altLang="en-US" sz="1200" b="1" dirty="0">
                <a:latin typeface="+mj-lt"/>
              </a:rPr>
              <a:t>Sales Point</a:t>
            </a:r>
          </a:p>
          <a:p>
            <a:pPr>
              <a:lnSpc>
                <a:spcPct val="105000"/>
              </a:lnSpc>
            </a:pPr>
            <a:r>
              <a:rPr lang="en-US" altLang="en-US" sz="1200" b="1" dirty="0">
                <a:latin typeface="+mj-lt"/>
              </a:rPr>
              <a:t>Absolute Weight</a:t>
            </a:r>
          </a:p>
        </p:txBody>
      </p:sp>
      <p:sp>
        <p:nvSpPr>
          <p:cNvPr id="153" name="Line 152">
            <a:extLst>
              <a:ext uri="{FF2B5EF4-FFF2-40B4-BE49-F238E27FC236}">
                <a16:creationId xmlns:a16="http://schemas.microsoft.com/office/drawing/2014/main" id="{8E448A5E-0018-D79C-7342-16AAAE7EB705}"/>
              </a:ext>
            </a:extLst>
          </p:cNvPr>
          <p:cNvSpPr>
            <a:spLocks noChangeShapeType="1"/>
          </p:cNvSpPr>
          <p:nvPr/>
        </p:nvSpPr>
        <p:spPr bwMode="auto">
          <a:xfrm>
            <a:off x="7767638" y="3063875"/>
            <a:ext cx="0" cy="3368675"/>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54" name="Line 153">
            <a:extLst>
              <a:ext uri="{FF2B5EF4-FFF2-40B4-BE49-F238E27FC236}">
                <a16:creationId xmlns:a16="http://schemas.microsoft.com/office/drawing/2014/main" id="{E7D0AC09-9B06-A364-7169-A97FAF62970E}"/>
              </a:ext>
            </a:extLst>
          </p:cNvPr>
          <p:cNvSpPr>
            <a:spLocks noChangeShapeType="1"/>
          </p:cNvSpPr>
          <p:nvPr/>
        </p:nvSpPr>
        <p:spPr bwMode="auto">
          <a:xfrm>
            <a:off x="2640013" y="5248275"/>
            <a:ext cx="3746500"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55" name="Line 154">
            <a:extLst>
              <a:ext uri="{FF2B5EF4-FFF2-40B4-BE49-F238E27FC236}">
                <a16:creationId xmlns:a16="http://schemas.microsoft.com/office/drawing/2014/main" id="{B6F684F3-D825-EF5A-D063-85558DF3B67C}"/>
              </a:ext>
            </a:extLst>
          </p:cNvPr>
          <p:cNvSpPr>
            <a:spLocks noChangeShapeType="1"/>
          </p:cNvSpPr>
          <p:nvPr/>
        </p:nvSpPr>
        <p:spPr bwMode="auto">
          <a:xfrm>
            <a:off x="8513763" y="3063875"/>
            <a:ext cx="0" cy="1589088"/>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56" name="Line 155">
            <a:extLst>
              <a:ext uri="{FF2B5EF4-FFF2-40B4-BE49-F238E27FC236}">
                <a16:creationId xmlns:a16="http://schemas.microsoft.com/office/drawing/2014/main" id="{07B3D63B-39EB-023B-63AC-DDE43A68F347}"/>
              </a:ext>
            </a:extLst>
          </p:cNvPr>
          <p:cNvSpPr>
            <a:spLocks noChangeShapeType="1"/>
          </p:cNvSpPr>
          <p:nvPr/>
        </p:nvSpPr>
        <p:spPr bwMode="auto">
          <a:xfrm>
            <a:off x="6386513" y="879475"/>
            <a:ext cx="0" cy="396875"/>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57" name="Line 156">
            <a:extLst>
              <a:ext uri="{FF2B5EF4-FFF2-40B4-BE49-F238E27FC236}">
                <a16:creationId xmlns:a16="http://schemas.microsoft.com/office/drawing/2014/main" id="{F66CF589-E70B-7029-3D67-716C91E329D1}"/>
              </a:ext>
            </a:extLst>
          </p:cNvPr>
          <p:cNvSpPr>
            <a:spLocks noChangeShapeType="1"/>
          </p:cNvSpPr>
          <p:nvPr/>
        </p:nvSpPr>
        <p:spPr bwMode="auto">
          <a:xfrm>
            <a:off x="7175500" y="3063875"/>
            <a:ext cx="0" cy="337185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58" name="Line 157">
            <a:extLst>
              <a:ext uri="{FF2B5EF4-FFF2-40B4-BE49-F238E27FC236}">
                <a16:creationId xmlns:a16="http://schemas.microsoft.com/office/drawing/2014/main" id="{09C1E81A-C746-0EC3-3E43-4572F616F90E}"/>
              </a:ext>
            </a:extLst>
          </p:cNvPr>
          <p:cNvSpPr>
            <a:spLocks noChangeShapeType="1"/>
          </p:cNvSpPr>
          <p:nvPr/>
        </p:nvSpPr>
        <p:spPr bwMode="auto">
          <a:xfrm>
            <a:off x="7372350" y="3063875"/>
            <a:ext cx="0" cy="3368675"/>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59" name="Line 158">
            <a:extLst>
              <a:ext uri="{FF2B5EF4-FFF2-40B4-BE49-F238E27FC236}">
                <a16:creationId xmlns:a16="http://schemas.microsoft.com/office/drawing/2014/main" id="{F41CAD81-9AFA-BE9C-967F-4123616B0EF2}"/>
              </a:ext>
            </a:extLst>
          </p:cNvPr>
          <p:cNvSpPr>
            <a:spLocks noChangeShapeType="1"/>
          </p:cNvSpPr>
          <p:nvPr/>
        </p:nvSpPr>
        <p:spPr bwMode="auto">
          <a:xfrm>
            <a:off x="7569200" y="3063875"/>
            <a:ext cx="0" cy="3368675"/>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60" name="Line 159">
            <a:extLst>
              <a:ext uri="{FF2B5EF4-FFF2-40B4-BE49-F238E27FC236}">
                <a16:creationId xmlns:a16="http://schemas.microsoft.com/office/drawing/2014/main" id="{AF7833DE-F0BA-AE4B-AC1A-61F402362B87}"/>
              </a:ext>
            </a:extLst>
          </p:cNvPr>
          <p:cNvSpPr>
            <a:spLocks noChangeShapeType="1"/>
          </p:cNvSpPr>
          <p:nvPr/>
        </p:nvSpPr>
        <p:spPr bwMode="auto">
          <a:xfrm>
            <a:off x="6386513" y="4652963"/>
            <a:ext cx="592137"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61" name="Line 160">
            <a:extLst>
              <a:ext uri="{FF2B5EF4-FFF2-40B4-BE49-F238E27FC236}">
                <a16:creationId xmlns:a16="http://schemas.microsoft.com/office/drawing/2014/main" id="{461DD7D4-5CF9-5CC6-25F9-D5466B380688}"/>
              </a:ext>
            </a:extLst>
          </p:cNvPr>
          <p:cNvSpPr>
            <a:spLocks noChangeShapeType="1"/>
          </p:cNvSpPr>
          <p:nvPr/>
        </p:nvSpPr>
        <p:spPr bwMode="auto">
          <a:xfrm>
            <a:off x="4810125" y="879475"/>
            <a:ext cx="1573213"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62" name="Line 161">
            <a:extLst>
              <a:ext uri="{FF2B5EF4-FFF2-40B4-BE49-F238E27FC236}">
                <a16:creationId xmlns:a16="http://schemas.microsoft.com/office/drawing/2014/main" id="{4FFFB78E-6FA3-786E-A2DA-BAFA7C94EE53}"/>
              </a:ext>
            </a:extLst>
          </p:cNvPr>
          <p:cNvSpPr>
            <a:spLocks noChangeShapeType="1"/>
          </p:cNvSpPr>
          <p:nvPr/>
        </p:nvSpPr>
        <p:spPr bwMode="auto">
          <a:xfrm>
            <a:off x="3033713" y="1276350"/>
            <a:ext cx="1771650"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63" name="Line 162">
            <a:extLst>
              <a:ext uri="{FF2B5EF4-FFF2-40B4-BE49-F238E27FC236}">
                <a16:creationId xmlns:a16="http://schemas.microsoft.com/office/drawing/2014/main" id="{91561BCC-6610-6BCA-0BE4-A0C442C2818D}"/>
              </a:ext>
            </a:extLst>
          </p:cNvPr>
          <p:cNvSpPr>
            <a:spLocks noChangeShapeType="1"/>
          </p:cNvSpPr>
          <p:nvPr/>
        </p:nvSpPr>
        <p:spPr bwMode="auto">
          <a:xfrm flipV="1">
            <a:off x="4810125" y="879475"/>
            <a:ext cx="0" cy="396875"/>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64" name="Rectangle 163">
            <a:extLst>
              <a:ext uri="{FF2B5EF4-FFF2-40B4-BE49-F238E27FC236}">
                <a16:creationId xmlns:a16="http://schemas.microsoft.com/office/drawing/2014/main" id="{8E22A9E0-8092-EDDE-2747-38FC49768DB1}"/>
              </a:ext>
            </a:extLst>
          </p:cNvPr>
          <p:cNvSpPr>
            <a:spLocks noChangeArrowheads="1"/>
          </p:cNvSpPr>
          <p:nvPr/>
        </p:nvSpPr>
        <p:spPr bwMode="auto">
          <a:xfrm rot="16200000">
            <a:off x="6421438" y="4733925"/>
            <a:ext cx="547688" cy="66833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105000"/>
              </a:lnSpc>
            </a:pPr>
            <a:r>
              <a:rPr lang="en-US" altLang="en-US" sz="1200" b="1">
                <a:latin typeface="+mj-lt"/>
              </a:rPr>
              <a:t>Our</a:t>
            </a:r>
          </a:p>
          <a:p>
            <a:pPr>
              <a:lnSpc>
                <a:spcPct val="105000"/>
              </a:lnSpc>
            </a:pPr>
            <a:r>
              <a:rPr lang="en-US" altLang="en-US" sz="1200" b="1">
                <a:latin typeface="+mj-lt"/>
              </a:rPr>
              <a:t>A’s</a:t>
            </a:r>
          </a:p>
          <a:p>
            <a:pPr>
              <a:lnSpc>
                <a:spcPct val="105000"/>
              </a:lnSpc>
            </a:pPr>
            <a:r>
              <a:rPr lang="en-US" altLang="en-US" sz="1200" b="1">
                <a:latin typeface="+mj-lt"/>
              </a:rPr>
              <a:t>B’s</a:t>
            </a:r>
          </a:p>
        </p:txBody>
      </p:sp>
      <p:grpSp>
        <p:nvGrpSpPr>
          <p:cNvPr id="165" name="Group 177">
            <a:extLst>
              <a:ext uri="{FF2B5EF4-FFF2-40B4-BE49-F238E27FC236}">
                <a16:creationId xmlns:a16="http://schemas.microsoft.com/office/drawing/2014/main" id="{35654FF6-EDD2-7085-B714-5F289BC4C996}"/>
              </a:ext>
            </a:extLst>
          </p:cNvPr>
          <p:cNvGrpSpPr>
            <a:grpSpLocks/>
          </p:cNvGrpSpPr>
          <p:nvPr/>
        </p:nvGrpSpPr>
        <p:grpSpPr bwMode="auto">
          <a:xfrm>
            <a:off x="6288088" y="676275"/>
            <a:ext cx="2801937" cy="2192338"/>
            <a:chOff x="3961" y="426"/>
            <a:chExt cx="1765" cy="1381"/>
          </a:xfrm>
        </p:grpSpPr>
        <p:sp>
          <p:nvSpPr>
            <p:cNvPr id="166" name="Rectangle 164">
              <a:extLst>
                <a:ext uri="{FF2B5EF4-FFF2-40B4-BE49-F238E27FC236}">
                  <a16:creationId xmlns:a16="http://schemas.microsoft.com/office/drawing/2014/main" id="{E645701E-F6F9-B27F-BE2E-B1DCA3E7E1D2}"/>
                </a:ext>
              </a:extLst>
            </p:cNvPr>
            <p:cNvSpPr>
              <a:spLocks noChangeArrowheads="1"/>
            </p:cNvSpPr>
            <p:nvPr/>
          </p:nvSpPr>
          <p:spPr bwMode="auto">
            <a:xfrm>
              <a:off x="3961" y="426"/>
              <a:ext cx="1765" cy="82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600" b="1" dirty="0">
                  <a:latin typeface="+mj-lt"/>
                </a:rPr>
                <a:t>Relationship between</a:t>
              </a:r>
            </a:p>
            <a:p>
              <a:pPr algn="ctr"/>
              <a:r>
                <a:rPr lang="en-US" altLang="en-US" sz="1600" b="1" dirty="0">
                  <a:latin typeface="+mj-lt"/>
                </a:rPr>
                <a:t>Customer Requirements and</a:t>
              </a:r>
            </a:p>
            <a:p>
              <a:pPr algn="ctr"/>
              <a:r>
                <a:rPr lang="en-US" altLang="en-US" sz="1600" b="1" dirty="0">
                  <a:latin typeface="+mj-lt"/>
                </a:rPr>
                <a:t>Technical Descriptors</a:t>
              </a:r>
            </a:p>
            <a:p>
              <a:pPr algn="ctr"/>
              <a:r>
                <a:rPr lang="en-US" altLang="en-US" sz="1600" b="1" dirty="0">
                  <a:latin typeface="+mj-lt"/>
                </a:rPr>
                <a:t>WHATs vs. HOWs</a:t>
              </a:r>
            </a:p>
          </p:txBody>
        </p:sp>
        <p:sp>
          <p:nvSpPr>
            <p:cNvPr id="167" name="Rectangle 165">
              <a:extLst>
                <a:ext uri="{FF2B5EF4-FFF2-40B4-BE49-F238E27FC236}">
                  <a16:creationId xmlns:a16="http://schemas.microsoft.com/office/drawing/2014/main" id="{E8468A69-3750-BA98-BCE6-CC493B5F36BD}"/>
                </a:ext>
              </a:extLst>
            </p:cNvPr>
            <p:cNvSpPr>
              <a:spLocks noChangeArrowheads="1"/>
            </p:cNvSpPr>
            <p:nvPr/>
          </p:nvSpPr>
          <p:spPr bwMode="auto">
            <a:xfrm>
              <a:off x="4779" y="1321"/>
              <a:ext cx="481"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mj-lt"/>
                </a:rPr>
                <a:t>Strong</a:t>
              </a:r>
            </a:p>
          </p:txBody>
        </p:sp>
        <p:sp>
          <p:nvSpPr>
            <p:cNvPr id="168" name="Rectangle 166">
              <a:extLst>
                <a:ext uri="{FF2B5EF4-FFF2-40B4-BE49-F238E27FC236}">
                  <a16:creationId xmlns:a16="http://schemas.microsoft.com/office/drawing/2014/main" id="{F4837544-371F-6D77-6AF1-A431FB67B432}"/>
                </a:ext>
              </a:extLst>
            </p:cNvPr>
            <p:cNvSpPr>
              <a:spLocks noChangeArrowheads="1"/>
            </p:cNvSpPr>
            <p:nvPr/>
          </p:nvSpPr>
          <p:spPr bwMode="auto">
            <a:xfrm>
              <a:off x="4777" y="1464"/>
              <a:ext cx="549"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mj-lt"/>
                </a:rPr>
                <a:t>Medium</a:t>
              </a:r>
            </a:p>
          </p:txBody>
        </p:sp>
        <p:sp>
          <p:nvSpPr>
            <p:cNvPr id="169" name="Rectangle 167">
              <a:extLst>
                <a:ext uri="{FF2B5EF4-FFF2-40B4-BE49-F238E27FC236}">
                  <a16:creationId xmlns:a16="http://schemas.microsoft.com/office/drawing/2014/main" id="{59A42A46-BEFA-B7EF-E8A6-0F9398175544}"/>
                </a:ext>
              </a:extLst>
            </p:cNvPr>
            <p:cNvSpPr>
              <a:spLocks noChangeArrowheads="1"/>
            </p:cNvSpPr>
            <p:nvPr/>
          </p:nvSpPr>
          <p:spPr bwMode="auto">
            <a:xfrm>
              <a:off x="4777" y="1616"/>
              <a:ext cx="424"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mj-lt"/>
                </a:rPr>
                <a:t>Weak</a:t>
              </a:r>
            </a:p>
          </p:txBody>
        </p:sp>
        <p:sp>
          <p:nvSpPr>
            <p:cNvPr id="170" name="Oval 168">
              <a:extLst>
                <a:ext uri="{FF2B5EF4-FFF2-40B4-BE49-F238E27FC236}">
                  <a16:creationId xmlns:a16="http://schemas.microsoft.com/office/drawing/2014/main" id="{681FA5CF-7CB7-3799-0ED7-A3A7444D016A}"/>
                </a:ext>
              </a:extLst>
            </p:cNvPr>
            <p:cNvSpPr>
              <a:spLocks noChangeArrowheads="1"/>
            </p:cNvSpPr>
            <p:nvPr/>
          </p:nvSpPr>
          <p:spPr bwMode="auto">
            <a:xfrm>
              <a:off x="4701" y="1482"/>
              <a:ext cx="60" cy="63"/>
            </a:xfrm>
            <a:prstGeom prst="ellipse">
              <a:avLst/>
            </a:prstGeom>
            <a:noFill/>
            <a:ln w="12700">
              <a:no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grpSp>
          <p:nvGrpSpPr>
            <p:cNvPr id="171" name="Group 171">
              <a:extLst>
                <a:ext uri="{FF2B5EF4-FFF2-40B4-BE49-F238E27FC236}">
                  <a16:creationId xmlns:a16="http://schemas.microsoft.com/office/drawing/2014/main" id="{E34ECCE0-0662-6672-BED6-7DBB0BF5FFFE}"/>
                </a:ext>
              </a:extLst>
            </p:cNvPr>
            <p:cNvGrpSpPr>
              <a:grpSpLocks/>
            </p:cNvGrpSpPr>
            <p:nvPr/>
          </p:nvGrpSpPr>
          <p:grpSpPr bwMode="auto">
            <a:xfrm>
              <a:off x="4697" y="1337"/>
              <a:ext cx="60" cy="64"/>
              <a:chOff x="4697" y="1337"/>
              <a:chExt cx="60" cy="64"/>
            </a:xfrm>
          </p:grpSpPr>
          <p:sp>
            <p:nvSpPr>
              <p:cNvPr id="177" name="Oval 169">
                <a:extLst>
                  <a:ext uri="{FF2B5EF4-FFF2-40B4-BE49-F238E27FC236}">
                    <a16:creationId xmlns:a16="http://schemas.microsoft.com/office/drawing/2014/main" id="{ED6046B2-7FF6-3DD6-F0EE-161CB3C8A741}"/>
                  </a:ext>
                </a:extLst>
              </p:cNvPr>
              <p:cNvSpPr>
                <a:spLocks noChangeArrowheads="1"/>
              </p:cNvSpPr>
              <p:nvPr/>
            </p:nvSpPr>
            <p:spPr bwMode="auto">
              <a:xfrm>
                <a:off x="4697" y="1337"/>
                <a:ext cx="60" cy="64"/>
              </a:xfrm>
              <a:prstGeom prst="ellipse">
                <a:avLst/>
              </a:prstGeom>
              <a:noFill/>
              <a:ln w="12700">
                <a:no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178" name="Oval 170">
                <a:extLst>
                  <a:ext uri="{FF2B5EF4-FFF2-40B4-BE49-F238E27FC236}">
                    <a16:creationId xmlns:a16="http://schemas.microsoft.com/office/drawing/2014/main" id="{F20A1E8E-F2EE-1564-61DB-106E241BF7B9}"/>
                  </a:ext>
                </a:extLst>
              </p:cNvPr>
              <p:cNvSpPr>
                <a:spLocks noChangeArrowheads="1"/>
              </p:cNvSpPr>
              <p:nvPr/>
            </p:nvSpPr>
            <p:spPr bwMode="auto">
              <a:xfrm>
                <a:off x="4714" y="1355"/>
                <a:ext cx="26" cy="29"/>
              </a:xfrm>
              <a:prstGeom prst="ellipse">
                <a:avLst/>
              </a:prstGeom>
              <a:noFill/>
              <a:ln w="12700">
                <a:no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grpSp>
        <p:sp>
          <p:nvSpPr>
            <p:cNvPr id="172" name="Rectangle 172">
              <a:extLst>
                <a:ext uri="{FF2B5EF4-FFF2-40B4-BE49-F238E27FC236}">
                  <a16:creationId xmlns:a16="http://schemas.microsoft.com/office/drawing/2014/main" id="{FC4DA6E4-0C7E-0F28-68AE-3A83BB12CA51}"/>
                </a:ext>
              </a:extLst>
            </p:cNvPr>
            <p:cNvSpPr>
              <a:spLocks noChangeArrowheads="1"/>
            </p:cNvSpPr>
            <p:nvPr/>
          </p:nvSpPr>
          <p:spPr bwMode="auto">
            <a:xfrm>
              <a:off x="4441" y="1321"/>
              <a:ext cx="245"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mj-lt"/>
                </a:rPr>
                <a:t>+9</a:t>
              </a:r>
            </a:p>
          </p:txBody>
        </p:sp>
        <p:sp>
          <p:nvSpPr>
            <p:cNvPr id="173" name="Rectangle 173">
              <a:extLst>
                <a:ext uri="{FF2B5EF4-FFF2-40B4-BE49-F238E27FC236}">
                  <a16:creationId xmlns:a16="http://schemas.microsoft.com/office/drawing/2014/main" id="{2ED8ACAB-4234-6CCB-2A60-EEAF5C548C25}"/>
                </a:ext>
              </a:extLst>
            </p:cNvPr>
            <p:cNvSpPr>
              <a:spLocks noChangeArrowheads="1"/>
            </p:cNvSpPr>
            <p:nvPr/>
          </p:nvSpPr>
          <p:spPr bwMode="auto">
            <a:xfrm>
              <a:off x="4441" y="1464"/>
              <a:ext cx="245"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mj-lt"/>
                </a:rPr>
                <a:t>+3</a:t>
              </a:r>
            </a:p>
          </p:txBody>
        </p:sp>
        <p:sp>
          <p:nvSpPr>
            <p:cNvPr id="174" name="Rectangle 174">
              <a:extLst>
                <a:ext uri="{FF2B5EF4-FFF2-40B4-BE49-F238E27FC236}">
                  <a16:creationId xmlns:a16="http://schemas.microsoft.com/office/drawing/2014/main" id="{734208B6-EB08-1616-0CD7-2FA3301CE317}"/>
                </a:ext>
              </a:extLst>
            </p:cNvPr>
            <p:cNvSpPr>
              <a:spLocks noChangeArrowheads="1"/>
            </p:cNvSpPr>
            <p:nvPr/>
          </p:nvSpPr>
          <p:spPr bwMode="auto">
            <a:xfrm>
              <a:off x="4435" y="1286"/>
              <a:ext cx="803" cy="521"/>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175" name="Rectangle 175">
              <a:extLst>
                <a:ext uri="{FF2B5EF4-FFF2-40B4-BE49-F238E27FC236}">
                  <a16:creationId xmlns:a16="http://schemas.microsoft.com/office/drawing/2014/main" id="{68A461F2-B818-31B4-7364-323A7D00FDCD}"/>
                </a:ext>
              </a:extLst>
            </p:cNvPr>
            <p:cNvSpPr>
              <a:spLocks noChangeArrowheads="1"/>
            </p:cNvSpPr>
            <p:nvPr/>
          </p:nvSpPr>
          <p:spPr bwMode="auto">
            <a:xfrm>
              <a:off x="4441" y="1616"/>
              <a:ext cx="245"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mj-lt"/>
                </a:rPr>
                <a:t>+1</a:t>
              </a:r>
            </a:p>
          </p:txBody>
        </p:sp>
        <p:sp>
          <p:nvSpPr>
            <p:cNvPr id="176" name="AutoShape 176">
              <a:extLst>
                <a:ext uri="{FF2B5EF4-FFF2-40B4-BE49-F238E27FC236}">
                  <a16:creationId xmlns:a16="http://schemas.microsoft.com/office/drawing/2014/main" id="{B685011B-D1F3-1D51-DC2B-6E89B871D311}"/>
                </a:ext>
              </a:extLst>
            </p:cNvPr>
            <p:cNvSpPr>
              <a:spLocks noChangeArrowheads="1"/>
            </p:cNvSpPr>
            <p:nvPr/>
          </p:nvSpPr>
          <p:spPr bwMode="auto">
            <a:xfrm>
              <a:off x="4704" y="1632"/>
              <a:ext cx="60" cy="64"/>
            </a:xfrm>
            <a:prstGeom prst="triangle">
              <a:avLst>
                <a:gd name="adj" fmla="val 49995"/>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grpSp>
      <p:grpSp>
        <p:nvGrpSpPr>
          <p:cNvPr id="179" name="Group 199">
            <a:extLst>
              <a:ext uri="{FF2B5EF4-FFF2-40B4-BE49-F238E27FC236}">
                <a16:creationId xmlns:a16="http://schemas.microsoft.com/office/drawing/2014/main" id="{930B397B-AC54-7D4A-AE38-7752F08BAF43}"/>
              </a:ext>
            </a:extLst>
          </p:cNvPr>
          <p:cNvGrpSpPr>
            <a:grpSpLocks/>
          </p:cNvGrpSpPr>
          <p:nvPr/>
        </p:nvGrpSpPr>
        <p:grpSpPr bwMode="auto">
          <a:xfrm>
            <a:off x="295275" y="2728913"/>
            <a:ext cx="2116138" cy="1100137"/>
            <a:chOff x="186" y="1719"/>
            <a:chExt cx="1333" cy="693"/>
          </a:xfrm>
        </p:grpSpPr>
        <p:sp>
          <p:nvSpPr>
            <p:cNvPr id="180" name="Rectangle 178">
              <a:extLst>
                <a:ext uri="{FF2B5EF4-FFF2-40B4-BE49-F238E27FC236}">
                  <a16:creationId xmlns:a16="http://schemas.microsoft.com/office/drawing/2014/main" id="{52C51216-4B90-0213-75B2-721994E8B741}"/>
                </a:ext>
              </a:extLst>
            </p:cNvPr>
            <p:cNvSpPr>
              <a:spLocks noChangeArrowheads="1"/>
            </p:cNvSpPr>
            <p:nvPr/>
          </p:nvSpPr>
          <p:spPr bwMode="auto">
            <a:xfrm>
              <a:off x="529" y="1783"/>
              <a:ext cx="944"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mj-lt"/>
                </a:rPr>
                <a:t>Strong Positive</a:t>
              </a:r>
            </a:p>
          </p:txBody>
        </p:sp>
        <p:sp>
          <p:nvSpPr>
            <p:cNvPr id="181" name="Rectangle 179">
              <a:extLst>
                <a:ext uri="{FF2B5EF4-FFF2-40B4-BE49-F238E27FC236}">
                  <a16:creationId xmlns:a16="http://schemas.microsoft.com/office/drawing/2014/main" id="{B28DB0E1-B1A0-43B4-5D76-F5BAE286C6C1}"/>
                </a:ext>
              </a:extLst>
            </p:cNvPr>
            <p:cNvSpPr>
              <a:spLocks noChangeArrowheads="1"/>
            </p:cNvSpPr>
            <p:nvPr/>
          </p:nvSpPr>
          <p:spPr bwMode="auto">
            <a:xfrm>
              <a:off x="528" y="1926"/>
              <a:ext cx="522"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dirty="0">
                  <a:latin typeface="+mj-lt"/>
                </a:rPr>
                <a:t>Positive</a:t>
              </a:r>
            </a:p>
          </p:txBody>
        </p:sp>
        <p:sp>
          <p:nvSpPr>
            <p:cNvPr id="182" name="Rectangle 180">
              <a:extLst>
                <a:ext uri="{FF2B5EF4-FFF2-40B4-BE49-F238E27FC236}">
                  <a16:creationId xmlns:a16="http://schemas.microsoft.com/office/drawing/2014/main" id="{F392CDA7-5F0A-B9A0-F49E-11063F08EB60}"/>
                </a:ext>
              </a:extLst>
            </p:cNvPr>
            <p:cNvSpPr>
              <a:spLocks noChangeArrowheads="1"/>
            </p:cNvSpPr>
            <p:nvPr/>
          </p:nvSpPr>
          <p:spPr bwMode="auto">
            <a:xfrm>
              <a:off x="528" y="2078"/>
              <a:ext cx="587"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mj-lt"/>
                </a:rPr>
                <a:t>Negative</a:t>
              </a:r>
            </a:p>
          </p:txBody>
        </p:sp>
        <p:sp>
          <p:nvSpPr>
            <p:cNvPr id="183" name="Oval 181">
              <a:extLst>
                <a:ext uri="{FF2B5EF4-FFF2-40B4-BE49-F238E27FC236}">
                  <a16:creationId xmlns:a16="http://schemas.microsoft.com/office/drawing/2014/main" id="{6FD237F1-5C87-D272-EF8B-402440A2CF97}"/>
                </a:ext>
              </a:extLst>
            </p:cNvPr>
            <p:cNvSpPr>
              <a:spLocks noChangeArrowheads="1"/>
            </p:cNvSpPr>
            <p:nvPr/>
          </p:nvSpPr>
          <p:spPr bwMode="auto">
            <a:xfrm>
              <a:off x="452" y="1944"/>
              <a:ext cx="59" cy="64"/>
            </a:xfrm>
            <a:prstGeom prst="ellipse">
              <a:avLst/>
            </a:prstGeom>
            <a:noFill/>
            <a:ln w="127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grpSp>
          <p:nvGrpSpPr>
            <p:cNvPr id="184" name="Group 184">
              <a:extLst>
                <a:ext uri="{FF2B5EF4-FFF2-40B4-BE49-F238E27FC236}">
                  <a16:creationId xmlns:a16="http://schemas.microsoft.com/office/drawing/2014/main" id="{098D7BF0-5482-FA28-5A65-FB9C52E8952C}"/>
                </a:ext>
              </a:extLst>
            </p:cNvPr>
            <p:cNvGrpSpPr>
              <a:grpSpLocks/>
            </p:cNvGrpSpPr>
            <p:nvPr/>
          </p:nvGrpSpPr>
          <p:grpSpPr bwMode="auto">
            <a:xfrm>
              <a:off x="448" y="1799"/>
              <a:ext cx="59" cy="64"/>
              <a:chOff x="448" y="1799"/>
              <a:chExt cx="59" cy="64"/>
            </a:xfrm>
          </p:grpSpPr>
          <p:sp>
            <p:nvSpPr>
              <p:cNvPr id="199" name="Oval 182">
                <a:extLst>
                  <a:ext uri="{FF2B5EF4-FFF2-40B4-BE49-F238E27FC236}">
                    <a16:creationId xmlns:a16="http://schemas.microsoft.com/office/drawing/2014/main" id="{C349E8A1-2582-8CEA-F13C-B3492D86EF67}"/>
                  </a:ext>
                </a:extLst>
              </p:cNvPr>
              <p:cNvSpPr>
                <a:spLocks noChangeArrowheads="1"/>
              </p:cNvSpPr>
              <p:nvPr/>
            </p:nvSpPr>
            <p:spPr bwMode="auto">
              <a:xfrm>
                <a:off x="448" y="1799"/>
                <a:ext cx="59" cy="64"/>
              </a:xfrm>
              <a:prstGeom prst="ellipse">
                <a:avLst/>
              </a:prstGeom>
              <a:noFill/>
              <a:ln w="127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200" name="Oval 183">
                <a:extLst>
                  <a:ext uri="{FF2B5EF4-FFF2-40B4-BE49-F238E27FC236}">
                    <a16:creationId xmlns:a16="http://schemas.microsoft.com/office/drawing/2014/main" id="{BBD78342-7497-55C1-881C-B40E120A578E}"/>
                  </a:ext>
                </a:extLst>
              </p:cNvPr>
              <p:cNvSpPr>
                <a:spLocks noChangeArrowheads="1"/>
              </p:cNvSpPr>
              <p:nvPr/>
            </p:nvSpPr>
            <p:spPr bwMode="auto">
              <a:xfrm>
                <a:off x="465" y="1817"/>
                <a:ext cx="25" cy="30"/>
              </a:xfrm>
              <a:prstGeom prst="ellipse">
                <a:avLst/>
              </a:prstGeom>
              <a:noFill/>
              <a:ln w="127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grpSp>
        <p:grpSp>
          <p:nvGrpSpPr>
            <p:cNvPr id="185" name="Group 189">
              <a:extLst>
                <a:ext uri="{FF2B5EF4-FFF2-40B4-BE49-F238E27FC236}">
                  <a16:creationId xmlns:a16="http://schemas.microsoft.com/office/drawing/2014/main" id="{B352BA4E-8A41-3476-9566-C3E947FC6A6F}"/>
                </a:ext>
              </a:extLst>
            </p:cNvPr>
            <p:cNvGrpSpPr>
              <a:grpSpLocks/>
            </p:cNvGrpSpPr>
            <p:nvPr/>
          </p:nvGrpSpPr>
          <p:grpSpPr bwMode="auto">
            <a:xfrm>
              <a:off x="452" y="2225"/>
              <a:ext cx="68" cy="71"/>
              <a:chOff x="452" y="2225"/>
              <a:chExt cx="68" cy="71"/>
            </a:xfrm>
          </p:grpSpPr>
          <p:sp>
            <p:nvSpPr>
              <p:cNvPr id="195" name="Line 185">
                <a:extLst>
                  <a:ext uri="{FF2B5EF4-FFF2-40B4-BE49-F238E27FC236}">
                    <a16:creationId xmlns:a16="http://schemas.microsoft.com/office/drawing/2014/main" id="{38D2E618-837F-5280-F70E-9E9824A60E32}"/>
                  </a:ext>
                </a:extLst>
              </p:cNvPr>
              <p:cNvSpPr>
                <a:spLocks noChangeShapeType="1"/>
              </p:cNvSpPr>
              <p:nvPr/>
            </p:nvSpPr>
            <p:spPr bwMode="auto">
              <a:xfrm>
                <a:off x="452" y="2260"/>
                <a:ext cx="6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96" name="Line 186">
                <a:extLst>
                  <a:ext uri="{FF2B5EF4-FFF2-40B4-BE49-F238E27FC236}">
                    <a16:creationId xmlns:a16="http://schemas.microsoft.com/office/drawing/2014/main" id="{42019B7A-E9C3-671E-DAEF-BA948B548807}"/>
                  </a:ext>
                </a:extLst>
              </p:cNvPr>
              <p:cNvSpPr>
                <a:spLocks noChangeShapeType="1"/>
              </p:cNvSpPr>
              <p:nvPr/>
            </p:nvSpPr>
            <p:spPr bwMode="auto">
              <a:xfrm>
                <a:off x="486" y="2225"/>
                <a:ext cx="0" cy="71"/>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97" name="Line 187">
                <a:extLst>
                  <a:ext uri="{FF2B5EF4-FFF2-40B4-BE49-F238E27FC236}">
                    <a16:creationId xmlns:a16="http://schemas.microsoft.com/office/drawing/2014/main" id="{75A9A679-D56C-B7AA-06D4-E810B648F454}"/>
                  </a:ext>
                </a:extLst>
              </p:cNvPr>
              <p:cNvSpPr>
                <a:spLocks noChangeShapeType="1"/>
              </p:cNvSpPr>
              <p:nvPr/>
            </p:nvSpPr>
            <p:spPr bwMode="auto">
              <a:xfrm flipV="1">
                <a:off x="452" y="2225"/>
                <a:ext cx="68" cy="71"/>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98" name="Line 188">
                <a:extLst>
                  <a:ext uri="{FF2B5EF4-FFF2-40B4-BE49-F238E27FC236}">
                    <a16:creationId xmlns:a16="http://schemas.microsoft.com/office/drawing/2014/main" id="{379D8ED2-585E-919F-9805-682B1F667072}"/>
                  </a:ext>
                </a:extLst>
              </p:cNvPr>
              <p:cNvSpPr>
                <a:spLocks noChangeShapeType="1"/>
              </p:cNvSpPr>
              <p:nvPr/>
            </p:nvSpPr>
            <p:spPr bwMode="auto">
              <a:xfrm flipH="1" flipV="1">
                <a:off x="452" y="2225"/>
                <a:ext cx="68" cy="71"/>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grpSp>
        <p:grpSp>
          <p:nvGrpSpPr>
            <p:cNvPr id="186" name="Group 192">
              <a:extLst>
                <a:ext uri="{FF2B5EF4-FFF2-40B4-BE49-F238E27FC236}">
                  <a16:creationId xmlns:a16="http://schemas.microsoft.com/office/drawing/2014/main" id="{95C4541F-083E-0C62-77F3-A7E6A28E35DE}"/>
                </a:ext>
              </a:extLst>
            </p:cNvPr>
            <p:cNvGrpSpPr>
              <a:grpSpLocks/>
            </p:cNvGrpSpPr>
            <p:nvPr/>
          </p:nvGrpSpPr>
          <p:grpSpPr bwMode="auto">
            <a:xfrm>
              <a:off x="452" y="2082"/>
              <a:ext cx="68" cy="71"/>
              <a:chOff x="452" y="2082"/>
              <a:chExt cx="68" cy="71"/>
            </a:xfrm>
          </p:grpSpPr>
          <p:sp>
            <p:nvSpPr>
              <p:cNvPr id="193" name="Line 190">
                <a:extLst>
                  <a:ext uri="{FF2B5EF4-FFF2-40B4-BE49-F238E27FC236}">
                    <a16:creationId xmlns:a16="http://schemas.microsoft.com/office/drawing/2014/main" id="{51990489-C99B-CB78-5415-C1F52B2E91FE}"/>
                  </a:ext>
                </a:extLst>
              </p:cNvPr>
              <p:cNvSpPr>
                <a:spLocks noChangeShapeType="1"/>
              </p:cNvSpPr>
              <p:nvPr/>
            </p:nvSpPr>
            <p:spPr bwMode="auto">
              <a:xfrm flipV="1">
                <a:off x="452" y="2082"/>
                <a:ext cx="68" cy="71"/>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94" name="Line 191">
                <a:extLst>
                  <a:ext uri="{FF2B5EF4-FFF2-40B4-BE49-F238E27FC236}">
                    <a16:creationId xmlns:a16="http://schemas.microsoft.com/office/drawing/2014/main" id="{9F52E949-02A2-AE4E-E1DF-A44C407CBB76}"/>
                  </a:ext>
                </a:extLst>
              </p:cNvPr>
              <p:cNvSpPr>
                <a:spLocks noChangeShapeType="1"/>
              </p:cNvSpPr>
              <p:nvPr/>
            </p:nvSpPr>
            <p:spPr bwMode="auto">
              <a:xfrm flipH="1" flipV="1">
                <a:off x="452" y="2082"/>
                <a:ext cx="68" cy="71"/>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grpSp>
        <p:sp>
          <p:nvSpPr>
            <p:cNvPr id="187" name="Rectangle 193">
              <a:extLst>
                <a:ext uri="{FF2B5EF4-FFF2-40B4-BE49-F238E27FC236}">
                  <a16:creationId xmlns:a16="http://schemas.microsoft.com/office/drawing/2014/main" id="{FD773996-C0E7-624B-6288-119DEB130002}"/>
                </a:ext>
              </a:extLst>
            </p:cNvPr>
            <p:cNvSpPr>
              <a:spLocks noChangeArrowheads="1"/>
            </p:cNvSpPr>
            <p:nvPr/>
          </p:nvSpPr>
          <p:spPr bwMode="auto">
            <a:xfrm>
              <a:off x="529" y="2212"/>
              <a:ext cx="981"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mj-lt"/>
                </a:rPr>
                <a:t>Strong Negative</a:t>
              </a:r>
            </a:p>
          </p:txBody>
        </p:sp>
        <p:sp>
          <p:nvSpPr>
            <p:cNvPr id="188" name="Rectangle 194">
              <a:extLst>
                <a:ext uri="{FF2B5EF4-FFF2-40B4-BE49-F238E27FC236}">
                  <a16:creationId xmlns:a16="http://schemas.microsoft.com/office/drawing/2014/main" id="{A2F8387F-B22F-8E79-042D-4395E7BF001F}"/>
                </a:ext>
              </a:extLst>
            </p:cNvPr>
            <p:cNvSpPr>
              <a:spLocks noChangeArrowheads="1"/>
            </p:cNvSpPr>
            <p:nvPr/>
          </p:nvSpPr>
          <p:spPr bwMode="auto">
            <a:xfrm>
              <a:off x="191" y="1783"/>
              <a:ext cx="245"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mj-lt"/>
                </a:rPr>
                <a:t>+9</a:t>
              </a:r>
            </a:p>
          </p:txBody>
        </p:sp>
        <p:sp>
          <p:nvSpPr>
            <p:cNvPr id="189" name="Rectangle 195">
              <a:extLst>
                <a:ext uri="{FF2B5EF4-FFF2-40B4-BE49-F238E27FC236}">
                  <a16:creationId xmlns:a16="http://schemas.microsoft.com/office/drawing/2014/main" id="{3DB902BA-4646-E491-4051-48F676580EB6}"/>
                </a:ext>
              </a:extLst>
            </p:cNvPr>
            <p:cNvSpPr>
              <a:spLocks noChangeArrowheads="1"/>
            </p:cNvSpPr>
            <p:nvPr/>
          </p:nvSpPr>
          <p:spPr bwMode="auto">
            <a:xfrm>
              <a:off x="191" y="1926"/>
              <a:ext cx="245"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mj-lt"/>
                </a:rPr>
                <a:t>+3</a:t>
              </a:r>
            </a:p>
          </p:txBody>
        </p:sp>
        <p:sp>
          <p:nvSpPr>
            <p:cNvPr id="190" name="Rectangle 196">
              <a:extLst>
                <a:ext uri="{FF2B5EF4-FFF2-40B4-BE49-F238E27FC236}">
                  <a16:creationId xmlns:a16="http://schemas.microsoft.com/office/drawing/2014/main" id="{B79C5822-279A-D5AE-EE77-7AA243E9B129}"/>
                </a:ext>
              </a:extLst>
            </p:cNvPr>
            <p:cNvSpPr>
              <a:spLocks noChangeArrowheads="1"/>
            </p:cNvSpPr>
            <p:nvPr/>
          </p:nvSpPr>
          <p:spPr bwMode="auto">
            <a:xfrm>
              <a:off x="214" y="2069"/>
              <a:ext cx="217"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mj-lt"/>
                </a:rPr>
                <a:t>-3</a:t>
              </a:r>
            </a:p>
          </p:txBody>
        </p:sp>
        <p:sp>
          <p:nvSpPr>
            <p:cNvPr id="191" name="Rectangle 197">
              <a:extLst>
                <a:ext uri="{FF2B5EF4-FFF2-40B4-BE49-F238E27FC236}">
                  <a16:creationId xmlns:a16="http://schemas.microsoft.com/office/drawing/2014/main" id="{71EFDFA4-FB71-1F76-9758-E62D3D703CD5}"/>
                </a:ext>
              </a:extLst>
            </p:cNvPr>
            <p:cNvSpPr>
              <a:spLocks noChangeArrowheads="1"/>
            </p:cNvSpPr>
            <p:nvPr/>
          </p:nvSpPr>
          <p:spPr bwMode="auto">
            <a:xfrm>
              <a:off x="214" y="2212"/>
              <a:ext cx="217"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mj-lt"/>
                </a:rPr>
                <a:t>-9</a:t>
              </a:r>
            </a:p>
          </p:txBody>
        </p:sp>
        <p:sp>
          <p:nvSpPr>
            <p:cNvPr id="192" name="Rectangle 198">
              <a:extLst>
                <a:ext uri="{FF2B5EF4-FFF2-40B4-BE49-F238E27FC236}">
                  <a16:creationId xmlns:a16="http://schemas.microsoft.com/office/drawing/2014/main" id="{868779C6-C35A-0A79-AC62-089A66C37EC1}"/>
                </a:ext>
              </a:extLst>
            </p:cNvPr>
            <p:cNvSpPr>
              <a:spLocks noChangeArrowheads="1"/>
            </p:cNvSpPr>
            <p:nvPr/>
          </p:nvSpPr>
          <p:spPr bwMode="auto">
            <a:xfrm>
              <a:off x="186" y="1719"/>
              <a:ext cx="1333" cy="693"/>
            </a:xfrm>
            <a:prstGeom prst="rect">
              <a:avLst/>
            </a:prstGeom>
            <a:noFill/>
            <a:ln w="12700">
              <a:solidFill>
                <a:srgbClr val="C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grpSp>
      <p:sp>
        <p:nvSpPr>
          <p:cNvPr id="201" name="Rectangle 200">
            <a:extLst>
              <a:ext uri="{FF2B5EF4-FFF2-40B4-BE49-F238E27FC236}">
                <a16:creationId xmlns:a16="http://schemas.microsoft.com/office/drawing/2014/main" id="{D7B9C374-FFAD-928D-1C84-E032F3D60A78}"/>
              </a:ext>
            </a:extLst>
          </p:cNvPr>
          <p:cNvSpPr>
            <a:spLocks noChangeArrowheads="1"/>
          </p:cNvSpPr>
          <p:nvPr/>
        </p:nvSpPr>
        <p:spPr bwMode="auto">
          <a:xfrm>
            <a:off x="5327" y="1539875"/>
            <a:ext cx="2673809" cy="107786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600" b="1">
                <a:latin typeface="+mj-lt"/>
              </a:rPr>
              <a:t>Interrelationship between</a:t>
            </a:r>
          </a:p>
          <a:p>
            <a:pPr algn="ctr"/>
            <a:r>
              <a:rPr lang="en-US" altLang="en-US" sz="1600" b="1">
                <a:latin typeface="+mj-lt"/>
              </a:rPr>
              <a:t>Technical Descriptors</a:t>
            </a:r>
          </a:p>
          <a:p>
            <a:pPr algn="ctr"/>
            <a:r>
              <a:rPr lang="en-US" altLang="en-US" sz="1600" b="1">
                <a:latin typeface="+mj-lt"/>
              </a:rPr>
              <a:t>(correlation matrix)</a:t>
            </a:r>
          </a:p>
          <a:p>
            <a:pPr algn="ctr"/>
            <a:r>
              <a:rPr lang="en-US" altLang="en-US" sz="1600" b="1">
                <a:latin typeface="+mj-lt"/>
              </a:rPr>
              <a:t>HOWs vs. HOWs</a:t>
            </a:r>
          </a:p>
        </p:txBody>
      </p:sp>
    </p:spTree>
    <p:extLst>
      <p:ext uri="{BB962C8B-B14F-4D97-AF65-F5344CB8AC3E}">
        <p14:creationId xmlns:p14="http://schemas.microsoft.com/office/powerpoint/2010/main" val="5185411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2" y="196170"/>
            <a:ext cx="8589429"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IN" dirty="0">
                <a:latin typeface="+mj-lt"/>
              </a:rPr>
              <a:t>Customer Requirements (What’s)</a:t>
            </a:r>
          </a:p>
        </p:txBody>
      </p:sp>
      <p:sp>
        <p:nvSpPr>
          <p:cNvPr id="346" name="Line 3">
            <a:extLst>
              <a:ext uri="{FF2B5EF4-FFF2-40B4-BE49-F238E27FC236}">
                <a16:creationId xmlns:a16="http://schemas.microsoft.com/office/drawing/2014/main" id="{163A0AD1-9891-5FA8-0FB0-59AF881A3B9B}"/>
              </a:ext>
            </a:extLst>
          </p:cNvPr>
          <p:cNvSpPr>
            <a:spLocks noChangeShapeType="1"/>
          </p:cNvSpPr>
          <p:nvPr/>
        </p:nvSpPr>
        <p:spPr bwMode="auto">
          <a:xfrm>
            <a:off x="3587749" y="3183193"/>
            <a:ext cx="2055812"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47" name="Line 4">
            <a:extLst>
              <a:ext uri="{FF2B5EF4-FFF2-40B4-BE49-F238E27FC236}">
                <a16:creationId xmlns:a16="http://schemas.microsoft.com/office/drawing/2014/main" id="{0B4EDADC-8EDB-F425-2D67-BF64626AB678}"/>
              </a:ext>
            </a:extLst>
          </p:cNvPr>
          <p:cNvSpPr>
            <a:spLocks noChangeShapeType="1"/>
          </p:cNvSpPr>
          <p:nvPr/>
        </p:nvSpPr>
        <p:spPr bwMode="auto">
          <a:xfrm>
            <a:off x="2981324" y="4630993"/>
            <a:ext cx="4719637"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48" name="Rectangle 5">
            <a:extLst>
              <a:ext uri="{FF2B5EF4-FFF2-40B4-BE49-F238E27FC236}">
                <a16:creationId xmlns:a16="http://schemas.microsoft.com/office/drawing/2014/main" id="{0498BEAA-5EED-265F-8E53-91D03795396C}"/>
              </a:ext>
            </a:extLst>
          </p:cNvPr>
          <p:cNvSpPr>
            <a:spLocks noChangeArrowheads="1"/>
          </p:cNvSpPr>
          <p:nvPr/>
        </p:nvSpPr>
        <p:spPr bwMode="auto">
          <a:xfrm rot="16200000">
            <a:off x="1203324" y="3940431"/>
            <a:ext cx="2971800" cy="64135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800" b="1" dirty="0">
                <a:latin typeface="+mj-lt"/>
              </a:rPr>
              <a:t>Customer Requirements</a:t>
            </a:r>
          </a:p>
          <a:p>
            <a:pPr algn="ctr"/>
            <a:r>
              <a:rPr lang="en-US" altLang="en-US" sz="1800" b="1" dirty="0">
                <a:latin typeface="+mj-lt"/>
              </a:rPr>
              <a:t>(WHATs)</a:t>
            </a:r>
          </a:p>
        </p:txBody>
      </p:sp>
      <p:sp>
        <p:nvSpPr>
          <p:cNvPr id="349" name="Line 6">
            <a:extLst>
              <a:ext uri="{FF2B5EF4-FFF2-40B4-BE49-F238E27FC236}">
                <a16:creationId xmlns:a16="http://schemas.microsoft.com/office/drawing/2014/main" id="{DC6E63CB-0F6D-B90A-40C2-CB91C2A31A6E}"/>
              </a:ext>
            </a:extLst>
          </p:cNvPr>
          <p:cNvSpPr>
            <a:spLocks noChangeShapeType="1"/>
          </p:cNvSpPr>
          <p:nvPr/>
        </p:nvSpPr>
        <p:spPr bwMode="auto">
          <a:xfrm flipV="1">
            <a:off x="2290761" y="2725993"/>
            <a:ext cx="0" cy="304800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50" name="Line 7">
            <a:extLst>
              <a:ext uri="{FF2B5EF4-FFF2-40B4-BE49-F238E27FC236}">
                <a16:creationId xmlns:a16="http://schemas.microsoft.com/office/drawing/2014/main" id="{B74B54F8-04C3-D73A-38D5-8B72AA3B3D17}"/>
              </a:ext>
            </a:extLst>
          </p:cNvPr>
          <p:cNvSpPr>
            <a:spLocks noChangeShapeType="1"/>
          </p:cNvSpPr>
          <p:nvPr/>
        </p:nvSpPr>
        <p:spPr bwMode="auto">
          <a:xfrm>
            <a:off x="2290761" y="2725993"/>
            <a:ext cx="5410200"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51" name="Rectangle 8">
            <a:extLst>
              <a:ext uri="{FF2B5EF4-FFF2-40B4-BE49-F238E27FC236}">
                <a16:creationId xmlns:a16="http://schemas.microsoft.com/office/drawing/2014/main" id="{66032FFC-A9F6-9DA8-D555-DF67903B6A89}"/>
              </a:ext>
            </a:extLst>
          </p:cNvPr>
          <p:cNvSpPr>
            <a:spLocks noChangeArrowheads="1"/>
          </p:cNvSpPr>
          <p:nvPr/>
        </p:nvSpPr>
        <p:spPr bwMode="auto">
          <a:xfrm rot="16200000">
            <a:off x="2713175" y="2015544"/>
            <a:ext cx="1074461" cy="369974"/>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800" b="1">
                <a:latin typeface="+mj-lt"/>
              </a:rPr>
              <a:t>Primary</a:t>
            </a:r>
          </a:p>
        </p:txBody>
      </p:sp>
      <p:sp>
        <p:nvSpPr>
          <p:cNvPr id="352" name="Rectangle 9">
            <a:extLst>
              <a:ext uri="{FF2B5EF4-FFF2-40B4-BE49-F238E27FC236}">
                <a16:creationId xmlns:a16="http://schemas.microsoft.com/office/drawing/2014/main" id="{2E8639D5-3152-4B3C-1089-0B6ECCC1091C}"/>
              </a:ext>
            </a:extLst>
          </p:cNvPr>
          <p:cNvSpPr>
            <a:spLocks noChangeArrowheads="1"/>
          </p:cNvSpPr>
          <p:nvPr/>
        </p:nvSpPr>
        <p:spPr bwMode="auto">
          <a:xfrm rot="16200000">
            <a:off x="3195636" y="1889381"/>
            <a:ext cx="1373188" cy="36671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800" b="1" dirty="0">
                <a:latin typeface="+mj-lt"/>
              </a:rPr>
              <a:t>Secondary</a:t>
            </a:r>
          </a:p>
        </p:txBody>
      </p:sp>
      <p:sp>
        <p:nvSpPr>
          <p:cNvPr id="353" name="Line 10">
            <a:extLst>
              <a:ext uri="{FF2B5EF4-FFF2-40B4-BE49-F238E27FC236}">
                <a16:creationId xmlns:a16="http://schemas.microsoft.com/office/drawing/2014/main" id="{00DA9EA3-BBCE-839E-678D-E330C3ECEF30}"/>
              </a:ext>
            </a:extLst>
          </p:cNvPr>
          <p:cNvSpPr>
            <a:spLocks noChangeShapeType="1"/>
          </p:cNvSpPr>
          <p:nvPr/>
        </p:nvSpPr>
        <p:spPr bwMode="auto">
          <a:xfrm>
            <a:off x="2290761" y="5773993"/>
            <a:ext cx="5410200"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54" name="Rectangle 11">
            <a:extLst>
              <a:ext uri="{FF2B5EF4-FFF2-40B4-BE49-F238E27FC236}">
                <a16:creationId xmlns:a16="http://schemas.microsoft.com/office/drawing/2014/main" id="{8B4451E1-5042-F78F-D63C-C6073C512F96}"/>
              </a:ext>
            </a:extLst>
          </p:cNvPr>
          <p:cNvSpPr>
            <a:spLocks noChangeArrowheads="1"/>
          </p:cNvSpPr>
          <p:nvPr/>
        </p:nvSpPr>
        <p:spPr bwMode="auto">
          <a:xfrm rot="16200000">
            <a:off x="5384935" y="2006019"/>
            <a:ext cx="1055417" cy="369974"/>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800" b="1">
                <a:latin typeface="+mj-lt"/>
              </a:rPr>
              <a:t>Tertiary</a:t>
            </a:r>
          </a:p>
        </p:txBody>
      </p:sp>
      <p:sp>
        <p:nvSpPr>
          <p:cNvPr id="355" name="Line 12">
            <a:extLst>
              <a:ext uri="{FF2B5EF4-FFF2-40B4-BE49-F238E27FC236}">
                <a16:creationId xmlns:a16="http://schemas.microsoft.com/office/drawing/2014/main" id="{344747F3-3A28-348C-548A-DCA77A0B8781}"/>
              </a:ext>
            </a:extLst>
          </p:cNvPr>
          <p:cNvSpPr>
            <a:spLocks noChangeShapeType="1"/>
          </p:cNvSpPr>
          <p:nvPr/>
        </p:nvSpPr>
        <p:spPr bwMode="auto">
          <a:xfrm>
            <a:off x="3586161" y="1354393"/>
            <a:ext cx="0" cy="441960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56" name="Line 13">
            <a:extLst>
              <a:ext uri="{FF2B5EF4-FFF2-40B4-BE49-F238E27FC236}">
                <a16:creationId xmlns:a16="http://schemas.microsoft.com/office/drawing/2014/main" id="{54575F2B-76DE-9AC8-26F5-D427F04B213A}"/>
              </a:ext>
            </a:extLst>
          </p:cNvPr>
          <p:cNvSpPr>
            <a:spLocks noChangeShapeType="1"/>
          </p:cNvSpPr>
          <p:nvPr/>
        </p:nvSpPr>
        <p:spPr bwMode="auto">
          <a:xfrm>
            <a:off x="2976561" y="1354393"/>
            <a:ext cx="0" cy="441960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57" name="Line 14">
            <a:extLst>
              <a:ext uri="{FF2B5EF4-FFF2-40B4-BE49-F238E27FC236}">
                <a16:creationId xmlns:a16="http://schemas.microsoft.com/office/drawing/2014/main" id="{231FDDD1-53F7-3B23-3B6B-BBB44741ECED}"/>
              </a:ext>
            </a:extLst>
          </p:cNvPr>
          <p:cNvSpPr>
            <a:spLocks noChangeShapeType="1"/>
          </p:cNvSpPr>
          <p:nvPr/>
        </p:nvSpPr>
        <p:spPr bwMode="auto">
          <a:xfrm>
            <a:off x="2976561" y="1354393"/>
            <a:ext cx="4724400"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58" name="Line 15">
            <a:extLst>
              <a:ext uri="{FF2B5EF4-FFF2-40B4-BE49-F238E27FC236}">
                <a16:creationId xmlns:a16="http://schemas.microsoft.com/office/drawing/2014/main" id="{BB3D39B3-B042-E1D3-388D-D69E83DB5FD8}"/>
              </a:ext>
            </a:extLst>
          </p:cNvPr>
          <p:cNvSpPr>
            <a:spLocks noChangeShapeType="1"/>
          </p:cNvSpPr>
          <p:nvPr/>
        </p:nvSpPr>
        <p:spPr bwMode="auto">
          <a:xfrm>
            <a:off x="5643561" y="1354393"/>
            <a:ext cx="0" cy="441960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59" name="Line 16">
            <a:extLst>
              <a:ext uri="{FF2B5EF4-FFF2-40B4-BE49-F238E27FC236}">
                <a16:creationId xmlns:a16="http://schemas.microsoft.com/office/drawing/2014/main" id="{102D9BBB-F72C-3D87-CA64-5A6C2FDF65FF}"/>
              </a:ext>
            </a:extLst>
          </p:cNvPr>
          <p:cNvSpPr>
            <a:spLocks noChangeShapeType="1"/>
          </p:cNvSpPr>
          <p:nvPr/>
        </p:nvSpPr>
        <p:spPr bwMode="auto">
          <a:xfrm>
            <a:off x="7700961" y="1354393"/>
            <a:ext cx="0" cy="441960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60" name="Line 17">
            <a:extLst>
              <a:ext uri="{FF2B5EF4-FFF2-40B4-BE49-F238E27FC236}">
                <a16:creationId xmlns:a16="http://schemas.microsoft.com/office/drawing/2014/main" id="{F11FF14C-2123-3173-857E-8B02C1441F2E}"/>
              </a:ext>
            </a:extLst>
          </p:cNvPr>
          <p:cNvSpPr>
            <a:spLocks noChangeShapeType="1"/>
          </p:cNvSpPr>
          <p:nvPr/>
        </p:nvSpPr>
        <p:spPr bwMode="auto">
          <a:xfrm>
            <a:off x="5645149" y="2954593"/>
            <a:ext cx="2055812"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61" name="Line 18">
            <a:extLst>
              <a:ext uri="{FF2B5EF4-FFF2-40B4-BE49-F238E27FC236}">
                <a16:creationId xmlns:a16="http://schemas.microsoft.com/office/drawing/2014/main" id="{ECC09862-4DAF-AAB9-52F1-96C9F5F71DED}"/>
              </a:ext>
            </a:extLst>
          </p:cNvPr>
          <p:cNvSpPr>
            <a:spLocks noChangeShapeType="1"/>
          </p:cNvSpPr>
          <p:nvPr/>
        </p:nvSpPr>
        <p:spPr bwMode="auto">
          <a:xfrm>
            <a:off x="5645149" y="4859593"/>
            <a:ext cx="2055812"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62" name="Line 19">
            <a:extLst>
              <a:ext uri="{FF2B5EF4-FFF2-40B4-BE49-F238E27FC236}">
                <a16:creationId xmlns:a16="http://schemas.microsoft.com/office/drawing/2014/main" id="{46CD3814-487A-047E-AB27-FEA14296CBBC}"/>
              </a:ext>
            </a:extLst>
          </p:cNvPr>
          <p:cNvSpPr>
            <a:spLocks noChangeShapeType="1"/>
          </p:cNvSpPr>
          <p:nvPr/>
        </p:nvSpPr>
        <p:spPr bwMode="auto">
          <a:xfrm>
            <a:off x="5645149" y="5088193"/>
            <a:ext cx="2055812"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63" name="Line 20">
            <a:extLst>
              <a:ext uri="{FF2B5EF4-FFF2-40B4-BE49-F238E27FC236}">
                <a16:creationId xmlns:a16="http://schemas.microsoft.com/office/drawing/2014/main" id="{491B16D3-C052-376A-13C8-4E005137F85E}"/>
              </a:ext>
            </a:extLst>
          </p:cNvPr>
          <p:cNvSpPr>
            <a:spLocks noChangeShapeType="1"/>
          </p:cNvSpPr>
          <p:nvPr/>
        </p:nvSpPr>
        <p:spPr bwMode="auto">
          <a:xfrm>
            <a:off x="5645149" y="5316793"/>
            <a:ext cx="2055812"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64" name="Line 21">
            <a:extLst>
              <a:ext uri="{FF2B5EF4-FFF2-40B4-BE49-F238E27FC236}">
                <a16:creationId xmlns:a16="http://schemas.microsoft.com/office/drawing/2014/main" id="{DF348AF6-CFC9-7D57-8842-63FB21FE2D72}"/>
              </a:ext>
            </a:extLst>
          </p:cNvPr>
          <p:cNvSpPr>
            <a:spLocks noChangeShapeType="1"/>
          </p:cNvSpPr>
          <p:nvPr/>
        </p:nvSpPr>
        <p:spPr bwMode="auto">
          <a:xfrm>
            <a:off x="5645149" y="5545393"/>
            <a:ext cx="2055812"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65" name="Line 22">
            <a:extLst>
              <a:ext uri="{FF2B5EF4-FFF2-40B4-BE49-F238E27FC236}">
                <a16:creationId xmlns:a16="http://schemas.microsoft.com/office/drawing/2014/main" id="{E4C63783-6047-130D-1209-3053342F3CEE}"/>
              </a:ext>
            </a:extLst>
          </p:cNvPr>
          <p:cNvSpPr>
            <a:spLocks noChangeShapeType="1"/>
          </p:cNvSpPr>
          <p:nvPr/>
        </p:nvSpPr>
        <p:spPr bwMode="auto">
          <a:xfrm>
            <a:off x="3587749" y="5316793"/>
            <a:ext cx="2055812"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66" name="Line 23">
            <a:extLst>
              <a:ext uri="{FF2B5EF4-FFF2-40B4-BE49-F238E27FC236}">
                <a16:creationId xmlns:a16="http://schemas.microsoft.com/office/drawing/2014/main" id="{805D9A57-5F86-74CC-81B1-A7E9A6204EE9}"/>
              </a:ext>
            </a:extLst>
          </p:cNvPr>
          <p:cNvSpPr>
            <a:spLocks noChangeShapeType="1"/>
          </p:cNvSpPr>
          <p:nvPr/>
        </p:nvSpPr>
        <p:spPr bwMode="auto">
          <a:xfrm>
            <a:off x="5645149" y="3183193"/>
            <a:ext cx="2055812"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67" name="Line 24">
            <a:extLst>
              <a:ext uri="{FF2B5EF4-FFF2-40B4-BE49-F238E27FC236}">
                <a16:creationId xmlns:a16="http://schemas.microsoft.com/office/drawing/2014/main" id="{EB575CC3-B9E9-A876-67C8-129950C862D5}"/>
              </a:ext>
            </a:extLst>
          </p:cNvPr>
          <p:cNvSpPr>
            <a:spLocks noChangeShapeType="1"/>
          </p:cNvSpPr>
          <p:nvPr/>
        </p:nvSpPr>
        <p:spPr bwMode="auto">
          <a:xfrm>
            <a:off x="5645149" y="3411793"/>
            <a:ext cx="2055812"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68" name="Line 25">
            <a:extLst>
              <a:ext uri="{FF2B5EF4-FFF2-40B4-BE49-F238E27FC236}">
                <a16:creationId xmlns:a16="http://schemas.microsoft.com/office/drawing/2014/main" id="{8636E70E-FC53-946D-E247-C97DB2B529A5}"/>
              </a:ext>
            </a:extLst>
          </p:cNvPr>
          <p:cNvSpPr>
            <a:spLocks noChangeShapeType="1"/>
          </p:cNvSpPr>
          <p:nvPr/>
        </p:nvSpPr>
        <p:spPr bwMode="auto">
          <a:xfrm>
            <a:off x="5645149" y="3640393"/>
            <a:ext cx="2055812"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69" name="Line 26">
            <a:extLst>
              <a:ext uri="{FF2B5EF4-FFF2-40B4-BE49-F238E27FC236}">
                <a16:creationId xmlns:a16="http://schemas.microsoft.com/office/drawing/2014/main" id="{F7DCC708-ED20-7127-E38F-B4AC8B015B9E}"/>
              </a:ext>
            </a:extLst>
          </p:cNvPr>
          <p:cNvSpPr>
            <a:spLocks noChangeShapeType="1"/>
          </p:cNvSpPr>
          <p:nvPr/>
        </p:nvSpPr>
        <p:spPr bwMode="auto">
          <a:xfrm>
            <a:off x="5645149" y="3868993"/>
            <a:ext cx="2055812"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70" name="Line 27">
            <a:extLst>
              <a:ext uri="{FF2B5EF4-FFF2-40B4-BE49-F238E27FC236}">
                <a16:creationId xmlns:a16="http://schemas.microsoft.com/office/drawing/2014/main" id="{D262B9C7-1003-51FA-DFC2-A34B9B7FB70B}"/>
              </a:ext>
            </a:extLst>
          </p:cNvPr>
          <p:cNvSpPr>
            <a:spLocks noChangeShapeType="1"/>
          </p:cNvSpPr>
          <p:nvPr/>
        </p:nvSpPr>
        <p:spPr bwMode="auto">
          <a:xfrm>
            <a:off x="5645149" y="4097593"/>
            <a:ext cx="2055812"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71" name="Line 28">
            <a:extLst>
              <a:ext uri="{FF2B5EF4-FFF2-40B4-BE49-F238E27FC236}">
                <a16:creationId xmlns:a16="http://schemas.microsoft.com/office/drawing/2014/main" id="{A6A108FD-CF0B-654D-6CC7-855E73C3AD9B}"/>
              </a:ext>
            </a:extLst>
          </p:cNvPr>
          <p:cNvSpPr>
            <a:spLocks noChangeShapeType="1"/>
          </p:cNvSpPr>
          <p:nvPr/>
        </p:nvSpPr>
        <p:spPr bwMode="auto">
          <a:xfrm>
            <a:off x="5645149" y="4326193"/>
            <a:ext cx="2055812"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72" name="Line 29">
            <a:extLst>
              <a:ext uri="{FF2B5EF4-FFF2-40B4-BE49-F238E27FC236}">
                <a16:creationId xmlns:a16="http://schemas.microsoft.com/office/drawing/2014/main" id="{81CD5F42-2250-2082-48C9-C4AA45B8EDA0}"/>
              </a:ext>
            </a:extLst>
          </p:cNvPr>
          <p:cNvSpPr>
            <a:spLocks noChangeShapeType="1"/>
          </p:cNvSpPr>
          <p:nvPr/>
        </p:nvSpPr>
        <p:spPr bwMode="auto">
          <a:xfrm>
            <a:off x="3587749" y="3640393"/>
            <a:ext cx="2055812"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Tree>
    <p:extLst>
      <p:ext uri="{BB962C8B-B14F-4D97-AF65-F5344CB8AC3E}">
        <p14:creationId xmlns:p14="http://schemas.microsoft.com/office/powerpoint/2010/main" val="10068812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2" y="196170"/>
            <a:ext cx="8589429"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IN" dirty="0">
                <a:latin typeface="+mj-lt"/>
              </a:rPr>
              <a:t>Technical Descriptors (How’s)</a:t>
            </a:r>
          </a:p>
        </p:txBody>
      </p:sp>
      <p:sp>
        <p:nvSpPr>
          <p:cNvPr id="3" name="Line 3">
            <a:extLst>
              <a:ext uri="{FF2B5EF4-FFF2-40B4-BE49-F238E27FC236}">
                <a16:creationId xmlns:a16="http://schemas.microsoft.com/office/drawing/2014/main" id="{97BF65E4-4E9B-E655-84E5-6D8C54B96D1F}"/>
              </a:ext>
            </a:extLst>
          </p:cNvPr>
          <p:cNvSpPr>
            <a:spLocks noChangeShapeType="1"/>
          </p:cNvSpPr>
          <p:nvPr/>
        </p:nvSpPr>
        <p:spPr bwMode="auto">
          <a:xfrm>
            <a:off x="3814046" y="3242188"/>
            <a:ext cx="2055812"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4" name="Line 4">
            <a:extLst>
              <a:ext uri="{FF2B5EF4-FFF2-40B4-BE49-F238E27FC236}">
                <a16:creationId xmlns:a16="http://schemas.microsoft.com/office/drawing/2014/main" id="{AB65F4DB-E88E-FA10-BE81-7E173BBD4DCA}"/>
              </a:ext>
            </a:extLst>
          </p:cNvPr>
          <p:cNvSpPr>
            <a:spLocks noChangeShapeType="1"/>
          </p:cNvSpPr>
          <p:nvPr/>
        </p:nvSpPr>
        <p:spPr bwMode="auto">
          <a:xfrm>
            <a:off x="3207621" y="4689988"/>
            <a:ext cx="4719637"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 name="Rectangle 5">
            <a:extLst>
              <a:ext uri="{FF2B5EF4-FFF2-40B4-BE49-F238E27FC236}">
                <a16:creationId xmlns:a16="http://schemas.microsoft.com/office/drawing/2014/main" id="{5931CDD3-DE4F-0EA9-F705-6FE51A687C12}"/>
              </a:ext>
            </a:extLst>
          </p:cNvPr>
          <p:cNvSpPr>
            <a:spLocks noChangeArrowheads="1"/>
          </p:cNvSpPr>
          <p:nvPr/>
        </p:nvSpPr>
        <p:spPr bwMode="auto">
          <a:xfrm rot="16200000">
            <a:off x="1429621" y="3999426"/>
            <a:ext cx="2971800" cy="64135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800" b="1" dirty="0">
                <a:latin typeface="+mj-lt"/>
              </a:rPr>
              <a:t>Technical Descriptors</a:t>
            </a:r>
          </a:p>
          <a:p>
            <a:pPr algn="ctr"/>
            <a:r>
              <a:rPr lang="en-US" altLang="en-US" sz="1800" b="1" dirty="0">
                <a:latin typeface="+mj-lt"/>
              </a:rPr>
              <a:t>(HOWs)</a:t>
            </a:r>
          </a:p>
        </p:txBody>
      </p:sp>
      <p:sp>
        <p:nvSpPr>
          <p:cNvPr id="6" name="Line 6">
            <a:extLst>
              <a:ext uri="{FF2B5EF4-FFF2-40B4-BE49-F238E27FC236}">
                <a16:creationId xmlns:a16="http://schemas.microsoft.com/office/drawing/2014/main" id="{630DAFB9-F49F-A4C4-AB40-1C59264E2F8E}"/>
              </a:ext>
            </a:extLst>
          </p:cNvPr>
          <p:cNvSpPr>
            <a:spLocks noChangeShapeType="1"/>
          </p:cNvSpPr>
          <p:nvPr/>
        </p:nvSpPr>
        <p:spPr bwMode="auto">
          <a:xfrm flipV="1">
            <a:off x="2517058" y="2784988"/>
            <a:ext cx="0" cy="304800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7" name="Line 7">
            <a:extLst>
              <a:ext uri="{FF2B5EF4-FFF2-40B4-BE49-F238E27FC236}">
                <a16:creationId xmlns:a16="http://schemas.microsoft.com/office/drawing/2014/main" id="{0A5C4EBB-0A4A-9BD1-DC86-B70D0F985B22}"/>
              </a:ext>
            </a:extLst>
          </p:cNvPr>
          <p:cNvSpPr>
            <a:spLocks noChangeShapeType="1"/>
          </p:cNvSpPr>
          <p:nvPr/>
        </p:nvSpPr>
        <p:spPr bwMode="auto">
          <a:xfrm>
            <a:off x="2517058" y="2784988"/>
            <a:ext cx="5410200"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8" name="Rectangle 8">
            <a:extLst>
              <a:ext uri="{FF2B5EF4-FFF2-40B4-BE49-F238E27FC236}">
                <a16:creationId xmlns:a16="http://schemas.microsoft.com/office/drawing/2014/main" id="{1861D6E3-3169-9856-751A-8A5D433A0E66}"/>
              </a:ext>
            </a:extLst>
          </p:cNvPr>
          <p:cNvSpPr>
            <a:spLocks noChangeArrowheads="1"/>
          </p:cNvSpPr>
          <p:nvPr/>
        </p:nvSpPr>
        <p:spPr bwMode="auto">
          <a:xfrm rot="16200000">
            <a:off x="2939472" y="2074539"/>
            <a:ext cx="1074461" cy="369974"/>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800" b="1">
                <a:latin typeface="+mj-lt"/>
              </a:rPr>
              <a:t>Primary</a:t>
            </a:r>
          </a:p>
        </p:txBody>
      </p:sp>
      <p:sp>
        <p:nvSpPr>
          <p:cNvPr id="9" name="Rectangle 9">
            <a:extLst>
              <a:ext uri="{FF2B5EF4-FFF2-40B4-BE49-F238E27FC236}">
                <a16:creationId xmlns:a16="http://schemas.microsoft.com/office/drawing/2014/main" id="{0559983D-0825-6616-7E8C-3C2097BAC6E6}"/>
              </a:ext>
            </a:extLst>
          </p:cNvPr>
          <p:cNvSpPr>
            <a:spLocks noChangeArrowheads="1"/>
          </p:cNvSpPr>
          <p:nvPr/>
        </p:nvSpPr>
        <p:spPr bwMode="auto">
          <a:xfrm rot="16200000">
            <a:off x="3421933" y="1948376"/>
            <a:ext cx="1373188" cy="36671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800" b="1" dirty="0">
                <a:latin typeface="+mj-lt"/>
              </a:rPr>
              <a:t>Secondary</a:t>
            </a:r>
          </a:p>
        </p:txBody>
      </p:sp>
      <p:sp>
        <p:nvSpPr>
          <p:cNvPr id="10" name="Line 10">
            <a:extLst>
              <a:ext uri="{FF2B5EF4-FFF2-40B4-BE49-F238E27FC236}">
                <a16:creationId xmlns:a16="http://schemas.microsoft.com/office/drawing/2014/main" id="{E6DC4AC6-6E48-14B2-2CDF-20A96C7D706B}"/>
              </a:ext>
            </a:extLst>
          </p:cNvPr>
          <p:cNvSpPr>
            <a:spLocks noChangeShapeType="1"/>
          </p:cNvSpPr>
          <p:nvPr/>
        </p:nvSpPr>
        <p:spPr bwMode="auto">
          <a:xfrm>
            <a:off x="2517058" y="5832988"/>
            <a:ext cx="5410200"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1" name="Rectangle 11">
            <a:extLst>
              <a:ext uri="{FF2B5EF4-FFF2-40B4-BE49-F238E27FC236}">
                <a16:creationId xmlns:a16="http://schemas.microsoft.com/office/drawing/2014/main" id="{7391E037-12F1-E9C6-39FD-FC58FBEEB403}"/>
              </a:ext>
            </a:extLst>
          </p:cNvPr>
          <p:cNvSpPr>
            <a:spLocks noChangeArrowheads="1"/>
          </p:cNvSpPr>
          <p:nvPr/>
        </p:nvSpPr>
        <p:spPr bwMode="auto">
          <a:xfrm rot="16200000">
            <a:off x="5611232" y="2065014"/>
            <a:ext cx="1055417" cy="369974"/>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800" b="1">
                <a:latin typeface="+mj-lt"/>
              </a:rPr>
              <a:t>Tertiary</a:t>
            </a:r>
          </a:p>
        </p:txBody>
      </p:sp>
      <p:sp>
        <p:nvSpPr>
          <p:cNvPr id="12" name="Line 12">
            <a:extLst>
              <a:ext uri="{FF2B5EF4-FFF2-40B4-BE49-F238E27FC236}">
                <a16:creationId xmlns:a16="http://schemas.microsoft.com/office/drawing/2014/main" id="{371303BD-18B4-08F6-A6C2-8BA20ACE9ECE}"/>
              </a:ext>
            </a:extLst>
          </p:cNvPr>
          <p:cNvSpPr>
            <a:spLocks noChangeShapeType="1"/>
          </p:cNvSpPr>
          <p:nvPr/>
        </p:nvSpPr>
        <p:spPr bwMode="auto">
          <a:xfrm>
            <a:off x="3812458" y="1413388"/>
            <a:ext cx="0" cy="441960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3" name="Line 13">
            <a:extLst>
              <a:ext uri="{FF2B5EF4-FFF2-40B4-BE49-F238E27FC236}">
                <a16:creationId xmlns:a16="http://schemas.microsoft.com/office/drawing/2014/main" id="{6449523C-84A5-39FE-33F4-51CCAF70D703}"/>
              </a:ext>
            </a:extLst>
          </p:cNvPr>
          <p:cNvSpPr>
            <a:spLocks noChangeShapeType="1"/>
          </p:cNvSpPr>
          <p:nvPr/>
        </p:nvSpPr>
        <p:spPr bwMode="auto">
          <a:xfrm>
            <a:off x="3202858" y="1413388"/>
            <a:ext cx="0" cy="441960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4" name="Line 14">
            <a:extLst>
              <a:ext uri="{FF2B5EF4-FFF2-40B4-BE49-F238E27FC236}">
                <a16:creationId xmlns:a16="http://schemas.microsoft.com/office/drawing/2014/main" id="{24070677-C413-FAA1-4B9D-A3C544321173}"/>
              </a:ext>
            </a:extLst>
          </p:cNvPr>
          <p:cNvSpPr>
            <a:spLocks noChangeShapeType="1"/>
          </p:cNvSpPr>
          <p:nvPr/>
        </p:nvSpPr>
        <p:spPr bwMode="auto">
          <a:xfrm>
            <a:off x="3202858" y="1413388"/>
            <a:ext cx="4724400"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5" name="Line 15">
            <a:extLst>
              <a:ext uri="{FF2B5EF4-FFF2-40B4-BE49-F238E27FC236}">
                <a16:creationId xmlns:a16="http://schemas.microsoft.com/office/drawing/2014/main" id="{0A2F4050-18FB-B2EE-B9C8-168B2EA7A6DB}"/>
              </a:ext>
            </a:extLst>
          </p:cNvPr>
          <p:cNvSpPr>
            <a:spLocks noChangeShapeType="1"/>
          </p:cNvSpPr>
          <p:nvPr/>
        </p:nvSpPr>
        <p:spPr bwMode="auto">
          <a:xfrm>
            <a:off x="5869858" y="1413388"/>
            <a:ext cx="0" cy="441960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6" name="Line 16">
            <a:extLst>
              <a:ext uri="{FF2B5EF4-FFF2-40B4-BE49-F238E27FC236}">
                <a16:creationId xmlns:a16="http://schemas.microsoft.com/office/drawing/2014/main" id="{46651088-F225-2910-31EC-E78ADD11CCCB}"/>
              </a:ext>
            </a:extLst>
          </p:cNvPr>
          <p:cNvSpPr>
            <a:spLocks noChangeShapeType="1"/>
          </p:cNvSpPr>
          <p:nvPr/>
        </p:nvSpPr>
        <p:spPr bwMode="auto">
          <a:xfrm>
            <a:off x="7927258" y="1413388"/>
            <a:ext cx="0" cy="441960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7" name="Line 17">
            <a:extLst>
              <a:ext uri="{FF2B5EF4-FFF2-40B4-BE49-F238E27FC236}">
                <a16:creationId xmlns:a16="http://schemas.microsoft.com/office/drawing/2014/main" id="{6FAAECE2-5293-DBB1-3529-EB086F2DFFA1}"/>
              </a:ext>
            </a:extLst>
          </p:cNvPr>
          <p:cNvSpPr>
            <a:spLocks noChangeShapeType="1"/>
          </p:cNvSpPr>
          <p:nvPr/>
        </p:nvSpPr>
        <p:spPr bwMode="auto">
          <a:xfrm>
            <a:off x="5871446" y="3013588"/>
            <a:ext cx="2055812"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8" name="Line 18">
            <a:extLst>
              <a:ext uri="{FF2B5EF4-FFF2-40B4-BE49-F238E27FC236}">
                <a16:creationId xmlns:a16="http://schemas.microsoft.com/office/drawing/2014/main" id="{3D2248A7-7A3D-80B5-0E6C-83100CECC64B}"/>
              </a:ext>
            </a:extLst>
          </p:cNvPr>
          <p:cNvSpPr>
            <a:spLocks noChangeShapeType="1"/>
          </p:cNvSpPr>
          <p:nvPr/>
        </p:nvSpPr>
        <p:spPr bwMode="auto">
          <a:xfrm>
            <a:off x="5871446" y="4918588"/>
            <a:ext cx="2055812"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9" name="Line 19">
            <a:extLst>
              <a:ext uri="{FF2B5EF4-FFF2-40B4-BE49-F238E27FC236}">
                <a16:creationId xmlns:a16="http://schemas.microsoft.com/office/drawing/2014/main" id="{7AF09EFD-AA1E-E22A-5220-473921B012F2}"/>
              </a:ext>
            </a:extLst>
          </p:cNvPr>
          <p:cNvSpPr>
            <a:spLocks noChangeShapeType="1"/>
          </p:cNvSpPr>
          <p:nvPr/>
        </p:nvSpPr>
        <p:spPr bwMode="auto">
          <a:xfrm>
            <a:off x="5871446" y="5147188"/>
            <a:ext cx="2055812"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0" name="Line 20">
            <a:extLst>
              <a:ext uri="{FF2B5EF4-FFF2-40B4-BE49-F238E27FC236}">
                <a16:creationId xmlns:a16="http://schemas.microsoft.com/office/drawing/2014/main" id="{59129D99-61C4-CAA5-3169-D2F8D9F5BD95}"/>
              </a:ext>
            </a:extLst>
          </p:cNvPr>
          <p:cNvSpPr>
            <a:spLocks noChangeShapeType="1"/>
          </p:cNvSpPr>
          <p:nvPr/>
        </p:nvSpPr>
        <p:spPr bwMode="auto">
          <a:xfrm>
            <a:off x="5871446" y="5375788"/>
            <a:ext cx="2055812"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1" name="Line 21">
            <a:extLst>
              <a:ext uri="{FF2B5EF4-FFF2-40B4-BE49-F238E27FC236}">
                <a16:creationId xmlns:a16="http://schemas.microsoft.com/office/drawing/2014/main" id="{7751BCBF-B29B-E56B-0CEC-A676B44A2211}"/>
              </a:ext>
            </a:extLst>
          </p:cNvPr>
          <p:cNvSpPr>
            <a:spLocks noChangeShapeType="1"/>
          </p:cNvSpPr>
          <p:nvPr/>
        </p:nvSpPr>
        <p:spPr bwMode="auto">
          <a:xfrm>
            <a:off x="5871446" y="5604388"/>
            <a:ext cx="2055812"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2" name="Line 22">
            <a:extLst>
              <a:ext uri="{FF2B5EF4-FFF2-40B4-BE49-F238E27FC236}">
                <a16:creationId xmlns:a16="http://schemas.microsoft.com/office/drawing/2014/main" id="{2FE4FE27-5BE0-2317-059E-078D622FA0AC}"/>
              </a:ext>
            </a:extLst>
          </p:cNvPr>
          <p:cNvSpPr>
            <a:spLocks noChangeShapeType="1"/>
          </p:cNvSpPr>
          <p:nvPr/>
        </p:nvSpPr>
        <p:spPr bwMode="auto">
          <a:xfrm>
            <a:off x="3814046" y="5375788"/>
            <a:ext cx="2055812"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3" name="Line 23">
            <a:extLst>
              <a:ext uri="{FF2B5EF4-FFF2-40B4-BE49-F238E27FC236}">
                <a16:creationId xmlns:a16="http://schemas.microsoft.com/office/drawing/2014/main" id="{6AD5BB19-E0DD-15F7-D621-6DB8B7A82E29}"/>
              </a:ext>
            </a:extLst>
          </p:cNvPr>
          <p:cNvSpPr>
            <a:spLocks noChangeShapeType="1"/>
          </p:cNvSpPr>
          <p:nvPr/>
        </p:nvSpPr>
        <p:spPr bwMode="auto">
          <a:xfrm>
            <a:off x="5871446" y="3242188"/>
            <a:ext cx="2055812"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4" name="Line 24">
            <a:extLst>
              <a:ext uri="{FF2B5EF4-FFF2-40B4-BE49-F238E27FC236}">
                <a16:creationId xmlns:a16="http://schemas.microsoft.com/office/drawing/2014/main" id="{5FB05357-A3D5-D5FB-E71E-D8F528E10212}"/>
              </a:ext>
            </a:extLst>
          </p:cNvPr>
          <p:cNvSpPr>
            <a:spLocks noChangeShapeType="1"/>
          </p:cNvSpPr>
          <p:nvPr/>
        </p:nvSpPr>
        <p:spPr bwMode="auto">
          <a:xfrm>
            <a:off x="5871446" y="3470788"/>
            <a:ext cx="2055812"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5" name="Line 25">
            <a:extLst>
              <a:ext uri="{FF2B5EF4-FFF2-40B4-BE49-F238E27FC236}">
                <a16:creationId xmlns:a16="http://schemas.microsoft.com/office/drawing/2014/main" id="{0B51B8F1-9638-C059-25A0-96CFB9F203C3}"/>
              </a:ext>
            </a:extLst>
          </p:cNvPr>
          <p:cNvSpPr>
            <a:spLocks noChangeShapeType="1"/>
          </p:cNvSpPr>
          <p:nvPr/>
        </p:nvSpPr>
        <p:spPr bwMode="auto">
          <a:xfrm>
            <a:off x="5871446" y="3699388"/>
            <a:ext cx="2055812"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6" name="Line 26">
            <a:extLst>
              <a:ext uri="{FF2B5EF4-FFF2-40B4-BE49-F238E27FC236}">
                <a16:creationId xmlns:a16="http://schemas.microsoft.com/office/drawing/2014/main" id="{F21EB842-6BC3-7451-15D9-F24C26D557D0}"/>
              </a:ext>
            </a:extLst>
          </p:cNvPr>
          <p:cNvSpPr>
            <a:spLocks noChangeShapeType="1"/>
          </p:cNvSpPr>
          <p:nvPr/>
        </p:nvSpPr>
        <p:spPr bwMode="auto">
          <a:xfrm>
            <a:off x="5871446" y="3927988"/>
            <a:ext cx="2055812"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7" name="Line 27">
            <a:extLst>
              <a:ext uri="{FF2B5EF4-FFF2-40B4-BE49-F238E27FC236}">
                <a16:creationId xmlns:a16="http://schemas.microsoft.com/office/drawing/2014/main" id="{FD0B87B7-6368-5213-CC58-06BAA3132CE8}"/>
              </a:ext>
            </a:extLst>
          </p:cNvPr>
          <p:cNvSpPr>
            <a:spLocks noChangeShapeType="1"/>
          </p:cNvSpPr>
          <p:nvPr/>
        </p:nvSpPr>
        <p:spPr bwMode="auto">
          <a:xfrm>
            <a:off x="5871446" y="4156588"/>
            <a:ext cx="2055812"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8" name="Line 28">
            <a:extLst>
              <a:ext uri="{FF2B5EF4-FFF2-40B4-BE49-F238E27FC236}">
                <a16:creationId xmlns:a16="http://schemas.microsoft.com/office/drawing/2014/main" id="{5704CBEF-3013-3733-72E9-B54591502AAF}"/>
              </a:ext>
            </a:extLst>
          </p:cNvPr>
          <p:cNvSpPr>
            <a:spLocks noChangeShapeType="1"/>
          </p:cNvSpPr>
          <p:nvPr/>
        </p:nvSpPr>
        <p:spPr bwMode="auto">
          <a:xfrm>
            <a:off x="5871446" y="4385188"/>
            <a:ext cx="2055812"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9" name="Line 29">
            <a:extLst>
              <a:ext uri="{FF2B5EF4-FFF2-40B4-BE49-F238E27FC236}">
                <a16:creationId xmlns:a16="http://schemas.microsoft.com/office/drawing/2014/main" id="{5EB778DF-B699-F81A-D7E8-28D460283A7D}"/>
              </a:ext>
            </a:extLst>
          </p:cNvPr>
          <p:cNvSpPr>
            <a:spLocks noChangeShapeType="1"/>
          </p:cNvSpPr>
          <p:nvPr/>
        </p:nvSpPr>
        <p:spPr bwMode="auto">
          <a:xfrm>
            <a:off x="3814046" y="3699388"/>
            <a:ext cx="2055812"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Tree>
    <p:extLst>
      <p:ext uri="{BB962C8B-B14F-4D97-AF65-F5344CB8AC3E}">
        <p14:creationId xmlns:p14="http://schemas.microsoft.com/office/powerpoint/2010/main" val="4679018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2" y="196170"/>
            <a:ext cx="5418527"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IN" dirty="0">
                <a:latin typeface="+mj-lt"/>
              </a:rPr>
              <a:t>L - Shaped Diagram</a:t>
            </a:r>
          </a:p>
        </p:txBody>
      </p:sp>
      <p:sp>
        <p:nvSpPr>
          <p:cNvPr id="3" name="Line 3">
            <a:extLst>
              <a:ext uri="{FF2B5EF4-FFF2-40B4-BE49-F238E27FC236}">
                <a16:creationId xmlns:a16="http://schemas.microsoft.com/office/drawing/2014/main" id="{556F11D3-D435-F983-850C-A9FFEDD40CB6}"/>
              </a:ext>
            </a:extLst>
          </p:cNvPr>
          <p:cNvSpPr>
            <a:spLocks noChangeShapeType="1"/>
          </p:cNvSpPr>
          <p:nvPr/>
        </p:nvSpPr>
        <p:spPr bwMode="auto">
          <a:xfrm flipH="1">
            <a:off x="4231303" y="4973791"/>
            <a:ext cx="441325" cy="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4" name="Line 4">
            <a:extLst>
              <a:ext uri="{FF2B5EF4-FFF2-40B4-BE49-F238E27FC236}">
                <a16:creationId xmlns:a16="http://schemas.microsoft.com/office/drawing/2014/main" id="{AA0066FE-0A25-FC7A-C13A-A6C20D94C91C}"/>
              </a:ext>
            </a:extLst>
          </p:cNvPr>
          <p:cNvSpPr>
            <a:spLocks noChangeShapeType="1"/>
          </p:cNvSpPr>
          <p:nvPr/>
        </p:nvSpPr>
        <p:spPr bwMode="auto">
          <a:xfrm flipV="1">
            <a:off x="7318990" y="1490816"/>
            <a:ext cx="0" cy="500063"/>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 name="Line 5">
            <a:extLst>
              <a:ext uri="{FF2B5EF4-FFF2-40B4-BE49-F238E27FC236}">
                <a16:creationId xmlns:a16="http://schemas.microsoft.com/office/drawing/2014/main" id="{601D43F7-DDE8-418D-0A52-E9174644F420}"/>
              </a:ext>
            </a:extLst>
          </p:cNvPr>
          <p:cNvSpPr>
            <a:spLocks noChangeShapeType="1"/>
          </p:cNvSpPr>
          <p:nvPr/>
        </p:nvSpPr>
        <p:spPr bwMode="auto">
          <a:xfrm>
            <a:off x="3789978" y="3730779"/>
            <a:ext cx="2425700" cy="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6" name="Line 6">
            <a:extLst>
              <a:ext uri="{FF2B5EF4-FFF2-40B4-BE49-F238E27FC236}">
                <a16:creationId xmlns:a16="http://schemas.microsoft.com/office/drawing/2014/main" id="{06E7ED93-007B-CF8B-9AF8-1B469349B551}"/>
              </a:ext>
            </a:extLst>
          </p:cNvPr>
          <p:cNvSpPr>
            <a:spLocks noChangeShapeType="1"/>
          </p:cNvSpPr>
          <p:nvPr/>
        </p:nvSpPr>
        <p:spPr bwMode="auto">
          <a:xfrm>
            <a:off x="4231303" y="3730779"/>
            <a:ext cx="0" cy="1992312"/>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7" name="Line 7">
            <a:extLst>
              <a:ext uri="{FF2B5EF4-FFF2-40B4-BE49-F238E27FC236}">
                <a16:creationId xmlns:a16="http://schemas.microsoft.com/office/drawing/2014/main" id="{65B4C019-6F7A-D154-4BCB-04261FBE70D7}"/>
              </a:ext>
            </a:extLst>
          </p:cNvPr>
          <p:cNvSpPr>
            <a:spLocks noChangeShapeType="1"/>
          </p:cNvSpPr>
          <p:nvPr/>
        </p:nvSpPr>
        <p:spPr bwMode="auto">
          <a:xfrm>
            <a:off x="3789978" y="3730779"/>
            <a:ext cx="0" cy="1992312"/>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8" name="Line 8">
            <a:extLst>
              <a:ext uri="{FF2B5EF4-FFF2-40B4-BE49-F238E27FC236}">
                <a16:creationId xmlns:a16="http://schemas.microsoft.com/office/drawing/2014/main" id="{4643220A-6107-82EF-1F8B-23C2513EC8EC}"/>
              </a:ext>
            </a:extLst>
          </p:cNvPr>
          <p:cNvSpPr>
            <a:spLocks noChangeShapeType="1"/>
          </p:cNvSpPr>
          <p:nvPr/>
        </p:nvSpPr>
        <p:spPr bwMode="auto">
          <a:xfrm>
            <a:off x="3789978" y="5723091"/>
            <a:ext cx="2425700" cy="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9" name="Line 9">
            <a:extLst>
              <a:ext uri="{FF2B5EF4-FFF2-40B4-BE49-F238E27FC236}">
                <a16:creationId xmlns:a16="http://schemas.microsoft.com/office/drawing/2014/main" id="{BB113A40-7C6A-5E6A-8AE3-19A2D2AF8EE2}"/>
              </a:ext>
            </a:extLst>
          </p:cNvPr>
          <p:cNvSpPr>
            <a:spLocks noChangeShapeType="1"/>
          </p:cNvSpPr>
          <p:nvPr/>
        </p:nvSpPr>
        <p:spPr bwMode="auto">
          <a:xfrm>
            <a:off x="3789978" y="5723091"/>
            <a:ext cx="0" cy="1588"/>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0" name="Line 10">
            <a:extLst>
              <a:ext uri="{FF2B5EF4-FFF2-40B4-BE49-F238E27FC236}">
                <a16:creationId xmlns:a16="http://schemas.microsoft.com/office/drawing/2014/main" id="{CBFBC9D9-C933-FAC2-477A-8B9EAC9AFCF4}"/>
              </a:ext>
            </a:extLst>
          </p:cNvPr>
          <p:cNvSpPr>
            <a:spLocks noChangeShapeType="1"/>
          </p:cNvSpPr>
          <p:nvPr/>
        </p:nvSpPr>
        <p:spPr bwMode="auto">
          <a:xfrm>
            <a:off x="4672628" y="3730779"/>
            <a:ext cx="0" cy="1992312"/>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1" name="Line 11">
            <a:extLst>
              <a:ext uri="{FF2B5EF4-FFF2-40B4-BE49-F238E27FC236}">
                <a16:creationId xmlns:a16="http://schemas.microsoft.com/office/drawing/2014/main" id="{9D5434EE-EC99-9F04-DA8A-0C11B9B1B853}"/>
              </a:ext>
            </a:extLst>
          </p:cNvPr>
          <p:cNvSpPr>
            <a:spLocks noChangeShapeType="1"/>
          </p:cNvSpPr>
          <p:nvPr/>
        </p:nvSpPr>
        <p:spPr bwMode="auto">
          <a:xfrm>
            <a:off x="4672628" y="3980016"/>
            <a:ext cx="1543050" cy="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2" name="Line 12">
            <a:extLst>
              <a:ext uri="{FF2B5EF4-FFF2-40B4-BE49-F238E27FC236}">
                <a16:creationId xmlns:a16="http://schemas.microsoft.com/office/drawing/2014/main" id="{3F745AB0-6FBF-E9FD-C0D4-9F38F4D46576}"/>
              </a:ext>
            </a:extLst>
          </p:cNvPr>
          <p:cNvSpPr>
            <a:spLocks noChangeShapeType="1"/>
          </p:cNvSpPr>
          <p:nvPr/>
        </p:nvSpPr>
        <p:spPr bwMode="auto">
          <a:xfrm>
            <a:off x="4672628" y="4229254"/>
            <a:ext cx="1543050" cy="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3" name="Line 13">
            <a:extLst>
              <a:ext uri="{FF2B5EF4-FFF2-40B4-BE49-F238E27FC236}">
                <a16:creationId xmlns:a16="http://schemas.microsoft.com/office/drawing/2014/main" id="{3D4E1F89-F0B2-6B59-F290-5840B9E2B94F}"/>
              </a:ext>
            </a:extLst>
          </p:cNvPr>
          <p:cNvSpPr>
            <a:spLocks noChangeShapeType="1"/>
          </p:cNvSpPr>
          <p:nvPr/>
        </p:nvSpPr>
        <p:spPr bwMode="auto">
          <a:xfrm>
            <a:off x="4672628" y="4478491"/>
            <a:ext cx="1543050" cy="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4" name="Line 14">
            <a:extLst>
              <a:ext uri="{FF2B5EF4-FFF2-40B4-BE49-F238E27FC236}">
                <a16:creationId xmlns:a16="http://schemas.microsoft.com/office/drawing/2014/main" id="{63E465B5-B571-1D08-7157-22D1F404E893}"/>
              </a:ext>
            </a:extLst>
          </p:cNvPr>
          <p:cNvSpPr>
            <a:spLocks noChangeShapeType="1"/>
          </p:cNvSpPr>
          <p:nvPr/>
        </p:nvSpPr>
        <p:spPr bwMode="auto">
          <a:xfrm>
            <a:off x="4672628" y="4727729"/>
            <a:ext cx="1543050" cy="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5" name="Line 15">
            <a:extLst>
              <a:ext uri="{FF2B5EF4-FFF2-40B4-BE49-F238E27FC236}">
                <a16:creationId xmlns:a16="http://schemas.microsoft.com/office/drawing/2014/main" id="{DAFAC027-505D-EC12-3769-85F2B8BBE8FC}"/>
              </a:ext>
            </a:extLst>
          </p:cNvPr>
          <p:cNvSpPr>
            <a:spLocks noChangeShapeType="1"/>
          </p:cNvSpPr>
          <p:nvPr/>
        </p:nvSpPr>
        <p:spPr bwMode="auto">
          <a:xfrm>
            <a:off x="4672628" y="4973791"/>
            <a:ext cx="1543050" cy="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6" name="Line 16">
            <a:extLst>
              <a:ext uri="{FF2B5EF4-FFF2-40B4-BE49-F238E27FC236}">
                <a16:creationId xmlns:a16="http://schemas.microsoft.com/office/drawing/2014/main" id="{6A9C43FE-9EC6-1C60-F354-27C3E2B3EB38}"/>
              </a:ext>
            </a:extLst>
          </p:cNvPr>
          <p:cNvSpPr>
            <a:spLocks noChangeShapeType="1"/>
          </p:cNvSpPr>
          <p:nvPr/>
        </p:nvSpPr>
        <p:spPr bwMode="auto">
          <a:xfrm>
            <a:off x="4672628" y="5223029"/>
            <a:ext cx="1543050" cy="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7" name="Line 17">
            <a:extLst>
              <a:ext uri="{FF2B5EF4-FFF2-40B4-BE49-F238E27FC236}">
                <a16:creationId xmlns:a16="http://schemas.microsoft.com/office/drawing/2014/main" id="{95C72CE6-8607-07A0-0285-21DF17C74BF8}"/>
              </a:ext>
            </a:extLst>
          </p:cNvPr>
          <p:cNvSpPr>
            <a:spLocks noChangeShapeType="1"/>
          </p:cNvSpPr>
          <p:nvPr/>
        </p:nvSpPr>
        <p:spPr bwMode="auto">
          <a:xfrm>
            <a:off x="4672628" y="5473854"/>
            <a:ext cx="1543050" cy="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8" name="Line 18">
            <a:extLst>
              <a:ext uri="{FF2B5EF4-FFF2-40B4-BE49-F238E27FC236}">
                <a16:creationId xmlns:a16="http://schemas.microsoft.com/office/drawing/2014/main" id="{5EA772C1-65A9-304F-798D-19A86B6EA2E5}"/>
              </a:ext>
            </a:extLst>
          </p:cNvPr>
          <p:cNvSpPr>
            <a:spLocks noChangeShapeType="1"/>
          </p:cNvSpPr>
          <p:nvPr/>
        </p:nvSpPr>
        <p:spPr bwMode="auto">
          <a:xfrm>
            <a:off x="6217265" y="3730779"/>
            <a:ext cx="0" cy="1992312"/>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9" name="Line 19">
            <a:extLst>
              <a:ext uri="{FF2B5EF4-FFF2-40B4-BE49-F238E27FC236}">
                <a16:creationId xmlns:a16="http://schemas.microsoft.com/office/drawing/2014/main" id="{34AEB408-EE60-1531-06CB-B8468B9BA42A}"/>
              </a:ext>
            </a:extLst>
          </p:cNvPr>
          <p:cNvSpPr>
            <a:spLocks noChangeShapeType="1"/>
          </p:cNvSpPr>
          <p:nvPr/>
        </p:nvSpPr>
        <p:spPr bwMode="auto">
          <a:xfrm>
            <a:off x="6436340" y="1990879"/>
            <a:ext cx="0" cy="173990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0" name="Line 20">
            <a:extLst>
              <a:ext uri="{FF2B5EF4-FFF2-40B4-BE49-F238E27FC236}">
                <a16:creationId xmlns:a16="http://schemas.microsoft.com/office/drawing/2014/main" id="{19850C1C-53A6-7A03-250F-CCEA60C72751}"/>
              </a:ext>
            </a:extLst>
          </p:cNvPr>
          <p:cNvSpPr>
            <a:spLocks noChangeShapeType="1"/>
          </p:cNvSpPr>
          <p:nvPr/>
        </p:nvSpPr>
        <p:spPr bwMode="auto">
          <a:xfrm>
            <a:off x="6657003" y="1990879"/>
            <a:ext cx="0" cy="1735137"/>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1" name="Line 21">
            <a:extLst>
              <a:ext uri="{FF2B5EF4-FFF2-40B4-BE49-F238E27FC236}">
                <a16:creationId xmlns:a16="http://schemas.microsoft.com/office/drawing/2014/main" id="{3C3D1D4E-ABA0-BA06-AEA3-4F1C70CC19C0}"/>
              </a:ext>
            </a:extLst>
          </p:cNvPr>
          <p:cNvSpPr>
            <a:spLocks noChangeShapeType="1"/>
          </p:cNvSpPr>
          <p:nvPr/>
        </p:nvSpPr>
        <p:spPr bwMode="auto">
          <a:xfrm>
            <a:off x="6877665" y="1990879"/>
            <a:ext cx="0" cy="1735137"/>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2" name="Line 22">
            <a:extLst>
              <a:ext uri="{FF2B5EF4-FFF2-40B4-BE49-F238E27FC236}">
                <a16:creationId xmlns:a16="http://schemas.microsoft.com/office/drawing/2014/main" id="{152E3BAF-1E4C-7C77-7825-92D0D932B397}"/>
              </a:ext>
            </a:extLst>
          </p:cNvPr>
          <p:cNvSpPr>
            <a:spLocks noChangeShapeType="1"/>
          </p:cNvSpPr>
          <p:nvPr/>
        </p:nvSpPr>
        <p:spPr bwMode="auto">
          <a:xfrm>
            <a:off x="7098328" y="1990879"/>
            <a:ext cx="0" cy="173990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3" name="Line 23">
            <a:extLst>
              <a:ext uri="{FF2B5EF4-FFF2-40B4-BE49-F238E27FC236}">
                <a16:creationId xmlns:a16="http://schemas.microsoft.com/office/drawing/2014/main" id="{17EE8894-23E9-5770-9AC7-CA2859028EEF}"/>
              </a:ext>
            </a:extLst>
          </p:cNvPr>
          <p:cNvSpPr>
            <a:spLocks noChangeShapeType="1"/>
          </p:cNvSpPr>
          <p:nvPr/>
        </p:nvSpPr>
        <p:spPr bwMode="auto">
          <a:xfrm>
            <a:off x="7318990" y="1990879"/>
            <a:ext cx="0" cy="173990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4" name="Line 24">
            <a:extLst>
              <a:ext uri="{FF2B5EF4-FFF2-40B4-BE49-F238E27FC236}">
                <a16:creationId xmlns:a16="http://schemas.microsoft.com/office/drawing/2014/main" id="{AB79B74A-A7F5-5F3D-0104-CBC8CCACCF15}"/>
              </a:ext>
            </a:extLst>
          </p:cNvPr>
          <p:cNvSpPr>
            <a:spLocks noChangeShapeType="1"/>
          </p:cNvSpPr>
          <p:nvPr/>
        </p:nvSpPr>
        <p:spPr bwMode="auto">
          <a:xfrm>
            <a:off x="7541240" y="1990879"/>
            <a:ext cx="0" cy="173990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5" name="Line 25">
            <a:extLst>
              <a:ext uri="{FF2B5EF4-FFF2-40B4-BE49-F238E27FC236}">
                <a16:creationId xmlns:a16="http://schemas.microsoft.com/office/drawing/2014/main" id="{3B6BAA97-E2FA-0814-CE4F-FCEDEDAEB290}"/>
              </a:ext>
            </a:extLst>
          </p:cNvPr>
          <p:cNvSpPr>
            <a:spLocks noChangeShapeType="1"/>
          </p:cNvSpPr>
          <p:nvPr/>
        </p:nvSpPr>
        <p:spPr bwMode="auto">
          <a:xfrm>
            <a:off x="7760315" y="1990879"/>
            <a:ext cx="0" cy="173355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6" name="Line 26">
            <a:extLst>
              <a:ext uri="{FF2B5EF4-FFF2-40B4-BE49-F238E27FC236}">
                <a16:creationId xmlns:a16="http://schemas.microsoft.com/office/drawing/2014/main" id="{511163F4-A29A-7C58-A1C5-A25B6BF9F0D9}"/>
              </a:ext>
            </a:extLst>
          </p:cNvPr>
          <p:cNvSpPr>
            <a:spLocks noChangeShapeType="1"/>
          </p:cNvSpPr>
          <p:nvPr/>
        </p:nvSpPr>
        <p:spPr bwMode="auto">
          <a:xfrm>
            <a:off x="6217265" y="1990879"/>
            <a:ext cx="1762125" cy="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7" name="Line 27">
            <a:extLst>
              <a:ext uri="{FF2B5EF4-FFF2-40B4-BE49-F238E27FC236}">
                <a16:creationId xmlns:a16="http://schemas.microsoft.com/office/drawing/2014/main" id="{DC04EB4B-0AD1-2E4F-6705-04971BE80563}"/>
              </a:ext>
            </a:extLst>
          </p:cNvPr>
          <p:cNvSpPr>
            <a:spLocks noChangeShapeType="1"/>
          </p:cNvSpPr>
          <p:nvPr/>
        </p:nvSpPr>
        <p:spPr bwMode="auto">
          <a:xfrm>
            <a:off x="6217265" y="3730779"/>
            <a:ext cx="1762125" cy="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8" name="Line 28">
            <a:extLst>
              <a:ext uri="{FF2B5EF4-FFF2-40B4-BE49-F238E27FC236}">
                <a16:creationId xmlns:a16="http://schemas.microsoft.com/office/drawing/2014/main" id="{65DEA995-5A6F-061D-4F50-08B1496AE140}"/>
              </a:ext>
            </a:extLst>
          </p:cNvPr>
          <p:cNvSpPr>
            <a:spLocks noChangeShapeType="1"/>
          </p:cNvSpPr>
          <p:nvPr/>
        </p:nvSpPr>
        <p:spPr bwMode="auto">
          <a:xfrm flipV="1">
            <a:off x="6217265" y="1995641"/>
            <a:ext cx="0" cy="1735138"/>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9" name="Line 29">
            <a:extLst>
              <a:ext uri="{FF2B5EF4-FFF2-40B4-BE49-F238E27FC236}">
                <a16:creationId xmlns:a16="http://schemas.microsoft.com/office/drawing/2014/main" id="{58D9C965-EB45-C9BD-8D0E-71F35DE1EF8F}"/>
              </a:ext>
            </a:extLst>
          </p:cNvPr>
          <p:cNvSpPr>
            <a:spLocks noChangeShapeType="1"/>
          </p:cNvSpPr>
          <p:nvPr/>
        </p:nvSpPr>
        <p:spPr bwMode="auto">
          <a:xfrm>
            <a:off x="7980978" y="1990879"/>
            <a:ext cx="0" cy="173990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0" name="Rectangle 30">
            <a:extLst>
              <a:ext uri="{FF2B5EF4-FFF2-40B4-BE49-F238E27FC236}">
                <a16:creationId xmlns:a16="http://schemas.microsoft.com/office/drawing/2014/main" id="{09294879-3EB0-54F1-A63E-8C5F6BD41DE4}"/>
              </a:ext>
            </a:extLst>
          </p:cNvPr>
          <p:cNvSpPr>
            <a:spLocks noChangeArrowheads="1"/>
          </p:cNvSpPr>
          <p:nvPr/>
        </p:nvSpPr>
        <p:spPr bwMode="auto">
          <a:xfrm rot="16200000">
            <a:off x="3076397" y="4477704"/>
            <a:ext cx="1912938" cy="52386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400" b="1" dirty="0">
                <a:latin typeface="+mj-lt"/>
              </a:rPr>
              <a:t>Customer Requirements</a:t>
            </a:r>
          </a:p>
        </p:txBody>
      </p:sp>
      <p:sp>
        <p:nvSpPr>
          <p:cNvPr id="31" name="Line 31">
            <a:extLst>
              <a:ext uri="{FF2B5EF4-FFF2-40B4-BE49-F238E27FC236}">
                <a16:creationId xmlns:a16="http://schemas.microsoft.com/office/drawing/2014/main" id="{0C62663F-B1E9-2D58-FD0B-DA5702BB49D9}"/>
              </a:ext>
            </a:extLst>
          </p:cNvPr>
          <p:cNvSpPr>
            <a:spLocks noChangeShapeType="1"/>
          </p:cNvSpPr>
          <p:nvPr/>
        </p:nvSpPr>
        <p:spPr bwMode="auto">
          <a:xfrm flipV="1">
            <a:off x="6217265" y="1490816"/>
            <a:ext cx="0" cy="500063"/>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2" name="Line 32">
            <a:extLst>
              <a:ext uri="{FF2B5EF4-FFF2-40B4-BE49-F238E27FC236}">
                <a16:creationId xmlns:a16="http://schemas.microsoft.com/office/drawing/2014/main" id="{7C60D18A-D4E5-52C1-DFDC-1773C9F6DEA6}"/>
              </a:ext>
            </a:extLst>
          </p:cNvPr>
          <p:cNvSpPr>
            <a:spLocks noChangeShapeType="1"/>
          </p:cNvSpPr>
          <p:nvPr/>
        </p:nvSpPr>
        <p:spPr bwMode="auto">
          <a:xfrm>
            <a:off x="7980978" y="1490816"/>
            <a:ext cx="0" cy="500063"/>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3" name="Line 33">
            <a:extLst>
              <a:ext uri="{FF2B5EF4-FFF2-40B4-BE49-F238E27FC236}">
                <a16:creationId xmlns:a16="http://schemas.microsoft.com/office/drawing/2014/main" id="{B50ACAE8-8483-04FF-BBA7-080E7D3681EE}"/>
              </a:ext>
            </a:extLst>
          </p:cNvPr>
          <p:cNvSpPr>
            <a:spLocks noChangeShapeType="1"/>
          </p:cNvSpPr>
          <p:nvPr/>
        </p:nvSpPr>
        <p:spPr bwMode="auto">
          <a:xfrm>
            <a:off x="6217265" y="1490816"/>
            <a:ext cx="1762125" cy="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4" name="Line 34">
            <a:extLst>
              <a:ext uri="{FF2B5EF4-FFF2-40B4-BE49-F238E27FC236}">
                <a16:creationId xmlns:a16="http://schemas.microsoft.com/office/drawing/2014/main" id="{7A89CD14-B619-B1DC-EC35-6D423F4409C0}"/>
              </a:ext>
            </a:extLst>
          </p:cNvPr>
          <p:cNvSpPr>
            <a:spLocks noChangeShapeType="1"/>
          </p:cNvSpPr>
          <p:nvPr/>
        </p:nvSpPr>
        <p:spPr bwMode="auto">
          <a:xfrm flipV="1">
            <a:off x="6217265" y="995516"/>
            <a:ext cx="0" cy="49530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5" name="Rectangle 35">
            <a:extLst>
              <a:ext uri="{FF2B5EF4-FFF2-40B4-BE49-F238E27FC236}">
                <a16:creationId xmlns:a16="http://schemas.microsoft.com/office/drawing/2014/main" id="{F257680C-597C-F41C-5BBF-821B533C742D}"/>
              </a:ext>
            </a:extLst>
          </p:cNvPr>
          <p:cNvSpPr>
            <a:spLocks noChangeArrowheads="1"/>
          </p:cNvSpPr>
          <p:nvPr/>
        </p:nvSpPr>
        <p:spPr bwMode="auto">
          <a:xfrm>
            <a:off x="6336328" y="1017741"/>
            <a:ext cx="1524000" cy="52386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400" b="1">
                <a:latin typeface="+mj-lt"/>
              </a:rPr>
              <a:t>Technical Descriptors</a:t>
            </a:r>
          </a:p>
        </p:txBody>
      </p:sp>
      <p:sp>
        <p:nvSpPr>
          <p:cNvPr id="36" name="Line 36">
            <a:extLst>
              <a:ext uri="{FF2B5EF4-FFF2-40B4-BE49-F238E27FC236}">
                <a16:creationId xmlns:a16="http://schemas.microsoft.com/office/drawing/2014/main" id="{CB037345-FFFC-B056-7A79-FF5847B862B7}"/>
              </a:ext>
            </a:extLst>
          </p:cNvPr>
          <p:cNvSpPr>
            <a:spLocks noChangeShapeType="1"/>
          </p:cNvSpPr>
          <p:nvPr/>
        </p:nvSpPr>
        <p:spPr bwMode="auto">
          <a:xfrm>
            <a:off x="6217265" y="995516"/>
            <a:ext cx="1762125" cy="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7" name="Line 37">
            <a:extLst>
              <a:ext uri="{FF2B5EF4-FFF2-40B4-BE49-F238E27FC236}">
                <a16:creationId xmlns:a16="http://schemas.microsoft.com/office/drawing/2014/main" id="{E0F4FBF1-0928-38E5-457E-390C8C39564A}"/>
              </a:ext>
            </a:extLst>
          </p:cNvPr>
          <p:cNvSpPr>
            <a:spLocks noChangeShapeType="1"/>
          </p:cNvSpPr>
          <p:nvPr/>
        </p:nvSpPr>
        <p:spPr bwMode="auto">
          <a:xfrm flipV="1">
            <a:off x="4669453" y="1990879"/>
            <a:ext cx="0" cy="173990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8" name="Line 38">
            <a:extLst>
              <a:ext uri="{FF2B5EF4-FFF2-40B4-BE49-F238E27FC236}">
                <a16:creationId xmlns:a16="http://schemas.microsoft.com/office/drawing/2014/main" id="{E36CB11E-8BF6-FD35-4D9D-3F960DAEA3CA}"/>
              </a:ext>
            </a:extLst>
          </p:cNvPr>
          <p:cNvSpPr>
            <a:spLocks noChangeShapeType="1"/>
          </p:cNvSpPr>
          <p:nvPr/>
        </p:nvSpPr>
        <p:spPr bwMode="auto">
          <a:xfrm flipV="1">
            <a:off x="4226540" y="1490816"/>
            <a:ext cx="0" cy="2239963"/>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9" name="Line 39">
            <a:extLst>
              <a:ext uri="{FF2B5EF4-FFF2-40B4-BE49-F238E27FC236}">
                <a16:creationId xmlns:a16="http://schemas.microsoft.com/office/drawing/2014/main" id="{432B5A49-D024-29FF-BE88-46111F02E5EF}"/>
              </a:ext>
            </a:extLst>
          </p:cNvPr>
          <p:cNvSpPr>
            <a:spLocks noChangeShapeType="1"/>
          </p:cNvSpPr>
          <p:nvPr/>
        </p:nvSpPr>
        <p:spPr bwMode="auto">
          <a:xfrm>
            <a:off x="4226540" y="1490816"/>
            <a:ext cx="1989138" cy="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40" name="Line 40">
            <a:extLst>
              <a:ext uri="{FF2B5EF4-FFF2-40B4-BE49-F238E27FC236}">
                <a16:creationId xmlns:a16="http://schemas.microsoft.com/office/drawing/2014/main" id="{EE206157-96D9-F594-CB65-FB7B3F9BE938}"/>
              </a:ext>
            </a:extLst>
          </p:cNvPr>
          <p:cNvSpPr>
            <a:spLocks noChangeShapeType="1"/>
          </p:cNvSpPr>
          <p:nvPr/>
        </p:nvSpPr>
        <p:spPr bwMode="auto">
          <a:xfrm>
            <a:off x="4669453" y="1990879"/>
            <a:ext cx="1546225" cy="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41" name="Line 41">
            <a:extLst>
              <a:ext uri="{FF2B5EF4-FFF2-40B4-BE49-F238E27FC236}">
                <a16:creationId xmlns:a16="http://schemas.microsoft.com/office/drawing/2014/main" id="{4AB25320-CBB9-E0E2-A5F8-4B62ABD8131D}"/>
              </a:ext>
            </a:extLst>
          </p:cNvPr>
          <p:cNvSpPr>
            <a:spLocks noChangeShapeType="1"/>
          </p:cNvSpPr>
          <p:nvPr/>
        </p:nvSpPr>
        <p:spPr bwMode="auto">
          <a:xfrm>
            <a:off x="4226540" y="1490816"/>
            <a:ext cx="1989138" cy="2239963"/>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42" name="Rectangle 42">
            <a:extLst>
              <a:ext uri="{FF2B5EF4-FFF2-40B4-BE49-F238E27FC236}">
                <a16:creationId xmlns:a16="http://schemas.microsoft.com/office/drawing/2014/main" id="{E0FAC9B6-3A24-B948-F672-F97C1F4D088A}"/>
              </a:ext>
            </a:extLst>
          </p:cNvPr>
          <p:cNvSpPr>
            <a:spLocks noChangeArrowheads="1"/>
          </p:cNvSpPr>
          <p:nvPr/>
        </p:nvSpPr>
        <p:spPr bwMode="auto">
          <a:xfrm>
            <a:off x="5341247" y="1557491"/>
            <a:ext cx="874150" cy="308419"/>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400" b="1">
                <a:latin typeface="+mj-lt"/>
              </a:rPr>
              <a:t>Primary</a:t>
            </a:r>
          </a:p>
        </p:txBody>
      </p:sp>
      <p:sp>
        <p:nvSpPr>
          <p:cNvPr id="43" name="Rectangle 43">
            <a:extLst>
              <a:ext uri="{FF2B5EF4-FFF2-40B4-BE49-F238E27FC236}">
                <a16:creationId xmlns:a16="http://schemas.microsoft.com/office/drawing/2014/main" id="{656D6C83-B483-9C9A-260E-21124E459F73}"/>
              </a:ext>
            </a:extLst>
          </p:cNvPr>
          <p:cNvSpPr>
            <a:spLocks noChangeArrowheads="1"/>
          </p:cNvSpPr>
          <p:nvPr/>
        </p:nvSpPr>
        <p:spPr bwMode="auto">
          <a:xfrm rot="16200000">
            <a:off x="3964090" y="3077301"/>
            <a:ext cx="874150" cy="308419"/>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400" b="1">
                <a:latin typeface="+mj-lt"/>
              </a:rPr>
              <a:t>Primary</a:t>
            </a:r>
          </a:p>
        </p:txBody>
      </p:sp>
      <p:sp>
        <p:nvSpPr>
          <p:cNvPr id="44" name="Rectangle 44">
            <a:extLst>
              <a:ext uri="{FF2B5EF4-FFF2-40B4-BE49-F238E27FC236}">
                <a16:creationId xmlns:a16="http://schemas.microsoft.com/office/drawing/2014/main" id="{79E6F67F-0151-0070-C3B2-68F4E2F52C5A}"/>
              </a:ext>
            </a:extLst>
          </p:cNvPr>
          <p:cNvSpPr>
            <a:spLocks noChangeArrowheads="1"/>
          </p:cNvSpPr>
          <p:nvPr/>
        </p:nvSpPr>
        <p:spPr bwMode="auto">
          <a:xfrm rot="16200000">
            <a:off x="4336308" y="2951889"/>
            <a:ext cx="1101264" cy="308419"/>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400" b="1">
                <a:latin typeface="+mj-lt"/>
              </a:rPr>
              <a:t>Secondary</a:t>
            </a:r>
          </a:p>
        </p:txBody>
      </p:sp>
      <p:sp>
        <p:nvSpPr>
          <p:cNvPr id="45" name="Rectangle 45">
            <a:extLst>
              <a:ext uri="{FF2B5EF4-FFF2-40B4-BE49-F238E27FC236}">
                <a16:creationId xmlns:a16="http://schemas.microsoft.com/office/drawing/2014/main" id="{BF28E7BC-E9C4-CAA1-A1C8-39EE2DA52F1D}"/>
              </a:ext>
            </a:extLst>
          </p:cNvPr>
          <p:cNvSpPr>
            <a:spLocks noChangeArrowheads="1"/>
          </p:cNvSpPr>
          <p:nvPr/>
        </p:nvSpPr>
        <p:spPr bwMode="auto">
          <a:xfrm>
            <a:off x="5091165" y="2025804"/>
            <a:ext cx="1101264" cy="308419"/>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400" b="1">
                <a:latin typeface="+mj-lt"/>
              </a:rPr>
              <a:t>Secondary</a:t>
            </a:r>
          </a:p>
        </p:txBody>
      </p:sp>
      <p:sp>
        <p:nvSpPr>
          <p:cNvPr id="46" name="Line 46">
            <a:extLst>
              <a:ext uri="{FF2B5EF4-FFF2-40B4-BE49-F238E27FC236}">
                <a16:creationId xmlns:a16="http://schemas.microsoft.com/office/drawing/2014/main" id="{8809C6F5-3D71-E51F-0D2D-777CDA3A3AA3}"/>
              </a:ext>
            </a:extLst>
          </p:cNvPr>
          <p:cNvSpPr>
            <a:spLocks noChangeShapeType="1"/>
          </p:cNvSpPr>
          <p:nvPr/>
        </p:nvSpPr>
        <p:spPr bwMode="auto">
          <a:xfrm>
            <a:off x="7980978" y="995516"/>
            <a:ext cx="0" cy="49530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47" name="AutoShape 47">
            <a:extLst>
              <a:ext uri="{FF2B5EF4-FFF2-40B4-BE49-F238E27FC236}">
                <a16:creationId xmlns:a16="http://schemas.microsoft.com/office/drawing/2014/main" id="{F5CB0EBC-487A-5AFC-202E-841672F957BE}"/>
              </a:ext>
            </a:extLst>
          </p:cNvPr>
          <p:cNvSpPr>
            <a:spLocks noChangeArrowheads="1"/>
          </p:cNvSpPr>
          <p:nvPr/>
        </p:nvSpPr>
        <p:spPr bwMode="auto">
          <a:xfrm>
            <a:off x="6331565" y="4503891"/>
            <a:ext cx="422275" cy="204788"/>
          </a:xfrm>
          <a:prstGeom prst="rightArrow">
            <a:avLst>
              <a:gd name="adj1" fmla="val 50000"/>
              <a:gd name="adj2" fmla="val 65879"/>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48" name="AutoShape 48">
            <a:extLst>
              <a:ext uri="{FF2B5EF4-FFF2-40B4-BE49-F238E27FC236}">
                <a16:creationId xmlns:a16="http://schemas.microsoft.com/office/drawing/2014/main" id="{95CA8BB6-A139-887C-BA7D-C4DDCC9763A5}"/>
              </a:ext>
            </a:extLst>
          </p:cNvPr>
          <p:cNvSpPr>
            <a:spLocks noChangeArrowheads="1"/>
          </p:cNvSpPr>
          <p:nvPr/>
        </p:nvSpPr>
        <p:spPr bwMode="auto">
          <a:xfrm>
            <a:off x="7331690" y="3922866"/>
            <a:ext cx="184150" cy="417513"/>
          </a:xfrm>
          <a:prstGeom prst="upArrow">
            <a:avLst>
              <a:gd name="adj1" fmla="val 50000"/>
              <a:gd name="adj2" fmla="val 72415"/>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49" name="Line 49">
            <a:extLst>
              <a:ext uri="{FF2B5EF4-FFF2-40B4-BE49-F238E27FC236}">
                <a16:creationId xmlns:a16="http://schemas.microsoft.com/office/drawing/2014/main" id="{42BBE258-8CBE-5570-BDE8-1A32FDA84F00}"/>
              </a:ext>
            </a:extLst>
          </p:cNvPr>
          <p:cNvSpPr>
            <a:spLocks noChangeShapeType="1"/>
          </p:cNvSpPr>
          <p:nvPr/>
        </p:nvSpPr>
        <p:spPr bwMode="auto">
          <a:xfrm>
            <a:off x="6217265" y="4727729"/>
            <a:ext cx="1323975" cy="0"/>
          </a:xfrm>
          <a:prstGeom prst="line">
            <a:avLst/>
          </a:prstGeom>
          <a:noFill/>
          <a:ln w="25400">
            <a:solidFill>
              <a:srgbClr val="FF0000"/>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0" name="Line 50">
            <a:extLst>
              <a:ext uri="{FF2B5EF4-FFF2-40B4-BE49-F238E27FC236}">
                <a16:creationId xmlns:a16="http://schemas.microsoft.com/office/drawing/2014/main" id="{3755C695-DF40-873F-5DC5-4192D2A0DD05}"/>
              </a:ext>
            </a:extLst>
          </p:cNvPr>
          <p:cNvSpPr>
            <a:spLocks noChangeShapeType="1"/>
          </p:cNvSpPr>
          <p:nvPr/>
        </p:nvSpPr>
        <p:spPr bwMode="auto">
          <a:xfrm flipV="1">
            <a:off x="6217265" y="4473729"/>
            <a:ext cx="660400" cy="4762"/>
          </a:xfrm>
          <a:prstGeom prst="line">
            <a:avLst/>
          </a:prstGeom>
          <a:noFill/>
          <a:ln w="25400">
            <a:solidFill>
              <a:srgbClr val="FF0000"/>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1" name="Line 51">
            <a:extLst>
              <a:ext uri="{FF2B5EF4-FFF2-40B4-BE49-F238E27FC236}">
                <a16:creationId xmlns:a16="http://schemas.microsoft.com/office/drawing/2014/main" id="{F06B417A-5F68-CD46-85B8-CA0322CDF2A7}"/>
              </a:ext>
            </a:extLst>
          </p:cNvPr>
          <p:cNvSpPr>
            <a:spLocks noChangeShapeType="1"/>
          </p:cNvSpPr>
          <p:nvPr/>
        </p:nvSpPr>
        <p:spPr bwMode="auto">
          <a:xfrm>
            <a:off x="7541240" y="3730779"/>
            <a:ext cx="0" cy="990600"/>
          </a:xfrm>
          <a:prstGeom prst="line">
            <a:avLst/>
          </a:prstGeom>
          <a:noFill/>
          <a:ln w="25400">
            <a:solidFill>
              <a:srgbClr val="FF0000"/>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2" name="Line 52">
            <a:extLst>
              <a:ext uri="{FF2B5EF4-FFF2-40B4-BE49-F238E27FC236}">
                <a16:creationId xmlns:a16="http://schemas.microsoft.com/office/drawing/2014/main" id="{ED9E87C2-0E1B-232F-77B5-AD9F0B6060ED}"/>
              </a:ext>
            </a:extLst>
          </p:cNvPr>
          <p:cNvSpPr>
            <a:spLocks noChangeShapeType="1"/>
          </p:cNvSpPr>
          <p:nvPr/>
        </p:nvSpPr>
        <p:spPr bwMode="auto">
          <a:xfrm>
            <a:off x="7318990" y="3730779"/>
            <a:ext cx="0" cy="742950"/>
          </a:xfrm>
          <a:prstGeom prst="line">
            <a:avLst/>
          </a:prstGeom>
          <a:noFill/>
          <a:ln w="25400">
            <a:solidFill>
              <a:srgbClr val="FF0000"/>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3" name="Line 53">
            <a:extLst>
              <a:ext uri="{FF2B5EF4-FFF2-40B4-BE49-F238E27FC236}">
                <a16:creationId xmlns:a16="http://schemas.microsoft.com/office/drawing/2014/main" id="{A68FA10D-B662-914E-0EFC-13BB92C53265}"/>
              </a:ext>
            </a:extLst>
          </p:cNvPr>
          <p:cNvSpPr>
            <a:spLocks noChangeShapeType="1"/>
          </p:cNvSpPr>
          <p:nvPr/>
        </p:nvSpPr>
        <p:spPr bwMode="auto">
          <a:xfrm>
            <a:off x="6877665" y="3730779"/>
            <a:ext cx="0" cy="747712"/>
          </a:xfrm>
          <a:prstGeom prst="line">
            <a:avLst/>
          </a:prstGeom>
          <a:noFill/>
          <a:ln w="25400">
            <a:solidFill>
              <a:srgbClr val="FF0000"/>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4" name="Line 54">
            <a:extLst>
              <a:ext uri="{FF2B5EF4-FFF2-40B4-BE49-F238E27FC236}">
                <a16:creationId xmlns:a16="http://schemas.microsoft.com/office/drawing/2014/main" id="{CF80D85E-C05A-F814-BEFB-91EB12DD8978}"/>
              </a:ext>
            </a:extLst>
          </p:cNvPr>
          <p:cNvSpPr>
            <a:spLocks noChangeShapeType="1"/>
          </p:cNvSpPr>
          <p:nvPr/>
        </p:nvSpPr>
        <p:spPr bwMode="auto">
          <a:xfrm>
            <a:off x="7098328" y="3730779"/>
            <a:ext cx="0" cy="747712"/>
          </a:xfrm>
          <a:prstGeom prst="line">
            <a:avLst/>
          </a:prstGeom>
          <a:noFill/>
          <a:ln w="25400">
            <a:solidFill>
              <a:srgbClr val="FF0000"/>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5" name="Line 55">
            <a:extLst>
              <a:ext uri="{FF2B5EF4-FFF2-40B4-BE49-F238E27FC236}">
                <a16:creationId xmlns:a16="http://schemas.microsoft.com/office/drawing/2014/main" id="{A59A0D43-45D6-F943-E4BE-069FAB8160EF}"/>
              </a:ext>
            </a:extLst>
          </p:cNvPr>
          <p:cNvSpPr>
            <a:spLocks noChangeShapeType="1"/>
          </p:cNvSpPr>
          <p:nvPr/>
        </p:nvSpPr>
        <p:spPr bwMode="auto">
          <a:xfrm flipV="1">
            <a:off x="7098328" y="4473729"/>
            <a:ext cx="220662" cy="4762"/>
          </a:xfrm>
          <a:prstGeom prst="line">
            <a:avLst/>
          </a:prstGeom>
          <a:noFill/>
          <a:ln w="25400">
            <a:solidFill>
              <a:srgbClr val="FF0000"/>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6" name="AutoShape 56">
            <a:extLst>
              <a:ext uri="{FF2B5EF4-FFF2-40B4-BE49-F238E27FC236}">
                <a16:creationId xmlns:a16="http://schemas.microsoft.com/office/drawing/2014/main" id="{138835F7-844D-21B4-3428-788FA7E93E31}"/>
              </a:ext>
            </a:extLst>
          </p:cNvPr>
          <p:cNvSpPr>
            <a:spLocks noChangeArrowheads="1"/>
          </p:cNvSpPr>
          <p:nvPr/>
        </p:nvSpPr>
        <p:spPr bwMode="auto">
          <a:xfrm>
            <a:off x="6901478" y="3922866"/>
            <a:ext cx="184150" cy="417513"/>
          </a:xfrm>
          <a:prstGeom prst="upArrow">
            <a:avLst>
              <a:gd name="adj1" fmla="val 50000"/>
              <a:gd name="adj2" fmla="val 72415"/>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Tree>
    <p:extLst>
      <p:ext uri="{BB962C8B-B14F-4D97-AF65-F5344CB8AC3E}">
        <p14:creationId xmlns:p14="http://schemas.microsoft.com/office/powerpoint/2010/main" val="10994056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2" y="196170"/>
            <a:ext cx="5403779"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IN" dirty="0">
                <a:latin typeface="+mj-lt"/>
              </a:rPr>
              <a:t>Relationship Matrix</a:t>
            </a:r>
          </a:p>
        </p:txBody>
      </p:sp>
      <p:sp>
        <p:nvSpPr>
          <p:cNvPr id="3" name="Line 3">
            <a:extLst>
              <a:ext uri="{FF2B5EF4-FFF2-40B4-BE49-F238E27FC236}">
                <a16:creationId xmlns:a16="http://schemas.microsoft.com/office/drawing/2014/main" id="{49F63F18-FCD3-5BED-136D-109DE200E250}"/>
              </a:ext>
            </a:extLst>
          </p:cNvPr>
          <p:cNvSpPr>
            <a:spLocks noChangeShapeType="1"/>
          </p:cNvSpPr>
          <p:nvPr/>
        </p:nvSpPr>
        <p:spPr bwMode="auto">
          <a:xfrm>
            <a:off x="5152308" y="3763297"/>
            <a:ext cx="0" cy="198120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4" name="Line 4">
            <a:extLst>
              <a:ext uri="{FF2B5EF4-FFF2-40B4-BE49-F238E27FC236}">
                <a16:creationId xmlns:a16="http://schemas.microsoft.com/office/drawing/2014/main" id="{F41B677C-DA63-7419-6902-F315314E7D26}"/>
              </a:ext>
            </a:extLst>
          </p:cNvPr>
          <p:cNvSpPr>
            <a:spLocks noChangeShapeType="1"/>
          </p:cNvSpPr>
          <p:nvPr/>
        </p:nvSpPr>
        <p:spPr bwMode="auto">
          <a:xfrm>
            <a:off x="4933233" y="4010947"/>
            <a:ext cx="1793875" cy="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 name="Line 5">
            <a:extLst>
              <a:ext uri="{FF2B5EF4-FFF2-40B4-BE49-F238E27FC236}">
                <a16:creationId xmlns:a16="http://schemas.microsoft.com/office/drawing/2014/main" id="{6FAEE57A-7823-A6AA-20AC-A3691C0E4C15}"/>
              </a:ext>
            </a:extLst>
          </p:cNvPr>
          <p:cNvSpPr>
            <a:spLocks noChangeShapeType="1"/>
          </p:cNvSpPr>
          <p:nvPr/>
        </p:nvSpPr>
        <p:spPr bwMode="auto">
          <a:xfrm>
            <a:off x="4933233" y="4257010"/>
            <a:ext cx="1793875" cy="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6" name="Line 6">
            <a:extLst>
              <a:ext uri="{FF2B5EF4-FFF2-40B4-BE49-F238E27FC236}">
                <a16:creationId xmlns:a16="http://schemas.microsoft.com/office/drawing/2014/main" id="{06C92408-8EE4-D432-7546-BBEA536C1C4A}"/>
              </a:ext>
            </a:extLst>
          </p:cNvPr>
          <p:cNvSpPr>
            <a:spLocks noChangeShapeType="1"/>
          </p:cNvSpPr>
          <p:nvPr/>
        </p:nvSpPr>
        <p:spPr bwMode="auto">
          <a:xfrm>
            <a:off x="4933233" y="4506247"/>
            <a:ext cx="1793875" cy="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7" name="Line 7">
            <a:extLst>
              <a:ext uri="{FF2B5EF4-FFF2-40B4-BE49-F238E27FC236}">
                <a16:creationId xmlns:a16="http://schemas.microsoft.com/office/drawing/2014/main" id="{26E523C8-BCC8-3AD9-2F2A-13397CFEF2FD}"/>
              </a:ext>
            </a:extLst>
          </p:cNvPr>
          <p:cNvSpPr>
            <a:spLocks noChangeShapeType="1"/>
          </p:cNvSpPr>
          <p:nvPr/>
        </p:nvSpPr>
        <p:spPr bwMode="auto">
          <a:xfrm>
            <a:off x="4933233" y="4753897"/>
            <a:ext cx="1793875" cy="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8" name="Line 8">
            <a:extLst>
              <a:ext uri="{FF2B5EF4-FFF2-40B4-BE49-F238E27FC236}">
                <a16:creationId xmlns:a16="http://schemas.microsoft.com/office/drawing/2014/main" id="{C2592387-4FFB-E34A-2F39-84B585A47294}"/>
              </a:ext>
            </a:extLst>
          </p:cNvPr>
          <p:cNvSpPr>
            <a:spLocks noChangeShapeType="1"/>
          </p:cNvSpPr>
          <p:nvPr/>
        </p:nvSpPr>
        <p:spPr bwMode="auto">
          <a:xfrm>
            <a:off x="4933233" y="5001547"/>
            <a:ext cx="1793875" cy="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9" name="Line 9">
            <a:extLst>
              <a:ext uri="{FF2B5EF4-FFF2-40B4-BE49-F238E27FC236}">
                <a16:creationId xmlns:a16="http://schemas.microsoft.com/office/drawing/2014/main" id="{BFB729C7-482A-2B97-A043-72941FD6F88B}"/>
              </a:ext>
            </a:extLst>
          </p:cNvPr>
          <p:cNvSpPr>
            <a:spLocks noChangeShapeType="1"/>
          </p:cNvSpPr>
          <p:nvPr/>
        </p:nvSpPr>
        <p:spPr bwMode="auto">
          <a:xfrm>
            <a:off x="4933233" y="5249197"/>
            <a:ext cx="1793875" cy="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0" name="Line 10">
            <a:extLst>
              <a:ext uri="{FF2B5EF4-FFF2-40B4-BE49-F238E27FC236}">
                <a16:creationId xmlns:a16="http://schemas.microsoft.com/office/drawing/2014/main" id="{D7A83515-B677-1CF4-7816-F67E7D53E73C}"/>
              </a:ext>
            </a:extLst>
          </p:cNvPr>
          <p:cNvSpPr>
            <a:spLocks noChangeShapeType="1"/>
          </p:cNvSpPr>
          <p:nvPr/>
        </p:nvSpPr>
        <p:spPr bwMode="auto">
          <a:xfrm>
            <a:off x="4933233" y="5496847"/>
            <a:ext cx="1793875" cy="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1" name="Line 11">
            <a:extLst>
              <a:ext uri="{FF2B5EF4-FFF2-40B4-BE49-F238E27FC236}">
                <a16:creationId xmlns:a16="http://schemas.microsoft.com/office/drawing/2014/main" id="{9E1B0994-D782-6FDD-D71E-F236AD66F6F0}"/>
              </a:ext>
            </a:extLst>
          </p:cNvPr>
          <p:cNvSpPr>
            <a:spLocks noChangeShapeType="1"/>
          </p:cNvSpPr>
          <p:nvPr/>
        </p:nvSpPr>
        <p:spPr bwMode="auto">
          <a:xfrm>
            <a:off x="5606333" y="3763297"/>
            <a:ext cx="0" cy="198120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2" name="Line 12">
            <a:extLst>
              <a:ext uri="{FF2B5EF4-FFF2-40B4-BE49-F238E27FC236}">
                <a16:creationId xmlns:a16="http://schemas.microsoft.com/office/drawing/2014/main" id="{C31953F8-C8D0-7DB5-99D6-F20DE213C1C4}"/>
              </a:ext>
            </a:extLst>
          </p:cNvPr>
          <p:cNvSpPr>
            <a:spLocks noChangeShapeType="1"/>
          </p:cNvSpPr>
          <p:nvPr/>
        </p:nvSpPr>
        <p:spPr bwMode="auto">
          <a:xfrm>
            <a:off x="5826996" y="3763297"/>
            <a:ext cx="0" cy="198120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3" name="Line 13">
            <a:extLst>
              <a:ext uri="{FF2B5EF4-FFF2-40B4-BE49-F238E27FC236}">
                <a16:creationId xmlns:a16="http://schemas.microsoft.com/office/drawing/2014/main" id="{AD7FF051-3540-C6A6-639C-38EC4B8151A4}"/>
              </a:ext>
            </a:extLst>
          </p:cNvPr>
          <p:cNvSpPr>
            <a:spLocks noChangeShapeType="1"/>
          </p:cNvSpPr>
          <p:nvPr/>
        </p:nvSpPr>
        <p:spPr bwMode="auto">
          <a:xfrm>
            <a:off x="6054008" y="3763297"/>
            <a:ext cx="0" cy="198120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4" name="Line 14">
            <a:extLst>
              <a:ext uri="{FF2B5EF4-FFF2-40B4-BE49-F238E27FC236}">
                <a16:creationId xmlns:a16="http://schemas.microsoft.com/office/drawing/2014/main" id="{094CDFCF-6E49-C983-EACA-D0F294E3C903}"/>
              </a:ext>
            </a:extLst>
          </p:cNvPr>
          <p:cNvSpPr>
            <a:spLocks noChangeShapeType="1"/>
          </p:cNvSpPr>
          <p:nvPr/>
        </p:nvSpPr>
        <p:spPr bwMode="auto">
          <a:xfrm>
            <a:off x="6277846" y="3763297"/>
            <a:ext cx="0" cy="198120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5" name="Line 15">
            <a:extLst>
              <a:ext uri="{FF2B5EF4-FFF2-40B4-BE49-F238E27FC236}">
                <a16:creationId xmlns:a16="http://schemas.microsoft.com/office/drawing/2014/main" id="{6322ECA0-B922-498D-D092-02F8954ADA24}"/>
              </a:ext>
            </a:extLst>
          </p:cNvPr>
          <p:cNvSpPr>
            <a:spLocks noChangeShapeType="1"/>
          </p:cNvSpPr>
          <p:nvPr/>
        </p:nvSpPr>
        <p:spPr bwMode="auto">
          <a:xfrm>
            <a:off x="6504858" y="3763297"/>
            <a:ext cx="0" cy="198120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6" name="Line 16">
            <a:extLst>
              <a:ext uri="{FF2B5EF4-FFF2-40B4-BE49-F238E27FC236}">
                <a16:creationId xmlns:a16="http://schemas.microsoft.com/office/drawing/2014/main" id="{D321DB26-B42A-4ED6-2A47-F8F7B2609EDC}"/>
              </a:ext>
            </a:extLst>
          </p:cNvPr>
          <p:cNvSpPr>
            <a:spLocks noChangeShapeType="1"/>
          </p:cNvSpPr>
          <p:nvPr/>
        </p:nvSpPr>
        <p:spPr bwMode="auto">
          <a:xfrm flipH="1">
            <a:off x="2905996" y="5001547"/>
            <a:ext cx="450850" cy="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7" name="Line 17">
            <a:extLst>
              <a:ext uri="{FF2B5EF4-FFF2-40B4-BE49-F238E27FC236}">
                <a16:creationId xmlns:a16="http://schemas.microsoft.com/office/drawing/2014/main" id="{6F7D4BAC-4E7D-8ED3-81E1-092ECE9E2F84}"/>
              </a:ext>
            </a:extLst>
          </p:cNvPr>
          <p:cNvSpPr>
            <a:spLocks noChangeShapeType="1"/>
          </p:cNvSpPr>
          <p:nvPr/>
        </p:nvSpPr>
        <p:spPr bwMode="auto">
          <a:xfrm flipV="1">
            <a:off x="6052421" y="1534447"/>
            <a:ext cx="0" cy="49530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8" name="Line 18">
            <a:extLst>
              <a:ext uri="{FF2B5EF4-FFF2-40B4-BE49-F238E27FC236}">
                <a16:creationId xmlns:a16="http://schemas.microsoft.com/office/drawing/2014/main" id="{51170069-93B3-6AEC-42CB-88DED4AF2574}"/>
              </a:ext>
            </a:extLst>
          </p:cNvPr>
          <p:cNvSpPr>
            <a:spLocks noChangeShapeType="1"/>
          </p:cNvSpPr>
          <p:nvPr/>
        </p:nvSpPr>
        <p:spPr bwMode="auto">
          <a:xfrm>
            <a:off x="2456733" y="3763297"/>
            <a:ext cx="2470150" cy="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9" name="Line 19">
            <a:extLst>
              <a:ext uri="{FF2B5EF4-FFF2-40B4-BE49-F238E27FC236}">
                <a16:creationId xmlns:a16="http://schemas.microsoft.com/office/drawing/2014/main" id="{90EBC627-4BD0-CD16-3B4F-2AD36B329188}"/>
              </a:ext>
            </a:extLst>
          </p:cNvPr>
          <p:cNvSpPr>
            <a:spLocks noChangeShapeType="1"/>
          </p:cNvSpPr>
          <p:nvPr/>
        </p:nvSpPr>
        <p:spPr bwMode="auto">
          <a:xfrm>
            <a:off x="2905996" y="3763297"/>
            <a:ext cx="0" cy="198120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0" name="Line 20">
            <a:extLst>
              <a:ext uri="{FF2B5EF4-FFF2-40B4-BE49-F238E27FC236}">
                <a16:creationId xmlns:a16="http://schemas.microsoft.com/office/drawing/2014/main" id="{80ADB332-D17D-6CD4-93AD-50A04BC91E86}"/>
              </a:ext>
            </a:extLst>
          </p:cNvPr>
          <p:cNvSpPr>
            <a:spLocks noChangeShapeType="1"/>
          </p:cNvSpPr>
          <p:nvPr/>
        </p:nvSpPr>
        <p:spPr bwMode="auto">
          <a:xfrm>
            <a:off x="2456733" y="3763297"/>
            <a:ext cx="0" cy="198120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1" name="Line 21">
            <a:extLst>
              <a:ext uri="{FF2B5EF4-FFF2-40B4-BE49-F238E27FC236}">
                <a16:creationId xmlns:a16="http://schemas.microsoft.com/office/drawing/2014/main" id="{F75CC5BB-A683-C6F7-437E-B9758FD9982B}"/>
              </a:ext>
            </a:extLst>
          </p:cNvPr>
          <p:cNvSpPr>
            <a:spLocks noChangeShapeType="1"/>
          </p:cNvSpPr>
          <p:nvPr/>
        </p:nvSpPr>
        <p:spPr bwMode="auto">
          <a:xfrm>
            <a:off x="3356846" y="3763297"/>
            <a:ext cx="0" cy="198120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2" name="Line 22">
            <a:extLst>
              <a:ext uri="{FF2B5EF4-FFF2-40B4-BE49-F238E27FC236}">
                <a16:creationId xmlns:a16="http://schemas.microsoft.com/office/drawing/2014/main" id="{A322FDF4-C13D-E01A-A33E-ED76D331BB23}"/>
              </a:ext>
            </a:extLst>
          </p:cNvPr>
          <p:cNvSpPr>
            <a:spLocks noChangeShapeType="1"/>
          </p:cNvSpPr>
          <p:nvPr/>
        </p:nvSpPr>
        <p:spPr bwMode="auto">
          <a:xfrm>
            <a:off x="3356846" y="4010947"/>
            <a:ext cx="1570037" cy="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3" name="Line 23">
            <a:extLst>
              <a:ext uri="{FF2B5EF4-FFF2-40B4-BE49-F238E27FC236}">
                <a16:creationId xmlns:a16="http://schemas.microsoft.com/office/drawing/2014/main" id="{B6FECC07-67AB-1B9A-6EBA-739D9A0F62B8}"/>
              </a:ext>
            </a:extLst>
          </p:cNvPr>
          <p:cNvSpPr>
            <a:spLocks noChangeShapeType="1"/>
          </p:cNvSpPr>
          <p:nvPr/>
        </p:nvSpPr>
        <p:spPr bwMode="auto">
          <a:xfrm>
            <a:off x="3356846" y="4257010"/>
            <a:ext cx="1570037" cy="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4" name="Line 24">
            <a:extLst>
              <a:ext uri="{FF2B5EF4-FFF2-40B4-BE49-F238E27FC236}">
                <a16:creationId xmlns:a16="http://schemas.microsoft.com/office/drawing/2014/main" id="{F656D855-4DEE-A38C-5AE5-6BF808FCF2FA}"/>
              </a:ext>
            </a:extLst>
          </p:cNvPr>
          <p:cNvSpPr>
            <a:spLocks noChangeShapeType="1"/>
          </p:cNvSpPr>
          <p:nvPr/>
        </p:nvSpPr>
        <p:spPr bwMode="auto">
          <a:xfrm>
            <a:off x="3356846" y="4506247"/>
            <a:ext cx="1570037" cy="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5" name="Line 25">
            <a:extLst>
              <a:ext uri="{FF2B5EF4-FFF2-40B4-BE49-F238E27FC236}">
                <a16:creationId xmlns:a16="http://schemas.microsoft.com/office/drawing/2014/main" id="{D57B3EC5-B60D-F3E6-5E92-398313CB4D1B}"/>
              </a:ext>
            </a:extLst>
          </p:cNvPr>
          <p:cNvSpPr>
            <a:spLocks noChangeShapeType="1"/>
          </p:cNvSpPr>
          <p:nvPr/>
        </p:nvSpPr>
        <p:spPr bwMode="auto">
          <a:xfrm>
            <a:off x="3356846" y="4753897"/>
            <a:ext cx="1570037" cy="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6" name="Line 26">
            <a:extLst>
              <a:ext uri="{FF2B5EF4-FFF2-40B4-BE49-F238E27FC236}">
                <a16:creationId xmlns:a16="http://schemas.microsoft.com/office/drawing/2014/main" id="{C672EC95-EB27-45DA-429D-A0B78B45356E}"/>
              </a:ext>
            </a:extLst>
          </p:cNvPr>
          <p:cNvSpPr>
            <a:spLocks noChangeShapeType="1"/>
          </p:cNvSpPr>
          <p:nvPr/>
        </p:nvSpPr>
        <p:spPr bwMode="auto">
          <a:xfrm>
            <a:off x="3356846" y="5001547"/>
            <a:ext cx="1570037" cy="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7" name="Line 27">
            <a:extLst>
              <a:ext uri="{FF2B5EF4-FFF2-40B4-BE49-F238E27FC236}">
                <a16:creationId xmlns:a16="http://schemas.microsoft.com/office/drawing/2014/main" id="{DFA7324E-A2DA-2274-722E-3902D0DAA132}"/>
              </a:ext>
            </a:extLst>
          </p:cNvPr>
          <p:cNvSpPr>
            <a:spLocks noChangeShapeType="1"/>
          </p:cNvSpPr>
          <p:nvPr/>
        </p:nvSpPr>
        <p:spPr bwMode="auto">
          <a:xfrm>
            <a:off x="3356846" y="5249197"/>
            <a:ext cx="1570037" cy="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8" name="Line 28">
            <a:extLst>
              <a:ext uri="{FF2B5EF4-FFF2-40B4-BE49-F238E27FC236}">
                <a16:creationId xmlns:a16="http://schemas.microsoft.com/office/drawing/2014/main" id="{AE87C0D3-02F5-357A-DE4D-76ECCE6822F1}"/>
              </a:ext>
            </a:extLst>
          </p:cNvPr>
          <p:cNvSpPr>
            <a:spLocks noChangeShapeType="1"/>
          </p:cNvSpPr>
          <p:nvPr/>
        </p:nvSpPr>
        <p:spPr bwMode="auto">
          <a:xfrm>
            <a:off x="3356846" y="5496847"/>
            <a:ext cx="1570037" cy="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9" name="Line 29">
            <a:extLst>
              <a:ext uri="{FF2B5EF4-FFF2-40B4-BE49-F238E27FC236}">
                <a16:creationId xmlns:a16="http://schemas.microsoft.com/office/drawing/2014/main" id="{D9293E29-227E-7FE6-980D-944B52B8E1D9}"/>
              </a:ext>
            </a:extLst>
          </p:cNvPr>
          <p:cNvSpPr>
            <a:spLocks noChangeShapeType="1"/>
          </p:cNvSpPr>
          <p:nvPr/>
        </p:nvSpPr>
        <p:spPr bwMode="auto">
          <a:xfrm>
            <a:off x="4933233" y="3763297"/>
            <a:ext cx="0" cy="198120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0" name="Line 30">
            <a:extLst>
              <a:ext uri="{FF2B5EF4-FFF2-40B4-BE49-F238E27FC236}">
                <a16:creationId xmlns:a16="http://schemas.microsoft.com/office/drawing/2014/main" id="{77A5044C-B90E-2950-83ED-2B8A8B7333DA}"/>
              </a:ext>
            </a:extLst>
          </p:cNvPr>
          <p:cNvSpPr>
            <a:spLocks noChangeShapeType="1"/>
          </p:cNvSpPr>
          <p:nvPr/>
        </p:nvSpPr>
        <p:spPr bwMode="auto">
          <a:xfrm>
            <a:off x="5152308" y="2029747"/>
            <a:ext cx="0" cy="173355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1" name="Line 31">
            <a:extLst>
              <a:ext uri="{FF2B5EF4-FFF2-40B4-BE49-F238E27FC236}">
                <a16:creationId xmlns:a16="http://schemas.microsoft.com/office/drawing/2014/main" id="{56556007-0178-F580-5427-4B457696E655}"/>
              </a:ext>
            </a:extLst>
          </p:cNvPr>
          <p:cNvSpPr>
            <a:spLocks noChangeShapeType="1"/>
          </p:cNvSpPr>
          <p:nvPr/>
        </p:nvSpPr>
        <p:spPr bwMode="auto">
          <a:xfrm>
            <a:off x="5377733" y="2029747"/>
            <a:ext cx="0" cy="1728788"/>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2" name="Line 32">
            <a:extLst>
              <a:ext uri="{FF2B5EF4-FFF2-40B4-BE49-F238E27FC236}">
                <a16:creationId xmlns:a16="http://schemas.microsoft.com/office/drawing/2014/main" id="{9BD19F6E-BFDE-C4B4-1D03-E9F4C6731EF8}"/>
              </a:ext>
            </a:extLst>
          </p:cNvPr>
          <p:cNvSpPr>
            <a:spLocks noChangeShapeType="1"/>
          </p:cNvSpPr>
          <p:nvPr/>
        </p:nvSpPr>
        <p:spPr bwMode="auto">
          <a:xfrm>
            <a:off x="5603158" y="2029747"/>
            <a:ext cx="0" cy="1728788"/>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3" name="Line 33">
            <a:extLst>
              <a:ext uri="{FF2B5EF4-FFF2-40B4-BE49-F238E27FC236}">
                <a16:creationId xmlns:a16="http://schemas.microsoft.com/office/drawing/2014/main" id="{36D7D7DA-D584-6F9F-6B5D-CA8A2C0A0D3B}"/>
              </a:ext>
            </a:extLst>
          </p:cNvPr>
          <p:cNvSpPr>
            <a:spLocks noChangeShapeType="1"/>
          </p:cNvSpPr>
          <p:nvPr/>
        </p:nvSpPr>
        <p:spPr bwMode="auto">
          <a:xfrm>
            <a:off x="5826996" y="2029747"/>
            <a:ext cx="0" cy="173355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4" name="Line 34">
            <a:extLst>
              <a:ext uri="{FF2B5EF4-FFF2-40B4-BE49-F238E27FC236}">
                <a16:creationId xmlns:a16="http://schemas.microsoft.com/office/drawing/2014/main" id="{B98D1A55-668C-C16C-9F77-F358CBF09E55}"/>
              </a:ext>
            </a:extLst>
          </p:cNvPr>
          <p:cNvSpPr>
            <a:spLocks noChangeShapeType="1"/>
          </p:cNvSpPr>
          <p:nvPr/>
        </p:nvSpPr>
        <p:spPr bwMode="auto">
          <a:xfrm>
            <a:off x="6052421" y="2029747"/>
            <a:ext cx="0" cy="173355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5" name="Line 35">
            <a:extLst>
              <a:ext uri="{FF2B5EF4-FFF2-40B4-BE49-F238E27FC236}">
                <a16:creationId xmlns:a16="http://schemas.microsoft.com/office/drawing/2014/main" id="{0CF0A918-E257-87F2-F07F-650B458EF61A}"/>
              </a:ext>
            </a:extLst>
          </p:cNvPr>
          <p:cNvSpPr>
            <a:spLocks noChangeShapeType="1"/>
          </p:cNvSpPr>
          <p:nvPr/>
        </p:nvSpPr>
        <p:spPr bwMode="auto">
          <a:xfrm>
            <a:off x="6277846" y="2029747"/>
            <a:ext cx="0" cy="173355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6" name="Line 36">
            <a:extLst>
              <a:ext uri="{FF2B5EF4-FFF2-40B4-BE49-F238E27FC236}">
                <a16:creationId xmlns:a16="http://schemas.microsoft.com/office/drawing/2014/main" id="{9DA3519E-0A1E-CF65-3753-A494D1D7FDFD}"/>
              </a:ext>
            </a:extLst>
          </p:cNvPr>
          <p:cNvSpPr>
            <a:spLocks noChangeShapeType="1"/>
          </p:cNvSpPr>
          <p:nvPr/>
        </p:nvSpPr>
        <p:spPr bwMode="auto">
          <a:xfrm>
            <a:off x="6503271" y="2029747"/>
            <a:ext cx="0" cy="1725613"/>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7" name="Line 37">
            <a:extLst>
              <a:ext uri="{FF2B5EF4-FFF2-40B4-BE49-F238E27FC236}">
                <a16:creationId xmlns:a16="http://schemas.microsoft.com/office/drawing/2014/main" id="{4FE05037-D48D-1C68-8698-6B486B65B0D5}"/>
              </a:ext>
            </a:extLst>
          </p:cNvPr>
          <p:cNvSpPr>
            <a:spLocks noChangeShapeType="1"/>
          </p:cNvSpPr>
          <p:nvPr/>
        </p:nvSpPr>
        <p:spPr bwMode="auto">
          <a:xfrm>
            <a:off x="4933233" y="2029747"/>
            <a:ext cx="1793875" cy="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8" name="Line 38">
            <a:extLst>
              <a:ext uri="{FF2B5EF4-FFF2-40B4-BE49-F238E27FC236}">
                <a16:creationId xmlns:a16="http://schemas.microsoft.com/office/drawing/2014/main" id="{C34813D5-8330-EFAD-2859-E8A7872EF536}"/>
              </a:ext>
            </a:extLst>
          </p:cNvPr>
          <p:cNvSpPr>
            <a:spLocks noChangeShapeType="1"/>
          </p:cNvSpPr>
          <p:nvPr/>
        </p:nvSpPr>
        <p:spPr bwMode="auto">
          <a:xfrm>
            <a:off x="4933233" y="3763297"/>
            <a:ext cx="1793875" cy="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9" name="Line 39">
            <a:extLst>
              <a:ext uri="{FF2B5EF4-FFF2-40B4-BE49-F238E27FC236}">
                <a16:creationId xmlns:a16="http://schemas.microsoft.com/office/drawing/2014/main" id="{606A7F78-65E5-6678-6DEF-EA0A383D6B7C}"/>
              </a:ext>
            </a:extLst>
          </p:cNvPr>
          <p:cNvSpPr>
            <a:spLocks noChangeShapeType="1"/>
          </p:cNvSpPr>
          <p:nvPr/>
        </p:nvSpPr>
        <p:spPr bwMode="auto">
          <a:xfrm flipV="1">
            <a:off x="4933233" y="2036097"/>
            <a:ext cx="0" cy="172720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40" name="Line 40">
            <a:extLst>
              <a:ext uri="{FF2B5EF4-FFF2-40B4-BE49-F238E27FC236}">
                <a16:creationId xmlns:a16="http://schemas.microsoft.com/office/drawing/2014/main" id="{EF8D1AF3-4A30-7DA4-7B44-101E47D4AE27}"/>
              </a:ext>
            </a:extLst>
          </p:cNvPr>
          <p:cNvSpPr>
            <a:spLocks noChangeShapeType="1"/>
          </p:cNvSpPr>
          <p:nvPr/>
        </p:nvSpPr>
        <p:spPr bwMode="auto">
          <a:xfrm>
            <a:off x="6728696" y="2029747"/>
            <a:ext cx="0" cy="173355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41" name="Rectangle 41">
            <a:extLst>
              <a:ext uri="{FF2B5EF4-FFF2-40B4-BE49-F238E27FC236}">
                <a16:creationId xmlns:a16="http://schemas.microsoft.com/office/drawing/2014/main" id="{704BFABD-A818-3600-6292-B9FB1EB62B1E}"/>
              </a:ext>
            </a:extLst>
          </p:cNvPr>
          <p:cNvSpPr>
            <a:spLocks noChangeArrowheads="1"/>
          </p:cNvSpPr>
          <p:nvPr/>
        </p:nvSpPr>
        <p:spPr bwMode="auto">
          <a:xfrm rot="16200000">
            <a:off x="1877296" y="4407822"/>
            <a:ext cx="1625600" cy="5207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85000"/>
              </a:lnSpc>
              <a:spcBef>
                <a:spcPts val="100"/>
              </a:spcBef>
            </a:pPr>
            <a:r>
              <a:rPr lang="en-US" altLang="en-US" sz="1600" b="1">
                <a:latin typeface="+mj-lt"/>
              </a:rPr>
              <a:t>Customer</a:t>
            </a:r>
          </a:p>
          <a:p>
            <a:pPr algn="ctr">
              <a:lnSpc>
                <a:spcPct val="85000"/>
              </a:lnSpc>
              <a:spcBef>
                <a:spcPts val="100"/>
              </a:spcBef>
            </a:pPr>
            <a:r>
              <a:rPr lang="en-US" altLang="en-US" sz="1600" b="1">
                <a:latin typeface="+mj-lt"/>
              </a:rPr>
              <a:t>Requirements</a:t>
            </a:r>
          </a:p>
        </p:txBody>
      </p:sp>
      <p:sp>
        <p:nvSpPr>
          <p:cNvPr id="42" name="Line 42">
            <a:extLst>
              <a:ext uri="{FF2B5EF4-FFF2-40B4-BE49-F238E27FC236}">
                <a16:creationId xmlns:a16="http://schemas.microsoft.com/office/drawing/2014/main" id="{E117D892-7155-D075-7F89-4B4316730EB6}"/>
              </a:ext>
            </a:extLst>
          </p:cNvPr>
          <p:cNvSpPr>
            <a:spLocks noChangeShapeType="1"/>
          </p:cNvSpPr>
          <p:nvPr/>
        </p:nvSpPr>
        <p:spPr bwMode="auto">
          <a:xfrm flipV="1">
            <a:off x="4933233" y="1534447"/>
            <a:ext cx="0" cy="49530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43" name="Line 43">
            <a:extLst>
              <a:ext uri="{FF2B5EF4-FFF2-40B4-BE49-F238E27FC236}">
                <a16:creationId xmlns:a16="http://schemas.microsoft.com/office/drawing/2014/main" id="{0357DECF-B5D5-4B62-C81A-A1F20925FF07}"/>
              </a:ext>
            </a:extLst>
          </p:cNvPr>
          <p:cNvSpPr>
            <a:spLocks noChangeShapeType="1"/>
          </p:cNvSpPr>
          <p:nvPr/>
        </p:nvSpPr>
        <p:spPr bwMode="auto">
          <a:xfrm>
            <a:off x="6728696" y="1534447"/>
            <a:ext cx="0" cy="49530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44" name="Line 44">
            <a:extLst>
              <a:ext uri="{FF2B5EF4-FFF2-40B4-BE49-F238E27FC236}">
                <a16:creationId xmlns:a16="http://schemas.microsoft.com/office/drawing/2014/main" id="{4B3BF6C2-325B-CD00-63A8-03784D5E73BE}"/>
              </a:ext>
            </a:extLst>
          </p:cNvPr>
          <p:cNvSpPr>
            <a:spLocks noChangeShapeType="1"/>
          </p:cNvSpPr>
          <p:nvPr/>
        </p:nvSpPr>
        <p:spPr bwMode="auto">
          <a:xfrm>
            <a:off x="4933233" y="1534447"/>
            <a:ext cx="1793875" cy="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45" name="Line 45">
            <a:extLst>
              <a:ext uri="{FF2B5EF4-FFF2-40B4-BE49-F238E27FC236}">
                <a16:creationId xmlns:a16="http://schemas.microsoft.com/office/drawing/2014/main" id="{9608D1B3-ECAD-7F94-D988-C09BB62558DA}"/>
              </a:ext>
            </a:extLst>
          </p:cNvPr>
          <p:cNvSpPr>
            <a:spLocks noChangeShapeType="1"/>
          </p:cNvSpPr>
          <p:nvPr/>
        </p:nvSpPr>
        <p:spPr bwMode="auto">
          <a:xfrm flipV="1">
            <a:off x="4933233" y="1037560"/>
            <a:ext cx="0" cy="496887"/>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46" name="Rectangle 46">
            <a:extLst>
              <a:ext uri="{FF2B5EF4-FFF2-40B4-BE49-F238E27FC236}">
                <a16:creationId xmlns:a16="http://schemas.microsoft.com/office/drawing/2014/main" id="{35C608E8-556E-DF06-C124-7853DB0D9CB2}"/>
              </a:ext>
            </a:extLst>
          </p:cNvPr>
          <p:cNvSpPr>
            <a:spLocks noChangeArrowheads="1"/>
          </p:cNvSpPr>
          <p:nvPr/>
        </p:nvSpPr>
        <p:spPr bwMode="auto">
          <a:xfrm>
            <a:off x="5042771" y="1016922"/>
            <a:ext cx="1524000" cy="58102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600" b="1">
                <a:latin typeface="+mj-lt"/>
              </a:rPr>
              <a:t>Technical Descriptors</a:t>
            </a:r>
          </a:p>
        </p:txBody>
      </p:sp>
      <p:sp>
        <p:nvSpPr>
          <p:cNvPr id="47" name="Line 47">
            <a:extLst>
              <a:ext uri="{FF2B5EF4-FFF2-40B4-BE49-F238E27FC236}">
                <a16:creationId xmlns:a16="http://schemas.microsoft.com/office/drawing/2014/main" id="{A7DC114B-8855-1551-473B-8D7CDC4DD331}"/>
              </a:ext>
            </a:extLst>
          </p:cNvPr>
          <p:cNvSpPr>
            <a:spLocks noChangeShapeType="1"/>
          </p:cNvSpPr>
          <p:nvPr/>
        </p:nvSpPr>
        <p:spPr bwMode="auto">
          <a:xfrm>
            <a:off x="4933233" y="1037560"/>
            <a:ext cx="1793875" cy="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48" name="Line 48">
            <a:extLst>
              <a:ext uri="{FF2B5EF4-FFF2-40B4-BE49-F238E27FC236}">
                <a16:creationId xmlns:a16="http://schemas.microsoft.com/office/drawing/2014/main" id="{584AE11E-D5AD-EDB3-8529-6DF6A24321B6}"/>
              </a:ext>
            </a:extLst>
          </p:cNvPr>
          <p:cNvSpPr>
            <a:spLocks noChangeShapeType="1"/>
          </p:cNvSpPr>
          <p:nvPr/>
        </p:nvSpPr>
        <p:spPr bwMode="auto">
          <a:xfrm flipV="1">
            <a:off x="3355258" y="2029747"/>
            <a:ext cx="0" cy="173355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49" name="Line 49">
            <a:extLst>
              <a:ext uri="{FF2B5EF4-FFF2-40B4-BE49-F238E27FC236}">
                <a16:creationId xmlns:a16="http://schemas.microsoft.com/office/drawing/2014/main" id="{AAF2A538-4D29-8DA1-491F-7DF8F7837E13}"/>
              </a:ext>
            </a:extLst>
          </p:cNvPr>
          <p:cNvSpPr>
            <a:spLocks noChangeShapeType="1"/>
          </p:cNvSpPr>
          <p:nvPr/>
        </p:nvSpPr>
        <p:spPr bwMode="auto">
          <a:xfrm flipV="1">
            <a:off x="2904408" y="1534447"/>
            <a:ext cx="0" cy="222885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0" name="Line 50">
            <a:extLst>
              <a:ext uri="{FF2B5EF4-FFF2-40B4-BE49-F238E27FC236}">
                <a16:creationId xmlns:a16="http://schemas.microsoft.com/office/drawing/2014/main" id="{21480E11-905F-A8C5-5D03-783FCFC018AB}"/>
              </a:ext>
            </a:extLst>
          </p:cNvPr>
          <p:cNvSpPr>
            <a:spLocks noChangeShapeType="1"/>
          </p:cNvSpPr>
          <p:nvPr/>
        </p:nvSpPr>
        <p:spPr bwMode="auto">
          <a:xfrm>
            <a:off x="2904408" y="1534447"/>
            <a:ext cx="2022475" cy="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1" name="Line 51">
            <a:extLst>
              <a:ext uri="{FF2B5EF4-FFF2-40B4-BE49-F238E27FC236}">
                <a16:creationId xmlns:a16="http://schemas.microsoft.com/office/drawing/2014/main" id="{E8607768-44DD-7D35-4E63-E2DA1A71C3CE}"/>
              </a:ext>
            </a:extLst>
          </p:cNvPr>
          <p:cNvSpPr>
            <a:spLocks noChangeShapeType="1"/>
          </p:cNvSpPr>
          <p:nvPr/>
        </p:nvSpPr>
        <p:spPr bwMode="auto">
          <a:xfrm>
            <a:off x="3355258" y="2029747"/>
            <a:ext cx="1571625" cy="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2" name="Line 52">
            <a:extLst>
              <a:ext uri="{FF2B5EF4-FFF2-40B4-BE49-F238E27FC236}">
                <a16:creationId xmlns:a16="http://schemas.microsoft.com/office/drawing/2014/main" id="{92DB9336-3672-92F6-5331-AE19B4691A40}"/>
              </a:ext>
            </a:extLst>
          </p:cNvPr>
          <p:cNvSpPr>
            <a:spLocks noChangeShapeType="1"/>
          </p:cNvSpPr>
          <p:nvPr/>
        </p:nvSpPr>
        <p:spPr bwMode="auto">
          <a:xfrm>
            <a:off x="2904408" y="1534447"/>
            <a:ext cx="2022475" cy="222885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3" name="Rectangle 53">
            <a:extLst>
              <a:ext uri="{FF2B5EF4-FFF2-40B4-BE49-F238E27FC236}">
                <a16:creationId xmlns:a16="http://schemas.microsoft.com/office/drawing/2014/main" id="{89D6BFF6-E55D-6001-8E74-1F26105EAD05}"/>
              </a:ext>
            </a:extLst>
          </p:cNvPr>
          <p:cNvSpPr>
            <a:spLocks noChangeArrowheads="1"/>
          </p:cNvSpPr>
          <p:nvPr/>
        </p:nvSpPr>
        <p:spPr bwMode="auto">
          <a:xfrm>
            <a:off x="3996810" y="1572547"/>
            <a:ext cx="975909" cy="339196"/>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600" b="1" dirty="0">
                <a:latin typeface="+mj-lt"/>
              </a:rPr>
              <a:t>Primary</a:t>
            </a:r>
          </a:p>
        </p:txBody>
      </p:sp>
      <p:sp>
        <p:nvSpPr>
          <p:cNvPr id="54" name="Rectangle 54">
            <a:extLst>
              <a:ext uri="{FF2B5EF4-FFF2-40B4-BE49-F238E27FC236}">
                <a16:creationId xmlns:a16="http://schemas.microsoft.com/office/drawing/2014/main" id="{80A31DAB-5A29-BB7A-66C3-156C42AAD042}"/>
              </a:ext>
            </a:extLst>
          </p:cNvPr>
          <p:cNvSpPr>
            <a:spLocks noChangeArrowheads="1"/>
          </p:cNvSpPr>
          <p:nvPr/>
        </p:nvSpPr>
        <p:spPr bwMode="auto">
          <a:xfrm rot="16200000">
            <a:off x="2641879" y="3086493"/>
            <a:ext cx="975909" cy="339196"/>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600" b="1">
                <a:latin typeface="+mj-lt"/>
              </a:rPr>
              <a:t>Primary</a:t>
            </a:r>
          </a:p>
        </p:txBody>
      </p:sp>
      <p:sp>
        <p:nvSpPr>
          <p:cNvPr id="55" name="Rectangle 55">
            <a:extLst>
              <a:ext uri="{FF2B5EF4-FFF2-40B4-BE49-F238E27FC236}">
                <a16:creationId xmlns:a16="http://schemas.microsoft.com/office/drawing/2014/main" id="{24B4D223-9FA8-3946-7AE1-E84B7300DF7A}"/>
              </a:ext>
            </a:extLst>
          </p:cNvPr>
          <p:cNvSpPr>
            <a:spLocks noChangeArrowheads="1"/>
          </p:cNvSpPr>
          <p:nvPr/>
        </p:nvSpPr>
        <p:spPr bwMode="auto">
          <a:xfrm rot="16200000">
            <a:off x="2968701" y="2987804"/>
            <a:ext cx="1223963" cy="33655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600" b="1">
                <a:latin typeface="+mj-lt"/>
              </a:rPr>
              <a:t>Secondary</a:t>
            </a:r>
          </a:p>
        </p:txBody>
      </p:sp>
      <p:sp>
        <p:nvSpPr>
          <p:cNvPr id="56" name="Rectangle 56">
            <a:extLst>
              <a:ext uri="{FF2B5EF4-FFF2-40B4-BE49-F238E27FC236}">
                <a16:creationId xmlns:a16="http://schemas.microsoft.com/office/drawing/2014/main" id="{4658CA82-67F6-7535-F90A-7E4504808692}"/>
              </a:ext>
            </a:extLst>
          </p:cNvPr>
          <p:cNvSpPr>
            <a:spLocks noChangeArrowheads="1"/>
          </p:cNvSpPr>
          <p:nvPr/>
        </p:nvSpPr>
        <p:spPr bwMode="auto">
          <a:xfrm>
            <a:off x="3733083" y="2086897"/>
            <a:ext cx="1223963" cy="33655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600" b="1">
                <a:latin typeface="+mj-lt"/>
              </a:rPr>
              <a:t>Secondary</a:t>
            </a:r>
          </a:p>
        </p:txBody>
      </p:sp>
      <p:sp>
        <p:nvSpPr>
          <p:cNvPr id="57" name="Line 57">
            <a:extLst>
              <a:ext uri="{FF2B5EF4-FFF2-40B4-BE49-F238E27FC236}">
                <a16:creationId xmlns:a16="http://schemas.microsoft.com/office/drawing/2014/main" id="{C4A2E34D-FE11-5F94-9C47-EC578F2BDA5B}"/>
              </a:ext>
            </a:extLst>
          </p:cNvPr>
          <p:cNvSpPr>
            <a:spLocks noChangeShapeType="1"/>
          </p:cNvSpPr>
          <p:nvPr/>
        </p:nvSpPr>
        <p:spPr bwMode="auto">
          <a:xfrm>
            <a:off x="5377733" y="3763297"/>
            <a:ext cx="0" cy="198120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8" name="Line 58">
            <a:extLst>
              <a:ext uri="{FF2B5EF4-FFF2-40B4-BE49-F238E27FC236}">
                <a16:creationId xmlns:a16="http://schemas.microsoft.com/office/drawing/2014/main" id="{4F1135B6-6686-7FFB-4CA7-1586B90EDB75}"/>
              </a:ext>
            </a:extLst>
          </p:cNvPr>
          <p:cNvSpPr>
            <a:spLocks noChangeShapeType="1"/>
          </p:cNvSpPr>
          <p:nvPr/>
        </p:nvSpPr>
        <p:spPr bwMode="auto">
          <a:xfrm>
            <a:off x="6728696" y="1037560"/>
            <a:ext cx="0" cy="496887"/>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9" name="Line 59">
            <a:extLst>
              <a:ext uri="{FF2B5EF4-FFF2-40B4-BE49-F238E27FC236}">
                <a16:creationId xmlns:a16="http://schemas.microsoft.com/office/drawing/2014/main" id="{8D2C052C-16AF-A623-2D41-5D60BC7FF16A}"/>
              </a:ext>
            </a:extLst>
          </p:cNvPr>
          <p:cNvSpPr>
            <a:spLocks noChangeShapeType="1"/>
          </p:cNvSpPr>
          <p:nvPr/>
        </p:nvSpPr>
        <p:spPr bwMode="auto">
          <a:xfrm>
            <a:off x="2455146" y="5744497"/>
            <a:ext cx="4273550" cy="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grpSp>
        <p:nvGrpSpPr>
          <p:cNvPr id="60" name="Group 80">
            <a:extLst>
              <a:ext uri="{FF2B5EF4-FFF2-40B4-BE49-F238E27FC236}">
                <a16:creationId xmlns:a16="http://schemas.microsoft.com/office/drawing/2014/main" id="{22957E71-A67F-C7F9-D551-74BB7E73B5FE}"/>
              </a:ext>
            </a:extLst>
          </p:cNvPr>
          <p:cNvGrpSpPr>
            <a:grpSpLocks/>
          </p:cNvGrpSpPr>
          <p:nvPr/>
        </p:nvGrpSpPr>
        <p:grpSpPr bwMode="auto">
          <a:xfrm>
            <a:off x="4988796" y="3829972"/>
            <a:ext cx="1677987" cy="1595438"/>
            <a:chOff x="2613" y="2682"/>
            <a:chExt cx="1057" cy="1005"/>
          </a:xfrm>
        </p:grpSpPr>
        <p:sp>
          <p:nvSpPr>
            <p:cNvPr id="61" name="Oval 60">
              <a:extLst>
                <a:ext uri="{FF2B5EF4-FFF2-40B4-BE49-F238E27FC236}">
                  <a16:creationId xmlns:a16="http://schemas.microsoft.com/office/drawing/2014/main" id="{439E2DDE-C3E7-69A8-6E85-337EAD213292}"/>
                </a:ext>
              </a:extLst>
            </p:cNvPr>
            <p:cNvSpPr>
              <a:spLocks noChangeArrowheads="1"/>
            </p:cNvSpPr>
            <p:nvPr/>
          </p:nvSpPr>
          <p:spPr bwMode="auto">
            <a:xfrm>
              <a:off x="2618" y="3155"/>
              <a:ext cx="56" cy="61"/>
            </a:xfrm>
            <a:prstGeom prst="ellipse">
              <a:avLst/>
            </a:pr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62" name="Oval 61">
              <a:extLst>
                <a:ext uri="{FF2B5EF4-FFF2-40B4-BE49-F238E27FC236}">
                  <a16:creationId xmlns:a16="http://schemas.microsoft.com/office/drawing/2014/main" id="{4B9ACDC5-8397-FF75-5885-314DB003DBF4}"/>
                </a:ext>
              </a:extLst>
            </p:cNvPr>
            <p:cNvSpPr>
              <a:spLocks noChangeArrowheads="1"/>
            </p:cNvSpPr>
            <p:nvPr/>
          </p:nvSpPr>
          <p:spPr bwMode="auto">
            <a:xfrm>
              <a:off x="2635" y="3175"/>
              <a:ext cx="20" cy="24"/>
            </a:xfrm>
            <a:prstGeom prst="ellipse">
              <a:avLst/>
            </a:pr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63" name="Oval 62">
              <a:extLst>
                <a:ext uri="{FF2B5EF4-FFF2-40B4-BE49-F238E27FC236}">
                  <a16:creationId xmlns:a16="http://schemas.microsoft.com/office/drawing/2014/main" id="{8EF2C5AE-20E6-BEEE-5F2B-D7C5363051EC}"/>
                </a:ext>
              </a:extLst>
            </p:cNvPr>
            <p:cNvSpPr>
              <a:spLocks noChangeArrowheads="1"/>
            </p:cNvSpPr>
            <p:nvPr/>
          </p:nvSpPr>
          <p:spPr bwMode="auto">
            <a:xfrm>
              <a:off x="2765" y="2845"/>
              <a:ext cx="55" cy="62"/>
            </a:xfrm>
            <a:prstGeom prst="ellipse">
              <a:avLst/>
            </a:pr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64" name="AutoShape 63">
              <a:extLst>
                <a:ext uri="{FF2B5EF4-FFF2-40B4-BE49-F238E27FC236}">
                  <a16:creationId xmlns:a16="http://schemas.microsoft.com/office/drawing/2014/main" id="{D436B38E-53E5-E129-3AE9-D0A77BA5F505}"/>
                </a:ext>
              </a:extLst>
            </p:cNvPr>
            <p:cNvSpPr>
              <a:spLocks noChangeArrowheads="1"/>
            </p:cNvSpPr>
            <p:nvPr/>
          </p:nvSpPr>
          <p:spPr bwMode="auto">
            <a:xfrm>
              <a:off x="3322" y="2838"/>
              <a:ext cx="54" cy="62"/>
            </a:xfrm>
            <a:prstGeom prst="triangle">
              <a:avLst>
                <a:gd name="adj" fmla="val 49995"/>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65" name="Oval 64">
              <a:extLst>
                <a:ext uri="{FF2B5EF4-FFF2-40B4-BE49-F238E27FC236}">
                  <a16:creationId xmlns:a16="http://schemas.microsoft.com/office/drawing/2014/main" id="{65E37F0E-5C19-5946-F71A-DE666C62AD80}"/>
                </a:ext>
              </a:extLst>
            </p:cNvPr>
            <p:cNvSpPr>
              <a:spLocks noChangeArrowheads="1"/>
            </p:cNvSpPr>
            <p:nvPr/>
          </p:nvSpPr>
          <p:spPr bwMode="auto">
            <a:xfrm>
              <a:off x="3043" y="2686"/>
              <a:ext cx="55" cy="63"/>
            </a:xfrm>
            <a:prstGeom prst="ellipse">
              <a:avLst/>
            </a:pr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66" name="Oval 65">
              <a:extLst>
                <a:ext uri="{FF2B5EF4-FFF2-40B4-BE49-F238E27FC236}">
                  <a16:creationId xmlns:a16="http://schemas.microsoft.com/office/drawing/2014/main" id="{757F30A2-CE1B-8B09-712B-9047E5F61D64}"/>
                </a:ext>
              </a:extLst>
            </p:cNvPr>
            <p:cNvSpPr>
              <a:spLocks noChangeArrowheads="1"/>
            </p:cNvSpPr>
            <p:nvPr/>
          </p:nvSpPr>
          <p:spPr bwMode="auto">
            <a:xfrm>
              <a:off x="3061" y="2706"/>
              <a:ext cx="19" cy="25"/>
            </a:xfrm>
            <a:prstGeom prst="ellipse">
              <a:avLst/>
            </a:pr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67" name="Oval 66">
              <a:extLst>
                <a:ext uri="{FF2B5EF4-FFF2-40B4-BE49-F238E27FC236}">
                  <a16:creationId xmlns:a16="http://schemas.microsoft.com/office/drawing/2014/main" id="{09F445EE-0170-3D8E-86D1-2926EA833DE5}"/>
                </a:ext>
              </a:extLst>
            </p:cNvPr>
            <p:cNvSpPr>
              <a:spLocks noChangeArrowheads="1"/>
            </p:cNvSpPr>
            <p:nvPr/>
          </p:nvSpPr>
          <p:spPr bwMode="auto">
            <a:xfrm>
              <a:off x="3185" y="3155"/>
              <a:ext cx="55" cy="61"/>
            </a:xfrm>
            <a:prstGeom prst="ellipse">
              <a:avLst/>
            </a:pr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68" name="Oval 67">
              <a:extLst>
                <a:ext uri="{FF2B5EF4-FFF2-40B4-BE49-F238E27FC236}">
                  <a16:creationId xmlns:a16="http://schemas.microsoft.com/office/drawing/2014/main" id="{02965D1C-CC08-3E1C-3988-1620B6E1C66B}"/>
                </a:ext>
              </a:extLst>
            </p:cNvPr>
            <p:cNvSpPr>
              <a:spLocks noChangeArrowheads="1"/>
            </p:cNvSpPr>
            <p:nvPr/>
          </p:nvSpPr>
          <p:spPr bwMode="auto">
            <a:xfrm>
              <a:off x="3202" y="3175"/>
              <a:ext cx="20" cy="24"/>
            </a:xfrm>
            <a:prstGeom prst="ellipse">
              <a:avLst/>
            </a:pr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69" name="Oval 68">
              <a:extLst>
                <a:ext uri="{FF2B5EF4-FFF2-40B4-BE49-F238E27FC236}">
                  <a16:creationId xmlns:a16="http://schemas.microsoft.com/office/drawing/2014/main" id="{23E14B63-E7B3-2690-546D-856A1D3AE54F}"/>
                </a:ext>
              </a:extLst>
            </p:cNvPr>
            <p:cNvSpPr>
              <a:spLocks noChangeArrowheads="1"/>
            </p:cNvSpPr>
            <p:nvPr/>
          </p:nvSpPr>
          <p:spPr bwMode="auto">
            <a:xfrm>
              <a:off x="2902" y="3311"/>
              <a:ext cx="54" cy="62"/>
            </a:xfrm>
            <a:prstGeom prst="ellipse">
              <a:avLst/>
            </a:pr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70" name="Oval 69">
              <a:extLst>
                <a:ext uri="{FF2B5EF4-FFF2-40B4-BE49-F238E27FC236}">
                  <a16:creationId xmlns:a16="http://schemas.microsoft.com/office/drawing/2014/main" id="{93109459-BDD1-732B-8AC2-2DCD362AB664}"/>
                </a:ext>
              </a:extLst>
            </p:cNvPr>
            <p:cNvSpPr>
              <a:spLocks noChangeArrowheads="1"/>
            </p:cNvSpPr>
            <p:nvPr/>
          </p:nvSpPr>
          <p:spPr bwMode="auto">
            <a:xfrm>
              <a:off x="2919" y="3330"/>
              <a:ext cx="20" cy="25"/>
            </a:xfrm>
            <a:prstGeom prst="ellipse">
              <a:avLst/>
            </a:pr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71" name="Oval 70">
              <a:extLst>
                <a:ext uri="{FF2B5EF4-FFF2-40B4-BE49-F238E27FC236}">
                  <a16:creationId xmlns:a16="http://schemas.microsoft.com/office/drawing/2014/main" id="{53A3E929-05EA-21F5-CCDC-811A6FD09691}"/>
                </a:ext>
              </a:extLst>
            </p:cNvPr>
            <p:cNvSpPr>
              <a:spLocks noChangeArrowheads="1"/>
            </p:cNvSpPr>
            <p:nvPr/>
          </p:nvSpPr>
          <p:spPr bwMode="auto">
            <a:xfrm>
              <a:off x="3611" y="3623"/>
              <a:ext cx="54" cy="62"/>
            </a:xfrm>
            <a:prstGeom prst="ellipse">
              <a:avLst/>
            </a:pr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72" name="Oval 71">
              <a:extLst>
                <a:ext uri="{FF2B5EF4-FFF2-40B4-BE49-F238E27FC236}">
                  <a16:creationId xmlns:a16="http://schemas.microsoft.com/office/drawing/2014/main" id="{0491EA32-D80C-8EC0-8007-B9EF1E44C552}"/>
                </a:ext>
              </a:extLst>
            </p:cNvPr>
            <p:cNvSpPr>
              <a:spLocks noChangeArrowheads="1"/>
            </p:cNvSpPr>
            <p:nvPr/>
          </p:nvSpPr>
          <p:spPr bwMode="auto">
            <a:xfrm>
              <a:off x="3628" y="3643"/>
              <a:ext cx="20" cy="24"/>
            </a:xfrm>
            <a:prstGeom prst="ellipse">
              <a:avLst/>
            </a:pr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73" name="Oval 72">
              <a:extLst>
                <a:ext uri="{FF2B5EF4-FFF2-40B4-BE49-F238E27FC236}">
                  <a16:creationId xmlns:a16="http://schemas.microsoft.com/office/drawing/2014/main" id="{0FFEC18B-9DC4-CD1F-A8CF-0FC516BA648E}"/>
                </a:ext>
              </a:extLst>
            </p:cNvPr>
            <p:cNvSpPr>
              <a:spLocks noChangeArrowheads="1"/>
            </p:cNvSpPr>
            <p:nvPr/>
          </p:nvSpPr>
          <p:spPr bwMode="auto">
            <a:xfrm>
              <a:off x="3049" y="3157"/>
              <a:ext cx="54" cy="61"/>
            </a:xfrm>
            <a:prstGeom prst="ellipse">
              <a:avLst/>
            </a:pr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74" name="Oval 73">
              <a:extLst>
                <a:ext uri="{FF2B5EF4-FFF2-40B4-BE49-F238E27FC236}">
                  <a16:creationId xmlns:a16="http://schemas.microsoft.com/office/drawing/2014/main" id="{D7CCCD38-4D44-EBA5-7B14-BA2398B3B1FE}"/>
                </a:ext>
              </a:extLst>
            </p:cNvPr>
            <p:cNvSpPr>
              <a:spLocks noChangeArrowheads="1"/>
            </p:cNvSpPr>
            <p:nvPr/>
          </p:nvSpPr>
          <p:spPr bwMode="auto">
            <a:xfrm>
              <a:off x="3616" y="3312"/>
              <a:ext cx="54" cy="63"/>
            </a:xfrm>
            <a:prstGeom prst="ellipse">
              <a:avLst/>
            </a:pr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75" name="Oval 74">
              <a:extLst>
                <a:ext uri="{FF2B5EF4-FFF2-40B4-BE49-F238E27FC236}">
                  <a16:creationId xmlns:a16="http://schemas.microsoft.com/office/drawing/2014/main" id="{6DFDE3B2-C3F6-5AD8-CCDD-3E9137EF19C7}"/>
                </a:ext>
              </a:extLst>
            </p:cNvPr>
            <p:cNvSpPr>
              <a:spLocks noChangeArrowheads="1"/>
            </p:cNvSpPr>
            <p:nvPr/>
          </p:nvSpPr>
          <p:spPr bwMode="auto">
            <a:xfrm>
              <a:off x="2907" y="3625"/>
              <a:ext cx="54" cy="62"/>
            </a:xfrm>
            <a:prstGeom prst="ellipse">
              <a:avLst/>
            </a:pr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76" name="Oval 75">
              <a:extLst>
                <a:ext uri="{FF2B5EF4-FFF2-40B4-BE49-F238E27FC236}">
                  <a16:creationId xmlns:a16="http://schemas.microsoft.com/office/drawing/2014/main" id="{32388011-EF2B-12DA-F684-33F9283FB753}"/>
                </a:ext>
              </a:extLst>
            </p:cNvPr>
            <p:cNvSpPr>
              <a:spLocks noChangeArrowheads="1"/>
            </p:cNvSpPr>
            <p:nvPr/>
          </p:nvSpPr>
          <p:spPr bwMode="auto">
            <a:xfrm>
              <a:off x="3474" y="3625"/>
              <a:ext cx="55" cy="62"/>
            </a:xfrm>
            <a:prstGeom prst="ellipse">
              <a:avLst/>
            </a:pr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77" name="AutoShape 76">
              <a:extLst>
                <a:ext uri="{FF2B5EF4-FFF2-40B4-BE49-F238E27FC236}">
                  <a16:creationId xmlns:a16="http://schemas.microsoft.com/office/drawing/2014/main" id="{C9891BBC-43E8-97FD-1566-97AEFE4D573D}"/>
                </a:ext>
              </a:extLst>
            </p:cNvPr>
            <p:cNvSpPr>
              <a:spLocks noChangeArrowheads="1"/>
            </p:cNvSpPr>
            <p:nvPr/>
          </p:nvSpPr>
          <p:spPr bwMode="auto">
            <a:xfrm>
              <a:off x="2613" y="2682"/>
              <a:ext cx="54" cy="61"/>
            </a:xfrm>
            <a:prstGeom prst="triangle">
              <a:avLst>
                <a:gd name="adj" fmla="val 49995"/>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78" name="AutoShape 77">
              <a:extLst>
                <a:ext uri="{FF2B5EF4-FFF2-40B4-BE49-F238E27FC236}">
                  <a16:creationId xmlns:a16="http://schemas.microsoft.com/office/drawing/2014/main" id="{B7760AA5-F5A8-A3DE-9404-CD8C8F24CB54}"/>
                </a:ext>
              </a:extLst>
            </p:cNvPr>
            <p:cNvSpPr>
              <a:spLocks noChangeArrowheads="1"/>
            </p:cNvSpPr>
            <p:nvPr/>
          </p:nvSpPr>
          <p:spPr bwMode="auto">
            <a:xfrm>
              <a:off x="3605" y="3150"/>
              <a:ext cx="54" cy="62"/>
            </a:xfrm>
            <a:prstGeom prst="triangle">
              <a:avLst>
                <a:gd name="adj" fmla="val 49995"/>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79" name="AutoShape 78">
              <a:extLst>
                <a:ext uri="{FF2B5EF4-FFF2-40B4-BE49-F238E27FC236}">
                  <a16:creationId xmlns:a16="http://schemas.microsoft.com/office/drawing/2014/main" id="{8D7C2BC5-5712-82C8-E203-D9A8872970D5}"/>
                </a:ext>
              </a:extLst>
            </p:cNvPr>
            <p:cNvSpPr>
              <a:spLocks noChangeArrowheads="1"/>
            </p:cNvSpPr>
            <p:nvPr/>
          </p:nvSpPr>
          <p:spPr bwMode="auto">
            <a:xfrm>
              <a:off x="3463" y="3306"/>
              <a:ext cx="55" cy="62"/>
            </a:xfrm>
            <a:prstGeom prst="triangle">
              <a:avLst>
                <a:gd name="adj" fmla="val 49995"/>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80" name="AutoShape 79">
              <a:extLst>
                <a:ext uri="{FF2B5EF4-FFF2-40B4-BE49-F238E27FC236}">
                  <a16:creationId xmlns:a16="http://schemas.microsoft.com/office/drawing/2014/main" id="{11B3C145-2217-8022-ED03-04DC789B40A1}"/>
                </a:ext>
              </a:extLst>
            </p:cNvPr>
            <p:cNvSpPr>
              <a:spLocks noChangeArrowheads="1"/>
            </p:cNvSpPr>
            <p:nvPr/>
          </p:nvSpPr>
          <p:spPr bwMode="auto">
            <a:xfrm>
              <a:off x="2754" y="3462"/>
              <a:ext cx="55" cy="62"/>
            </a:xfrm>
            <a:prstGeom prst="triangle">
              <a:avLst>
                <a:gd name="adj" fmla="val 49995"/>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grpSp>
      <p:sp>
        <p:nvSpPr>
          <p:cNvPr id="81" name="Line 81">
            <a:extLst>
              <a:ext uri="{FF2B5EF4-FFF2-40B4-BE49-F238E27FC236}">
                <a16:creationId xmlns:a16="http://schemas.microsoft.com/office/drawing/2014/main" id="{47B7F54A-04EE-C6A0-F678-9E0DA92CD034}"/>
              </a:ext>
            </a:extLst>
          </p:cNvPr>
          <p:cNvSpPr>
            <a:spLocks noChangeShapeType="1"/>
          </p:cNvSpPr>
          <p:nvPr/>
        </p:nvSpPr>
        <p:spPr bwMode="auto">
          <a:xfrm>
            <a:off x="6728696" y="3763297"/>
            <a:ext cx="0" cy="1981200"/>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82" name="Rectangle 82">
            <a:extLst>
              <a:ext uri="{FF2B5EF4-FFF2-40B4-BE49-F238E27FC236}">
                <a16:creationId xmlns:a16="http://schemas.microsoft.com/office/drawing/2014/main" id="{399C9EBB-9FB9-2258-38DA-D338D238D8B6}"/>
              </a:ext>
            </a:extLst>
          </p:cNvPr>
          <p:cNvSpPr>
            <a:spLocks noChangeArrowheads="1"/>
          </p:cNvSpPr>
          <p:nvPr/>
        </p:nvSpPr>
        <p:spPr bwMode="auto">
          <a:xfrm>
            <a:off x="7098583" y="3245772"/>
            <a:ext cx="2395538" cy="131445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600" b="1">
                <a:latin typeface="+mj-lt"/>
              </a:rPr>
              <a:t>Relationship between</a:t>
            </a:r>
          </a:p>
          <a:p>
            <a:pPr algn="ctr"/>
            <a:r>
              <a:rPr lang="en-US" altLang="en-US" sz="1600" b="1">
                <a:latin typeface="+mj-lt"/>
              </a:rPr>
              <a:t>Customer Requirements and</a:t>
            </a:r>
          </a:p>
          <a:p>
            <a:pPr algn="ctr"/>
            <a:r>
              <a:rPr lang="en-US" altLang="en-US" sz="1600" b="1">
                <a:latin typeface="+mj-lt"/>
              </a:rPr>
              <a:t>Technical Descriptors</a:t>
            </a:r>
          </a:p>
          <a:p>
            <a:pPr algn="ctr"/>
            <a:r>
              <a:rPr lang="en-US" altLang="en-US" sz="1600" b="1">
                <a:latin typeface="+mj-lt"/>
              </a:rPr>
              <a:t>WHATs vs. HOWs</a:t>
            </a:r>
          </a:p>
        </p:txBody>
      </p:sp>
      <p:grpSp>
        <p:nvGrpSpPr>
          <p:cNvPr id="83" name="Group 95">
            <a:extLst>
              <a:ext uri="{FF2B5EF4-FFF2-40B4-BE49-F238E27FC236}">
                <a16:creationId xmlns:a16="http://schemas.microsoft.com/office/drawing/2014/main" id="{6F0F57AF-250E-80C9-6BFD-FCAABB642F7F}"/>
              </a:ext>
            </a:extLst>
          </p:cNvPr>
          <p:cNvGrpSpPr>
            <a:grpSpLocks/>
          </p:cNvGrpSpPr>
          <p:nvPr/>
        </p:nvGrpSpPr>
        <p:grpSpPr bwMode="auto">
          <a:xfrm>
            <a:off x="7566896" y="4614197"/>
            <a:ext cx="1490662" cy="933450"/>
            <a:chOff x="4237" y="3176"/>
            <a:chExt cx="939" cy="588"/>
          </a:xfrm>
        </p:grpSpPr>
        <p:sp>
          <p:nvSpPr>
            <p:cNvPr id="84" name="Rectangle 83">
              <a:extLst>
                <a:ext uri="{FF2B5EF4-FFF2-40B4-BE49-F238E27FC236}">
                  <a16:creationId xmlns:a16="http://schemas.microsoft.com/office/drawing/2014/main" id="{856BCE17-D04F-AB39-6754-DAA7734A34C8}"/>
                </a:ext>
              </a:extLst>
            </p:cNvPr>
            <p:cNvSpPr>
              <a:spLocks noChangeArrowheads="1"/>
            </p:cNvSpPr>
            <p:nvPr/>
          </p:nvSpPr>
          <p:spPr bwMode="auto">
            <a:xfrm>
              <a:off x="4596" y="3243"/>
              <a:ext cx="481"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dirty="0">
                  <a:latin typeface="+mj-lt"/>
                </a:rPr>
                <a:t>Strong</a:t>
              </a:r>
            </a:p>
          </p:txBody>
        </p:sp>
        <p:sp>
          <p:nvSpPr>
            <p:cNvPr id="85" name="Rectangle 84">
              <a:extLst>
                <a:ext uri="{FF2B5EF4-FFF2-40B4-BE49-F238E27FC236}">
                  <a16:creationId xmlns:a16="http://schemas.microsoft.com/office/drawing/2014/main" id="{2E9D2B10-DBBC-58D0-A885-9E6A14686A12}"/>
                </a:ext>
              </a:extLst>
            </p:cNvPr>
            <p:cNvSpPr>
              <a:spLocks noChangeArrowheads="1"/>
            </p:cNvSpPr>
            <p:nvPr/>
          </p:nvSpPr>
          <p:spPr bwMode="auto">
            <a:xfrm>
              <a:off x="4595" y="3399"/>
              <a:ext cx="549"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mj-lt"/>
                </a:rPr>
                <a:t>Medium</a:t>
              </a:r>
            </a:p>
          </p:txBody>
        </p:sp>
        <p:sp>
          <p:nvSpPr>
            <p:cNvPr id="86" name="Rectangle 85">
              <a:extLst>
                <a:ext uri="{FF2B5EF4-FFF2-40B4-BE49-F238E27FC236}">
                  <a16:creationId xmlns:a16="http://schemas.microsoft.com/office/drawing/2014/main" id="{7D0442D4-B438-DEDE-A510-74BB47CDBC58}"/>
                </a:ext>
              </a:extLst>
            </p:cNvPr>
            <p:cNvSpPr>
              <a:spLocks noChangeArrowheads="1"/>
            </p:cNvSpPr>
            <p:nvPr/>
          </p:nvSpPr>
          <p:spPr bwMode="auto">
            <a:xfrm>
              <a:off x="4595" y="3565"/>
              <a:ext cx="424"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mj-lt"/>
                </a:rPr>
                <a:t>Weak</a:t>
              </a:r>
            </a:p>
          </p:txBody>
        </p:sp>
        <p:sp>
          <p:nvSpPr>
            <p:cNvPr id="87" name="Oval 86">
              <a:extLst>
                <a:ext uri="{FF2B5EF4-FFF2-40B4-BE49-F238E27FC236}">
                  <a16:creationId xmlns:a16="http://schemas.microsoft.com/office/drawing/2014/main" id="{13E8AA7E-86AE-F5BF-199A-149BE888F73F}"/>
                </a:ext>
              </a:extLst>
            </p:cNvPr>
            <p:cNvSpPr>
              <a:spLocks noChangeArrowheads="1"/>
            </p:cNvSpPr>
            <p:nvPr/>
          </p:nvSpPr>
          <p:spPr bwMode="auto">
            <a:xfrm>
              <a:off x="4516" y="3421"/>
              <a:ext cx="55" cy="63"/>
            </a:xfrm>
            <a:prstGeom prst="ellipse">
              <a:avLst/>
            </a:pr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grpSp>
          <p:nvGrpSpPr>
            <p:cNvPr id="88" name="Group 89">
              <a:extLst>
                <a:ext uri="{FF2B5EF4-FFF2-40B4-BE49-F238E27FC236}">
                  <a16:creationId xmlns:a16="http://schemas.microsoft.com/office/drawing/2014/main" id="{CB9D864A-3EDF-5401-8BA5-C860F53D4BDC}"/>
                </a:ext>
              </a:extLst>
            </p:cNvPr>
            <p:cNvGrpSpPr>
              <a:grpSpLocks/>
            </p:cNvGrpSpPr>
            <p:nvPr/>
          </p:nvGrpSpPr>
          <p:grpSpPr bwMode="auto">
            <a:xfrm>
              <a:off x="4512" y="3263"/>
              <a:ext cx="54" cy="62"/>
              <a:chOff x="4512" y="3263"/>
              <a:chExt cx="54" cy="62"/>
            </a:xfrm>
          </p:grpSpPr>
          <p:sp>
            <p:nvSpPr>
              <p:cNvPr id="94" name="Oval 87">
                <a:extLst>
                  <a:ext uri="{FF2B5EF4-FFF2-40B4-BE49-F238E27FC236}">
                    <a16:creationId xmlns:a16="http://schemas.microsoft.com/office/drawing/2014/main" id="{27EF6E80-559F-2784-1FB3-EDDE0DDCAF04}"/>
                  </a:ext>
                </a:extLst>
              </p:cNvPr>
              <p:cNvSpPr>
                <a:spLocks noChangeArrowheads="1"/>
              </p:cNvSpPr>
              <p:nvPr/>
            </p:nvSpPr>
            <p:spPr bwMode="auto">
              <a:xfrm>
                <a:off x="4512" y="3263"/>
                <a:ext cx="54" cy="62"/>
              </a:xfrm>
              <a:prstGeom prst="ellipse">
                <a:avLst/>
              </a:pr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95" name="Oval 88">
                <a:extLst>
                  <a:ext uri="{FF2B5EF4-FFF2-40B4-BE49-F238E27FC236}">
                    <a16:creationId xmlns:a16="http://schemas.microsoft.com/office/drawing/2014/main" id="{E3D39A55-8324-B527-DC14-A211D6634402}"/>
                  </a:ext>
                </a:extLst>
              </p:cNvPr>
              <p:cNvSpPr>
                <a:spLocks noChangeArrowheads="1"/>
              </p:cNvSpPr>
              <p:nvPr/>
            </p:nvSpPr>
            <p:spPr bwMode="auto">
              <a:xfrm>
                <a:off x="4529" y="3283"/>
                <a:ext cx="20" cy="25"/>
              </a:xfrm>
              <a:prstGeom prst="ellipse">
                <a:avLst/>
              </a:pr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grpSp>
        <p:sp>
          <p:nvSpPr>
            <p:cNvPr id="89" name="Rectangle 90">
              <a:extLst>
                <a:ext uri="{FF2B5EF4-FFF2-40B4-BE49-F238E27FC236}">
                  <a16:creationId xmlns:a16="http://schemas.microsoft.com/office/drawing/2014/main" id="{D86E7753-5BEA-2F6F-6503-09D405B17C31}"/>
                </a:ext>
              </a:extLst>
            </p:cNvPr>
            <p:cNvSpPr>
              <a:spLocks noChangeArrowheads="1"/>
            </p:cNvSpPr>
            <p:nvPr/>
          </p:nvSpPr>
          <p:spPr bwMode="auto">
            <a:xfrm>
              <a:off x="4242" y="3243"/>
              <a:ext cx="245"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mj-lt"/>
                </a:rPr>
                <a:t>+9</a:t>
              </a:r>
            </a:p>
          </p:txBody>
        </p:sp>
        <p:sp>
          <p:nvSpPr>
            <p:cNvPr id="90" name="Rectangle 91">
              <a:extLst>
                <a:ext uri="{FF2B5EF4-FFF2-40B4-BE49-F238E27FC236}">
                  <a16:creationId xmlns:a16="http://schemas.microsoft.com/office/drawing/2014/main" id="{3EC02999-981E-1179-7132-F35464B03271}"/>
                </a:ext>
              </a:extLst>
            </p:cNvPr>
            <p:cNvSpPr>
              <a:spLocks noChangeArrowheads="1"/>
            </p:cNvSpPr>
            <p:nvPr/>
          </p:nvSpPr>
          <p:spPr bwMode="auto">
            <a:xfrm>
              <a:off x="4242" y="3399"/>
              <a:ext cx="245"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mj-lt"/>
                </a:rPr>
                <a:t>+3</a:t>
              </a:r>
            </a:p>
          </p:txBody>
        </p:sp>
        <p:sp>
          <p:nvSpPr>
            <p:cNvPr id="91" name="Rectangle 92">
              <a:extLst>
                <a:ext uri="{FF2B5EF4-FFF2-40B4-BE49-F238E27FC236}">
                  <a16:creationId xmlns:a16="http://schemas.microsoft.com/office/drawing/2014/main" id="{71337893-42FF-BDC9-25EA-1FE3D5E6E0E5}"/>
                </a:ext>
              </a:extLst>
            </p:cNvPr>
            <p:cNvSpPr>
              <a:spLocks noChangeArrowheads="1"/>
            </p:cNvSpPr>
            <p:nvPr/>
          </p:nvSpPr>
          <p:spPr bwMode="auto">
            <a:xfrm>
              <a:off x="4237" y="3176"/>
              <a:ext cx="939" cy="588"/>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92" name="Rectangle 93">
              <a:extLst>
                <a:ext uri="{FF2B5EF4-FFF2-40B4-BE49-F238E27FC236}">
                  <a16:creationId xmlns:a16="http://schemas.microsoft.com/office/drawing/2014/main" id="{E1631ABF-35D6-79B5-34A3-C939084279F7}"/>
                </a:ext>
              </a:extLst>
            </p:cNvPr>
            <p:cNvSpPr>
              <a:spLocks noChangeArrowheads="1"/>
            </p:cNvSpPr>
            <p:nvPr/>
          </p:nvSpPr>
          <p:spPr bwMode="auto">
            <a:xfrm>
              <a:off x="4242" y="3565"/>
              <a:ext cx="245"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dirty="0">
                  <a:latin typeface="+mj-lt"/>
                </a:rPr>
                <a:t>+1</a:t>
              </a:r>
            </a:p>
          </p:txBody>
        </p:sp>
        <p:sp>
          <p:nvSpPr>
            <p:cNvPr id="93" name="AutoShape 94">
              <a:extLst>
                <a:ext uri="{FF2B5EF4-FFF2-40B4-BE49-F238E27FC236}">
                  <a16:creationId xmlns:a16="http://schemas.microsoft.com/office/drawing/2014/main" id="{4BE3F534-A1AD-B9D1-146A-65A248B88321}"/>
                </a:ext>
              </a:extLst>
            </p:cNvPr>
            <p:cNvSpPr>
              <a:spLocks noChangeArrowheads="1"/>
            </p:cNvSpPr>
            <p:nvPr/>
          </p:nvSpPr>
          <p:spPr bwMode="auto">
            <a:xfrm>
              <a:off x="4519" y="3586"/>
              <a:ext cx="54" cy="62"/>
            </a:xfrm>
            <a:prstGeom prst="triangle">
              <a:avLst>
                <a:gd name="adj" fmla="val 49995"/>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grpSp>
    </p:spTree>
    <p:extLst>
      <p:ext uri="{BB962C8B-B14F-4D97-AF65-F5344CB8AC3E}">
        <p14:creationId xmlns:p14="http://schemas.microsoft.com/office/powerpoint/2010/main" val="9849567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2" y="196170"/>
            <a:ext cx="5108811"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IN" dirty="0">
                <a:latin typeface="+mj-lt"/>
              </a:rPr>
              <a:t>Correlation Matrix</a:t>
            </a:r>
          </a:p>
        </p:txBody>
      </p:sp>
      <p:grpSp>
        <p:nvGrpSpPr>
          <p:cNvPr id="3" name="Group 49">
            <a:extLst>
              <a:ext uri="{FF2B5EF4-FFF2-40B4-BE49-F238E27FC236}">
                <a16:creationId xmlns:a16="http://schemas.microsoft.com/office/drawing/2014/main" id="{F05C15BC-6C79-27CF-A54A-2CEEA1668B6B}"/>
              </a:ext>
            </a:extLst>
          </p:cNvPr>
          <p:cNvGrpSpPr>
            <a:grpSpLocks/>
          </p:cNvGrpSpPr>
          <p:nvPr/>
        </p:nvGrpSpPr>
        <p:grpSpPr bwMode="auto">
          <a:xfrm>
            <a:off x="5151541" y="881697"/>
            <a:ext cx="1277937" cy="793750"/>
            <a:chOff x="2539" y="684"/>
            <a:chExt cx="805" cy="500"/>
          </a:xfrm>
        </p:grpSpPr>
        <p:grpSp>
          <p:nvGrpSpPr>
            <p:cNvPr id="4" name="Group 5">
              <a:extLst>
                <a:ext uri="{FF2B5EF4-FFF2-40B4-BE49-F238E27FC236}">
                  <a16:creationId xmlns:a16="http://schemas.microsoft.com/office/drawing/2014/main" id="{0F14C346-BF98-7AEA-868B-98D82EBAC6F3}"/>
                </a:ext>
              </a:extLst>
            </p:cNvPr>
            <p:cNvGrpSpPr>
              <a:grpSpLocks/>
            </p:cNvGrpSpPr>
            <p:nvPr/>
          </p:nvGrpSpPr>
          <p:grpSpPr bwMode="auto">
            <a:xfrm>
              <a:off x="3014" y="759"/>
              <a:ext cx="60" cy="64"/>
              <a:chOff x="3014" y="759"/>
              <a:chExt cx="60" cy="64"/>
            </a:xfrm>
          </p:grpSpPr>
          <p:sp>
            <p:nvSpPr>
              <p:cNvPr id="48" name="Oval 3">
                <a:extLst>
                  <a:ext uri="{FF2B5EF4-FFF2-40B4-BE49-F238E27FC236}">
                    <a16:creationId xmlns:a16="http://schemas.microsoft.com/office/drawing/2014/main" id="{57E67BBA-C22E-F6C6-EDD5-80BEF0175D9A}"/>
                  </a:ext>
                </a:extLst>
              </p:cNvPr>
              <p:cNvSpPr>
                <a:spLocks noChangeArrowheads="1"/>
              </p:cNvSpPr>
              <p:nvPr/>
            </p:nvSpPr>
            <p:spPr bwMode="auto">
              <a:xfrm>
                <a:off x="3014" y="759"/>
                <a:ext cx="60" cy="64"/>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p>
            </p:txBody>
          </p:sp>
          <p:sp>
            <p:nvSpPr>
              <p:cNvPr id="49" name="Oval 4">
                <a:extLst>
                  <a:ext uri="{FF2B5EF4-FFF2-40B4-BE49-F238E27FC236}">
                    <a16:creationId xmlns:a16="http://schemas.microsoft.com/office/drawing/2014/main" id="{336385F0-6E8F-DC3A-41DF-0E43F15A1518}"/>
                  </a:ext>
                </a:extLst>
              </p:cNvPr>
              <p:cNvSpPr>
                <a:spLocks noChangeArrowheads="1"/>
              </p:cNvSpPr>
              <p:nvPr/>
            </p:nvSpPr>
            <p:spPr bwMode="auto">
              <a:xfrm>
                <a:off x="3031" y="777"/>
                <a:ext cx="26" cy="29"/>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p>
            </p:txBody>
          </p:sp>
        </p:grpSp>
        <p:grpSp>
          <p:nvGrpSpPr>
            <p:cNvPr id="5" name="Group 10">
              <a:extLst>
                <a:ext uri="{FF2B5EF4-FFF2-40B4-BE49-F238E27FC236}">
                  <a16:creationId xmlns:a16="http://schemas.microsoft.com/office/drawing/2014/main" id="{2808121A-E44B-7DBF-739D-ACF5A1DC0526}"/>
                </a:ext>
              </a:extLst>
            </p:cNvPr>
            <p:cNvGrpSpPr>
              <a:grpSpLocks/>
            </p:cNvGrpSpPr>
            <p:nvPr/>
          </p:nvGrpSpPr>
          <p:grpSpPr bwMode="auto">
            <a:xfrm>
              <a:off x="2673" y="967"/>
              <a:ext cx="68" cy="71"/>
              <a:chOff x="2673" y="967"/>
              <a:chExt cx="68" cy="71"/>
            </a:xfrm>
          </p:grpSpPr>
          <p:sp>
            <p:nvSpPr>
              <p:cNvPr id="44" name="Line 6">
                <a:extLst>
                  <a:ext uri="{FF2B5EF4-FFF2-40B4-BE49-F238E27FC236}">
                    <a16:creationId xmlns:a16="http://schemas.microsoft.com/office/drawing/2014/main" id="{AC0FBBCB-2F0E-232B-ED8A-1110EC7E0567}"/>
                  </a:ext>
                </a:extLst>
              </p:cNvPr>
              <p:cNvSpPr>
                <a:spLocks noChangeShapeType="1"/>
              </p:cNvSpPr>
              <p:nvPr/>
            </p:nvSpPr>
            <p:spPr bwMode="auto">
              <a:xfrm>
                <a:off x="2673" y="1003"/>
                <a:ext cx="68"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45" name="Line 7">
                <a:extLst>
                  <a:ext uri="{FF2B5EF4-FFF2-40B4-BE49-F238E27FC236}">
                    <a16:creationId xmlns:a16="http://schemas.microsoft.com/office/drawing/2014/main" id="{905318CC-F2AB-DD45-D1D1-436474A5EDE9}"/>
                  </a:ext>
                </a:extLst>
              </p:cNvPr>
              <p:cNvSpPr>
                <a:spLocks noChangeShapeType="1"/>
              </p:cNvSpPr>
              <p:nvPr/>
            </p:nvSpPr>
            <p:spPr bwMode="auto">
              <a:xfrm>
                <a:off x="2707" y="967"/>
                <a:ext cx="0" cy="71"/>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46" name="Line 8">
                <a:extLst>
                  <a:ext uri="{FF2B5EF4-FFF2-40B4-BE49-F238E27FC236}">
                    <a16:creationId xmlns:a16="http://schemas.microsoft.com/office/drawing/2014/main" id="{A6C353F3-DF38-C37D-42E7-4256F127196F}"/>
                  </a:ext>
                </a:extLst>
              </p:cNvPr>
              <p:cNvSpPr>
                <a:spLocks noChangeShapeType="1"/>
              </p:cNvSpPr>
              <p:nvPr/>
            </p:nvSpPr>
            <p:spPr bwMode="auto">
              <a:xfrm flipV="1">
                <a:off x="2673" y="967"/>
                <a:ext cx="68" cy="71"/>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47" name="Line 9">
                <a:extLst>
                  <a:ext uri="{FF2B5EF4-FFF2-40B4-BE49-F238E27FC236}">
                    <a16:creationId xmlns:a16="http://schemas.microsoft.com/office/drawing/2014/main" id="{0302BBF1-AB33-5744-E3A1-B2A21D3F137A}"/>
                  </a:ext>
                </a:extLst>
              </p:cNvPr>
              <p:cNvSpPr>
                <a:spLocks noChangeShapeType="1"/>
              </p:cNvSpPr>
              <p:nvPr/>
            </p:nvSpPr>
            <p:spPr bwMode="auto">
              <a:xfrm flipH="1" flipV="1">
                <a:off x="2673" y="967"/>
                <a:ext cx="68" cy="71"/>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 name="Group 13">
              <a:extLst>
                <a:ext uri="{FF2B5EF4-FFF2-40B4-BE49-F238E27FC236}">
                  <a16:creationId xmlns:a16="http://schemas.microsoft.com/office/drawing/2014/main" id="{46EA7A55-696E-B154-A267-1176A8E3C59D}"/>
                </a:ext>
              </a:extLst>
            </p:cNvPr>
            <p:cNvGrpSpPr>
              <a:grpSpLocks/>
            </p:cNvGrpSpPr>
            <p:nvPr/>
          </p:nvGrpSpPr>
          <p:grpSpPr bwMode="auto">
            <a:xfrm>
              <a:off x="2744" y="902"/>
              <a:ext cx="59" cy="64"/>
              <a:chOff x="2744" y="902"/>
              <a:chExt cx="59" cy="64"/>
            </a:xfrm>
          </p:grpSpPr>
          <p:sp>
            <p:nvSpPr>
              <p:cNvPr id="42" name="Oval 11">
                <a:extLst>
                  <a:ext uri="{FF2B5EF4-FFF2-40B4-BE49-F238E27FC236}">
                    <a16:creationId xmlns:a16="http://schemas.microsoft.com/office/drawing/2014/main" id="{991DBF6C-86E2-87D5-39A2-7749BB30203D}"/>
                  </a:ext>
                </a:extLst>
              </p:cNvPr>
              <p:cNvSpPr>
                <a:spLocks noChangeArrowheads="1"/>
              </p:cNvSpPr>
              <p:nvPr/>
            </p:nvSpPr>
            <p:spPr bwMode="auto">
              <a:xfrm>
                <a:off x="2744" y="902"/>
                <a:ext cx="59" cy="64"/>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p>
            </p:txBody>
          </p:sp>
          <p:sp>
            <p:nvSpPr>
              <p:cNvPr id="43" name="Oval 12">
                <a:extLst>
                  <a:ext uri="{FF2B5EF4-FFF2-40B4-BE49-F238E27FC236}">
                    <a16:creationId xmlns:a16="http://schemas.microsoft.com/office/drawing/2014/main" id="{16BC4C82-65C9-6BBF-3516-9D14C1B03E43}"/>
                  </a:ext>
                </a:extLst>
              </p:cNvPr>
              <p:cNvSpPr>
                <a:spLocks noChangeArrowheads="1"/>
              </p:cNvSpPr>
              <p:nvPr/>
            </p:nvSpPr>
            <p:spPr bwMode="auto">
              <a:xfrm>
                <a:off x="2760" y="920"/>
                <a:ext cx="26" cy="29"/>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p>
            </p:txBody>
          </p:sp>
        </p:grpSp>
        <p:grpSp>
          <p:nvGrpSpPr>
            <p:cNvPr id="7" name="Group 16">
              <a:extLst>
                <a:ext uri="{FF2B5EF4-FFF2-40B4-BE49-F238E27FC236}">
                  <a16:creationId xmlns:a16="http://schemas.microsoft.com/office/drawing/2014/main" id="{8E82F81A-D4EB-0FB0-3EE7-7810B75EF9A6}"/>
                </a:ext>
              </a:extLst>
            </p:cNvPr>
            <p:cNvGrpSpPr>
              <a:grpSpLocks/>
            </p:cNvGrpSpPr>
            <p:nvPr/>
          </p:nvGrpSpPr>
          <p:grpSpPr bwMode="auto">
            <a:xfrm>
              <a:off x="3284" y="1045"/>
              <a:ext cx="60" cy="64"/>
              <a:chOff x="3284" y="1045"/>
              <a:chExt cx="60" cy="64"/>
            </a:xfrm>
          </p:grpSpPr>
          <p:sp>
            <p:nvSpPr>
              <p:cNvPr id="40" name="Oval 14">
                <a:extLst>
                  <a:ext uri="{FF2B5EF4-FFF2-40B4-BE49-F238E27FC236}">
                    <a16:creationId xmlns:a16="http://schemas.microsoft.com/office/drawing/2014/main" id="{DA3BD63C-DD5B-FD75-3E5F-19156391DF79}"/>
                  </a:ext>
                </a:extLst>
              </p:cNvPr>
              <p:cNvSpPr>
                <a:spLocks noChangeArrowheads="1"/>
              </p:cNvSpPr>
              <p:nvPr/>
            </p:nvSpPr>
            <p:spPr bwMode="auto">
              <a:xfrm>
                <a:off x="3284" y="1045"/>
                <a:ext cx="60" cy="64"/>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p>
            </p:txBody>
          </p:sp>
          <p:sp>
            <p:nvSpPr>
              <p:cNvPr id="41" name="Oval 15">
                <a:extLst>
                  <a:ext uri="{FF2B5EF4-FFF2-40B4-BE49-F238E27FC236}">
                    <a16:creationId xmlns:a16="http://schemas.microsoft.com/office/drawing/2014/main" id="{F5E34331-DC30-6667-A046-59C47988A57A}"/>
                  </a:ext>
                </a:extLst>
              </p:cNvPr>
              <p:cNvSpPr>
                <a:spLocks noChangeArrowheads="1"/>
              </p:cNvSpPr>
              <p:nvPr/>
            </p:nvSpPr>
            <p:spPr bwMode="auto">
              <a:xfrm>
                <a:off x="3301" y="1063"/>
                <a:ext cx="26" cy="29"/>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p>
            </p:txBody>
          </p:sp>
        </p:grpSp>
        <p:grpSp>
          <p:nvGrpSpPr>
            <p:cNvPr id="8" name="Group 19">
              <a:extLst>
                <a:ext uri="{FF2B5EF4-FFF2-40B4-BE49-F238E27FC236}">
                  <a16:creationId xmlns:a16="http://schemas.microsoft.com/office/drawing/2014/main" id="{83667F05-1E95-D417-0913-1A987C52B410}"/>
                </a:ext>
              </a:extLst>
            </p:cNvPr>
            <p:cNvGrpSpPr>
              <a:grpSpLocks/>
            </p:cNvGrpSpPr>
            <p:nvPr/>
          </p:nvGrpSpPr>
          <p:grpSpPr bwMode="auto">
            <a:xfrm>
              <a:off x="2539" y="1117"/>
              <a:ext cx="60" cy="63"/>
              <a:chOff x="2539" y="1117"/>
              <a:chExt cx="60" cy="63"/>
            </a:xfrm>
          </p:grpSpPr>
          <p:sp>
            <p:nvSpPr>
              <p:cNvPr id="38" name="Oval 17">
                <a:extLst>
                  <a:ext uri="{FF2B5EF4-FFF2-40B4-BE49-F238E27FC236}">
                    <a16:creationId xmlns:a16="http://schemas.microsoft.com/office/drawing/2014/main" id="{C1522B83-645F-F246-AB75-AC21FFDA981B}"/>
                  </a:ext>
                </a:extLst>
              </p:cNvPr>
              <p:cNvSpPr>
                <a:spLocks noChangeArrowheads="1"/>
              </p:cNvSpPr>
              <p:nvPr/>
            </p:nvSpPr>
            <p:spPr bwMode="auto">
              <a:xfrm>
                <a:off x="2539" y="1117"/>
                <a:ext cx="60" cy="63"/>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p>
            </p:txBody>
          </p:sp>
          <p:sp>
            <p:nvSpPr>
              <p:cNvPr id="39" name="Oval 18">
                <a:extLst>
                  <a:ext uri="{FF2B5EF4-FFF2-40B4-BE49-F238E27FC236}">
                    <a16:creationId xmlns:a16="http://schemas.microsoft.com/office/drawing/2014/main" id="{A6F05D9B-1E86-CA19-CF18-171EFD8CB775}"/>
                  </a:ext>
                </a:extLst>
              </p:cNvPr>
              <p:cNvSpPr>
                <a:spLocks noChangeArrowheads="1"/>
              </p:cNvSpPr>
              <p:nvPr/>
            </p:nvSpPr>
            <p:spPr bwMode="auto">
              <a:xfrm>
                <a:off x="2556" y="1135"/>
                <a:ext cx="26" cy="29"/>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p>
            </p:txBody>
          </p:sp>
        </p:grpSp>
        <p:grpSp>
          <p:nvGrpSpPr>
            <p:cNvPr id="9" name="Group 22">
              <a:extLst>
                <a:ext uri="{FF2B5EF4-FFF2-40B4-BE49-F238E27FC236}">
                  <a16:creationId xmlns:a16="http://schemas.microsoft.com/office/drawing/2014/main" id="{9E0B75BC-8731-8E3B-9F39-9DC066F7313A}"/>
                </a:ext>
              </a:extLst>
            </p:cNvPr>
            <p:cNvGrpSpPr>
              <a:grpSpLocks/>
            </p:cNvGrpSpPr>
            <p:nvPr/>
          </p:nvGrpSpPr>
          <p:grpSpPr bwMode="auto">
            <a:xfrm>
              <a:off x="3014" y="1045"/>
              <a:ext cx="60" cy="64"/>
              <a:chOff x="3014" y="1045"/>
              <a:chExt cx="60" cy="64"/>
            </a:xfrm>
          </p:grpSpPr>
          <p:sp>
            <p:nvSpPr>
              <p:cNvPr id="36" name="Oval 20">
                <a:extLst>
                  <a:ext uri="{FF2B5EF4-FFF2-40B4-BE49-F238E27FC236}">
                    <a16:creationId xmlns:a16="http://schemas.microsoft.com/office/drawing/2014/main" id="{66887E05-7660-BC0E-5290-386B3CEC6FB8}"/>
                  </a:ext>
                </a:extLst>
              </p:cNvPr>
              <p:cNvSpPr>
                <a:spLocks noChangeArrowheads="1"/>
              </p:cNvSpPr>
              <p:nvPr/>
            </p:nvSpPr>
            <p:spPr bwMode="auto">
              <a:xfrm>
                <a:off x="3014" y="1045"/>
                <a:ext cx="60" cy="64"/>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p>
            </p:txBody>
          </p:sp>
          <p:sp>
            <p:nvSpPr>
              <p:cNvPr id="37" name="Oval 21">
                <a:extLst>
                  <a:ext uri="{FF2B5EF4-FFF2-40B4-BE49-F238E27FC236}">
                    <a16:creationId xmlns:a16="http://schemas.microsoft.com/office/drawing/2014/main" id="{90ADA108-ED91-1BD5-3F25-E9C976A95982}"/>
                  </a:ext>
                </a:extLst>
              </p:cNvPr>
              <p:cNvSpPr>
                <a:spLocks noChangeArrowheads="1"/>
              </p:cNvSpPr>
              <p:nvPr/>
            </p:nvSpPr>
            <p:spPr bwMode="auto">
              <a:xfrm>
                <a:off x="3031" y="1063"/>
                <a:ext cx="26" cy="29"/>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p>
            </p:txBody>
          </p:sp>
        </p:grpSp>
        <p:grpSp>
          <p:nvGrpSpPr>
            <p:cNvPr id="10" name="Group 27">
              <a:extLst>
                <a:ext uri="{FF2B5EF4-FFF2-40B4-BE49-F238E27FC236}">
                  <a16:creationId xmlns:a16="http://schemas.microsoft.com/office/drawing/2014/main" id="{CFEC0EAA-7F83-A367-22B0-BFE1868489D5}"/>
                </a:ext>
              </a:extLst>
            </p:cNvPr>
            <p:cNvGrpSpPr>
              <a:grpSpLocks/>
            </p:cNvGrpSpPr>
            <p:nvPr/>
          </p:nvGrpSpPr>
          <p:grpSpPr bwMode="auto">
            <a:xfrm>
              <a:off x="3147" y="1041"/>
              <a:ext cx="67" cy="72"/>
              <a:chOff x="3147" y="1041"/>
              <a:chExt cx="67" cy="72"/>
            </a:xfrm>
          </p:grpSpPr>
          <p:sp>
            <p:nvSpPr>
              <p:cNvPr id="32" name="Line 23">
                <a:extLst>
                  <a:ext uri="{FF2B5EF4-FFF2-40B4-BE49-F238E27FC236}">
                    <a16:creationId xmlns:a16="http://schemas.microsoft.com/office/drawing/2014/main" id="{66E7EB77-3165-AC1D-3097-53C35159E6D5}"/>
                  </a:ext>
                </a:extLst>
              </p:cNvPr>
              <p:cNvSpPr>
                <a:spLocks noChangeShapeType="1"/>
              </p:cNvSpPr>
              <p:nvPr/>
            </p:nvSpPr>
            <p:spPr bwMode="auto">
              <a:xfrm>
                <a:off x="3147" y="1077"/>
                <a:ext cx="67"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3" name="Line 24">
                <a:extLst>
                  <a:ext uri="{FF2B5EF4-FFF2-40B4-BE49-F238E27FC236}">
                    <a16:creationId xmlns:a16="http://schemas.microsoft.com/office/drawing/2014/main" id="{9E13D224-0575-0184-6963-5D1985A35E89}"/>
                  </a:ext>
                </a:extLst>
              </p:cNvPr>
              <p:cNvSpPr>
                <a:spLocks noChangeShapeType="1"/>
              </p:cNvSpPr>
              <p:nvPr/>
            </p:nvSpPr>
            <p:spPr bwMode="auto">
              <a:xfrm>
                <a:off x="3180" y="1041"/>
                <a:ext cx="0" cy="72"/>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4" name="Line 25">
                <a:extLst>
                  <a:ext uri="{FF2B5EF4-FFF2-40B4-BE49-F238E27FC236}">
                    <a16:creationId xmlns:a16="http://schemas.microsoft.com/office/drawing/2014/main" id="{BD89A2F7-A298-B755-D087-353192FDF265}"/>
                  </a:ext>
                </a:extLst>
              </p:cNvPr>
              <p:cNvSpPr>
                <a:spLocks noChangeShapeType="1"/>
              </p:cNvSpPr>
              <p:nvPr/>
            </p:nvSpPr>
            <p:spPr bwMode="auto">
              <a:xfrm flipV="1">
                <a:off x="3147" y="1041"/>
                <a:ext cx="67" cy="72"/>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5" name="Line 26">
                <a:extLst>
                  <a:ext uri="{FF2B5EF4-FFF2-40B4-BE49-F238E27FC236}">
                    <a16:creationId xmlns:a16="http://schemas.microsoft.com/office/drawing/2014/main" id="{AC40EC79-B902-745D-5FD9-D9F7E04DB644}"/>
                  </a:ext>
                </a:extLst>
              </p:cNvPr>
              <p:cNvSpPr>
                <a:spLocks noChangeShapeType="1"/>
              </p:cNvSpPr>
              <p:nvPr/>
            </p:nvSpPr>
            <p:spPr bwMode="auto">
              <a:xfrm flipH="1" flipV="1">
                <a:off x="3147" y="1041"/>
                <a:ext cx="67" cy="72"/>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1" name="Group 32">
              <a:extLst>
                <a:ext uri="{FF2B5EF4-FFF2-40B4-BE49-F238E27FC236}">
                  <a16:creationId xmlns:a16="http://schemas.microsoft.com/office/drawing/2014/main" id="{22A57625-15E4-8A46-4822-D3CCF87B9D1C}"/>
                </a:ext>
              </a:extLst>
            </p:cNvPr>
            <p:cNvGrpSpPr>
              <a:grpSpLocks/>
            </p:cNvGrpSpPr>
            <p:nvPr/>
          </p:nvGrpSpPr>
          <p:grpSpPr bwMode="auto">
            <a:xfrm>
              <a:off x="2876" y="895"/>
              <a:ext cx="68" cy="72"/>
              <a:chOff x="2876" y="895"/>
              <a:chExt cx="68" cy="72"/>
            </a:xfrm>
          </p:grpSpPr>
          <p:sp>
            <p:nvSpPr>
              <p:cNvPr id="28" name="Line 28">
                <a:extLst>
                  <a:ext uri="{FF2B5EF4-FFF2-40B4-BE49-F238E27FC236}">
                    <a16:creationId xmlns:a16="http://schemas.microsoft.com/office/drawing/2014/main" id="{E6F84533-A6AF-612A-C912-DE4F6E916E01}"/>
                  </a:ext>
                </a:extLst>
              </p:cNvPr>
              <p:cNvSpPr>
                <a:spLocks noChangeShapeType="1"/>
              </p:cNvSpPr>
              <p:nvPr/>
            </p:nvSpPr>
            <p:spPr bwMode="auto">
              <a:xfrm>
                <a:off x="2876" y="931"/>
                <a:ext cx="68"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 name="Line 29">
                <a:extLst>
                  <a:ext uri="{FF2B5EF4-FFF2-40B4-BE49-F238E27FC236}">
                    <a16:creationId xmlns:a16="http://schemas.microsoft.com/office/drawing/2014/main" id="{3B4728A8-4BE3-6756-5E08-AD1E10AA866B}"/>
                  </a:ext>
                </a:extLst>
              </p:cNvPr>
              <p:cNvSpPr>
                <a:spLocks noChangeShapeType="1"/>
              </p:cNvSpPr>
              <p:nvPr/>
            </p:nvSpPr>
            <p:spPr bwMode="auto">
              <a:xfrm>
                <a:off x="2910" y="895"/>
                <a:ext cx="0" cy="72"/>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0" name="Line 30">
                <a:extLst>
                  <a:ext uri="{FF2B5EF4-FFF2-40B4-BE49-F238E27FC236}">
                    <a16:creationId xmlns:a16="http://schemas.microsoft.com/office/drawing/2014/main" id="{37A95DA1-C5CA-69AF-F6FC-A40AF7CFFFC4}"/>
                  </a:ext>
                </a:extLst>
              </p:cNvPr>
              <p:cNvSpPr>
                <a:spLocks noChangeShapeType="1"/>
              </p:cNvSpPr>
              <p:nvPr/>
            </p:nvSpPr>
            <p:spPr bwMode="auto">
              <a:xfrm flipV="1">
                <a:off x="2876" y="895"/>
                <a:ext cx="68" cy="72"/>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1" name="Line 31">
                <a:extLst>
                  <a:ext uri="{FF2B5EF4-FFF2-40B4-BE49-F238E27FC236}">
                    <a16:creationId xmlns:a16="http://schemas.microsoft.com/office/drawing/2014/main" id="{05B64B20-AA8E-9A28-35A5-122105564487}"/>
                  </a:ext>
                </a:extLst>
              </p:cNvPr>
              <p:cNvSpPr>
                <a:spLocks noChangeShapeType="1"/>
              </p:cNvSpPr>
              <p:nvPr/>
            </p:nvSpPr>
            <p:spPr bwMode="auto">
              <a:xfrm flipH="1" flipV="1">
                <a:off x="2876" y="895"/>
                <a:ext cx="68" cy="72"/>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2" name="Group 37">
              <a:extLst>
                <a:ext uri="{FF2B5EF4-FFF2-40B4-BE49-F238E27FC236}">
                  <a16:creationId xmlns:a16="http://schemas.microsoft.com/office/drawing/2014/main" id="{F84FB506-23D9-562E-CA9F-91D7CF40C606}"/>
                </a:ext>
              </a:extLst>
            </p:cNvPr>
            <p:cNvGrpSpPr>
              <a:grpSpLocks/>
            </p:cNvGrpSpPr>
            <p:nvPr/>
          </p:nvGrpSpPr>
          <p:grpSpPr bwMode="auto">
            <a:xfrm>
              <a:off x="2944" y="1110"/>
              <a:ext cx="67" cy="71"/>
              <a:chOff x="2944" y="1110"/>
              <a:chExt cx="67" cy="71"/>
            </a:xfrm>
          </p:grpSpPr>
          <p:sp>
            <p:nvSpPr>
              <p:cNvPr id="24" name="Line 33">
                <a:extLst>
                  <a:ext uri="{FF2B5EF4-FFF2-40B4-BE49-F238E27FC236}">
                    <a16:creationId xmlns:a16="http://schemas.microsoft.com/office/drawing/2014/main" id="{CCF259CD-D9CB-E8F6-E786-04F87D6B9537}"/>
                  </a:ext>
                </a:extLst>
              </p:cNvPr>
              <p:cNvSpPr>
                <a:spLocks noChangeShapeType="1"/>
              </p:cNvSpPr>
              <p:nvPr/>
            </p:nvSpPr>
            <p:spPr bwMode="auto">
              <a:xfrm>
                <a:off x="2944" y="1146"/>
                <a:ext cx="67"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5" name="Line 34">
                <a:extLst>
                  <a:ext uri="{FF2B5EF4-FFF2-40B4-BE49-F238E27FC236}">
                    <a16:creationId xmlns:a16="http://schemas.microsoft.com/office/drawing/2014/main" id="{D5BBF93F-3BA2-641F-4963-C25F7743C3C6}"/>
                  </a:ext>
                </a:extLst>
              </p:cNvPr>
              <p:cNvSpPr>
                <a:spLocks noChangeShapeType="1"/>
              </p:cNvSpPr>
              <p:nvPr/>
            </p:nvSpPr>
            <p:spPr bwMode="auto">
              <a:xfrm>
                <a:off x="2978" y="1110"/>
                <a:ext cx="0" cy="71"/>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6" name="Line 35">
                <a:extLst>
                  <a:ext uri="{FF2B5EF4-FFF2-40B4-BE49-F238E27FC236}">
                    <a16:creationId xmlns:a16="http://schemas.microsoft.com/office/drawing/2014/main" id="{15E976E9-749D-E1E2-ED73-DBC401A2418E}"/>
                  </a:ext>
                </a:extLst>
              </p:cNvPr>
              <p:cNvSpPr>
                <a:spLocks noChangeShapeType="1"/>
              </p:cNvSpPr>
              <p:nvPr/>
            </p:nvSpPr>
            <p:spPr bwMode="auto">
              <a:xfrm flipV="1">
                <a:off x="2944" y="1110"/>
                <a:ext cx="67" cy="71"/>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7" name="Line 36">
                <a:extLst>
                  <a:ext uri="{FF2B5EF4-FFF2-40B4-BE49-F238E27FC236}">
                    <a16:creationId xmlns:a16="http://schemas.microsoft.com/office/drawing/2014/main" id="{694DB5CD-4FCA-AA02-7870-E7169BD802AB}"/>
                  </a:ext>
                </a:extLst>
              </p:cNvPr>
              <p:cNvSpPr>
                <a:spLocks noChangeShapeType="1"/>
              </p:cNvSpPr>
              <p:nvPr/>
            </p:nvSpPr>
            <p:spPr bwMode="auto">
              <a:xfrm flipH="1" flipV="1">
                <a:off x="2944" y="1110"/>
                <a:ext cx="67" cy="71"/>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13" name="Oval 38">
              <a:extLst>
                <a:ext uri="{FF2B5EF4-FFF2-40B4-BE49-F238E27FC236}">
                  <a16:creationId xmlns:a16="http://schemas.microsoft.com/office/drawing/2014/main" id="{89477505-3396-4CD6-6B7D-302600F89F9E}"/>
                </a:ext>
              </a:extLst>
            </p:cNvPr>
            <p:cNvSpPr>
              <a:spLocks noChangeArrowheads="1"/>
            </p:cNvSpPr>
            <p:nvPr/>
          </p:nvSpPr>
          <p:spPr bwMode="auto">
            <a:xfrm>
              <a:off x="3013" y="904"/>
              <a:ext cx="59" cy="63"/>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p>
          </p:txBody>
        </p:sp>
        <p:sp>
          <p:nvSpPr>
            <p:cNvPr id="14" name="Oval 39">
              <a:extLst>
                <a:ext uri="{FF2B5EF4-FFF2-40B4-BE49-F238E27FC236}">
                  <a16:creationId xmlns:a16="http://schemas.microsoft.com/office/drawing/2014/main" id="{7844C00A-A9C4-B22C-F906-EC0290AAA167}"/>
                </a:ext>
              </a:extLst>
            </p:cNvPr>
            <p:cNvSpPr>
              <a:spLocks noChangeArrowheads="1"/>
            </p:cNvSpPr>
            <p:nvPr/>
          </p:nvSpPr>
          <p:spPr bwMode="auto">
            <a:xfrm>
              <a:off x="3080" y="1118"/>
              <a:ext cx="60" cy="64"/>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p>
          </p:txBody>
        </p:sp>
        <p:grpSp>
          <p:nvGrpSpPr>
            <p:cNvPr id="15" name="Group 42">
              <a:extLst>
                <a:ext uri="{FF2B5EF4-FFF2-40B4-BE49-F238E27FC236}">
                  <a16:creationId xmlns:a16="http://schemas.microsoft.com/office/drawing/2014/main" id="{4EB1CA2B-803E-5EB1-1463-C1A3FB4F2CDD}"/>
                </a:ext>
              </a:extLst>
            </p:cNvPr>
            <p:cNvGrpSpPr>
              <a:grpSpLocks/>
            </p:cNvGrpSpPr>
            <p:nvPr/>
          </p:nvGrpSpPr>
          <p:grpSpPr bwMode="auto">
            <a:xfrm>
              <a:off x="2941" y="684"/>
              <a:ext cx="68" cy="71"/>
              <a:chOff x="2941" y="684"/>
              <a:chExt cx="68" cy="71"/>
            </a:xfrm>
          </p:grpSpPr>
          <p:sp>
            <p:nvSpPr>
              <p:cNvPr id="22" name="Line 40">
                <a:extLst>
                  <a:ext uri="{FF2B5EF4-FFF2-40B4-BE49-F238E27FC236}">
                    <a16:creationId xmlns:a16="http://schemas.microsoft.com/office/drawing/2014/main" id="{0C54118D-C6D2-A301-F8AF-BC19C64FCBB2}"/>
                  </a:ext>
                </a:extLst>
              </p:cNvPr>
              <p:cNvSpPr>
                <a:spLocks noChangeShapeType="1"/>
              </p:cNvSpPr>
              <p:nvPr/>
            </p:nvSpPr>
            <p:spPr bwMode="auto">
              <a:xfrm flipV="1">
                <a:off x="2941" y="684"/>
                <a:ext cx="68" cy="71"/>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3" name="Line 41">
                <a:extLst>
                  <a:ext uri="{FF2B5EF4-FFF2-40B4-BE49-F238E27FC236}">
                    <a16:creationId xmlns:a16="http://schemas.microsoft.com/office/drawing/2014/main" id="{2D939670-EA55-8715-A2A1-FEC7850B9DCF}"/>
                  </a:ext>
                </a:extLst>
              </p:cNvPr>
              <p:cNvSpPr>
                <a:spLocks noChangeShapeType="1"/>
              </p:cNvSpPr>
              <p:nvPr/>
            </p:nvSpPr>
            <p:spPr bwMode="auto">
              <a:xfrm flipH="1" flipV="1">
                <a:off x="2941" y="684"/>
                <a:ext cx="68" cy="71"/>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6" name="Group 45">
              <a:extLst>
                <a:ext uri="{FF2B5EF4-FFF2-40B4-BE49-F238E27FC236}">
                  <a16:creationId xmlns:a16="http://schemas.microsoft.com/office/drawing/2014/main" id="{8F424859-EF6F-9DAE-36C1-18E5956643F5}"/>
                </a:ext>
              </a:extLst>
            </p:cNvPr>
            <p:cNvGrpSpPr>
              <a:grpSpLocks/>
            </p:cNvGrpSpPr>
            <p:nvPr/>
          </p:nvGrpSpPr>
          <p:grpSpPr bwMode="auto">
            <a:xfrm>
              <a:off x="3144" y="898"/>
              <a:ext cx="67" cy="72"/>
              <a:chOff x="3144" y="898"/>
              <a:chExt cx="67" cy="72"/>
            </a:xfrm>
          </p:grpSpPr>
          <p:sp>
            <p:nvSpPr>
              <p:cNvPr id="20" name="Line 43">
                <a:extLst>
                  <a:ext uri="{FF2B5EF4-FFF2-40B4-BE49-F238E27FC236}">
                    <a16:creationId xmlns:a16="http://schemas.microsoft.com/office/drawing/2014/main" id="{561EA4CC-4CF7-0014-D2C6-D5B231832AA9}"/>
                  </a:ext>
                </a:extLst>
              </p:cNvPr>
              <p:cNvSpPr>
                <a:spLocks noChangeShapeType="1"/>
              </p:cNvSpPr>
              <p:nvPr/>
            </p:nvSpPr>
            <p:spPr bwMode="auto">
              <a:xfrm flipV="1">
                <a:off x="3144" y="898"/>
                <a:ext cx="67" cy="72"/>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 name="Line 44">
                <a:extLst>
                  <a:ext uri="{FF2B5EF4-FFF2-40B4-BE49-F238E27FC236}">
                    <a16:creationId xmlns:a16="http://schemas.microsoft.com/office/drawing/2014/main" id="{1A233E91-8D7A-8FE4-543F-3AD40C2D5E80}"/>
                  </a:ext>
                </a:extLst>
              </p:cNvPr>
              <p:cNvSpPr>
                <a:spLocks noChangeShapeType="1"/>
              </p:cNvSpPr>
              <p:nvPr/>
            </p:nvSpPr>
            <p:spPr bwMode="auto">
              <a:xfrm flipH="1" flipV="1">
                <a:off x="3144" y="898"/>
                <a:ext cx="67" cy="72"/>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7" name="Group 48">
              <a:extLst>
                <a:ext uri="{FF2B5EF4-FFF2-40B4-BE49-F238E27FC236}">
                  <a16:creationId xmlns:a16="http://schemas.microsoft.com/office/drawing/2014/main" id="{7C14EB64-2A91-905D-F54F-E030A2D79701}"/>
                </a:ext>
              </a:extLst>
            </p:cNvPr>
            <p:cNvGrpSpPr>
              <a:grpSpLocks/>
            </p:cNvGrpSpPr>
            <p:nvPr/>
          </p:nvGrpSpPr>
          <p:grpSpPr bwMode="auto">
            <a:xfrm>
              <a:off x="2806" y="1113"/>
              <a:ext cx="67" cy="71"/>
              <a:chOff x="2806" y="1113"/>
              <a:chExt cx="67" cy="71"/>
            </a:xfrm>
          </p:grpSpPr>
          <p:sp>
            <p:nvSpPr>
              <p:cNvPr id="18" name="Line 46">
                <a:extLst>
                  <a:ext uri="{FF2B5EF4-FFF2-40B4-BE49-F238E27FC236}">
                    <a16:creationId xmlns:a16="http://schemas.microsoft.com/office/drawing/2014/main" id="{819F5781-33AF-F276-7E0C-9114B34E9C2E}"/>
                  </a:ext>
                </a:extLst>
              </p:cNvPr>
              <p:cNvSpPr>
                <a:spLocks noChangeShapeType="1"/>
              </p:cNvSpPr>
              <p:nvPr/>
            </p:nvSpPr>
            <p:spPr bwMode="auto">
              <a:xfrm flipV="1">
                <a:off x="2806" y="1113"/>
                <a:ext cx="67" cy="71"/>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 name="Line 47">
                <a:extLst>
                  <a:ext uri="{FF2B5EF4-FFF2-40B4-BE49-F238E27FC236}">
                    <a16:creationId xmlns:a16="http://schemas.microsoft.com/office/drawing/2014/main" id="{75C40A62-7E2F-7BBF-F577-0FB135C930DD}"/>
                  </a:ext>
                </a:extLst>
              </p:cNvPr>
              <p:cNvSpPr>
                <a:spLocks noChangeShapeType="1"/>
              </p:cNvSpPr>
              <p:nvPr/>
            </p:nvSpPr>
            <p:spPr bwMode="auto">
              <a:xfrm flipH="1" flipV="1">
                <a:off x="2806" y="1113"/>
                <a:ext cx="67" cy="71"/>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sp>
        <p:nvSpPr>
          <p:cNvPr id="50" name="Line 50">
            <a:extLst>
              <a:ext uri="{FF2B5EF4-FFF2-40B4-BE49-F238E27FC236}">
                <a16:creationId xmlns:a16="http://schemas.microsoft.com/office/drawing/2014/main" id="{48E874B4-F8A4-1C3F-5094-5E9DEA13DB77}"/>
              </a:ext>
            </a:extLst>
          </p:cNvPr>
          <p:cNvSpPr>
            <a:spLocks noChangeShapeType="1"/>
          </p:cNvSpPr>
          <p:nvPr/>
        </p:nvSpPr>
        <p:spPr bwMode="auto">
          <a:xfrm>
            <a:off x="5199166" y="4231322"/>
            <a:ext cx="0" cy="1817688"/>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51" name="Line 51">
            <a:extLst>
              <a:ext uri="{FF2B5EF4-FFF2-40B4-BE49-F238E27FC236}">
                <a16:creationId xmlns:a16="http://schemas.microsoft.com/office/drawing/2014/main" id="{8F93F04D-A68C-CA29-5CD8-D4A3CDDC2783}"/>
              </a:ext>
            </a:extLst>
          </p:cNvPr>
          <p:cNvSpPr>
            <a:spLocks noChangeShapeType="1"/>
          </p:cNvSpPr>
          <p:nvPr/>
        </p:nvSpPr>
        <p:spPr bwMode="auto">
          <a:xfrm>
            <a:off x="4986441" y="4458335"/>
            <a:ext cx="1712912"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52" name="Line 52">
            <a:extLst>
              <a:ext uri="{FF2B5EF4-FFF2-40B4-BE49-F238E27FC236}">
                <a16:creationId xmlns:a16="http://schemas.microsoft.com/office/drawing/2014/main" id="{122E9346-4B29-42D2-9992-5BD0513FAC98}"/>
              </a:ext>
            </a:extLst>
          </p:cNvPr>
          <p:cNvSpPr>
            <a:spLocks noChangeShapeType="1"/>
          </p:cNvSpPr>
          <p:nvPr/>
        </p:nvSpPr>
        <p:spPr bwMode="auto">
          <a:xfrm>
            <a:off x="4986441" y="4685347"/>
            <a:ext cx="1712912"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53" name="Line 53">
            <a:extLst>
              <a:ext uri="{FF2B5EF4-FFF2-40B4-BE49-F238E27FC236}">
                <a16:creationId xmlns:a16="http://schemas.microsoft.com/office/drawing/2014/main" id="{26426F04-CF34-A11B-853E-8137A664425A}"/>
              </a:ext>
            </a:extLst>
          </p:cNvPr>
          <p:cNvSpPr>
            <a:spLocks noChangeShapeType="1"/>
          </p:cNvSpPr>
          <p:nvPr/>
        </p:nvSpPr>
        <p:spPr bwMode="auto">
          <a:xfrm>
            <a:off x="4986441" y="4913947"/>
            <a:ext cx="1712912"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54" name="Line 54">
            <a:extLst>
              <a:ext uri="{FF2B5EF4-FFF2-40B4-BE49-F238E27FC236}">
                <a16:creationId xmlns:a16="http://schemas.microsoft.com/office/drawing/2014/main" id="{D7566EDC-D021-A13B-4546-B431027FB17E}"/>
              </a:ext>
            </a:extLst>
          </p:cNvPr>
          <p:cNvSpPr>
            <a:spLocks noChangeShapeType="1"/>
          </p:cNvSpPr>
          <p:nvPr/>
        </p:nvSpPr>
        <p:spPr bwMode="auto">
          <a:xfrm>
            <a:off x="4986441" y="5140960"/>
            <a:ext cx="1712912"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55" name="Line 55">
            <a:extLst>
              <a:ext uri="{FF2B5EF4-FFF2-40B4-BE49-F238E27FC236}">
                <a16:creationId xmlns:a16="http://schemas.microsoft.com/office/drawing/2014/main" id="{7CF76512-606F-1C5F-C2FC-864D88609A5F}"/>
              </a:ext>
            </a:extLst>
          </p:cNvPr>
          <p:cNvSpPr>
            <a:spLocks noChangeShapeType="1"/>
          </p:cNvSpPr>
          <p:nvPr/>
        </p:nvSpPr>
        <p:spPr bwMode="auto">
          <a:xfrm>
            <a:off x="4986441" y="5367972"/>
            <a:ext cx="1712912"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56" name="Line 56">
            <a:extLst>
              <a:ext uri="{FF2B5EF4-FFF2-40B4-BE49-F238E27FC236}">
                <a16:creationId xmlns:a16="http://schemas.microsoft.com/office/drawing/2014/main" id="{74FBC40E-2E2B-E8E3-F35C-73CA2BB26BF6}"/>
              </a:ext>
            </a:extLst>
          </p:cNvPr>
          <p:cNvSpPr>
            <a:spLocks noChangeShapeType="1"/>
          </p:cNvSpPr>
          <p:nvPr/>
        </p:nvSpPr>
        <p:spPr bwMode="auto">
          <a:xfrm>
            <a:off x="4986441" y="5594985"/>
            <a:ext cx="1712912"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57" name="Line 57">
            <a:extLst>
              <a:ext uri="{FF2B5EF4-FFF2-40B4-BE49-F238E27FC236}">
                <a16:creationId xmlns:a16="http://schemas.microsoft.com/office/drawing/2014/main" id="{D4E79BC7-C0EA-047F-9354-AC0AD84DCC77}"/>
              </a:ext>
            </a:extLst>
          </p:cNvPr>
          <p:cNvSpPr>
            <a:spLocks noChangeShapeType="1"/>
          </p:cNvSpPr>
          <p:nvPr/>
        </p:nvSpPr>
        <p:spPr bwMode="auto">
          <a:xfrm>
            <a:off x="4986441" y="5821997"/>
            <a:ext cx="1712912"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58" name="Line 58">
            <a:extLst>
              <a:ext uri="{FF2B5EF4-FFF2-40B4-BE49-F238E27FC236}">
                <a16:creationId xmlns:a16="http://schemas.microsoft.com/office/drawing/2014/main" id="{CE78166C-3C3B-2BFF-2E3B-2AF117BAC6CF}"/>
              </a:ext>
            </a:extLst>
          </p:cNvPr>
          <p:cNvSpPr>
            <a:spLocks noChangeShapeType="1"/>
          </p:cNvSpPr>
          <p:nvPr/>
        </p:nvSpPr>
        <p:spPr bwMode="auto">
          <a:xfrm>
            <a:off x="5630966" y="4231322"/>
            <a:ext cx="0" cy="1817688"/>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59" name="Line 59">
            <a:extLst>
              <a:ext uri="{FF2B5EF4-FFF2-40B4-BE49-F238E27FC236}">
                <a16:creationId xmlns:a16="http://schemas.microsoft.com/office/drawing/2014/main" id="{8E0F4ACA-4A9F-80DE-6169-34124DE0FB66}"/>
              </a:ext>
            </a:extLst>
          </p:cNvPr>
          <p:cNvSpPr>
            <a:spLocks noChangeShapeType="1"/>
          </p:cNvSpPr>
          <p:nvPr/>
        </p:nvSpPr>
        <p:spPr bwMode="auto">
          <a:xfrm>
            <a:off x="5843691" y="4231322"/>
            <a:ext cx="0" cy="1817688"/>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60" name="Line 60">
            <a:extLst>
              <a:ext uri="{FF2B5EF4-FFF2-40B4-BE49-F238E27FC236}">
                <a16:creationId xmlns:a16="http://schemas.microsoft.com/office/drawing/2014/main" id="{6BE28CE4-2821-E84E-3DF5-69A12A0A5EED}"/>
              </a:ext>
            </a:extLst>
          </p:cNvPr>
          <p:cNvSpPr>
            <a:spLocks noChangeShapeType="1"/>
          </p:cNvSpPr>
          <p:nvPr/>
        </p:nvSpPr>
        <p:spPr bwMode="auto">
          <a:xfrm>
            <a:off x="6059591" y="4231322"/>
            <a:ext cx="0" cy="1817688"/>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61" name="Line 61">
            <a:extLst>
              <a:ext uri="{FF2B5EF4-FFF2-40B4-BE49-F238E27FC236}">
                <a16:creationId xmlns:a16="http://schemas.microsoft.com/office/drawing/2014/main" id="{C318E3F0-C919-67EA-F005-AD0C5D3CE7AA}"/>
              </a:ext>
            </a:extLst>
          </p:cNvPr>
          <p:cNvSpPr>
            <a:spLocks noChangeShapeType="1"/>
          </p:cNvSpPr>
          <p:nvPr/>
        </p:nvSpPr>
        <p:spPr bwMode="auto">
          <a:xfrm>
            <a:off x="6272316" y="4231322"/>
            <a:ext cx="0" cy="1817688"/>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62" name="Line 62">
            <a:extLst>
              <a:ext uri="{FF2B5EF4-FFF2-40B4-BE49-F238E27FC236}">
                <a16:creationId xmlns:a16="http://schemas.microsoft.com/office/drawing/2014/main" id="{C87A1DC7-10D5-0643-70E0-D5426716F518}"/>
              </a:ext>
            </a:extLst>
          </p:cNvPr>
          <p:cNvSpPr>
            <a:spLocks noChangeShapeType="1"/>
          </p:cNvSpPr>
          <p:nvPr/>
        </p:nvSpPr>
        <p:spPr bwMode="auto">
          <a:xfrm>
            <a:off x="6489803" y="4231322"/>
            <a:ext cx="0" cy="1817688"/>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63" name="Line 63">
            <a:extLst>
              <a:ext uri="{FF2B5EF4-FFF2-40B4-BE49-F238E27FC236}">
                <a16:creationId xmlns:a16="http://schemas.microsoft.com/office/drawing/2014/main" id="{6BB02610-1E5A-CB66-9531-D924EC4B6FED}"/>
              </a:ext>
            </a:extLst>
          </p:cNvPr>
          <p:cNvSpPr>
            <a:spLocks noChangeShapeType="1"/>
          </p:cNvSpPr>
          <p:nvPr/>
        </p:nvSpPr>
        <p:spPr bwMode="auto">
          <a:xfrm flipH="1">
            <a:off x="3056041" y="5367972"/>
            <a:ext cx="428625"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64" name="Line 64">
            <a:extLst>
              <a:ext uri="{FF2B5EF4-FFF2-40B4-BE49-F238E27FC236}">
                <a16:creationId xmlns:a16="http://schemas.microsoft.com/office/drawing/2014/main" id="{A0D811FB-11B3-F5A1-0973-52909643E532}"/>
              </a:ext>
            </a:extLst>
          </p:cNvPr>
          <p:cNvSpPr>
            <a:spLocks noChangeShapeType="1"/>
          </p:cNvSpPr>
          <p:nvPr/>
        </p:nvSpPr>
        <p:spPr bwMode="auto">
          <a:xfrm flipV="1">
            <a:off x="6058003" y="2186622"/>
            <a:ext cx="0" cy="455613"/>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65" name="Line 65">
            <a:extLst>
              <a:ext uri="{FF2B5EF4-FFF2-40B4-BE49-F238E27FC236}">
                <a16:creationId xmlns:a16="http://schemas.microsoft.com/office/drawing/2014/main" id="{9E2A7812-DD9B-AACF-D094-B2186195DBB0}"/>
              </a:ext>
            </a:extLst>
          </p:cNvPr>
          <p:cNvSpPr>
            <a:spLocks noChangeShapeType="1"/>
          </p:cNvSpPr>
          <p:nvPr/>
        </p:nvSpPr>
        <p:spPr bwMode="auto">
          <a:xfrm>
            <a:off x="2625828" y="4231322"/>
            <a:ext cx="2359025"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66" name="Line 66">
            <a:extLst>
              <a:ext uri="{FF2B5EF4-FFF2-40B4-BE49-F238E27FC236}">
                <a16:creationId xmlns:a16="http://schemas.microsoft.com/office/drawing/2014/main" id="{D8FD0465-0CF5-79E3-763F-8AA8BEEE89DD}"/>
              </a:ext>
            </a:extLst>
          </p:cNvPr>
          <p:cNvSpPr>
            <a:spLocks noChangeShapeType="1"/>
          </p:cNvSpPr>
          <p:nvPr/>
        </p:nvSpPr>
        <p:spPr bwMode="auto">
          <a:xfrm>
            <a:off x="3056041" y="4231322"/>
            <a:ext cx="0" cy="1817688"/>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67" name="Line 67">
            <a:extLst>
              <a:ext uri="{FF2B5EF4-FFF2-40B4-BE49-F238E27FC236}">
                <a16:creationId xmlns:a16="http://schemas.microsoft.com/office/drawing/2014/main" id="{D2273C94-5550-A813-F645-3CDB1D7FFC4C}"/>
              </a:ext>
            </a:extLst>
          </p:cNvPr>
          <p:cNvSpPr>
            <a:spLocks noChangeShapeType="1"/>
          </p:cNvSpPr>
          <p:nvPr/>
        </p:nvSpPr>
        <p:spPr bwMode="auto">
          <a:xfrm>
            <a:off x="2625828" y="4231322"/>
            <a:ext cx="0" cy="1817688"/>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68" name="Line 68">
            <a:extLst>
              <a:ext uri="{FF2B5EF4-FFF2-40B4-BE49-F238E27FC236}">
                <a16:creationId xmlns:a16="http://schemas.microsoft.com/office/drawing/2014/main" id="{855967C1-0745-A917-C643-66E322F5E3FD}"/>
              </a:ext>
            </a:extLst>
          </p:cNvPr>
          <p:cNvSpPr>
            <a:spLocks noChangeShapeType="1"/>
          </p:cNvSpPr>
          <p:nvPr/>
        </p:nvSpPr>
        <p:spPr bwMode="auto">
          <a:xfrm>
            <a:off x="2625828" y="6049010"/>
            <a:ext cx="2359025"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69" name="Line 69">
            <a:extLst>
              <a:ext uri="{FF2B5EF4-FFF2-40B4-BE49-F238E27FC236}">
                <a16:creationId xmlns:a16="http://schemas.microsoft.com/office/drawing/2014/main" id="{DB1DF8AE-3456-0AE7-C6D9-116D4E536F79}"/>
              </a:ext>
            </a:extLst>
          </p:cNvPr>
          <p:cNvSpPr>
            <a:spLocks noChangeShapeType="1"/>
          </p:cNvSpPr>
          <p:nvPr/>
        </p:nvSpPr>
        <p:spPr bwMode="auto">
          <a:xfrm>
            <a:off x="3484666" y="4231322"/>
            <a:ext cx="0" cy="1817688"/>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0" name="Line 70">
            <a:extLst>
              <a:ext uri="{FF2B5EF4-FFF2-40B4-BE49-F238E27FC236}">
                <a16:creationId xmlns:a16="http://schemas.microsoft.com/office/drawing/2014/main" id="{C817370E-8ED0-7C95-37ED-81A2563DD22D}"/>
              </a:ext>
            </a:extLst>
          </p:cNvPr>
          <p:cNvSpPr>
            <a:spLocks noChangeShapeType="1"/>
          </p:cNvSpPr>
          <p:nvPr/>
        </p:nvSpPr>
        <p:spPr bwMode="auto">
          <a:xfrm>
            <a:off x="3484666" y="4458335"/>
            <a:ext cx="1500187"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1" name="Line 71">
            <a:extLst>
              <a:ext uri="{FF2B5EF4-FFF2-40B4-BE49-F238E27FC236}">
                <a16:creationId xmlns:a16="http://schemas.microsoft.com/office/drawing/2014/main" id="{64AD57BC-9FBD-09CC-4F30-8B29EC56D141}"/>
              </a:ext>
            </a:extLst>
          </p:cNvPr>
          <p:cNvSpPr>
            <a:spLocks noChangeShapeType="1"/>
          </p:cNvSpPr>
          <p:nvPr/>
        </p:nvSpPr>
        <p:spPr bwMode="auto">
          <a:xfrm>
            <a:off x="3484666" y="4685347"/>
            <a:ext cx="1500187"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 name="Line 72">
            <a:extLst>
              <a:ext uri="{FF2B5EF4-FFF2-40B4-BE49-F238E27FC236}">
                <a16:creationId xmlns:a16="http://schemas.microsoft.com/office/drawing/2014/main" id="{3DEC0247-942C-4D58-3660-7736FC79FD57}"/>
              </a:ext>
            </a:extLst>
          </p:cNvPr>
          <p:cNvSpPr>
            <a:spLocks noChangeShapeType="1"/>
          </p:cNvSpPr>
          <p:nvPr/>
        </p:nvSpPr>
        <p:spPr bwMode="auto">
          <a:xfrm>
            <a:off x="3484666" y="4913947"/>
            <a:ext cx="1500187"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3" name="Line 73">
            <a:extLst>
              <a:ext uri="{FF2B5EF4-FFF2-40B4-BE49-F238E27FC236}">
                <a16:creationId xmlns:a16="http://schemas.microsoft.com/office/drawing/2014/main" id="{8D3EAEE7-4B25-D7E7-D1C2-066B6BB03A0E}"/>
              </a:ext>
            </a:extLst>
          </p:cNvPr>
          <p:cNvSpPr>
            <a:spLocks noChangeShapeType="1"/>
          </p:cNvSpPr>
          <p:nvPr/>
        </p:nvSpPr>
        <p:spPr bwMode="auto">
          <a:xfrm>
            <a:off x="3484666" y="5140960"/>
            <a:ext cx="1500187"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4" name="Line 74">
            <a:extLst>
              <a:ext uri="{FF2B5EF4-FFF2-40B4-BE49-F238E27FC236}">
                <a16:creationId xmlns:a16="http://schemas.microsoft.com/office/drawing/2014/main" id="{801D0524-3844-ECDE-4D40-CAABA6628B26}"/>
              </a:ext>
            </a:extLst>
          </p:cNvPr>
          <p:cNvSpPr>
            <a:spLocks noChangeShapeType="1"/>
          </p:cNvSpPr>
          <p:nvPr/>
        </p:nvSpPr>
        <p:spPr bwMode="auto">
          <a:xfrm>
            <a:off x="3484666" y="5367972"/>
            <a:ext cx="1500187"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 name="Line 75">
            <a:extLst>
              <a:ext uri="{FF2B5EF4-FFF2-40B4-BE49-F238E27FC236}">
                <a16:creationId xmlns:a16="http://schemas.microsoft.com/office/drawing/2014/main" id="{982FB388-B012-60A3-6B08-35D96AA98ECB}"/>
              </a:ext>
            </a:extLst>
          </p:cNvPr>
          <p:cNvSpPr>
            <a:spLocks noChangeShapeType="1"/>
          </p:cNvSpPr>
          <p:nvPr/>
        </p:nvSpPr>
        <p:spPr bwMode="auto">
          <a:xfrm>
            <a:off x="3484666" y="5594985"/>
            <a:ext cx="1500187"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 name="Line 76">
            <a:extLst>
              <a:ext uri="{FF2B5EF4-FFF2-40B4-BE49-F238E27FC236}">
                <a16:creationId xmlns:a16="http://schemas.microsoft.com/office/drawing/2014/main" id="{6B33CFB9-8C75-4781-AB0B-3A36EBFA538A}"/>
              </a:ext>
            </a:extLst>
          </p:cNvPr>
          <p:cNvSpPr>
            <a:spLocks noChangeShapeType="1"/>
          </p:cNvSpPr>
          <p:nvPr/>
        </p:nvSpPr>
        <p:spPr bwMode="auto">
          <a:xfrm>
            <a:off x="3484666" y="5821997"/>
            <a:ext cx="1500187"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 name="Line 77">
            <a:extLst>
              <a:ext uri="{FF2B5EF4-FFF2-40B4-BE49-F238E27FC236}">
                <a16:creationId xmlns:a16="http://schemas.microsoft.com/office/drawing/2014/main" id="{FEBE8A36-D5A1-B082-F8C9-12A0D9052DB6}"/>
              </a:ext>
            </a:extLst>
          </p:cNvPr>
          <p:cNvSpPr>
            <a:spLocks noChangeShapeType="1"/>
          </p:cNvSpPr>
          <p:nvPr/>
        </p:nvSpPr>
        <p:spPr bwMode="auto">
          <a:xfrm>
            <a:off x="4986441" y="4231322"/>
            <a:ext cx="0" cy="1817688"/>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 name="Line 78">
            <a:extLst>
              <a:ext uri="{FF2B5EF4-FFF2-40B4-BE49-F238E27FC236}">
                <a16:creationId xmlns:a16="http://schemas.microsoft.com/office/drawing/2014/main" id="{98D83D2C-C724-1645-EA6A-BA7EBB0CB840}"/>
              </a:ext>
            </a:extLst>
          </p:cNvPr>
          <p:cNvSpPr>
            <a:spLocks noChangeShapeType="1"/>
          </p:cNvSpPr>
          <p:nvPr/>
        </p:nvSpPr>
        <p:spPr bwMode="auto">
          <a:xfrm>
            <a:off x="4986441" y="6049010"/>
            <a:ext cx="1712912"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9" name="Line 79">
            <a:extLst>
              <a:ext uri="{FF2B5EF4-FFF2-40B4-BE49-F238E27FC236}">
                <a16:creationId xmlns:a16="http://schemas.microsoft.com/office/drawing/2014/main" id="{B91FA364-7894-6266-72F1-110435AAE183}"/>
              </a:ext>
            </a:extLst>
          </p:cNvPr>
          <p:cNvSpPr>
            <a:spLocks noChangeShapeType="1"/>
          </p:cNvSpPr>
          <p:nvPr/>
        </p:nvSpPr>
        <p:spPr bwMode="auto">
          <a:xfrm>
            <a:off x="6702528" y="4231322"/>
            <a:ext cx="0" cy="1817688"/>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0" name="Line 80">
            <a:extLst>
              <a:ext uri="{FF2B5EF4-FFF2-40B4-BE49-F238E27FC236}">
                <a16:creationId xmlns:a16="http://schemas.microsoft.com/office/drawing/2014/main" id="{6B19F595-32B5-BCD4-3C65-3138BC400220}"/>
              </a:ext>
            </a:extLst>
          </p:cNvPr>
          <p:cNvSpPr>
            <a:spLocks noChangeShapeType="1"/>
          </p:cNvSpPr>
          <p:nvPr/>
        </p:nvSpPr>
        <p:spPr bwMode="auto">
          <a:xfrm>
            <a:off x="5199166" y="2642235"/>
            <a:ext cx="0" cy="1589087"/>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1" name="Line 81">
            <a:extLst>
              <a:ext uri="{FF2B5EF4-FFF2-40B4-BE49-F238E27FC236}">
                <a16:creationId xmlns:a16="http://schemas.microsoft.com/office/drawing/2014/main" id="{3BBCD767-FC52-02D8-3B8C-CA3388A96405}"/>
              </a:ext>
            </a:extLst>
          </p:cNvPr>
          <p:cNvSpPr>
            <a:spLocks noChangeShapeType="1"/>
          </p:cNvSpPr>
          <p:nvPr/>
        </p:nvSpPr>
        <p:spPr bwMode="auto">
          <a:xfrm>
            <a:off x="5413478" y="2642235"/>
            <a:ext cx="0" cy="1584325"/>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2" name="Line 82">
            <a:extLst>
              <a:ext uri="{FF2B5EF4-FFF2-40B4-BE49-F238E27FC236}">
                <a16:creationId xmlns:a16="http://schemas.microsoft.com/office/drawing/2014/main" id="{09D7E21D-C21B-2F3A-2E8C-A63D009BCBB0}"/>
              </a:ext>
            </a:extLst>
          </p:cNvPr>
          <p:cNvSpPr>
            <a:spLocks noChangeShapeType="1"/>
          </p:cNvSpPr>
          <p:nvPr/>
        </p:nvSpPr>
        <p:spPr bwMode="auto">
          <a:xfrm>
            <a:off x="5629378" y="2642235"/>
            <a:ext cx="0" cy="1584325"/>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3" name="Line 83">
            <a:extLst>
              <a:ext uri="{FF2B5EF4-FFF2-40B4-BE49-F238E27FC236}">
                <a16:creationId xmlns:a16="http://schemas.microsoft.com/office/drawing/2014/main" id="{C873E0DE-6A0D-AB4D-89D1-6E31F4E69675}"/>
              </a:ext>
            </a:extLst>
          </p:cNvPr>
          <p:cNvSpPr>
            <a:spLocks noChangeShapeType="1"/>
          </p:cNvSpPr>
          <p:nvPr/>
        </p:nvSpPr>
        <p:spPr bwMode="auto">
          <a:xfrm>
            <a:off x="5843691" y="2642235"/>
            <a:ext cx="0" cy="1589087"/>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4" name="Line 84">
            <a:extLst>
              <a:ext uri="{FF2B5EF4-FFF2-40B4-BE49-F238E27FC236}">
                <a16:creationId xmlns:a16="http://schemas.microsoft.com/office/drawing/2014/main" id="{387F8A58-4FF7-8693-6C0E-C8248307DBAD}"/>
              </a:ext>
            </a:extLst>
          </p:cNvPr>
          <p:cNvSpPr>
            <a:spLocks noChangeShapeType="1"/>
          </p:cNvSpPr>
          <p:nvPr/>
        </p:nvSpPr>
        <p:spPr bwMode="auto">
          <a:xfrm>
            <a:off x="6058003" y="2642235"/>
            <a:ext cx="0" cy="1589087"/>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5" name="Line 85">
            <a:extLst>
              <a:ext uri="{FF2B5EF4-FFF2-40B4-BE49-F238E27FC236}">
                <a16:creationId xmlns:a16="http://schemas.microsoft.com/office/drawing/2014/main" id="{8A91647C-2F31-5D7D-1420-0640AE4CED32}"/>
              </a:ext>
            </a:extLst>
          </p:cNvPr>
          <p:cNvSpPr>
            <a:spLocks noChangeShapeType="1"/>
          </p:cNvSpPr>
          <p:nvPr/>
        </p:nvSpPr>
        <p:spPr bwMode="auto">
          <a:xfrm>
            <a:off x="6272316" y="2642235"/>
            <a:ext cx="0" cy="1589087"/>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6" name="Line 86">
            <a:extLst>
              <a:ext uri="{FF2B5EF4-FFF2-40B4-BE49-F238E27FC236}">
                <a16:creationId xmlns:a16="http://schemas.microsoft.com/office/drawing/2014/main" id="{89718063-D1DB-5784-92BC-FF8D5980200E}"/>
              </a:ext>
            </a:extLst>
          </p:cNvPr>
          <p:cNvSpPr>
            <a:spLocks noChangeShapeType="1"/>
          </p:cNvSpPr>
          <p:nvPr/>
        </p:nvSpPr>
        <p:spPr bwMode="auto">
          <a:xfrm>
            <a:off x="6486628" y="2642235"/>
            <a:ext cx="0" cy="1582737"/>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7" name="Line 87">
            <a:extLst>
              <a:ext uri="{FF2B5EF4-FFF2-40B4-BE49-F238E27FC236}">
                <a16:creationId xmlns:a16="http://schemas.microsoft.com/office/drawing/2014/main" id="{D3E4AA6F-EB3C-4FDD-AABD-FC737E06FA6E}"/>
              </a:ext>
            </a:extLst>
          </p:cNvPr>
          <p:cNvSpPr>
            <a:spLocks noChangeShapeType="1"/>
          </p:cNvSpPr>
          <p:nvPr/>
        </p:nvSpPr>
        <p:spPr bwMode="auto">
          <a:xfrm>
            <a:off x="4986441" y="2642235"/>
            <a:ext cx="1712912"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8" name="Line 88">
            <a:extLst>
              <a:ext uri="{FF2B5EF4-FFF2-40B4-BE49-F238E27FC236}">
                <a16:creationId xmlns:a16="http://schemas.microsoft.com/office/drawing/2014/main" id="{7DF1C1DB-4222-0428-540A-FE098491659D}"/>
              </a:ext>
            </a:extLst>
          </p:cNvPr>
          <p:cNvSpPr>
            <a:spLocks noChangeShapeType="1"/>
          </p:cNvSpPr>
          <p:nvPr/>
        </p:nvSpPr>
        <p:spPr bwMode="auto">
          <a:xfrm>
            <a:off x="4986441" y="4231322"/>
            <a:ext cx="1712912"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9" name="Line 89">
            <a:extLst>
              <a:ext uri="{FF2B5EF4-FFF2-40B4-BE49-F238E27FC236}">
                <a16:creationId xmlns:a16="http://schemas.microsoft.com/office/drawing/2014/main" id="{CC5E8BFA-1F71-656F-FA93-310E119375BD}"/>
              </a:ext>
            </a:extLst>
          </p:cNvPr>
          <p:cNvSpPr>
            <a:spLocks noChangeShapeType="1"/>
          </p:cNvSpPr>
          <p:nvPr/>
        </p:nvSpPr>
        <p:spPr bwMode="auto">
          <a:xfrm flipV="1">
            <a:off x="4986441" y="2648585"/>
            <a:ext cx="0" cy="1582737"/>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90" name="Line 90">
            <a:extLst>
              <a:ext uri="{FF2B5EF4-FFF2-40B4-BE49-F238E27FC236}">
                <a16:creationId xmlns:a16="http://schemas.microsoft.com/office/drawing/2014/main" id="{8A169A94-666A-882B-3AA8-38336157BDD6}"/>
              </a:ext>
            </a:extLst>
          </p:cNvPr>
          <p:cNvSpPr>
            <a:spLocks noChangeShapeType="1"/>
          </p:cNvSpPr>
          <p:nvPr/>
        </p:nvSpPr>
        <p:spPr bwMode="auto">
          <a:xfrm>
            <a:off x="6702528" y="2642235"/>
            <a:ext cx="0" cy="1589087"/>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91" name="Rectangle 91">
            <a:extLst>
              <a:ext uri="{FF2B5EF4-FFF2-40B4-BE49-F238E27FC236}">
                <a16:creationId xmlns:a16="http://schemas.microsoft.com/office/drawing/2014/main" id="{532D2D3C-6241-6BCF-41D4-A84F9A7DE66B}"/>
              </a:ext>
            </a:extLst>
          </p:cNvPr>
          <p:cNvSpPr>
            <a:spLocks noChangeArrowheads="1"/>
          </p:cNvSpPr>
          <p:nvPr/>
        </p:nvSpPr>
        <p:spPr bwMode="auto">
          <a:xfrm rot="16200000">
            <a:off x="2024165" y="4875848"/>
            <a:ext cx="1679575" cy="4826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80000"/>
              </a:lnSpc>
            </a:pPr>
            <a:r>
              <a:rPr lang="en-US" altLang="en-US" sz="1600" b="1">
                <a:latin typeface="Arial" panose="020B0604020202020204" pitchFamily="34" charset="0"/>
              </a:rPr>
              <a:t>Customer Requirements</a:t>
            </a:r>
          </a:p>
        </p:txBody>
      </p:sp>
      <p:sp>
        <p:nvSpPr>
          <p:cNvPr id="92" name="Line 92">
            <a:extLst>
              <a:ext uri="{FF2B5EF4-FFF2-40B4-BE49-F238E27FC236}">
                <a16:creationId xmlns:a16="http://schemas.microsoft.com/office/drawing/2014/main" id="{5E46BB1D-43E2-CE03-D681-87FF292910E3}"/>
              </a:ext>
            </a:extLst>
          </p:cNvPr>
          <p:cNvSpPr>
            <a:spLocks noChangeShapeType="1"/>
          </p:cNvSpPr>
          <p:nvPr/>
        </p:nvSpPr>
        <p:spPr bwMode="auto">
          <a:xfrm flipV="1">
            <a:off x="4986441" y="2186622"/>
            <a:ext cx="0" cy="455613"/>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93" name="Line 93">
            <a:extLst>
              <a:ext uri="{FF2B5EF4-FFF2-40B4-BE49-F238E27FC236}">
                <a16:creationId xmlns:a16="http://schemas.microsoft.com/office/drawing/2014/main" id="{E9D0EA40-5B80-A0C8-566D-304FA9B5D9DF}"/>
              </a:ext>
            </a:extLst>
          </p:cNvPr>
          <p:cNvSpPr>
            <a:spLocks noChangeShapeType="1"/>
          </p:cNvSpPr>
          <p:nvPr/>
        </p:nvSpPr>
        <p:spPr bwMode="auto">
          <a:xfrm>
            <a:off x="6702528" y="2186622"/>
            <a:ext cx="0" cy="455613"/>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94" name="Line 94">
            <a:extLst>
              <a:ext uri="{FF2B5EF4-FFF2-40B4-BE49-F238E27FC236}">
                <a16:creationId xmlns:a16="http://schemas.microsoft.com/office/drawing/2014/main" id="{75BE1B29-CD3E-5FA2-40AA-5AD7FCC7753D}"/>
              </a:ext>
            </a:extLst>
          </p:cNvPr>
          <p:cNvSpPr>
            <a:spLocks noChangeShapeType="1"/>
          </p:cNvSpPr>
          <p:nvPr/>
        </p:nvSpPr>
        <p:spPr bwMode="auto">
          <a:xfrm>
            <a:off x="4986441" y="2186622"/>
            <a:ext cx="1712912"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95" name="Line 95">
            <a:extLst>
              <a:ext uri="{FF2B5EF4-FFF2-40B4-BE49-F238E27FC236}">
                <a16:creationId xmlns:a16="http://schemas.microsoft.com/office/drawing/2014/main" id="{983A8EAE-DE89-1E54-7E69-A36ED4E99591}"/>
              </a:ext>
            </a:extLst>
          </p:cNvPr>
          <p:cNvSpPr>
            <a:spLocks noChangeShapeType="1"/>
          </p:cNvSpPr>
          <p:nvPr/>
        </p:nvSpPr>
        <p:spPr bwMode="auto">
          <a:xfrm flipV="1">
            <a:off x="4986441" y="1732597"/>
            <a:ext cx="0" cy="454025"/>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96" name="Rectangle 96">
            <a:extLst>
              <a:ext uri="{FF2B5EF4-FFF2-40B4-BE49-F238E27FC236}">
                <a16:creationId xmlns:a16="http://schemas.microsoft.com/office/drawing/2014/main" id="{6C9EFBFF-14B4-F7C0-A899-D94F4ED506BF}"/>
              </a:ext>
            </a:extLst>
          </p:cNvPr>
          <p:cNvSpPr>
            <a:spLocks noChangeArrowheads="1"/>
          </p:cNvSpPr>
          <p:nvPr/>
        </p:nvSpPr>
        <p:spPr bwMode="auto">
          <a:xfrm>
            <a:off x="5081691" y="1704022"/>
            <a:ext cx="1524000" cy="5080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85000"/>
              </a:lnSpc>
            </a:pPr>
            <a:r>
              <a:rPr lang="en-US" altLang="en-US" sz="1600" b="1">
                <a:latin typeface="Arial" panose="020B0604020202020204" pitchFamily="34" charset="0"/>
              </a:rPr>
              <a:t>Technical Descriptors</a:t>
            </a:r>
          </a:p>
        </p:txBody>
      </p:sp>
      <p:sp>
        <p:nvSpPr>
          <p:cNvPr id="97" name="Line 97">
            <a:extLst>
              <a:ext uri="{FF2B5EF4-FFF2-40B4-BE49-F238E27FC236}">
                <a16:creationId xmlns:a16="http://schemas.microsoft.com/office/drawing/2014/main" id="{EAA57AFE-7EFD-151A-5759-66836D93FAF2}"/>
              </a:ext>
            </a:extLst>
          </p:cNvPr>
          <p:cNvSpPr>
            <a:spLocks noChangeShapeType="1"/>
          </p:cNvSpPr>
          <p:nvPr/>
        </p:nvSpPr>
        <p:spPr bwMode="auto">
          <a:xfrm flipV="1">
            <a:off x="4989616" y="824547"/>
            <a:ext cx="854075" cy="90805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98" name="Line 98">
            <a:extLst>
              <a:ext uri="{FF2B5EF4-FFF2-40B4-BE49-F238E27FC236}">
                <a16:creationId xmlns:a16="http://schemas.microsoft.com/office/drawing/2014/main" id="{B11375B1-77B0-5E0F-5425-85D7D9A2CB5C}"/>
              </a:ext>
            </a:extLst>
          </p:cNvPr>
          <p:cNvSpPr>
            <a:spLocks noChangeShapeType="1"/>
          </p:cNvSpPr>
          <p:nvPr/>
        </p:nvSpPr>
        <p:spPr bwMode="auto">
          <a:xfrm flipH="1" flipV="1">
            <a:off x="5095978" y="1619885"/>
            <a:ext cx="106363" cy="112712"/>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99" name="Line 99">
            <a:extLst>
              <a:ext uri="{FF2B5EF4-FFF2-40B4-BE49-F238E27FC236}">
                <a16:creationId xmlns:a16="http://schemas.microsoft.com/office/drawing/2014/main" id="{160FA7F3-2763-6160-D13B-C1DC6E2A0C63}"/>
              </a:ext>
            </a:extLst>
          </p:cNvPr>
          <p:cNvSpPr>
            <a:spLocks noChangeShapeType="1"/>
          </p:cNvSpPr>
          <p:nvPr/>
        </p:nvSpPr>
        <p:spPr bwMode="auto">
          <a:xfrm flipH="1" flipV="1">
            <a:off x="5202341" y="1505585"/>
            <a:ext cx="215900" cy="227012"/>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00" name="Line 100">
            <a:extLst>
              <a:ext uri="{FF2B5EF4-FFF2-40B4-BE49-F238E27FC236}">
                <a16:creationId xmlns:a16="http://schemas.microsoft.com/office/drawing/2014/main" id="{9A589722-BBB2-CFE6-F633-B7CBDE675A00}"/>
              </a:ext>
            </a:extLst>
          </p:cNvPr>
          <p:cNvSpPr>
            <a:spLocks noChangeShapeType="1"/>
          </p:cNvSpPr>
          <p:nvPr/>
        </p:nvSpPr>
        <p:spPr bwMode="auto">
          <a:xfrm flipH="1" flipV="1">
            <a:off x="5308703" y="1392872"/>
            <a:ext cx="323850" cy="339725"/>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01" name="Line 101">
            <a:extLst>
              <a:ext uri="{FF2B5EF4-FFF2-40B4-BE49-F238E27FC236}">
                <a16:creationId xmlns:a16="http://schemas.microsoft.com/office/drawing/2014/main" id="{A05B1823-C3AB-7CA1-978D-D9669995C9A0}"/>
              </a:ext>
            </a:extLst>
          </p:cNvPr>
          <p:cNvSpPr>
            <a:spLocks noChangeShapeType="1"/>
          </p:cNvSpPr>
          <p:nvPr/>
        </p:nvSpPr>
        <p:spPr bwMode="auto">
          <a:xfrm flipH="1" flipV="1">
            <a:off x="5418241" y="1278572"/>
            <a:ext cx="427037" cy="454025"/>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02" name="Line 102">
            <a:extLst>
              <a:ext uri="{FF2B5EF4-FFF2-40B4-BE49-F238E27FC236}">
                <a16:creationId xmlns:a16="http://schemas.microsoft.com/office/drawing/2014/main" id="{62EB3932-80E0-9786-CA98-D469D4D743CA}"/>
              </a:ext>
            </a:extLst>
          </p:cNvPr>
          <p:cNvSpPr>
            <a:spLocks noChangeShapeType="1"/>
          </p:cNvSpPr>
          <p:nvPr/>
        </p:nvSpPr>
        <p:spPr bwMode="auto">
          <a:xfrm flipH="1" flipV="1">
            <a:off x="5526191" y="1164272"/>
            <a:ext cx="536575" cy="568325"/>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03" name="Line 103">
            <a:extLst>
              <a:ext uri="{FF2B5EF4-FFF2-40B4-BE49-F238E27FC236}">
                <a16:creationId xmlns:a16="http://schemas.microsoft.com/office/drawing/2014/main" id="{496808F7-A57A-2B22-3D2C-9E4EB51BD309}"/>
              </a:ext>
            </a:extLst>
          </p:cNvPr>
          <p:cNvSpPr>
            <a:spLocks noChangeShapeType="1"/>
          </p:cNvSpPr>
          <p:nvPr/>
        </p:nvSpPr>
        <p:spPr bwMode="auto">
          <a:xfrm flipH="1" flipV="1">
            <a:off x="5632553" y="1051560"/>
            <a:ext cx="642938" cy="681037"/>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04" name="Line 104">
            <a:extLst>
              <a:ext uri="{FF2B5EF4-FFF2-40B4-BE49-F238E27FC236}">
                <a16:creationId xmlns:a16="http://schemas.microsoft.com/office/drawing/2014/main" id="{4E15C18D-D7D7-58C9-B2C7-48D2E13852A5}"/>
              </a:ext>
            </a:extLst>
          </p:cNvPr>
          <p:cNvSpPr>
            <a:spLocks noChangeShapeType="1"/>
          </p:cNvSpPr>
          <p:nvPr/>
        </p:nvSpPr>
        <p:spPr bwMode="auto">
          <a:xfrm flipH="1" flipV="1">
            <a:off x="5738916" y="937260"/>
            <a:ext cx="752475" cy="795337"/>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05" name="Line 105">
            <a:extLst>
              <a:ext uri="{FF2B5EF4-FFF2-40B4-BE49-F238E27FC236}">
                <a16:creationId xmlns:a16="http://schemas.microsoft.com/office/drawing/2014/main" id="{7C129DC8-2F67-0B43-9AAC-7A0C1DD4ED67}"/>
              </a:ext>
            </a:extLst>
          </p:cNvPr>
          <p:cNvSpPr>
            <a:spLocks noChangeShapeType="1"/>
          </p:cNvSpPr>
          <p:nvPr/>
        </p:nvSpPr>
        <p:spPr bwMode="auto">
          <a:xfrm flipV="1">
            <a:off x="3483078" y="2642235"/>
            <a:ext cx="0" cy="1589087"/>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06" name="Line 106">
            <a:extLst>
              <a:ext uri="{FF2B5EF4-FFF2-40B4-BE49-F238E27FC236}">
                <a16:creationId xmlns:a16="http://schemas.microsoft.com/office/drawing/2014/main" id="{A1AA13AF-890D-DFB4-7C08-3FD05585C209}"/>
              </a:ext>
            </a:extLst>
          </p:cNvPr>
          <p:cNvSpPr>
            <a:spLocks noChangeShapeType="1"/>
          </p:cNvSpPr>
          <p:nvPr/>
        </p:nvSpPr>
        <p:spPr bwMode="auto">
          <a:xfrm flipV="1">
            <a:off x="3052866" y="2186622"/>
            <a:ext cx="0" cy="204470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07" name="Line 107">
            <a:extLst>
              <a:ext uri="{FF2B5EF4-FFF2-40B4-BE49-F238E27FC236}">
                <a16:creationId xmlns:a16="http://schemas.microsoft.com/office/drawing/2014/main" id="{DC0E6FF6-7FEF-33AB-F9CE-8F17DC45B2BA}"/>
              </a:ext>
            </a:extLst>
          </p:cNvPr>
          <p:cNvSpPr>
            <a:spLocks noChangeShapeType="1"/>
          </p:cNvSpPr>
          <p:nvPr/>
        </p:nvSpPr>
        <p:spPr bwMode="auto">
          <a:xfrm>
            <a:off x="3052866" y="2186622"/>
            <a:ext cx="1931987"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08" name="Line 108">
            <a:extLst>
              <a:ext uri="{FF2B5EF4-FFF2-40B4-BE49-F238E27FC236}">
                <a16:creationId xmlns:a16="http://schemas.microsoft.com/office/drawing/2014/main" id="{7952A4CE-D362-9FA0-1623-4DEA732F92D9}"/>
              </a:ext>
            </a:extLst>
          </p:cNvPr>
          <p:cNvSpPr>
            <a:spLocks noChangeShapeType="1"/>
          </p:cNvSpPr>
          <p:nvPr/>
        </p:nvSpPr>
        <p:spPr bwMode="auto">
          <a:xfrm>
            <a:off x="3483078" y="2642235"/>
            <a:ext cx="1501775"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09" name="Line 109">
            <a:extLst>
              <a:ext uri="{FF2B5EF4-FFF2-40B4-BE49-F238E27FC236}">
                <a16:creationId xmlns:a16="http://schemas.microsoft.com/office/drawing/2014/main" id="{4FB7E121-1334-0A7E-FE2D-909A35A65618}"/>
              </a:ext>
            </a:extLst>
          </p:cNvPr>
          <p:cNvSpPr>
            <a:spLocks noChangeShapeType="1"/>
          </p:cNvSpPr>
          <p:nvPr/>
        </p:nvSpPr>
        <p:spPr bwMode="auto">
          <a:xfrm>
            <a:off x="3052866" y="2186622"/>
            <a:ext cx="1931987" cy="204470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10" name="Rectangle 110">
            <a:extLst>
              <a:ext uri="{FF2B5EF4-FFF2-40B4-BE49-F238E27FC236}">
                <a16:creationId xmlns:a16="http://schemas.microsoft.com/office/drawing/2014/main" id="{3E027E69-BABC-BD8D-2DC7-29CC49D65703}"/>
              </a:ext>
            </a:extLst>
          </p:cNvPr>
          <p:cNvSpPr>
            <a:spLocks noChangeArrowheads="1"/>
          </p:cNvSpPr>
          <p:nvPr/>
        </p:nvSpPr>
        <p:spPr bwMode="auto">
          <a:xfrm>
            <a:off x="4083319" y="2289810"/>
            <a:ext cx="950581" cy="339196"/>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600" b="1">
                <a:latin typeface="Arial" panose="020B0604020202020204" pitchFamily="34" charset="0"/>
              </a:rPr>
              <a:t>Primary</a:t>
            </a:r>
          </a:p>
        </p:txBody>
      </p:sp>
      <p:sp>
        <p:nvSpPr>
          <p:cNvPr id="111" name="Rectangle 111">
            <a:extLst>
              <a:ext uri="{FF2B5EF4-FFF2-40B4-BE49-F238E27FC236}">
                <a16:creationId xmlns:a16="http://schemas.microsoft.com/office/drawing/2014/main" id="{6295BB37-4CD3-A68C-CB45-FDB4027DC240}"/>
              </a:ext>
            </a:extLst>
          </p:cNvPr>
          <p:cNvSpPr>
            <a:spLocks noChangeArrowheads="1"/>
          </p:cNvSpPr>
          <p:nvPr/>
        </p:nvSpPr>
        <p:spPr bwMode="auto">
          <a:xfrm rot="16200000">
            <a:off x="2791887" y="3600556"/>
            <a:ext cx="950581" cy="339196"/>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600" b="1">
                <a:latin typeface="Arial" panose="020B0604020202020204" pitchFamily="34" charset="0"/>
              </a:rPr>
              <a:t>Primary</a:t>
            </a:r>
          </a:p>
        </p:txBody>
      </p:sp>
      <p:sp>
        <p:nvSpPr>
          <p:cNvPr id="112" name="Rectangle 112">
            <a:extLst>
              <a:ext uri="{FF2B5EF4-FFF2-40B4-BE49-F238E27FC236}">
                <a16:creationId xmlns:a16="http://schemas.microsoft.com/office/drawing/2014/main" id="{7D3ACC25-0913-843C-C28F-F06F9D30E983}"/>
              </a:ext>
            </a:extLst>
          </p:cNvPr>
          <p:cNvSpPr>
            <a:spLocks noChangeArrowheads="1"/>
          </p:cNvSpPr>
          <p:nvPr/>
        </p:nvSpPr>
        <p:spPr bwMode="auto">
          <a:xfrm rot="16200000">
            <a:off x="3099696" y="3474879"/>
            <a:ext cx="1223963" cy="33655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600" b="1">
                <a:latin typeface="Arial" panose="020B0604020202020204" pitchFamily="34" charset="0"/>
              </a:rPr>
              <a:t>Secondary</a:t>
            </a:r>
          </a:p>
        </p:txBody>
      </p:sp>
      <p:sp>
        <p:nvSpPr>
          <p:cNvPr id="113" name="Rectangle 113">
            <a:extLst>
              <a:ext uri="{FF2B5EF4-FFF2-40B4-BE49-F238E27FC236}">
                <a16:creationId xmlns:a16="http://schemas.microsoft.com/office/drawing/2014/main" id="{84EF857A-6AD5-CB95-1B98-E45D3B987D70}"/>
              </a:ext>
            </a:extLst>
          </p:cNvPr>
          <p:cNvSpPr>
            <a:spLocks noChangeArrowheads="1"/>
          </p:cNvSpPr>
          <p:nvPr/>
        </p:nvSpPr>
        <p:spPr bwMode="auto">
          <a:xfrm>
            <a:off x="3767241" y="2705735"/>
            <a:ext cx="1223962" cy="33655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600" b="1">
                <a:latin typeface="Arial" panose="020B0604020202020204" pitchFamily="34" charset="0"/>
              </a:rPr>
              <a:t>Secondary</a:t>
            </a:r>
          </a:p>
        </p:txBody>
      </p:sp>
      <p:sp>
        <p:nvSpPr>
          <p:cNvPr id="114" name="Line 114">
            <a:extLst>
              <a:ext uri="{FF2B5EF4-FFF2-40B4-BE49-F238E27FC236}">
                <a16:creationId xmlns:a16="http://schemas.microsoft.com/office/drawing/2014/main" id="{B99811F1-0F14-C5EB-7CD3-C310B33AD83D}"/>
              </a:ext>
            </a:extLst>
          </p:cNvPr>
          <p:cNvSpPr>
            <a:spLocks noChangeShapeType="1"/>
          </p:cNvSpPr>
          <p:nvPr/>
        </p:nvSpPr>
        <p:spPr bwMode="auto">
          <a:xfrm>
            <a:off x="5413478" y="4231322"/>
            <a:ext cx="0" cy="1817688"/>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15" name="Line 115">
            <a:extLst>
              <a:ext uri="{FF2B5EF4-FFF2-40B4-BE49-F238E27FC236}">
                <a16:creationId xmlns:a16="http://schemas.microsoft.com/office/drawing/2014/main" id="{21CDC17E-502E-5AF3-1C09-E4F6EFC08CBF}"/>
              </a:ext>
            </a:extLst>
          </p:cNvPr>
          <p:cNvSpPr>
            <a:spLocks noChangeShapeType="1"/>
          </p:cNvSpPr>
          <p:nvPr/>
        </p:nvSpPr>
        <p:spPr bwMode="auto">
          <a:xfrm>
            <a:off x="6702528" y="1732597"/>
            <a:ext cx="0" cy="454025"/>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16" name="Line 116">
            <a:extLst>
              <a:ext uri="{FF2B5EF4-FFF2-40B4-BE49-F238E27FC236}">
                <a16:creationId xmlns:a16="http://schemas.microsoft.com/office/drawing/2014/main" id="{CB65C17D-D804-A1A2-FA00-976F8513FA9D}"/>
              </a:ext>
            </a:extLst>
          </p:cNvPr>
          <p:cNvSpPr>
            <a:spLocks noChangeShapeType="1"/>
          </p:cNvSpPr>
          <p:nvPr/>
        </p:nvSpPr>
        <p:spPr bwMode="auto">
          <a:xfrm flipH="1" flipV="1">
            <a:off x="5843691" y="824547"/>
            <a:ext cx="854075" cy="90805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17" name="Line 117">
            <a:extLst>
              <a:ext uri="{FF2B5EF4-FFF2-40B4-BE49-F238E27FC236}">
                <a16:creationId xmlns:a16="http://schemas.microsoft.com/office/drawing/2014/main" id="{4296DE23-8977-DF40-4AAB-6AB651AC8BE1}"/>
              </a:ext>
            </a:extLst>
          </p:cNvPr>
          <p:cNvSpPr>
            <a:spLocks noChangeShapeType="1"/>
          </p:cNvSpPr>
          <p:nvPr/>
        </p:nvSpPr>
        <p:spPr bwMode="auto">
          <a:xfrm flipV="1">
            <a:off x="6485041" y="1619885"/>
            <a:ext cx="104775" cy="112712"/>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18" name="Line 118">
            <a:extLst>
              <a:ext uri="{FF2B5EF4-FFF2-40B4-BE49-F238E27FC236}">
                <a16:creationId xmlns:a16="http://schemas.microsoft.com/office/drawing/2014/main" id="{44A14F7A-42A1-5D1E-6FBA-8623D179BEE5}"/>
              </a:ext>
            </a:extLst>
          </p:cNvPr>
          <p:cNvSpPr>
            <a:spLocks noChangeShapeType="1"/>
          </p:cNvSpPr>
          <p:nvPr/>
        </p:nvSpPr>
        <p:spPr bwMode="auto">
          <a:xfrm flipV="1">
            <a:off x="6267553" y="1505585"/>
            <a:ext cx="217488" cy="227012"/>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19" name="Line 119">
            <a:extLst>
              <a:ext uri="{FF2B5EF4-FFF2-40B4-BE49-F238E27FC236}">
                <a16:creationId xmlns:a16="http://schemas.microsoft.com/office/drawing/2014/main" id="{6932AFC8-495E-6429-F469-E9B4ADA6A44F}"/>
              </a:ext>
            </a:extLst>
          </p:cNvPr>
          <p:cNvSpPr>
            <a:spLocks noChangeShapeType="1"/>
          </p:cNvSpPr>
          <p:nvPr/>
        </p:nvSpPr>
        <p:spPr bwMode="auto">
          <a:xfrm flipV="1">
            <a:off x="6053241" y="1392872"/>
            <a:ext cx="323850" cy="339725"/>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20" name="Line 120">
            <a:extLst>
              <a:ext uri="{FF2B5EF4-FFF2-40B4-BE49-F238E27FC236}">
                <a16:creationId xmlns:a16="http://schemas.microsoft.com/office/drawing/2014/main" id="{B47DA99C-F72D-1ADF-5DC0-53397E99599C}"/>
              </a:ext>
            </a:extLst>
          </p:cNvPr>
          <p:cNvSpPr>
            <a:spLocks noChangeShapeType="1"/>
          </p:cNvSpPr>
          <p:nvPr/>
        </p:nvSpPr>
        <p:spPr bwMode="auto">
          <a:xfrm flipV="1">
            <a:off x="5840516" y="1278572"/>
            <a:ext cx="427037" cy="454025"/>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21" name="Line 121">
            <a:extLst>
              <a:ext uri="{FF2B5EF4-FFF2-40B4-BE49-F238E27FC236}">
                <a16:creationId xmlns:a16="http://schemas.microsoft.com/office/drawing/2014/main" id="{6DCF65D0-AEF5-9A3D-B3FA-076C13BBC6F1}"/>
              </a:ext>
            </a:extLst>
          </p:cNvPr>
          <p:cNvSpPr>
            <a:spLocks noChangeShapeType="1"/>
          </p:cNvSpPr>
          <p:nvPr/>
        </p:nvSpPr>
        <p:spPr bwMode="auto">
          <a:xfrm flipV="1">
            <a:off x="5624616" y="1164272"/>
            <a:ext cx="536575" cy="568325"/>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22" name="Line 122">
            <a:extLst>
              <a:ext uri="{FF2B5EF4-FFF2-40B4-BE49-F238E27FC236}">
                <a16:creationId xmlns:a16="http://schemas.microsoft.com/office/drawing/2014/main" id="{0A0B001F-39B7-8193-9EBD-1D2089F90DF7}"/>
              </a:ext>
            </a:extLst>
          </p:cNvPr>
          <p:cNvSpPr>
            <a:spLocks noChangeShapeType="1"/>
          </p:cNvSpPr>
          <p:nvPr/>
        </p:nvSpPr>
        <p:spPr bwMode="auto">
          <a:xfrm flipV="1">
            <a:off x="5411891" y="1051560"/>
            <a:ext cx="641350" cy="681037"/>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23" name="Line 123">
            <a:extLst>
              <a:ext uri="{FF2B5EF4-FFF2-40B4-BE49-F238E27FC236}">
                <a16:creationId xmlns:a16="http://schemas.microsoft.com/office/drawing/2014/main" id="{95C864FE-16C2-1850-66DF-864CEAE76881}"/>
              </a:ext>
            </a:extLst>
          </p:cNvPr>
          <p:cNvSpPr>
            <a:spLocks noChangeShapeType="1"/>
          </p:cNvSpPr>
          <p:nvPr/>
        </p:nvSpPr>
        <p:spPr bwMode="auto">
          <a:xfrm flipV="1">
            <a:off x="5194403" y="937260"/>
            <a:ext cx="754063" cy="795337"/>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24" name="Line 124">
            <a:extLst>
              <a:ext uri="{FF2B5EF4-FFF2-40B4-BE49-F238E27FC236}">
                <a16:creationId xmlns:a16="http://schemas.microsoft.com/office/drawing/2014/main" id="{C4429ADF-428D-76E3-581D-59E34F72DE51}"/>
              </a:ext>
            </a:extLst>
          </p:cNvPr>
          <p:cNvSpPr>
            <a:spLocks noChangeShapeType="1"/>
          </p:cNvSpPr>
          <p:nvPr/>
        </p:nvSpPr>
        <p:spPr bwMode="auto">
          <a:xfrm flipH="1">
            <a:off x="4986441" y="1737360"/>
            <a:ext cx="1712912"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125" name="Group 145">
            <a:extLst>
              <a:ext uri="{FF2B5EF4-FFF2-40B4-BE49-F238E27FC236}">
                <a16:creationId xmlns:a16="http://schemas.microsoft.com/office/drawing/2014/main" id="{0D486E46-600B-0BE4-BF78-1D57DF361E6A}"/>
              </a:ext>
            </a:extLst>
          </p:cNvPr>
          <p:cNvGrpSpPr>
            <a:grpSpLocks/>
          </p:cNvGrpSpPr>
          <p:nvPr/>
        </p:nvGrpSpPr>
        <p:grpSpPr bwMode="auto">
          <a:xfrm>
            <a:off x="5034066" y="4288472"/>
            <a:ext cx="1612900" cy="1473200"/>
            <a:chOff x="2465" y="2830"/>
            <a:chExt cx="1016" cy="928"/>
          </a:xfrm>
        </p:grpSpPr>
        <p:sp>
          <p:nvSpPr>
            <p:cNvPr id="126" name="Oval 125">
              <a:extLst>
                <a:ext uri="{FF2B5EF4-FFF2-40B4-BE49-F238E27FC236}">
                  <a16:creationId xmlns:a16="http://schemas.microsoft.com/office/drawing/2014/main" id="{C9F14FF7-4120-7A56-EDB9-36D05B6396F9}"/>
                </a:ext>
              </a:extLst>
            </p:cNvPr>
            <p:cNvSpPr>
              <a:spLocks noChangeArrowheads="1"/>
            </p:cNvSpPr>
            <p:nvPr/>
          </p:nvSpPr>
          <p:spPr bwMode="auto">
            <a:xfrm>
              <a:off x="2470" y="3263"/>
              <a:ext cx="60" cy="64"/>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p>
          </p:txBody>
        </p:sp>
        <p:sp>
          <p:nvSpPr>
            <p:cNvPr id="127" name="Oval 126">
              <a:extLst>
                <a:ext uri="{FF2B5EF4-FFF2-40B4-BE49-F238E27FC236}">
                  <a16:creationId xmlns:a16="http://schemas.microsoft.com/office/drawing/2014/main" id="{B2231EFA-5449-8735-A947-456A8D08705B}"/>
                </a:ext>
              </a:extLst>
            </p:cNvPr>
            <p:cNvSpPr>
              <a:spLocks noChangeArrowheads="1"/>
            </p:cNvSpPr>
            <p:nvPr/>
          </p:nvSpPr>
          <p:spPr bwMode="auto">
            <a:xfrm>
              <a:off x="2487" y="3281"/>
              <a:ext cx="26" cy="29"/>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p>
          </p:txBody>
        </p:sp>
        <p:sp>
          <p:nvSpPr>
            <p:cNvPr id="128" name="Oval 127">
              <a:extLst>
                <a:ext uri="{FF2B5EF4-FFF2-40B4-BE49-F238E27FC236}">
                  <a16:creationId xmlns:a16="http://schemas.microsoft.com/office/drawing/2014/main" id="{9E98AE81-9E65-44B1-1663-D318F92C0066}"/>
                </a:ext>
              </a:extLst>
            </p:cNvPr>
            <p:cNvSpPr>
              <a:spLocks noChangeArrowheads="1"/>
            </p:cNvSpPr>
            <p:nvPr/>
          </p:nvSpPr>
          <p:spPr bwMode="auto">
            <a:xfrm>
              <a:off x="2610" y="2979"/>
              <a:ext cx="59" cy="63"/>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p>
          </p:txBody>
        </p:sp>
        <p:sp>
          <p:nvSpPr>
            <p:cNvPr id="129" name="AutoShape 128">
              <a:extLst>
                <a:ext uri="{FF2B5EF4-FFF2-40B4-BE49-F238E27FC236}">
                  <a16:creationId xmlns:a16="http://schemas.microsoft.com/office/drawing/2014/main" id="{011EA01E-8321-6865-CB62-98544FEC6A26}"/>
                </a:ext>
              </a:extLst>
            </p:cNvPr>
            <p:cNvSpPr>
              <a:spLocks noChangeArrowheads="1"/>
            </p:cNvSpPr>
            <p:nvPr/>
          </p:nvSpPr>
          <p:spPr bwMode="auto">
            <a:xfrm>
              <a:off x="3141" y="2973"/>
              <a:ext cx="59" cy="63"/>
            </a:xfrm>
            <a:prstGeom prst="triangle">
              <a:avLst>
                <a:gd name="adj" fmla="val 49995"/>
              </a:avLst>
            </a:prstGeom>
            <a:noFill/>
            <a:ln w="127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p>
          </p:txBody>
        </p:sp>
        <p:sp>
          <p:nvSpPr>
            <p:cNvPr id="130" name="Oval 129">
              <a:extLst>
                <a:ext uri="{FF2B5EF4-FFF2-40B4-BE49-F238E27FC236}">
                  <a16:creationId xmlns:a16="http://schemas.microsoft.com/office/drawing/2014/main" id="{356BF60F-E01E-3369-C965-F0F6128EEE4E}"/>
                </a:ext>
              </a:extLst>
            </p:cNvPr>
            <p:cNvSpPr>
              <a:spLocks noChangeArrowheads="1"/>
            </p:cNvSpPr>
            <p:nvPr/>
          </p:nvSpPr>
          <p:spPr bwMode="auto">
            <a:xfrm>
              <a:off x="2876" y="2834"/>
              <a:ext cx="60" cy="64"/>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p>
          </p:txBody>
        </p:sp>
        <p:sp>
          <p:nvSpPr>
            <p:cNvPr id="131" name="Oval 130">
              <a:extLst>
                <a:ext uri="{FF2B5EF4-FFF2-40B4-BE49-F238E27FC236}">
                  <a16:creationId xmlns:a16="http://schemas.microsoft.com/office/drawing/2014/main" id="{E124E66C-CC6F-5E9B-90FD-6B49AC6695BF}"/>
                </a:ext>
              </a:extLst>
            </p:cNvPr>
            <p:cNvSpPr>
              <a:spLocks noChangeArrowheads="1"/>
            </p:cNvSpPr>
            <p:nvPr/>
          </p:nvSpPr>
          <p:spPr bwMode="auto">
            <a:xfrm>
              <a:off x="2893" y="2852"/>
              <a:ext cx="26" cy="29"/>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p>
          </p:txBody>
        </p:sp>
        <p:sp>
          <p:nvSpPr>
            <p:cNvPr id="132" name="Oval 131">
              <a:extLst>
                <a:ext uri="{FF2B5EF4-FFF2-40B4-BE49-F238E27FC236}">
                  <a16:creationId xmlns:a16="http://schemas.microsoft.com/office/drawing/2014/main" id="{4EFB92F7-B660-B190-B15B-188D50A3830A}"/>
                </a:ext>
              </a:extLst>
            </p:cNvPr>
            <p:cNvSpPr>
              <a:spLocks noChangeArrowheads="1"/>
            </p:cNvSpPr>
            <p:nvPr/>
          </p:nvSpPr>
          <p:spPr bwMode="auto">
            <a:xfrm>
              <a:off x="3011" y="3263"/>
              <a:ext cx="60" cy="64"/>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p>
          </p:txBody>
        </p:sp>
        <p:sp>
          <p:nvSpPr>
            <p:cNvPr id="133" name="Oval 132">
              <a:extLst>
                <a:ext uri="{FF2B5EF4-FFF2-40B4-BE49-F238E27FC236}">
                  <a16:creationId xmlns:a16="http://schemas.microsoft.com/office/drawing/2014/main" id="{839F0E56-4DA6-306C-AF93-95457AA4019B}"/>
                </a:ext>
              </a:extLst>
            </p:cNvPr>
            <p:cNvSpPr>
              <a:spLocks noChangeArrowheads="1"/>
            </p:cNvSpPr>
            <p:nvPr/>
          </p:nvSpPr>
          <p:spPr bwMode="auto">
            <a:xfrm>
              <a:off x="3028" y="3281"/>
              <a:ext cx="26" cy="29"/>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p>
          </p:txBody>
        </p:sp>
        <p:sp>
          <p:nvSpPr>
            <p:cNvPr id="134" name="Oval 133">
              <a:extLst>
                <a:ext uri="{FF2B5EF4-FFF2-40B4-BE49-F238E27FC236}">
                  <a16:creationId xmlns:a16="http://schemas.microsoft.com/office/drawing/2014/main" id="{5A2DA57F-07DB-EE8F-AF10-BBC42C5B6E70}"/>
                </a:ext>
              </a:extLst>
            </p:cNvPr>
            <p:cNvSpPr>
              <a:spLocks noChangeArrowheads="1"/>
            </p:cNvSpPr>
            <p:nvPr/>
          </p:nvSpPr>
          <p:spPr bwMode="auto">
            <a:xfrm>
              <a:off x="2741" y="3406"/>
              <a:ext cx="59" cy="64"/>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p>
          </p:txBody>
        </p:sp>
        <p:sp>
          <p:nvSpPr>
            <p:cNvPr id="135" name="Oval 134">
              <a:extLst>
                <a:ext uri="{FF2B5EF4-FFF2-40B4-BE49-F238E27FC236}">
                  <a16:creationId xmlns:a16="http://schemas.microsoft.com/office/drawing/2014/main" id="{C5C1E048-DA26-EDEB-F79C-C83C5A0E36B0}"/>
                </a:ext>
              </a:extLst>
            </p:cNvPr>
            <p:cNvSpPr>
              <a:spLocks noChangeArrowheads="1"/>
            </p:cNvSpPr>
            <p:nvPr/>
          </p:nvSpPr>
          <p:spPr bwMode="auto">
            <a:xfrm>
              <a:off x="2758" y="3424"/>
              <a:ext cx="25" cy="30"/>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p>
          </p:txBody>
        </p:sp>
        <p:sp>
          <p:nvSpPr>
            <p:cNvPr id="136" name="Oval 135">
              <a:extLst>
                <a:ext uri="{FF2B5EF4-FFF2-40B4-BE49-F238E27FC236}">
                  <a16:creationId xmlns:a16="http://schemas.microsoft.com/office/drawing/2014/main" id="{AD694583-88C7-6EED-8548-02B447DF6F2A}"/>
                </a:ext>
              </a:extLst>
            </p:cNvPr>
            <p:cNvSpPr>
              <a:spLocks noChangeArrowheads="1"/>
            </p:cNvSpPr>
            <p:nvPr/>
          </p:nvSpPr>
          <p:spPr bwMode="auto">
            <a:xfrm>
              <a:off x="3417" y="3693"/>
              <a:ext cx="59" cy="63"/>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p>
          </p:txBody>
        </p:sp>
        <p:sp>
          <p:nvSpPr>
            <p:cNvPr id="137" name="Oval 136">
              <a:extLst>
                <a:ext uri="{FF2B5EF4-FFF2-40B4-BE49-F238E27FC236}">
                  <a16:creationId xmlns:a16="http://schemas.microsoft.com/office/drawing/2014/main" id="{659E59BD-9B07-736B-26A8-865DCE2287A1}"/>
                </a:ext>
              </a:extLst>
            </p:cNvPr>
            <p:cNvSpPr>
              <a:spLocks noChangeArrowheads="1"/>
            </p:cNvSpPr>
            <p:nvPr/>
          </p:nvSpPr>
          <p:spPr bwMode="auto">
            <a:xfrm>
              <a:off x="3434" y="3710"/>
              <a:ext cx="25" cy="30"/>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p>
          </p:txBody>
        </p:sp>
        <p:sp>
          <p:nvSpPr>
            <p:cNvPr id="138" name="Oval 137">
              <a:extLst>
                <a:ext uri="{FF2B5EF4-FFF2-40B4-BE49-F238E27FC236}">
                  <a16:creationId xmlns:a16="http://schemas.microsoft.com/office/drawing/2014/main" id="{261FEFE3-563F-603D-83D4-9996A999318F}"/>
                </a:ext>
              </a:extLst>
            </p:cNvPr>
            <p:cNvSpPr>
              <a:spLocks noChangeArrowheads="1"/>
            </p:cNvSpPr>
            <p:nvPr/>
          </p:nvSpPr>
          <p:spPr bwMode="auto">
            <a:xfrm>
              <a:off x="2880" y="3265"/>
              <a:ext cx="60" cy="63"/>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p>
          </p:txBody>
        </p:sp>
        <p:sp>
          <p:nvSpPr>
            <p:cNvPr id="139" name="Oval 138">
              <a:extLst>
                <a:ext uri="{FF2B5EF4-FFF2-40B4-BE49-F238E27FC236}">
                  <a16:creationId xmlns:a16="http://schemas.microsoft.com/office/drawing/2014/main" id="{3A04CBF6-0582-5364-8902-6124B646B8EE}"/>
                </a:ext>
              </a:extLst>
            </p:cNvPr>
            <p:cNvSpPr>
              <a:spLocks noChangeArrowheads="1"/>
            </p:cNvSpPr>
            <p:nvPr/>
          </p:nvSpPr>
          <p:spPr bwMode="auto">
            <a:xfrm>
              <a:off x="3421" y="3408"/>
              <a:ext cx="60" cy="63"/>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p>
          </p:txBody>
        </p:sp>
        <p:sp>
          <p:nvSpPr>
            <p:cNvPr id="140" name="Oval 139">
              <a:extLst>
                <a:ext uri="{FF2B5EF4-FFF2-40B4-BE49-F238E27FC236}">
                  <a16:creationId xmlns:a16="http://schemas.microsoft.com/office/drawing/2014/main" id="{F4FA2D4F-A024-6E3A-6ED3-B415595621B3}"/>
                </a:ext>
              </a:extLst>
            </p:cNvPr>
            <p:cNvSpPr>
              <a:spLocks noChangeArrowheads="1"/>
            </p:cNvSpPr>
            <p:nvPr/>
          </p:nvSpPr>
          <p:spPr bwMode="auto">
            <a:xfrm>
              <a:off x="2745" y="3694"/>
              <a:ext cx="60" cy="64"/>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p>
          </p:txBody>
        </p:sp>
        <p:sp>
          <p:nvSpPr>
            <p:cNvPr id="141" name="Oval 140">
              <a:extLst>
                <a:ext uri="{FF2B5EF4-FFF2-40B4-BE49-F238E27FC236}">
                  <a16:creationId xmlns:a16="http://schemas.microsoft.com/office/drawing/2014/main" id="{BF476961-84BC-4B6E-69F8-092688862449}"/>
                </a:ext>
              </a:extLst>
            </p:cNvPr>
            <p:cNvSpPr>
              <a:spLocks noChangeArrowheads="1"/>
            </p:cNvSpPr>
            <p:nvPr/>
          </p:nvSpPr>
          <p:spPr bwMode="auto">
            <a:xfrm>
              <a:off x="3286" y="3694"/>
              <a:ext cx="59" cy="64"/>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p>
          </p:txBody>
        </p:sp>
        <p:sp>
          <p:nvSpPr>
            <p:cNvPr id="142" name="AutoShape 141">
              <a:extLst>
                <a:ext uri="{FF2B5EF4-FFF2-40B4-BE49-F238E27FC236}">
                  <a16:creationId xmlns:a16="http://schemas.microsoft.com/office/drawing/2014/main" id="{C0710473-FBC3-B3D4-F476-A90082D96AB8}"/>
                </a:ext>
              </a:extLst>
            </p:cNvPr>
            <p:cNvSpPr>
              <a:spLocks noChangeArrowheads="1"/>
            </p:cNvSpPr>
            <p:nvPr/>
          </p:nvSpPr>
          <p:spPr bwMode="auto">
            <a:xfrm>
              <a:off x="2465" y="2830"/>
              <a:ext cx="59" cy="63"/>
            </a:xfrm>
            <a:prstGeom prst="triangle">
              <a:avLst>
                <a:gd name="adj" fmla="val 49995"/>
              </a:avLst>
            </a:prstGeom>
            <a:noFill/>
            <a:ln w="127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p>
          </p:txBody>
        </p:sp>
        <p:sp>
          <p:nvSpPr>
            <p:cNvPr id="143" name="AutoShape 142">
              <a:extLst>
                <a:ext uri="{FF2B5EF4-FFF2-40B4-BE49-F238E27FC236}">
                  <a16:creationId xmlns:a16="http://schemas.microsoft.com/office/drawing/2014/main" id="{BE6197CC-05D4-9A23-67EE-A2499D29C968}"/>
                </a:ext>
              </a:extLst>
            </p:cNvPr>
            <p:cNvSpPr>
              <a:spLocks noChangeArrowheads="1"/>
            </p:cNvSpPr>
            <p:nvPr/>
          </p:nvSpPr>
          <p:spPr bwMode="auto">
            <a:xfrm>
              <a:off x="3411" y="3259"/>
              <a:ext cx="60" cy="63"/>
            </a:xfrm>
            <a:prstGeom prst="triangle">
              <a:avLst>
                <a:gd name="adj" fmla="val 49995"/>
              </a:avLst>
            </a:prstGeom>
            <a:noFill/>
            <a:ln w="127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p>
          </p:txBody>
        </p:sp>
        <p:sp>
          <p:nvSpPr>
            <p:cNvPr id="144" name="AutoShape 143">
              <a:extLst>
                <a:ext uri="{FF2B5EF4-FFF2-40B4-BE49-F238E27FC236}">
                  <a16:creationId xmlns:a16="http://schemas.microsoft.com/office/drawing/2014/main" id="{E028D44C-D8AB-1A99-0AE0-36D2312D886F}"/>
                </a:ext>
              </a:extLst>
            </p:cNvPr>
            <p:cNvSpPr>
              <a:spLocks noChangeArrowheads="1"/>
            </p:cNvSpPr>
            <p:nvPr/>
          </p:nvSpPr>
          <p:spPr bwMode="auto">
            <a:xfrm>
              <a:off x="3276" y="3402"/>
              <a:ext cx="60" cy="63"/>
            </a:xfrm>
            <a:prstGeom prst="triangle">
              <a:avLst>
                <a:gd name="adj" fmla="val 49995"/>
              </a:avLst>
            </a:prstGeom>
            <a:noFill/>
            <a:ln w="127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p>
          </p:txBody>
        </p:sp>
        <p:sp>
          <p:nvSpPr>
            <p:cNvPr id="145" name="AutoShape 144">
              <a:extLst>
                <a:ext uri="{FF2B5EF4-FFF2-40B4-BE49-F238E27FC236}">
                  <a16:creationId xmlns:a16="http://schemas.microsoft.com/office/drawing/2014/main" id="{3FD23710-B6A7-68C6-F19E-D67439F859DA}"/>
                </a:ext>
              </a:extLst>
            </p:cNvPr>
            <p:cNvSpPr>
              <a:spLocks noChangeArrowheads="1"/>
            </p:cNvSpPr>
            <p:nvPr/>
          </p:nvSpPr>
          <p:spPr bwMode="auto">
            <a:xfrm>
              <a:off x="2600" y="3545"/>
              <a:ext cx="60" cy="64"/>
            </a:xfrm>
            <a:prstGeom prst="triangle">
              <a:avLst>
                <a:gd name="adj" fmla="val 49995"/>
              </a:avLst>
            </a:prstGeom>
            <a:noFill/>
            <a:ln w="127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p>
          </p:txBody>
        </p:sp>
      </p:grpSp>
      <p:grpSp>
        <p:nvGrpSpPr>
          <p:cNvPr id="146" name="Group 181">
            <a:extLst>
              <a:ext uri="{FF2B5EF4-FFF2-40B4-BE49-F238E27FC236}">
                <a16:creationId xmlns:a16="http://schemas.microsoft.com/office/drawing/2014/main" id="{F867B269-43ED-EA74-3CEB-7C0FCF07720E}"/>
              </a:ext>
            </a:extLst>
          </p:cNvPr>
          <p:cNvGrpSpPr>
            <a:grpSpLocks/>
          </p:cNvGrpSpPr>
          <p:nvPr/>
        </p:nvGrpSpPr>
        <p:grpSpPr bwMode="auto">
          <a:xfrm>
            <a:off x="6567591" y="1061085"/>
            <a:ext cx="3640137" cy="4826000"/>
            <a:chOff x="3431" y="797"/>
            <a:chExt cx="2293" cy="3040"/>
          </a:xfrm>
        </p:grpSpPr>
        <p:sp>
          <p:nvSpPr>
            <p:cNvPr id="147" name="Rectangle 146">
              <a:extLst>
                <a:ext uri="{FF2B5EF4-FFF2-40B4-BE49-F238E27FC236}">
                  <a16:creationId xmlns:a16="http://schemas.microsoft.com/office/drawing/2014/main" id="{60D0D663-92F0-702D-BAEE-3EC847E9DF6D}"/>
                </a:ext>
              </a:extLst>
            </p:cNvPr>
            <p:cNvSpPr>
              <a:spLocks noChangeArrowheads="1"/>
            </p:cNvSpPr>
            <p:nvPr/>
          </p:nvSpPr>
          <p:spPr bwMode="auto">
            <a:xfrm>
              <a:off x="3632" y="2456"/>
              <a:ext cx="1765" cy="82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600" b="1">
                  <a:latin typeface="Arial" panose="020B0604020202020204" pitchFamily="34" charset="0"/>
                </a:rPr>
                <a:t>Relationship between</a:t>
              </a:r>
            </a:p>
            <a:p>
              <a:pPr algn="ctr"/>
              <a:r>
                <a:rPr lang="en-US" altLang="en-US" sz="1600" b="1">
                  <a:latin typeface="Arial" panose="020B0604020202020204" pitchFamily="34" charset="0"/>
                </a:rPr>
                <a:t>Customer Requirements and</a:t>
              </a:r>
            </a:p>
            <a:p>
              <a:pPr algn="ctr"/>
              <a:r>
                <a:rPr lang="en-US" altLang="en-US" sz="1600" b="1">
                  <a:latin typeface="Arial" panose="020B0604020202020204" pitchFamily="34" charset="0"/>
                </a:rPr>
                <a:t>Technical Descriptors</a:t>
              </a:r>
            </a:p>
            <a:p>
              <a:pPr algn="ctr"/>
              <a:r>
                <a:rPr lang="en-US" altLang="en-US" sz="1600" b="1">
                  <a:latin typeface="Arial" panose="020B0604020202020204" pitchFamily="34" charset="0"/>
                </a:rPr>
                <a:t>WHATs vs. HOWs</a:t>
              </a:r>
            </a:p>
          </p:txBody>
        </p:sp>
        <p:sp>
          <p:nvSpPr>
            <p:cNvPr id="148" name="Rectangle 147">
              <a:extLst>
                <a:ext uri="{FF2B5EF4-FFF2-40B4-BE49-F238E27FC236}">
                  <a16:creationId xmlns:a16="http://schemas.microsoft.com/office/drawing/2014/main" id="{BDFE1645-D3E7-BEC4-CCAB-5F28513B0D20}"/>
                </a:ext>
              </a:extLst>
            </p:cNvPr>
            <p:cNvSpPr>
              <a:spLocks noChangeArrowheads="1"/>
            </p:cNvSpPr>
            <p:nvPr/>
          </p:nvSpPr>
          <p:spPr bwMode="auto">
            <a:xfrm>
              <a:off x="4190" y="1412"/>
              <a:ext cx="944"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Arial" panose="020B0604020202020204" pitchFamily="34" charset="0"/>
                </a:rPr>
                <a:t>Strong Positive</a:t>
              </a:r>
            </a:p>
          </p:txBody>
        </p:sp>
        <p:sp>
          <p:nvSpPr>
            <p:cNvPr id="149" name="Rectangle 148">
              <a:extLst>
                <a:ext uri="{FF2B5EF4-FFF2-40B4-BE49-F238E27FC236}">
                  <a16:creationId xmlns:a16="http://schemas.microsoft.com/office/drawing/2014/main" id="{A63BBBE7-337B-2E6F-D102-2913E2F4F0C0}"/>
                </a:ext>
              </a:extLst>
            </p:cNvPr>
            <p:cNvSpPr>
              <a:spLocks noChangeArrowheads="1"/>
            </p:cNvSpPr>
            <p:nvPr/>
          </p:nvSpPr>
          <p:spPr bwMode="auto">
            <a:xfrm>
              <a:off x="4189" y="1555"/>
              <a:ext cx="549"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Arial" panose="020B0604020202020204" pitchFamily="34" charset="0"/>
                </a:rPr>
                <a:t>Positive</a:t>
              </a:r>
            </a:p>
          </p:txBody>
        </p:sp>
        <p:sp>
          <p:nvSpPr>
            <p:cNvPr id="150" name="Rectangle 149">
              <a:extLst>
                <a:ext uri="{FF2B5EF4-FFF2-40B4-BE49-F238E27FC236}">
                  <a16:creationId xmlns:a16="http://schemas.microsoft.com/office/drawing/2014/main" id="{24CFEB70-FAE8-4579-0C33-BCA592A6FEC9}"/>
                </a:ext>
              </a:extLst>
            </p:cNvPr>
            <p:cNvSpPr>
              <a:spLocks noChangeArrowheads="1"/>
            </p:cNvSpPr>
            <p:nvPr/>
          </p:nvSpPr>
          <p:spPr bwMode="auto">
            <a:xfrm>
              <a:off x="4189" y="1707"/>
              <a:ext cx="587"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Arial" panose="020B0604020202020204" pitchFamily="34" charset="0"/>
                </a:rPr>
                <a:t>Negative</a:t>
              </a:r>
            </a:p>
          </p:txBody>
        </p:sp>
        <p:sp>
          <p:nvSpPr>
            <p:cNvPr id="151" name="Oval 150">
              <a:extLst>
                <a:ext uri="{FF2B5EF4-FFF2-40B4-BE49-F238E27FC236}">
                  <a16:creationId xmlns:a16="http://schemas.microsoft.com/office/drawing/2014/main" id="{48E1D51E-D643-738A-08CA-DE55E320DB7E}"/>
                </a:ext>
              </a:extLst>
            </p:cNvPr>
            <p:cNvSpPr>
              <a:spLocks noChangeArrowheads="1"/>
            </p:cNvSpPr>
            <p:nvPr/>
          </p:nvSpPr>
          <p:spPr bwMode="auto">
            <a:xfrm>
              <a:off x="4113" y="1573"/>
              <a:ext cx="59" cy="64"/>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p>
          </p:txBody>
        </p:sp>
        <p:grpSp>
          <p:nvGrpSpPr>
            <p:cNvPr id="152" name="Group 153">
              <a:extLst>
                <a:ext uri="{FF2B5EF4-FFF2-40B4-BE49-F238E27FC236}">
                  <a16:creationId xmlns:a16="http://schemas.microsoft.com/office/drawing/2014/main" id="{AE5A4FDB-5676-CDD9-D43B-CA683E365CC3}"/>
                </a:ext>
              </a:extLst>
            </p:cNvPr>
            <p:cNvGrpSpPr>
              <a:grpSpLocks/>
            </p:cNvGrpSpPr>
            <p:nvPr/>
          </p:nvGrpSpPr>
          <p:grpSpPr bwMode="auto">
            <a:xfrm>
              <a:off x="4109" y="1428"/>
              <a:ext cx="59" cy="64"/>
              <a:chOff x="4109" y="1428"/>
              <a:chExt cx="59" cy="64"/>
            </a:xfrm>
          </p:grpSpPr>
          <p:sp>
            <p:nvSpPr>
              <p:cNvPr id="180" name="Oval 151">
                <a:extLst>
                  <a:ext uri="{FF2B5EF4-FFF2-40B4-BE49-F238E27FC236}">
                    <a16:creationId xmlns:a16="http://schemas.microsoft.com/office/drawing/2014/main" id="{240DEAAC-9086-4D4E-6789-64C37E9A2154}"/>
                  </a:ext>
                </a:extLst>
              </p:cNvPr>
              <p:cNvSpPr>
                <a:spLocks noChangeArrowheads="1"/>
              </p:cNvSpPr>
              <p:nvPr/>
            </p:nvSpPr>
            <p:spPr bwMode="auto">
              <a:xfrm>
                <a:off x="4109" y="1428"/>
                <a:ext cx="59" cy="64"/>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p>
            </p:txBody>
          </p:sp>
          <p:sp>
            <p:nvSpPr>
              <p:cNvPr id="181" name="Oval 152">
                <a:extLst>
                  <a:ext uri="{FF2B5EF4-FFF2-40B4-BE49-F238E27FC236}">
                    <a16:creationId xmlns:a16="http://schemas.microsoft.com/office/drawing/2014/main" id="{73356E52-ABA0-D642-3148-EE91BFE80ED8}"/>
                  </a:ext>
                </a:extLst>
              </p:cNvPr>
              <p:cNvSpPr>
                <a:spLocks noChangeArrowheads="1"/>
              </p:cNvSpPr>
              <p:nvPr/>
            </p:nvSpPr>
            <p:spPr bwMode="auto">
              <a:xfrm>
                <a:off x="4126" y="1446"/>
                <a:ext cx="25" cy="30"/>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p>
            </p:txBody>
          </p:sp>
        </p:grpSp>
        <p:grpSp>
          <p:nvGrpSpPr>
            <p:cNvPr id="153" name="Group 158">
              <a:extLst>
                <a:ext uri="{FF2B5EF4-FFF2-40B4-BE49-F238E27FC236}">
                  <a16:creationId xmlns:a16="http://schemas.microsoft.com/office/drawing/2014/main" id="{138FE0C3-2FAA-5A91-35EA-5BEE1CA3F53C}"/>
                </a:ext>
              </a:extLst>
            </p:cNvPr>
            <p:cNvGrpSpPr>
              <a:grpSpLocks/>
            </p:cNvGrpSpPr>
            <p:nvPr/>
          </p:nvGrpSpPr>
          <p:grpSpPr bwMode="auto">
            <a:xfrm>
              <a:off x="4113" y="1854"/>
              <a:ext cx="68" cy="71"/>
              <a:chOff x="4113" y="1854"/>
              <a:chExt cx="68" cy="71"/>
            </a:xfrm>
          </p:grpSpPr>
          <p:sp>
            <p:nvSpPr>
              <p:cNvPr id="176" name="Line 154">
                <a:extLst>
                  <a:ext uri="{FF2B5EF4-FFF2-40B4-BE49-F238E27FC236}">
                    <a16:creationId xmlns:a16="http://schemas.microsoft.com/office/drawing/2014/main" id="{F2A34315-198D-2E1E-B362-24A381FDC8FE}"/>
                  </a:ext>
                </a:extLst>
              </p:cNvPr>
              <p:cNvSpPr>
                <a:spLocks noChangeShapeType="1"/>
              </p:cNvSpPr>
              <p:nvPr/>
            </p:nvSpPr>
            <p:spPr bwMode="auto">
              <a:xfrm>
                <a:off x="4113" y="1889"/>
                <a:ext cx="68"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77" name="Line 155">
                <a:extLst>
                  <a:ext uri="{FF2B5EF4-FFF2-40B4-BE49-F238E27FC236}">
                    <a16:creationId xmlns:a16="http://schemas.microsoft.com/office/drawing/2014/main" id="{C6D00C14-2EA7-3DEA-1A06-B39B5F26E5D2}"/>
                  </a:ext>
                </a:extLst>
              </p:cNvPr>
              <p:cNvSpPr>
                <a:spLocks noChangeShapeType="1"/>
              </p:cNvSpPr>
              <p:nvPr/>
            </p:nvSpPr>
            <p:spPr bwMode="auto">
              <a:xfrm>
                <a:off x="4147" y="1854"/>
                <a:ext cx="0" cy="71"/>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78" name="Line 156">
                <a:extLst>
                  <a:ext uri="{FF2B5EF4-FFF2-40B4-BE49-F238E27FC236}">
                    <a16:creationId xmlns:a16="http://schemas.microsoft.com/office/drawing/2014/main" id="{A1667DAB-F64F-74BF-3916-242A2FA52879}"/>
                  </a:ext>
                </a:extLst>
              </p:cNvPr>
              <p:cNvSpPr>
                <a:spLocks noChangeShapeType="1"/>
              </p:cNvSpPr>
              <p:nvPr/>
            </p:nvSpPr>
            <p:spPr bwMode="auto">
              <a:xfrm flipV="1">
                <a:off x="4113" y="1854"/>
                <a:ext cx="68" cy="71"/>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79" name="Line 157">
                <a:extLst>
                  <a:ext uri="{FF2B5EF4-FFF2-40B4-BE49-F238E27FC236}">
                    <a16:creationId xmlns:a16="http://schemas.microsoft.com/office/drawing/2014/main" id="{48D13528-D54F-8509-121B-DE03FF019155}"/>
                  </a:ext>
                </a:extLst>
              </p:cNvPr>
              <p:cNvSpPr>
                <a:spLocks noChangeShapeType="1"/>
              </p:cNvSpPr>
              <p:nvPr/>
            </p:nvSpPr>
            <p:spPr bwMode="auto">
              <a:xfrm flipH="1" flipV="1">
                <a:off x="4113" y="1854"/>
                <a:ext cx="68" cy="71"/>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54" name="Group 161">
              <a:extLst>
                <a:ext uri="{FF2B5EF4-FFF2-40B4-BE49-F238E27FC236}">
                  <a16:creationId xmlns:a16="http://schemas.microsoft.com/office/drawing/2014/main" id="{0AA152E8-2E30-47D7-7301-9946358F5D62}"/>
                </a:ext>
              </a:extLst>
            </p:cNvPr>
            <p:cNvGrpSpPr>
              <a:grpSpLocks/>
            </p:cNvGrpSpPr>
            <p:nvPr/>
          </p:nvGrpSpPr>
          <p:grpSpPr bwMode="auto">
            <a:xfrm>
              <a:off x="4113" y="1711"/>
              <a:ext cx="68" cy="71"/>
              <a:chOff x="4113" y="1711"/>
              <a:chExt cx="68" cy="71"/>
            </a:xfrm>
          </p:grpSpPr>
          <p:sp>
            <p:nvSpPr>
              <p:cNvPr id="174" name="Line 159">
                <a:extLst>
                  <a:ext uri="{FF2B5EF4-FFF2-40B4-BE49-F238E27FC236}">
                    <a16:creationId xmlns:a16="http://schemas.microsoft.com/office/drawing/2014/main" id="{2D287933-33B3-767D-E6E6-655DBCC73ABB}"/>
                  </a:ext>
                </a:extLst>
              </p:cNvPr>
              <p:cNvSpPr>
                <a:spLocks noChangeShapeType="1"/>
              </p:cNvSpPr>
              <p:nvPr/>
            </p:nvSpPr>
            <p:spPr bwMode="auto">
              <a:xfrm flipV="1">
                <a:off x="4113" y="1711"/>
                <a:ext cx="68" cy="71"/>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75" name="Line 160">
                <a:extLst>
                  <a:ext uri="{FF2B5EF4-FFF2-40B4-BE49-F238E27FC236}">
                    <a16:creationId xmlns:a16="http://schemas.microsoft.com/office/drawing/2014/main" id="{8AC6D177-B9D7-B537-3DB9-B57D56F0ED60}"/>
                  </a:ext>
                </a:extLst>
              </p:cNvPr>
              <p:cNvSpPr>
                <a:spLocks noChangeShapeType="1"/>
              </p:cNvSpPr>
              <p:nvPr/>
            </p:nvSpPr>
            <p:spPr bwMode="auto">
              <a:xfrm flipH="1" flipV="1">
                <a:off x="4113" y="1711"/>
                <a:ext cx="68" cy="71"/>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155" name="Rectangle 162">
              <a:extLst>
                <a:ext uri="{FF2B5EF4-FFF2-40B4-BE49-F238E27FC236}">
                  <a16:creationId xmlns:a16="http://schemas.microsoft.com/office/drawing/2014/main" id="{30531DC3-3AEF-0193-9DF6-A272C661FF17}"/>
                </a:ext>
              </a:extLst>
            </p:cNvPr>
            <p:cNvSpPr>
              <a:spLocks noChangeArrowheads="1"/>
            </p:cNvSpPr>
            <p:nvPr/>
          </p:nvSpPr>
          <p:spPr bwMode="auto">
            <a:xfrm>
              <a:off x="4190" y="1841"/>
              <a:ext cx="981"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Arial" panose="020B0604020202020204" pitchFamily="34" charset="0"/>
                </a:rPr>
                <a:t>Strong Negative</a:t>
              </a:r>
            </a:p>
          </p:txBody>
        </p:sp>
        <p:sp>
          <p:nvSpPr>
            <p:cNvPr id="156" name="Rectangle 163">
              <a:extLst>
                <a:ext uri="{FF2B5EF4-FFF2-40B4-BE49-F238E27FC236}">
                  <a16:creationId xmlns:a16="http://schemas.microsoft.com/office/drawing/2014/main" id="{892788B8-7A0C-6F1D-63AC-059CC5B1BD6D}"/>
                </a:ext>
              </a:extLst>
            </p:cNvPr>
            <p:cNvSpPr>
              <a:spLocks noChangeArrowheads="1"/>
            </p:cNvSpPr>
            <p:nvPr/>
          </p:nvSpPr>
          <p:spPr bwMode="auto">
            <a:xfrm>
              <a:off x="3852" y="1412"/>
              <a:ext cx="245"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Arial" panose="020B0604020202020204" pitchFamily="34" charset="0"/>
                </a:rPr>
                <a:t>+9</a:t>
              </a:r>
            </a:p>
          </p:txBody>
        </p:sp>
        <p:sp>
          <p:nvSpPr>
            <p:cNvPr id="157" name="Rectangle 164">
              <a:extLst>
                <a:ext uri="{FF2B5EF4-FFF2-40B4-BE49-F238E27FC236}">
                  <a16:creationId xmlns:a16="http://schemas.microsoft.com/office/drawing/2014/main" id="{A4DF0B36-6532-B601-AD4D-222E65046491}"/>
                </a:ext>
              </a:extLst>
            </p:cNvPr>
            <p:cNvSpPr>
              <a:spLocks noChangeArrowheads="1"/>
            </p:cNvSpPr>
            <p:nvPr/>
          </p:nvSpPr>
          <p:spPr bwMode="auto">
            <a:xfrm>
              <a:off x="3852" y="1555"/>
              <a:ext cx="245"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dirty="0">
                  <a:latin typeface="Arial" panose="020B0604020202020204" pitchFamily="34" charset="0"/>
                </a:rPr>
                <a:t>+3</a:t>
              </a:r>
            </a:p>
          </p:txBody>
        </p:sp>
        <p:sp>
          <p:nvSpPr>
            <p:cNvPr id="158" name="Rectangle 165">
              <a:extLst>
                <a:ext uri="{FF2B5EF4-FFF2-40B4-BE49-F238E27FC236}">
                  <a16:creationId xmlns:a16="http://schemas.microsoft.com/office/drawing/2014/main" id="{E2408283-0AAE-7D13-E65C-CE5D1C26A554}"/>
                </a:ext>
              </a:extLst>
            </p:cNvPr>
            <p:cNvSpPr>
              <a:spLocks noChangeArrowheads="1"/>
            </p:cNvSpPr>
            <p:nvPr/>
          </p:nvSpPr>
          <p:spPr bwMode="auto">
            <a:xfrm>
              <a:off x="3875" y="1698"/>
              <a:ext cx="217"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Arial" panose="020B0604020202020204" pitchFamily="34" charset="0"/>
                </a:rPr>
                <a:t>-3</a:t>
              </a:r>
            </a:p>
          </p:txBody>
        </p:sp>
        <p:sp>
          <p:nvSpPr>
            <p:cNvPr id="159" name="Rectangle 166">
              <a:extLst>
                <a:ext uri="{FF2B5EF4-FFF2-40B4-BE49-F238E27FC236}">
                  <a16:creationId xmlns:a16="http://schemas.microsoft.com/office/drawing/2014/main" id="{0B8155F5-2B4D-2FCC-4F6D-1A9B36249F54}"/>
                </a:ext>
              </a:extLst>
            </p:cNvPr>
            <p:cNvSpPr>
              <a:spLocks noChangeArrowheads="1"/>
            </p:cNvSpPr>
            <p:nvPr/>
          </p:nvSpPr>
          <p:spPr bwMode="auto">
            <a:xfrm>
              <a:off x="3875" y="1841"/>
              <a:ext cx="217"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Arial" panose="020B0604020202020204" pitchFamily="34" charset="0"/>
                </a:rPr>
                <a:t>-9</a:t>
              </a:r>
            </a:p>
          </p:txBody>
        </p:sp>
        <p:sp>
          <p:nvSpPr>
            <p:cNvPr id="160" name="Rectangle 167">
              <a:extLst>
                <a:ext uri="{FF2B5EF4-FFF2-40B4-BE49-F238E27FC236}">
                  <a16:creationId xmlns:a16="http://schemas.microsoft.com/office/drawing/2014/main" id="{BE37E541-8B24-85C6-182F-538730B9F4BC}"/>
                </a:ext>
              </a:extLst>
            </p:cNvPr>
            <p:cNvSpPr>
              <a:spLocks noChangeArrowheads="1"/>
            </p:cNvSpPr>
            <p:nvPr/>
          </p:nvSpPr>
          <p:spPr bwMode="auto">
            <a:xfrm>
              <a:off x="3847" y="1348"/>
              <a:ext cx="1333" cy="693"/>
            </a:xfrm>
            <a:prstGeom prst="rect">
              <a:avLst/>
            </a:prstGeom>
            <a:noFill/>
            <a:ln w="127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p>
          </p:txBody>
        </p:sp>
        <p:sp>
          <p:nvSpPr>
            <p:cNvPr id="161" name="Rectangle 168">
              <a:extLst>
                <a:ext uri="{FF2B5EF4-FFF2-40B4-BE49-F238E27FC236}">
                  <a16:creationId xmlns:a16="http://schemas.microsoft.com/office/drawing/2014/main" id="{9D8E6C05-03BC-2255-78FB-FB4D257F9141}"/>
                </a:ext>
              </a:extLst>
            </p:cNvPr>
            <p:cNvSpPr>
              <a:spLocks noChangeArrowheads="1"/>
            </p:cNvSpPr>
            <p:nvPr/>
          </p:nvSpPr>
          <p:spPr bwMode="auto">
            <a:xfrm>
              <a:off x="3431" y="797"/>
              <a:ext cx="2293" cy="52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600" b="1">
                  <a:latin typeface="Arial" panose="020B0604020202020204" pitchFamily="34" charset="0"/>
                </a:rPr>
                <a:t>Interrelationship between Technical</a:t>
              </a:r>
            </a:p>
            <a:p>
              <a:pPr algn="ctr"/>
              <a:r>
                <a:rPr lang="en-US" altLang="en-US" sz="1600" b="1">
                  <a:latin typeface="Arial" panose="020B0604020202020204" pitchFamily="34" charset="0"/>
                </a:rPr>
                <a:t>Descriptors (correlation matrix)</a:t>
              </a:r>
            </a:p>
            <a:p>
              <a:pPr algn="ctr"/>
              <a:r>
                <a:rPr lang="en-US" altLang="en-US" sz="1600" b="1">
                  <a:latin typeface="Arial" panose="020B0604020202020204" pitchFamily="34" charset="0"/>
                </a:rPr>
                <a:t>HOWs vs. HOWs</a:t>
              </a:r>
            </a:p>
          </p:txBody>
        </p:sp>
        <p:sp>
          <p:nvSpPr>
            <p:cNvPr id="162" name="Rectangle 169">
              <a:extLst>
                <a:ext uri="{FF2B5EF4-FFF2-40B4-BE49-F238E27FC236}">
                  <a16:creationId xmlns:a16="http://schemas.microsoft.com/office/drawing/2014/main" id="{42CFAE89-747B-5948-F1DA-9E263B6A10F9}"/>
                </a:ext>
              </a:extLst>
            </p:cNvPr>
            <p:cNvSpPr>
              <a:spLocks noChangeArrowheads="1"/>
            </p:cNvSpPr>
            <p:nvPr/>
          </p:nvSpPr>
          <p:spPr bwMode="auto">
            <a:xfrm>
              <a:off x="4450" y="3351"/>
              <a:ext cx="481"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Arial" panose="020B0604020202020204" pitchFamily="34" charset="0"/>
                </a:rPr>
                <a:t>Strong</a:t>
              </a:r>
            </a:p>
          </p:txBody>
        </p:sp>
        <p:sp>
          <p:nvSpPr>
            <p:cNvPr id="163" name="Rectangle 170">
              <a:extLst>
                <a:ext uri="{FF2B5EF4-FFF2-40B4-BE49-F238E27FC236}">
                  <a16:creationId xmlns:a16="http://schemas.microsoft.com/office/drawing/2014/main" id="{B3D8B93D-126E-B441-5CD2-C13074C36ED4}"/>
                </a:ext>
              </a:extLst>
            </p:cNvPr>
            <p:cNvSpPr>
              <a:spLocks noChangeArrowheads="1"/>
            </p:cNvSpPr>
            <p:nvPr/>
          </p:nvSpPr>
          <p:spPr bwMode="auto">
            <a:xfrm>
              <a:off x="4448" y="3494"/>
              <a:ext cx="543"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Arial" panose="020B0604020202020204" pitchFamily="34" charset="0"/>
                </a:rPr>
                <a:t>Medium</a:t>
              </a:r>
            </a:p>
          </p:txBody>
        </p:sp>
        <p:sp>
          <p:nvSpPr>
            <p:cNvPr id="164" name="Rectangle 171">
              <a:extLst>
                <a:ext uri="{FF2B5EF4-FFF2-40B4-BE49-F238E27FC236}">
                  <a16:creationId xmlns:a16="http://schemas.microsoft.com/office/drawing/2014/main" id="{73EFDC27-BB05-AD84-3F26-112619915EFB}"/>
                </a:ext>
              </a:extLst>
            </p:cNvPr>
            <p:cNvSpPr>
              <a:spLocks noChangeArrowheads="1"/>
            </p:cNvSpPr>
            <p:nvPr/>
          </p:nvSpPr>
          <p:spPr bwMode="auto">
            <a:xfrm>
              <a:off x="4448" y="3646"/>
              <a:ext cx="410"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Arial" panose="020B0604020202020204" pitchFamily="34" charset="0"/>
                </a:rPr>
                <a:t>Weak</a:t>
              </a:r>
            </a:p>
          </p:txBody>
        </p:sp>
        <p:sp>
          <p:nvSpPr>
            <p:cNvPr id="165" name="Oval 172">
              <a:extLst>
                <a:ext uri="{FF2B5EF4-FFF2-40B4-BE49-F238E27FC236}">
                  <a16:creationId xmlns:a16="http://schemas.microsoft.com/office/drawing/2014/main" id="{97667F10-94EF-4A39-5838-540795ED6199}"/>
                </a:ext>
              </a:extLst>
            </p:cNvPr>
            <p:cNvSpPr>
              <a:spLocks noChangeArrowheads="1"/>
            </p:cNvSpPr>
            <p:nvPr/>
          </p:nvSpPr>
          <p:spPr bwMode="auto">
            <a:xfrm>
              <a:off x="4372" y="3512"/>
              <a:ext cx="60" cy="63"/>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p>
          </p:txBody>
        </p:sp>
        <p:grpSp>
          <p:nvGrpSpPr>
            <p:cNvPr id="166" name="Group 175">
              <a:extLst>
                <a:ext uri="{FF2B5EF4-FFF2-40B4-BE49-F238E27FC236}">
                  <a16:creationId xmlns:a16="http://schemas.microsoft.com/office/drawing/2014/main" id="{E7C362F6-9268-EAC9-AFE4-02E493A992EB}"/>
                </a:ext>
              </a:extLst>
            </p:cNvPr>
            <p:cNvGrpSpPr>
              <a:grpSpLocks/>
            </p:cNvGrpSpPr>
            <p:nvPr/>
          </p:nvGrpSpPr>
          <p:grpSpPr bwMode="auto">
            <a:xfrm>
              <a:off x="4368" y="3367"/>
              <a:ext cx="60" cy="64"/>
              <a:chOff x="4368" y="3367"/>
              <a:chExt cx="60" cy="64"/>
            </a:xfrm>
          </p:grpSpPr>
          <p:sp>
            <p:nvSpPr>
              <p:cNvPr id="172" name="Oval 173">
                <a:extLst>
                  <a:ext uri="{FF2B5EF4-FFF2-40B4-BE49-F238E27FC236}">
                    <a16:creationId xmlns:a16="http://schemas.microsoft.com/office/drawing/2014/main" id="{F2DB6D8C-AF6B-4058-CF66-949FBC3070DC}"/>
                  </a:ext>
                </a:extLst>
              </p:cNvPr>
              <p:cNvSpPr>
                <a:spLocks noChangeArrowheads="1"/>
              </p:cNvSpPr>
              <p:nvPr/>
            </p:nvSpPr>
            <p:spPr bwMode="auto">
              <a:xfrm>
                <a:off x="4368" y="3367"/>
                <a:ext cx="60" cy="64"/>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p>
            </p:txBody>
          </p:sp>
          <p:sp>
            <p:nvSpPr>
              <p:cNvPr id="173" name="Oval 174">
                <a:extLst>
                  <a:ext uri="{FF2B5EF4-FFF2-40B4-BE49-F238E27FC236}">
                    <a16:creationId xmlns:a16="http://schemas.microsoft.com/office/drawing/2014/main" id="{DEA3B523-2D8C-300C-864A-943DEE9F7228}"/>
                  </a:ext>
                </a:extLst>
              </p:cNvPr>
              <p:cNvSpPr>
                <a:spLocks noChangeArrowheads="1"/>
              </p:cNvSpPr>
              <p:nvPr/>
            </p:nvSpPr>
            <p:spPr bwMode="auto">
              <a:xfrm>
                <a:off x="4385" y="3385"/>
                <a:ext cx="26" cy="29"/>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p>
            </p:txBody>
          </p:sp>
        </p:grpSp>
        <p:sp>
          <p:nvSpPr>
            <p:cNvPr id="167" name="Rectangle 176">
              <a:extLst>
                <a:ext uri="{FF2B5EF4-FFF2-40B4-BE49-F238E27FC236}">
                  <a16:creationId xmlns:a16="http://schemas.microsoft.com/office/drawing/2014/main" id="{CFE306E2-4F86-6651-683D-EE59AF95EA7B}"/>
                </a:ext>
              </a:extLst>
            </p:cNvPr>
            <p:cNvSpPr>
              <a:spLocks noChangeArrowheads="1"/>
            </p:cNvSpPr>
            <p:nvPr/>
          </p:nvSpPr>
          <p:spPr bwMode="auto">
            <a:xfrm>
              <a:off x="4112" y="3351"/>
              <a:ext cx="245"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Arial" panose="020B0604020202020204" pitchFamily="34" charset="0"/>
                </a:rPr>
                <a:t>+9</a:t>
              </a:r>
            </a:p>
          </p:txBody>
        </p:sp>
        <p:sp>
          <p:nvSpPr>
            <p:cNvPr id="168" name="Rectangle 177">
              <a:extLst>
                <a:ext uri="{FF2B5EF4-FFF2-40B4-BE49-F238E27FC236}">
                  <a16:creationId xmlns:a16="http://schemas.microsoft.com/office/drawing/2014/main" id="{E8D28780-B1F4-5D17-3A82-CFE1D7D273D2}"/>
                </a:ext>
              </a:extLst>
            </p:cNvPr>
            <p:cNvSpPr>
              <a:spLocks noChangeArrowheads="1"/>
            </p:cNvSpPr>
            <p:nvPr/>
          </p:nvSpPr>
          <p:spPr bwMode="auto">
            <a:xfrm>
              <a:off x="4112" y="3494"/>
              <a:ext cx="245"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Arial" panose="020B0604020202020204" pitchFamily="34" charset="0"/>
                </a:rPr>
                <a:t>+3</a:t>
              </a:r>
            </a:p>
          </p:txBody>
        </p:sp>
        <p:sp>
          <p:nvSpPr>
            <p:cNvPr id="169" name="Rectangle 178">
              <a:extLst>
                <a:ext uri="{FF2B5EF4-FFF2-40B4-BE49-F238E27FC236}">
                  <a16:creationId xmlns:a16="http://schemas.microsoft.com/office/drawing/2014/main" id="{5B2EFB20-669C-F59C-BAC2-BE45574D5A16}"/>
                </a:ext>
              </a:extLst>
            </p:cNvPr>
            <p:cNvSpPr>
              <a:spLocks noChangeArrowheads="1"/>
            </p:cNvSpPr>
            <p:nvPr/>
          </p:nvSpPr>
          <p:spPr bwMode="auto">
            <a:xfrm>
              <a:off x="4106" y="3316"/>
              <a:ext cx="847" cy="521"/>
            </a:xfrm>
            <a:prstGeom prst="rect">
              <a:avLst/>
            </a:prstGeom>
            <a:noFill/>
            <a:ln w="127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p>
          </p:txBody>
        </p:sp>
        <p:sp>
          <p:nvSpPr>
            <p:cNvPr id="170" name="Rectangle 179">
              <a:extLst>
                <a:ext uri="{FF2B5EF4-FFF2-40B4-BE49-F238E27FC236}">
                  <a16:creationId xmlns:a16="http://schemas.microsoft.com/office/drawing/2014/main" id="{24EF6FF2-32CC-9F73-76D0-666068FAF476}"/>
                </a:ext>
              </a:extLst>
            </p:cNvPr>
            <p:cNvSpPr>
              <a:spLocks noChangeArrowheads="1"/>
            </p:cNvSpPr>
            <p:nvPr/>
          </p:nvSpPr>
          <p:spPr bwMode="auto">
            <a:xfrm>
              <a:off x="4112" y="3646"/>
              <a:ext cx="245"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Arial" panose="020B0604020202020204" pitchFamily="34" charset="0"/>
                </a:rPr>
                <a:t>+1</a:t>
              </a:r>
            </a:p>
          </p:txBody>
        </p:sp>
        <p:sp>
          <p:nvSpPr>
            <p:cNvPr id="171" name="AutoShape 180">
              <a:extLst>
                <a:ext uri="{FF2B5EF4-FFF2-40B4-BE49-F238E27FC236}">
                  <a16:creationId xmlns:a16="http://schemas.microsoft.com/office/drawing/2014/main" id="{92B00DAF-A92C-B069-0318-7F2C6FD8EE15}"/>
                </a:ext>
              </a:extLst>
            </p:cNvPr>
            <p:cNvSpPr>
              <a:spLocks noChangeArrowheads="1"/>
            </p:cNvSpPr>
            <p:nvPr/>
          </p:nvSpPr>
          <p:spPr bwMode="auto">
            <a:xfrm>
              <a:off x="4375" y="3662"/>
              <a:ext cx="60" cy="64"/>
            </a:xfrm>
            <a:prstGeom prst="triangle">
              <a:avLst>
                <a:gd name="adj" fmla="val 49995"/>
              </a:avLst>
            </a:prstGeom>
            <a:noFill/>
            <a:ln w="127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p>
          </p:txBody>
        </p:sp>
      </p:grpSp>
    </p:spTree>
    <p:extLst>
      <p:ext uri="{BB962C8B-B14F-4D97-AF65-F5344CB8AC3E}">
        <p14:creationId xmlns:p14="http://schemas.microsoft.com/office/powerpoint/2010/main" val="10787387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2" y="196170"/>
            <a:ext cx="9031882"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IN" dirty="0">
                <a:latin typeface="+mj-lt"/>
              </a:rPr>
              <a:t>Customer Competitive Assessment</a:t>
            </a:r>
          </a:p>
        </p:txBody>
      </p:sp>
      <p:sp>
        <p:nvSpPr>
          <p:cNvPr id="3" name="Line 3">
            <a:extLst>
              <a:ext uri="{FF2B5EF4-FFF2-40B4-BE49-F238E27FC236}">
                <a16:creationId xmlns:a16="http://schemas.microsoft.com/office/drawing/2014/main" id="{6E53757E-9606-5167-6751-361791988D35}"/>
              </a:ext>
            </a:extLst>
          </p:cNvPr>
          <p:cNvSpPr>
            <a:spLocks noChangeShapeType="1"/>
          </p:cNvSpPr>
          <p:nvPr/>
        </p:nvSpPr>
        <p:spPr bwMode="auto">
          <a:xfrm>
            <a:off x="4655012" y="1505719"/>
            <a:ext cx="0" cy="2112962"/>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4" name="Line 4">
            <a:extLst>
              <a:ext uri="{FF2B5EF4-FFF2-40B4-BE49-F238E27FC236}">
                <a16:creationId xmlns:a16="http://schemas.microsoft.com/office/drawing/2014/main" id="{3BE9385C-9ED2-249C-0654-A7A561B50833}"/>
              </a:ext>
            </a:extLst>
          </p:cNvPr>
          <p:cNvSpPr>
            <a:spLocks noChangeShapeType="1"/>
          </p:cNvSpPr>
          <p:nvPr/>
        </p:nvSpPr>
        <p:spPr bwMode="auto">
          <a:xfrm>
            <a:off x="4435937" y="1767656"/>
            <a:ext cx="2430462"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 name="Line 5">
            <a:extLst>
              <a:ext uri="{FF2B5EF4-FFF2-40B4-BE49-F238E27FC236}">
                <a16:creationId xmlns:a16="http://schemas.microsoft.com/office/drawing/2014/main" id="{9311AB9F-3653-CF09-2A9C-9FE6D60801C7}"/>
              </a:ext>
            </a:extLst>
          </p:cNvPr>
          <p:cNvSpPr>
            <a:spLocks noChangeShapeType="1"/>
          </p:cNvSpPr>
          <p:nvPr/>
        </p:nvSpPr>
        <p:spPr bwMode="auto">
          <a:xfrm>
            <a:off x="4435937" y="2031181"/>
            <a:ext cx="2430462"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6" name="Line 6">
            <a:extLst>
              <a:ext uri="{FF2B5EF4-FFF2-40B4-BE49-F238E27FC236}">
                <a16:creationId xmlns:a16="http://schemas.microsoft.com/office/drawing/2014/main" id="{5142C349-B9BA-C378-D99B-B318C5C67D94}"/>
              </a:ext>
            </a:extLst>
          </p:cNvPr>
          <p:cNvSpPr>
            <a:spLocks noChangeShapeType="1"/>
          </p:cNvSpPr>
          <p:nvPr/>
        </p:nvSpPr>
        <p:spPr bwMode="auto">
          <a:xfrm>
            <a:off x="4435937" y="2297881"/>
            <a:ext cx="2430462"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7" name="Line 7">
            <a:extLst>
              <a:ext uri="{FF2B5EF4-FFF2-40B4-BE49-F238E27FC236}">
                <a16:creationId xmlns:a16="http://schemas.microsoft.com/office/drawing/2014/main" id="{666A46CA-004C-4EDA-7046-80648DC45941}"/>
              </a:ext>
            </a:extLst>
          </p:cNvPr>
          <p:cNvSpPr>
            <a:spLocks noChangeShapeType="1"/>
          </p:cNvSpPr>
          <p:nvPr/>
        </p:nvSpPr>
        <p:spPr bwMode="auto">
          <a:xfrm>
            <a:off x="4435937" y="2559819"/>
            <a:ext cx="2430462"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8" name="Line 8">
            <a:extLst>
              <a:ext uri="{FF2B5EF4-FFF2-40B4-BE49-F238E27FC236}">
                <a16:creationId xmlns:a16="http://schemas.microsoft.com/office/drawing/2014/main" id="{E2BE6360-D641-D52C-A7C7-A1A756AC18AA}"/>
              </a:ext>
            </a:extLst>
          </p:cNvPr>
          <p:cNvSpPr>
            <a:spLocks noChangeShapeType="1"/>
          </p:cNvSpPr>
          <p:nvPr/>
        </p:nvSpPr>
        <p:spPr bwMode="auto">
          <a:xfrm>
            <a:off x="4435937" y="2826519"/>
            <a:ext cx="2430462"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9" name="Line 9">
            <a:extLst>
              <a:ext uri="{FF2B5EF4-FFF2-40B4-BE49-F238E27FC236}">
                <a16:creationId xmlns:a16="http://schemas.microsoft.com/office/drawing/2014/main" id="{D3DA855A-9FDD-1C99-BF49-D1840FE21F5C}"/>
              </a:ext>
            </a:extLst>
          </p:cNvPr>
          <p:cNvSpPr>
            <a:spLocks noChangeShapeType="1"/>
          </p:cNvSpPr>
          <p:nvPr/>
        </p:nvSpPr>
        <p:spPr bwMode="auto">
          <a:xfrm>
            <a:off x="4435937" y="3090044"/>
            <a:ext cx="2430462"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0" name="Line 10">
            <a:extLst>
              <a:ext uri="{FF2B5EF4-FFF2-40B4-BE49-F238E27FC236}">
                <a16:creationId xmlns:a16="http://schemas.microsoft.com/office/drawing/2014/main" id="{7A4D3CE9-ED0D-7FDC-652E-D20D36EC672F}"/>
              </a:ext>
            </a:extLst>
          </p:cNvPr>
          <p:cNvSpPr>
            <a:spLocks noChangeShapeType="1"/>
          </p:cNvSpPr>
          <p:nvPr/>
        </p:nvSpPr>
        <p:spPr bwMode="auto">
          <a:xfrm>
            <a:off x="4435937" y="3353569"/>
            <a:ext cx="2430462"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1" name="Line 11">
            <a:extLst>
              <a:ext uri="{FF2B5EF4-FFF2-40B4-BE49-F238E27FC236}">
                <a16:creationId xmlns:a16="http://schemas.microsoft.com/office/drawing/2014/main" id="{BA4BF523-DE0E-97E2-90B1-DA6741DF9760}"/>
              </a:ext>
            </a:extLst>
          </p:cNvPr>
          <p:cNvSpPr>
            <a:spLocks noChangeShapeType="1"/>
          </p:cNvSpPr>
          <p:nvPr/>
        </p:nvSpPr>
        <p:spPr bwMode="auto">
          <a:xfrm>
            <a:off x="5101099" y="1505719"/>
            <a:ext cx="0" cy="2112962"/>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2" name="Line 12">
            <a:extLst>
              <a:ext uri="{FF2B5EF4-FFF2-40B4-BE49-F238E27FC236}">
                <a16:creationId xmlns:a16="http://schemas.microsoft.com/office/drawing/2014/main" id="{F0F5518D-C7EF-F137-DDD7-FFB87C8C5E66}"/>
              </a:ext>
            </a:extLst>
          </p:cNvPr>
          <p:cNvSpPr>
            <a:spLocks noChangeShapeType="1"/>
          </p:cNvSpPr>
          <p:nvPr/>
        </p:nvSpPr>
        <p:spPr bwMode="auto">
          <a:xfrm>
            <a:off x="5318587" y="1505719"/>
            <a:ext cx="0" cy="2112962"/>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3" name="Line 13">
            <a:extLst>
              <a:ext uri="{FF2B5EF4-FFF2-40B4-BE49-F238E27FC236}">
                <a16:creationId xmlns:a16="http://schemas.microsoft.com/office/drawing/2014/main" id="{DC09DEB9-64A6-3BFC-149B-8A54B93A741A}"/>
              </a:ext>
            </a:extLst>
          </p:cNvPr>
          <p:cNvSpPr>
            <a:spLocks noChangeShapeType="1"/>
          </p:cNvSpPr>
          <p:nvPr/>
        </p:nvSpPr>
        <p:spPr bwMode="auto">
          <a:xfrm>
            <a:off x="5540837" y="1505719"/>
            <a:ext cx="0" cy="2112962"/>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4" name="Line 14">
            <a:extLst>
              <a:ext uri="{FF2B5EF4-FFF2-40B4-BE49-F238E27FC236}">
                <a16:creationId xmlns:a16="http://schemas.microsoft.com/office/drawing/2014/main" id="{64AB34DA-5F3E-B34F-3A50-385E5308103A}"/>
              </a:ext>
            </a:extLst>
          </p:cNvPr>
          <p:cNvSpPr>
            <a:spLocks noChangeShapeType="1"/>
          </p:cNvSpPr>
          <p:nvPr/>
        </p:nvSpPr>
        <p:spPr bwMode="auto">
          <a:xfrm>
            <a:off x="5761499" y="1505719"/>
            <a:ext cx="0" cy="2112962"/>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5" name="Line 15">
            <a:extLst>
              <a:ext uri="{FF2B5EF4-FFF2-40B4-BE49-F238E27FC236}">
                <a16:creationId xmlns:a16="http://schemas.microsoft.com/office/drawing/2014/main" id="{C0145F34-EFBC-5B53-5C03-23658D528266}"/>
              </a:ext>
            </a:extLst>
          </p:cNvPr>
          <p:cNvSpPr>
            <a:spLocks noChangeShapeType="1"/>
          </p:cNvSpPr>
          <p:nvPr/>
        </p:nvSpPr>
        <p:spPr bwMode="auto">
          <a:xfrm>
            <a:off x="5985337" y="1505719"/>
            <a:ext cx="0" cy="2112962"/>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6" name="Line 16">
            <a:extLst>
              <a:ext uri="{FF2B5EF4-FFF2-40B4-BE49-F238E27FC236}">
                <a16:creationId xmlns:a16="http://schemas.microsoft.com/office/drawing/2014/main" id="{57D54E9B-BCF4-5045-6007-49B32954F1B9}"/>
              </a:ext>
            </a:extLst>
          </p:cNvPr>
          <p:cNvSpPr>
            <a:spLocks noChangeShapeType="1"/>
          </p:cNvSpPr>
          <p:nvPr/>
        </p:nvSpPr>
        <p:spPr bwMode="auto">
          <a:xfrm>
            <a:off x="6425074" y="1505719"/>
            <a:ext cx="0" cy="2112962"/>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7" name="Line 17">
            <a:extLst>
              <a:ext uri="{FF2B5EF4-FFF2-40B4-BE49-F238E27FC236}">
                <a16:creationId xmlns:a16="http://schemas.microsoft.com/office/drawing/2014/main" id="{17492475-EA83-BC04-4C1F-FF40F9866B2A}"/>
              </a:ext>
            </a:extLst>
          </p:cNvPr>
          <p:cNvSpPr>
            <a:spLocks noChangeShapeType="1"/>
          </p:cNvSpPr>
          <p:nvPr/>
        </p:nvSpPr>
        <p:spPr bwMode="auto">
          <a:xfrm>
            <a:off x="6647324" y="1505719"/>
            <a:ext cx="0" cy="2112962"/>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8" name="Line 18">
            <a:extLst>
              <a:ext uri="{FF2B5EF4-FFF2-40B4-BE49-F238E27FC236}">
                <a16:creationId xmlns:a16="http://schemas.microsoft.com/office/drawing/2014/main" id="{377FF6B6-DA44-7CCD-5A1A-D71A412386E2}"/>
              </a:ext>
            </a:extLst>
          </p:cNvPr>
          <p:cNvSpPr>
            <a:spLocks noChangeShapeType="1"/>
          </p:cNvSpPr>
          <p:nvPr/>
        </p:nvSpPr>
        <p:spPr bwMode="auto">
          <a:xfrm flipH="1">
            <a:off x="2445212" y="2826519"/>
            <a:ext cx="444500"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9" name="Line 19">
            <a:extLst>
              <a:ext uri="{FF2B5EF4-FFF2-40B4-BE49-F238E27FC236}">
                <a16:creationId xmlns:a16="http://schemas.microsoft.com/office/drawing/2014/main" id="{6CD4C1B9-6BE9-0109-95F1-DBF2F0C57E9D}"/>
              </a:ext>
            </a:extLst>
          </p:cNvPr>
          <p:cNvSpPr>
            <a:spLocks noChangeShapeType="1"/>
          </p:cNvSpPr>
          <p:nvPr/>
        </p:nvSpPr>
        <p:spPr bwMode="auto">
          <a:xfrm>
            <a:off x="2005474" y="1505719"/>
            <a:ext cx="2428875"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0" name="Line 20">
            <a:extLst>
              <a:ext uri="{FF2B5EF4-FFF2-40B4-BE49-F238E27FC236}">
                <a16:creationId xmlns:a16="http://schemas.microsoft.com/office/drawing/2014/main" id="{50413223-B02B-BE88-7744-7A2E38E90864}"/>
              </a:ext>
            </a:extLst>
          </p:cNvPr>
          <p:cNvSpPr>
            <a:spLocks noChangeShapeType="1"/>
          </p:cNvSpPr>
          <p:nvPr/>
        </p:nvSpPr>
        <p:spPr bwMode="auto">
          <a:xfrm>
            <a:off x="2445212" y="1505719"/>
            <a:ext cx="0" cy="2112962"/>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1" name="Line 21">
            <a:extLst>
              <a:ext uri="{FF2B5EF4-FFF2-40B4-BE49-F238E27FC236}">
                <a16:creationId xmlns:a16="http://schemas.microsoft.com/office/drawing/2014/main" id="{44B7D61F-B123-E5D8-80DD-4CCFB1D45D1F}"/>
              </a:ext>
            </a:extLst>
          </p:cNvPr>
          <p:cNvSpPr>
            <a:spLocks noChangeShapeType="1"/>
          </p:cNvSpPr>
          <p:nvPr/>
        </p:nvSpPr>
        <p:spPr bwMode="auto">
          <a:xfrm>
            <a:off x="2005474" y="1505719"/>
            <a:ext cx="0" cy="2112962"/>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2" name="Line 22">
            <a:extLst>
              <a:ext uri="{FF2B5EF4-FFF2-40B4-BE49-F238E27FC236}">
                <a16:creationId xmlns:a16="http://schemas.microsoft.com/office/drawing/2014/main" id="{CC46F3D9-2ABD-C746-6BC4-CAD0B926647C}"/>
              </a:ext>
            </a:extLst>
          </p:cNvPr>
          <p:cNvSpPr>
            <a:spLocks noChangeShapeType="1"/>
          </p:cNvSpPr>
          <p:nvPr/>
        </p:nvSpPr>
        <p:spPr bwMode="auto">
          <a:xfrm>
            <a:off x="6866399" y="1505719"/>
            <a:ext cx="0" cy="2112962"/>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3" name="Line 23">
            <a:extLst>
              <a:ext uri="{FF2B5EF4-FFF2-40B4-BE49-F238E27FC236}">
                <a16:creationId xmlns:a16="http://schemas.microsoft.com/office/drawing/2014/main" id="{DA87EB30-D792-06C1-0266-66B2B7ADB9B8}"/>
              </a:ext>
            </a:extLst>
          </p:cNvPr>
          <p:cNvSpPr>
            <a:spLocks noChangeShapeType="1"/>
          </p:cNvSpPr>
          <p:nvPr/>
        </p:nvSpPr>
        <p:spPr bwMode="auto">
          <a:xfrm>
            <a:off x="2889712" y="1505719"/>
            <a:ext cx="0" cy="2112962"/>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4" name="Line 24">
            <a:extLst>
              <a:ext uri="{FF2B5EF4-FFF2-40B4-BE49-F238E27FC236}">
                <a16:creationId xmlns:a16="http://schemas.microsoft.com/office/drawing/2014/main" id="{78E3C626-F1A4-7E0F-2003-7510EED3FE24}"/>
              </a:ext>
            </a:extLst>
          </p:cNvPr>
          <p:cNvSpPr>
            <a:spLocks noChangeShapeType="1"/>
          </p:cNvSpPr>
          <p:nvPr/>
        </p:nvSpPr>
        <p:spPr bwMode="auto">
          <a:xfrm>
            <a:off x="2889712" y="1767656"/>
            <a:ext cx="1544637"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5" name="Line 25">
            <a:extLst>
              <a:ext uri="{FF2B5EF4-FFF2-40B4-BE49-F238E27FC236}">
                <a16:creationId xmlns:a16="http://schemas.microsoft.com/office/drawing/2014/main" id="{13E3379A-51A9-3DD7-1A70-B4FC50940290}"/>
              </a:ext>
            </a:extLst>
          </p:cNvPr>
          <p:cNvSpPr>
            <a:spLocks noChangeShapeType="1"/>
          </p:cNvSpPr>
          <p:nvPr/>
        </p:nvSpPr>
        <p:spPr bwMode="auto">
          <a:xfrm>
            <a:off x="2889712" y="2031181"/>
            <a:ext cx="1544637"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6" name="Line 26">
            <a:extLst>
              <a:ext uri="{FF2B5EF4-FFF2-40B4-BE49-F238E27FC236}">
                <a16:creationId xmlns:a16="http://schemas.microsoft.com/office/drawing/2014/main" id="{60FB99E3-6435-12EE-245E-26A05F0BD5AE}"/>
              </a:ext>
            </a:extLst>
          </p:cNvPr>
          <p:cNvSpPr>
            <a:spLocks noChangeShapeType="1"/>
          </p:cNvSpPr>
          <p:nvPr/>
        </p:nvSpPr>
        <p:spPr bwMode="auto">
          <a:xfrm>
            <a:off x="2889712" y="2297881"/>
            <a:ext cx="1544637"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7" name="Line 27">
            <a:extLst>
              <a:ext uri="{FF2B5EF4-FFF2-40B4-BE49-F238E27FC236}">
                <a16:creationId xmlns:a16="http://schemas.microsoft.com/office/drawing/2014/main" id="{4012E43D-C4FD-526F-DBB7-3736E8E0D24C}"/>
              </a:ext>
            </a:extLst>
          </p:cNvPr>
          <p:cNvSpPr>
            <a:spLocks noChangeShapeType="1"/>
          </p:cNvSpPr>
          <p:nvPr/>
        </p:nvSpPr>
        <p:spPr bwMode="auto">
          <a:xfrm>
            <a:off x="2889712" y="2559819"/>
            <a:ext cx="1544637"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8" name="Line 28">
            <a:extLst>
              <a:ext uri="{FF2B5EF4-FFF2-40B4-BE49-F238E27FC236}">
                <a16:creationId xmlns:a16="http://schemas.microsoft.com/office/drawing/2014/main" id="{B0791AEC-24AB-DEE1-7E70-0564B0018A62}"/>
              </a:ext>
            </a:extLst>
          </p:cNvPr>
          <p:cNvSpPr>
            <a:spLocks noChangeShapeType="1"/>
          </p:cNvSpPr>
          <p:nvPr/>
        </p:nvSpPr>
        <p:spPr bwMode="auto">
          <a:xfrm>
            <a:off x="2889712" y="2826519"/>
            <a:ext cx="1544637"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9" name="Line 29">
            <a:extLst>
              <a:ext uri="{FF2B5EF4-FFF2-40B4-BE49-F238E27FC236}">
                <a16:creationId xmlns:a16="http://schemas.microsoft.com/office/drawing/2014/main" id="{FDBD5494-AE11-6293-CDE1-7E0B791E39FB}"/>
              </a:ext>
            </a:extLst>
          </p:cNvPr>
          <p:cNvSpPr>
            <a:spLocks noChangeShapeType="1"/>
          </p:cNvSpPr>
          <p:nvPr/>
        </p:nvSpPr>
        <p:spPr bwMode="auto">
          <a:xfrm>
            <a:off x="2889712" y="3090044"/>
            <a:ext cx="1544637"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0" name="Line 30">
            <a:extLst>
              <a:ext uri="{FF2B5EF4-FFF2-40B4-BE49-F238E27FC236}">
                <a16:creationId xmlns:a16="http://schemas.microsoft.com/office/drawing/2014/main" id="{3F405519-C9F7-51B9-001F-5ABC22958BAE}"/>
              </a:ext>
            </a:extLst>
          </p:cNvPr>
          <p:cNvSpPr>
            <a:spLocks noChangeShapeType="1"/>
          </p:cNvSpPr>
          <p:nvPr/>
        </p:nvSpPr>
        <p:spPr bwMode="auto">
          <a:xfrm>
            <a:off x="2889712" y="3353569"/>
            <a:ext cx="1544637"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1" name="Line 31">
            <a:extLst>
              <a:ext uri="{FF2B5EF4-FFF2-40B4-BE49-F238E27FC236}">
                <a16:creationId xmlns:a16="http://schemas.microsoft.com/office/drawing/2014/main" id="{4F25321D-A0BE-DDF1-E0C9-4B04224E9047}"/>
              </a:ext>
            </a:extLst>
          </p:cNvPr>
          <p:cNvSpPr>
            <a:spLocks noChangeShapeType="1"/>
          </p:cNvSpPr>
          <p:nvPr/>
        </p:nvSpPr>
        <p:spPr bwMode="auto">
          <a:xfrm>
            <a:off x="4435937" y="1505719"/>
            <a:ext cx="0" cy="2112962"/>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2" name="Line 32">
            <a:extLst>
              <a:ext uri="{FF2B5EF4-FFF2-40B4-BE49-F238E27FC236}">
                <a16:creationId xmlns:a16="http://schemas.microsoft.com/office/drawing/2014/main" id="{3D35A59B-6C34-976E-84ED-F63A41F3BF31}"/>
              </a:ext>
            </a:extLst>
          </p:cNvPr>
          <p:cNvSpPr>
            <a:spLocks noChangeShapeType="1"/>
          </p:cNvSpPr>
          <p:nvPr/>
        </p:nvSpPr>
        <p:spPr bwMode="auto">
          <a:xfrm>
            <a:off x="2005474" y="3618681"/>
            <a:ext cx="4198938"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3" name="Line 33">
            <a:extLst>
              <a:ext uri="{FF2B5EF4-FFF2-40B4-BE49-F238E27FC236}">
                <a16:creationId xmlns:a16="http://schemas.microsoft.com/office/drawing/2014/main" id="{48F8A4D0-2CE8-C85F-9F0F-738261407D49}"/>
              </a:ext>
            </a:extLst>
          </p:cNvPr>
          <p:cNvSpPr>
            <a:spLocks noChangeShapeType="1"/>
          </p:cNvSpPr>
          <p:nvPr/>
        </p:nvSpPr>
        <p:spPr bwMode="auto">
          <a:xfrm>
            <a:off x="6204412" y="1505719"/>
            <a:ext cx="0" cy="2112962"/>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4" name="Line 34">
            <a:extLst>
              <a:ext uri="{FF2B5EF4-FFF2-40B4-BE49-F238E27FC236}">
                <a16:creationId xmlns:a16="http://schemas.microsoft.com/office/drawing/2014/main" id="{05EDA121-81A4-40E8-A7F0-30137AD1BEC5}"/>
              </a:ext>
            </a:extLst>
          </p:cNvPr>
          <p:cNvSpPr>
            <a:spLocks noChangeShapeType="1"/>
          </p:cNvSpPr>
          <p:nvPr/>
        </p:nvSpPr>
        <p:spPr bwMode="auto">
          <a:xfrm>
            <a:off x="4435937" y="1505719"/>
            <a:ext cx="2430462"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5" name="Rectangle 35">
            <a:extLst>
              <a:ext uri="{FF2B5EF4-FFF2-40B4-BE49-F238E27FC236}">
                <a16:creationId xmlns:a16="http://schemas.microsoft.com/office/drawing/2014/main" id="{6AA194EB-A9C3-CD6A-16BF-77A930CAF43A}"/>
              </a:ext>
            </a:extLst>
          </p:cNvPr>
          <p:cNvSpPr>
            <a:spLocks noChangeArrowheads="1"/>
          </p:cNvSpPr>
          <p:nvPr/>
        </p:nvSpPr>
        <p:spPr bwMode="auto">
          <a:xfrm rot="16200000">
            <a:off x="1269668" y="2339950"/>
            <a:ext cx="1928812" cy="4826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80000"/>
              </a:lnSpc>
            </a:pPr>
            <a:r>
              <a:rPr lang="en-US" altLang="en-US" sz="1600" b="1">
                <a:latin typeface="+mj-lt"/>
              </a:rPr>
              <a:t>Customer Requirements</a:t>
            </a:r>
          </a:p>
        </p:txBody>
      </p:sp>
      <p:sp>
        <p:nvSpPr>
          <p:cNvPr id="36" name="Line 36">
            <a:extLst>
              <a:ext uri="{FF2B5EF4-FFF2-40B4-BE49-F238E27FC236}">
                <a16:creationId xmlns:a16="http://schemas.microsoft.com/office/drawing/2014/main" id="{B03313D1-C5E6-1CA7-2ED2-D1CA45414059}"/>
              </a:ext>
            </a:extLst>
          </p:cNvPr>
          <p:cNvSpPr>
            <a:spLocks noChangeShapeType="1"/>
          </p:cNvSpPr>
          <p:nvPr/>
        </p:nvSpPr>
        <p:spPr bwMode="auto">
          <a:xfrm>
            <a:off x="6204412" y="3618681"/>
            <a:ext cx="0" cy="2378075"/>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7" name="Line 37">
            <a:extLst>
              <a:ext uri="{FF2B5EF4-FFF2-40B4-BE49-F238E27FC236}">
                <a16:creationId xmlns:a16="http://schemas.microsoft.com/office/drawing/2014/main" id="{68D251C4-D111-F968-22F9-AA8F2C958683}"/>
              </a:ext>
            </a:extLst>
          </p:cNvPr>
          <p:cNvSpPr>
            <a:spLocks noChangeShapeType="1"/>
          </p:cNvSpPr>
          <p:nvPr/>
        </p:nvSpPr>
        <p:spPr bwMode="auto">
          <a:xfrm>
            <a:off x="6204412" y="5996756"/>
            <a:ext cx="661987"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8" name="Rectangle 38">
            <a:extLst>
              <a:ext uri="{FF2B5EF4-FFF2-40B4-BE49-F238E27FC236}">
                <a16:creationId xmlns:a16="http://schemas.microsoft.com/office/drawing/2014/main" id="{5171DF85-6866-C6C5-E962-1E0602EA933D}"/>
              </a:ext>
            </a:extLst>
          </p:cNvPr>
          <p:cNvSpPr>
            <a:spLocks noChangeArrowheads="1"/>
          </p:cNvSpPr>
          <p:nvPr/>
        </p:nvSpPr>
        <p:spPr bwMode="auto">
          <a:xfrm rot="16200000">
            <a:off x="5867862" y="5015681"/>
            <a:ext cx="1381125" cy="64452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75000"/>
              </a:lnSpc>
            </a:pPr>
            <a:r>
              <a:rPr lang="en-US" altLang="en-US" sz="1600" b="1">
                <a:latin typeface="+mj-lt"/>
              </a:rPr>
              <a:t>Customer</a:t>
            </a:r>
          </a:p>
          <a:p>
            <a:pPr algn="ctr">
              <a:lnSpc>
                <a:spcPct val="75000"/>
              </a:lnSpc>
            </a:pPr>
            <a:r>
              <a:rPr lang="en-US" altLang="en-US" sz="1600" b="1">
                <a:latin typeface="+mj-lt"/>
              </a:rPr>
              <a:t>Competitive</a:t>
            </a:r>
          </a:p>
          <a:p>
            <a:pPr algn="ctr">
              <a:lnSpc>
                <a:spcPct val="75000"/>
              </a:lnSpc>
            </a:pPr>
            <a:r>
              <a:rPr lang="en-US" altLang="en-US" sz="1600" b="1">
                <a:latin typeface="+mj-lt"/>
              </a:rPr>
              <a:t>Assessment</a:t>
            </a:r>
          </a:p>
        </p:txBody>
      </p:sp>
      <p:sp>
        <p:nvSpPr>
          <p:cNvPr id="39" name="Rectangle 39">
            <a:extLst>
              <a:ext uri="{FF2B5EF4-FFF2-40B4-BE49-F238E27FC236}">
                <a16:creationId xmlns:a16="http://schemas.microsoft.com/office/drawing/2014/main" id="{DA6C68AF-6B81-955F-95F1-AFE3815CB97B}"/>
              </a:ext>
            </a:extLst>
          </p:cNvPr>
          <p:cNvSpPr>
            <a:spLocks noChangeArrowheads="1"/>
          </p:cNvSpPr>
          <p:nvPr/>
        </p:nvSpPr>
        <p:spPr bwMode="auto">
          <a:xfrm rot="16200000">
            <a:off x="6223462" y="3955231"/>
            <a:ext cx="598488" cy="76358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105000"/>
              </a:lnSpc>
            </a:pPr>
            <a:r>
              <a:rPr lang="en-US" altLang="en-US" sz="1400" b="1">
                <a:latin typeface="+mj-lt"/>
              </a:rPr>
              <a:t>Ours</a:t>
            </a:r>
          </a:p>
          <a:p>
            <a:pPr>
              <a:lnSpc>
                <a:spcPct val="105000"/>
              </a:lnSpc>
            </a:pPr>
            <a:r>
              <a:rPr lang="en-US" altLang="en-US" sz="1400" b="1">
                <a:latin typeface="+mj-lt"/>
              </a:rPr>
              <a:t>A’s</a:t>
            </a:r>
          </a:p>
          <a:p>
            <a:pPr>
              <a:lnSpc>
                <a:spcPct val="105000"/>
              </a:lnSpc>
            </a:pPr>
            <a:r>
              <a:rPr lang="en-US" altLang="en-US" sz="1400" b="1">
                <a:latin typeface="+mj-lt"/>
              </a:rPr>
              <a:t>B’s</a:t>
            </a:r>
          </a:p>
        </p:txBody>
      </p:sp>
      <p:sp>
        <p:nvSpPr>
          <p:cNvPr id="40" name="Line 40">
            <a:extLst>
              <a:ext uri="{FF2B5EF4-FFF2-40B4-BE49-F238E27FC236}">
                <a16:creationId xmlns:a16="http://schemas.microsoft.com/office/drawing/2014/main" id="{82B4DBB8-453B-24D7-0EF7-EB647E207E14}"/>
              </a:ext>
            </a:extLst>
          </p:cNvPr>
          <p:cNvSpPr>
            <a:spLocks noChangeShapeType="1"/>
          </p:cNvSpPr>
          <p:nvPr/>
        </p:nvSpPr>
        <p:spPr bwMode="auto">
          <a:xfrm>
            <a:off x="6425074" y="3618681"/>
            <a:ext cx="0" cy="1057275"/>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41" name="Line 41">
            <a:extLst>
              <a:ext uri="{FF2B5EF4-FFF2-40B4-BE49-F238E27FC236}">
                <a16:creationId xmlns:a16="http://schemas.microsoft.com/office/drawing/2014/main" id="{D83BC408-2528-2272-7A8E-507D398EAF7A}"/>
              </a:ext>
            </a:extLst>
          </p:cNvPr>
          <p:cNvSpPr>
            <a:spLocks noChangeShapeType="1"/>
          </p:cNvSpPr>
          <p:nvPr/>
        </p:nvSpPr>
        <p:spPr bwMode="auto">
          <a:xfrm>
            <a:off x="6644149" y="3618681"/>
            <a:ext cx="0" cy="1057275"/>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42" name="Line 42">
            <a:extLst>
              <a:ext uri="{FF2B5EF4-FFF2-40B4-BE49-F238E27FC236}">
                <a16:creationId xmlns:a16="http://schemas.microsoft.com/office/drawing/2014/main" id="{C2B4E62E-07F8-AB51-51AF-5C3EDAFAD2AE}"/>
              </a:ext>
            </a:extLst>
          </p:cNvPr>
          <p:cNvSpPr>
            <a:spLocks noChangeShapeType="1"/>
          </p:cNvSpPr>
          <p:nvPr/>
        </p:nvSpPr>
        <p:spPr bwMode="auto">
          <a:xfrm>
            <a:off x="6866399" y="3618681"/>
            <a:ext cx="0" cy="2378075"/>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43" name="Line 43">
            <a:extLst>
              <a:ext uri="{FF2B5EF4-FFF2-40B4-BE49-F238E27FC236}">
                <a16:creationId xmlns:a16="http://schemas.microsoft.com/office/drawing/2014/main" id="{45485225-CEDE-B2DA-2574-E71BCE8A424A}"/>
              </a:ext>
            </a:extLst>
          </p:cNvPr>
          <p:cNvSpPr>
            <a:spLocks noChangeShapeType="1"/>
          </p:cNvSpPr>
          <p:nvPr/>
        </p:nvSpPr>
        <p:spPr bwMode="auto">
          <a:xfrm>
            <a:off x="6204412" y="4675956"/>
            <a:ext cx="661987"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44" name="Line 44">
            <a:extLst>
              <a:ext uri="{FF2B5EF4-FFF2-40B4-BE49-F238E27FC236}">
                <a16:creationId xmlns:a16="http://schemas.microsoft.com/office/drawing/2014/main" id="{2348298A-1020-A02B-57A7-C8B6A221F380}"/>
              </a:ext>
            </a:extLst>
          </p:cNvPr>
          <p:cNvSpPr>
            <a:spLocks noChangeShapeType="1"/>
          </p:cNvSpPr>
          <p:nvPr/>
        </p:nvSpPr>
        <p:spPr bwMode="auto">
          <a:xfrm>
            <a:off x="4877262" y="1505719"/>
            <a:ext cx="0" cy="2112962"/>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grpSp>
        <p:nvGrpSpPr>
          <p:cNvPr id="45" name="Group 65">
            <a:extLst>
              <a:ext uri="{FF2B5EF4-FFF2-40B4-BE49-F238E27FC236}">
                <a16:creationId xmlns:a16="http://schemas.microsoft.com/office/drawing/2014/main" id="{21E69428-CDE3-8029-B2E0-A4468C90AEA3}"/>
              </a:ext>
            </a:extLst>
          </p:cNvPr>
          <p:cNvGrpSpPr>
            <a:grpSpLocks/>
          </p:cNvGrpSpPr>
          <p:nvPr/>
        </p:nvGrpSpPr>
        <p:grpSpPr bwMode="auto">
          <a:xfrm>
            <a:off x="4485149" y="1567631"/>
            <a:ext cx="1663700" cy="1716088"/>
            <a:chOff x="2240" y="1164"/>
            <a:chExt cx="1048" cy="1081"/>
          </a:xfrm>
        </p:grpSpPr>
        <p:sp>
          <p:nvSpPr>
            <p:cNvPr id="46" name="Oval 45">
              <a:extLst>
                <a:ext uri="{FF2B5EF4-FFF2-40B4-BE49-F238E27FC236}">
                  <a16:creationId xmlns:a16="http://schemas.microsoft.com/office/drawing/2014/main" id="{FBF9D728-125F-2CC6-AC94-0F1801895506}"/>
                </a:ext>
              </a:extLst>
            </p:cNvPr>
            <p:cNvSpPr>
              <a:spLocks noChangeArrowheads="1"/>
            </p:cNvSpPr>
            <p:nvPr/>
          </p:nvSpPr>
          <p:spPr bwMode="auto">
            <a:xfrm>
              <a:off x="2248" y="1669"/>
              <a:ext cx="60" cy="75"/>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47" name="Oval 46">
              <a:extLst>
                <a:ext uri="{FF2B5EF4-FFF2-40B4-BE49-F238E27FC236}">
                  <a16:creationId xmlns:a16="http://schemas.microsoft.com/office/drawing/2014/main" id="{15B187EC-FC59-F2F4-F166-D36103ABC33C}"/>
                </a:ext>
              </a:extLst>
            </p:cNvPr>
            <p:cNvSpPr>
              <a:spLocks noChangeArrowheads="1"/>
            </p:cNvSpPr>
            <p:nvPr/>
          </p:nvSpPr>
          <p:spPr bwMode="auto">
            <a:xfrm>
              <a:off x="2265" y="1690"/>
              <a:ext cx="26" cy="34"/>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48" name="Oval 47">
              <a:extLst>
                <a:ext uri="{FF2B5EF4-FFF2-40B4-BE49-F238E27FC236}">
                  <a16:creationId xmlns:a16="http://schemas.microsoft.com/office/drawing/2014/main" id="{832FE347-F30B-E0A0-3A03-03A6F818D0C5}"/>
                </a:ext>
              </a:extLst>
            </p:cNvPr>
            <p:cNvSpPr>
              <a:spLocks noChangeArrowheads="1"/>
            </p:cNvSpPr>
            <p:nvPr/>
          </p:nvSpPr>
          <p:spPr bwMode="auto">
            <a:xfrm>
              <a:off x="2391" y="1336"/>
              <a:ext cx="60" cy="77"/>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49" name="AutoShape 48">
              <a:extLst>
                <a:ext uri="{FF2B5EF4-FFF2-40B4-BE49-F238E27FC236}">
                  <a16:creationId xmlns:a16="http://schemas.microsoft.com/office/drawing/2014/main" id="{6BF83D79-0694-F957-3720-4C5E86F5B3DB}"/>
                </a:ext>
              </a:extLst>
            </p:cNvPr>
            <p:cNvSpPr>
              <a:spLocks noChangeArrowheads="1"/>
            </p:cNvSpPr>
            <p:nvPr/>
          </p:nvSpPr>
          <p:spPr bwMode="auto">
            <a:xfrm>
              <a:off x="2939" y="1330"/>
              <a:ext cx="60" cy="77"/>
            </a:xfrm>
            <a:prstGeom prst="triangle">
              <a:avLst>
                <a:gd name="adj" fmla="val 49995"/>
              </a:avLst>
            </a:prstGeom>
            <a:noFill/>
            <a:ln w="127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50" name="Oval 49">
              <a:extLst>
                <a:ext uri="{FF2B5EF4-FFF2-40B4-BE49-F238E27FC236}">
                  <a16:creationId xmlns:a16="http://schemas.microsoft.com/office/drawing/2014/main" id="{7F97815A-57FB-5CDC-9401-4844FF1BC915}"/>
                </a:ext>
              </a:extLst>
            </p:cNvPr>
            <p:cNvSpPr>
              <a:spLocks noChangeArrowheads="1"/>
            </p:cNvSpPr>
            <p:nvPr/>
          </p:nvSpPr>
          <p:spPr bwMode="auto">
            <a:xfrm>
              <a:off x="2664" y="1170"/>
              <a:ext cx="63" cy="75"/>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51" name="Oval 50">
              <a:extLst>
                <a:ext uri="{FF2B5EF4-FFF2-40B4-BE49-F238E27FC236}">
                  <a16:creationId xmlns:a16="http://schemas.microsoft.com/office/drawing/2014/main" id="{271BFACA-8F2B-AE03-32EA-3B98BD0BBEBB}"/>
                </a:ext>
              </a:extLst>
            </p:cNvPr>
            <p:cNvSpPr>
              <a:spLocks noChangeArrowheads="1"/>
            </p:cNvSpPr>
            <p:nvPr/>
          </p:nvSpPr>
          <p:spPr bwMode="auto">
            <a:xfrm>
              <a:off x="2682" y="1191"/>
              <a:ext cx="27" cy="35"/>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52" name="Oval 51">
              <a:extLst>
                <a:ext uri="{FF2B5EF4-FFF2-40B4-BE49-F238E27FC236}">
                  <a16:creationId xmlns:a16="http://schemas.microsoft.com/office/drawing/2014/main" id="{74D142BB-D9A5-93F2-8E8F-3DF58189A400}"/>
                </a:ext>
              </a:extLst>
            </p:cNvPr>
            <p:cNvSpPr>
              <a:spLocks noChangeArrowheads="1"/>
            </p:cNvSpPr>
            <p:nvPr/>
          </p:nvSpPr>
          <p:spPr bwMode="auto">
            <a:xfrm>
              <a:off x="2803" y="1669"/>
              <a:ext cx="63" cy="75"/>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53" name="Oval 52">
              <a:extLst>
                <a:ext uri="{FF2B5EF4-FFF2-40B4-BE49-F238E27FC236}">
                  <a16:creationId xmlns:a16="http://schemas.microsoft.com/office/drawing/2014/main" id="{3A1CCF87-AB59-965C-2DA3-C8DDC8783708}"/>
                </a:ext>
              </a:extLst>
            </p:cNvPr>
            <p:cNvSpPr>
              <a:spLocks noChangeArrowheads="1"/>
            </p:cNvSpPr>
            <p:nvPr/>
          </p:nvSpPr>
          <p:spPr bwMode="auto">
            <a:xfrm>
              <a:off x="2821" y="1690"/>
              <a:ext cx="27" cy="34"/>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54" name="Oval 53">
              <a:extLst>
                <a:ext uri="{FF2B5EF4-FFF2-40B4-BE49-F238E27FC236}">
                  <a16:creationId xmlns:a16="http://schemas.microsoft.com/office/drawing/2014/main" id="{10A504FA-96DA-AA5B-AE05-0D43E0307DAE}"/>
                </a:ext>
              </a:extLst>
            </p:cNvPr>
            <p:cNvSpPr>
              <a:spLocks noChangeArrowheads="1"/>
            </p:cNvSpPr>
            <p:nvPr/>
          </p:nvSpPr>
          <p:spPr bwMode="auto">
            <a:xfrm>
              <a:off x="2525" y="1835"/>
              <a:ext cx="63" cy="75"/>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55" name="Oval 54">
              <a:extLst>
                <a:ext uri="{FF2B5EF4-FFF2-40B4-BE49-F238E27FC236}">
                  <a16:creationId xmlns:a16="http://schemas.microsoft.com/office/drawing/2014/main" id="{031D7F74-1C19-E16A-9B2D-43D5850DAE89}"/>
                </a:ext>
              </a:extLst>
            </p:cNvPr>
            <p:cNvSpPr>
              <a:spLocks noChangeArrowheads="1"/>
            </p:cNvSpPr>
            <p:nvPr/>
          </p:nvSpPr>
          <p:spPr bwMode="auto">
            <a:xfrm>
              <a:off x="2543" y="1856"/>
              <a:ext cx="26" cy="36"/>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56" name="Oval 55">
              <a:extLst>
                <a:ext uri="{FF2B5EF4-FFF2-40B4-BE49-F238E27FC236}">
                  <a16:creationId xmlns:a16="http://schemas.microsoft.com/office/drawing/2014/main" id="{6078CBCB-C8AE-731D-3EC3-757F780E4067}"/>
                </a:ext>
              </a:extLst>
            </p:cNvPr>
            <p:cNvSpPr>
              <a:spLocks noChangeArrowheads="1"/>
            </p:cNvSpPr>
            <p:nvPr/>
          </p:nvSpPr>
          <p:spPr bwMode="auto">
            <a:xfrm>
              <a:off x="3222" y="2169"/>
              <a:ext cx="62" cy="74"/>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57" name="Oval 56">
              <a:extLst>
                <a:ext uri="{FF2B5EF4-FFF2-40B4-BE49-F238E27FC236}">
                  <a16:creationId xmlns:a16="http://schemas.microsoft.com/office/drawing/2014/main" id="{F3DE43E8-7EE8-D00B-534A-26BDB68E1DF2}"/>
                </a:ext>
              </a:extLst>
            </p:cNvPr>
            <p:cNvSpPr>
              <a:spLocks noChangeArrowheads="1"/>
            </p:cNvSpPr>
            <p:nvPr/>
          </p:nvSpPr>
          <p:spPr bwMode="auto">
            <a:xfrm>
              <a:off x="3239" y="2189"/>
              <a:ext cx="28" cy="36"/>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58" name="Oval 57">
              <a:extLst>
                <a:ext uri="{FF2B5EF4-FFF2-40B4-BE49-F238E27FC236}">
                  <a16:creationId xmlns:a16="http://schemas.microsoft.com/office/drawing/2014/main" id="{CAA5BDD3-F0D6-799C-97A3-4BCFF875A551}"/>
                </a:ext>
              </a:extLst>
            </p:cNvPr>
            <p:cNvSpPr>
              <a:spLocks noChangeArrowheads="1"/>
            </p:cNvSpPr>
            <p:nvPr/>
          </p:nvSpPr>
          <p:spPr bwMode="auto">
            <a:xfrm>
              <a:off x="2669" y="1670"/>
              <a:ext cx="62" cy="76"/>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59" name="Oval 58">
              <a:extLst>
                <a:ext uri="{FF2B5EF4-FFF2-40B4-BE49-F238E27FC236}">
                  <a16:creationId xmlns:a16="http://schemas.microsoft.com/office/drawing/2014/main" id="{B41F4CED-619F-D286-DC93-C998F4DFA429}"/>
                </a:ext>
              </a:extLst>
            </p:cNvPr>
            <p:cNvSpPr>
              <a:spLocks noChangeArrowheads="1"/>
            </p:cNvSpPr>
            <p:nvPr/>
          </p:nvSpPr>
          <p:spPr bwMode="auto">
            <a:xfrm>
              <a:off x="3226" y="1837"/>
              <a:ext cx="62" cy="76"/>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60" name="Oval 59">
              <a:extLst>
                <a:ext uri="{FF2B5EF4-FFF2-40B4-BE49-F238E27FC236}">
                  <a16:creationId xmlns:a16="http://schemas.microsoft.com/office/drawing/2014/main" id="{A7426BBF-A281-D19E-56FE-AB246E187202}"/>
                </a:ext>
              </a:extLst>
            </p:cNvPr>
            <p:cNvSpPr>
              <a:spLocks noChangeArrowheads="1"/>
            </p:cNvSpPr>
            <p:nvPr/>
          </p:nvSpPr>
          <p:spPr bwMode="auto">
            <a:xfrm>
              <a:off x="2530" y="2171"/>
              <a:ext cx="62" cy="74"/>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61" name="Oval 60">
              <a:extLst>
                <a:ext uri="{FF2B5EF4-FFF2-40B4-BE49-F238E27FC236}">
                  <a16:creationId xmlns:a16="http://schemas.microsoft.com/office/drawing/2014/main" id="{E2623E05-C1B8-29E0-E141-7637DBFFBC17}"/>
                </a:ext>
              </a:extLst>
            </p:cNvPr>
            <p:cNvSpPr>
              <a:spLocks noChangeArrowheads="1"/>
            </p:cNvSpPr>
            <p:nvPr/>
          </p:nvSpPr>
          <p:spPr bwMode="auto">
            <a:xfrm>
              <a:off x="3087" y="2171"/>
              <a:ext cx="63" cy="74"/>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62" name="AutoShape 61">
              <a:extLst>
                <a:ext uri="{FF2B5EF4-FFF2-40B4-BE49-F238E27FC236}">
                  <a16:creationId xmlns:a16="http://schemas.microsoft.com/office/drawing/2014/main" id="{6C91F69C-6413-4B23-6B19-94857BCD0AFB}"/>
                </a:ext>
              </a:extLst>
            </p:cNvPr>
            <p:cNvSpPr>
              <a:spLocks noChangeArrowheads="1"/>
            </p:cNvSpPr>
            <p:nvPr/>
          </p:nvSpPr>
          <p:spPr bwMode="auto">
            <a:xfrm>
              <a:off x="2240" y="1164"/>
              <a:ext cx="63" cy="75"/>
            </a:xfrm>
            <a:prstGeom prst="triangle">
              <a:avLst>
                <a:gd name="adj" fmla="val 49995"/>
              </a:avLst>
            </a:prstGeom>
            <a:noFill/>
            <a:ln w="127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63" name="AutoShape 62">
              <a:extLst>
                <a:ext uri="{FF2B5EF4-FFF2-40B4-BE49-F238E27FC236}">
                  <a16:creationId xmlns:a16="http://schemas.microsoft.com/office/drawing/2014/main" id="{C9AFDCE1-3769-0326-9E3D-D6277A3850EB}"/>
                </a:ext>
              </a:extLst>
            </p:cNvPr>
            <p:cNvSpPr>
              <a:spLocks noChangeArrowheads="1"/>
            </p:cNvSpPr>
            <p:nvPr/>
          </p:nvSpPr>
          <p:spPr bwMode="auto">
            <a:xfrm>
              <a:off x="3216" y="1664"/>
              <a:ext cx="63" cy="74"/>
            </a:xfrm>
            <a:prstGeom prst="triangle">
              <a:avLst>
                <a:gd name="adj" fmla="val 49995"/>
              </a:avLst>
            </a:prstGeom>
            <a:noFill/>
            <a:ln w="127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64" name="AutoShape 63">
              <a:extLst>
                <a:ext uri="{FF2B5EF4-FFF2-40B4-BE49-F238E27FC236}">
                  <a16:creationId xmlns:a16="http://schemas.microsoft.com/office/drawing/2014/main" id="{3723E72D-A5E2-879C-46BB-B1134AAC89C8}"/>
                </a:ext>
              </a:extLst>
            </p:cNvPr>
            <p:cNvSpPr>
              <a:spLocks noChangeArrowheads="1"/>
            </p:cNvSpPr>
            <p:nvPr/>
          </p:nvSpPr>
          <p:spPr bwMode="auto">
            <a:xfrm>
              <a:off x="3077" y="1829"/>
              <a:ext cx="61" cy="77"/>
            </a:xfrm>
            <a:prstGeom prst="triangle">
              <a:avLst>
                <a:gd name="adj" fmla="val 49995"/>
              </a:avLst>
            </a:prstGeom>
            <a:noFill/>
            <a:ln w="127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65" name="AutoShape 64">
              <a:extLst>
                <a:ext uri="{FF2B5EF4-FFF2-40B4-BE49-F238E27FC236}">
                  <a16:creationId xmlns:a16="http://schemas.microsoft.com/office/drawing/2014/main" id="{CB8C8C58-6795-9F37-204A-DBA6E39FF35D}"/>
                </a:ext>
              </a:extLst>
            </p:cNvPr>
            <p:cNvSpPr>
              <a:spLocks noChangeArrowheads="1"/>
            </p:cNvSpPr>
            <p:nvPr/>
          </p:nvSpPr>
          <p:spPr bwMode="auto">
            <a:xfrm>
              <a:off x="2381" y="1997"/>
              <a:ext cx="60" cy="74"/>
            </a:xfrm>
            <a:prstGeom prst="triangle">
              <a:avLst>
                <a:gd name="adj" fmla="val 49995"/>
              </a:avLst>
            </a:prstGeom>
            <a:noFill/>
            <a:ln w="127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grpSp>
      <p:sp>
        <p:nvSpPr>
          <p:cNvPr id="66" name="Line 66">
            <a:extLst>
              <a:ext uri="{FF2B5EF4-FFF2-40B4-BE49-F238E27FC236}">
                <a16:creationId xmlns:a16="http://schemas.microsoft.com/office/drawing/2014/main" id="{EEADB836-FF41-D61F-12C3-6BBAE743E783}"/>
              </a:ext>
            </a:extLst>
          </p:cNvPr>
          <p:cNvSpPr>
            <a:spLocks noChangeShapeType="1"/>
          </p:cNvSpPr>
          <p:nvPr/>
        </p:nvSpPr>
        <p:spPr bwMode="auto">
          <a:xfrm>
            <a:off x="6204412" y="3618681"/>
            <a:ext cx="661987"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67" name="Rectangle 67">
            <a:extLst>
              <a:ext uri="{FF2B5EF4-FFF2-40B4-BE49-F238E27FC236}">
                <a16:creationId xmlns:a16="http://schemas.microsoft.com/office/drawing/2014/main" id="{9159F5EC-CB07-4FA6-C4EB-DF238EF46235}"/>
              </a:ext>
            </a:extLst>
          </p:cNvPr>
          <p:cNvSpPr>
            <a:spLocks noChangeArrowheads="1"/>
          </p:cNvSpPr>
          <p:nvPr/>
        </p:nvSpPr>
        <p:spPr bwMode="auto">
          <a:xfrm>
            <a:off x="6186949" y="1491431"/>
            <a:ext cx="254000" cy="215106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92000"/>
              </a:lnSpc>
              <a:spcBef>
                <a:spcPct val="15000"/>
              </a:spcBef>
            </a:pPr>
            <a:r>
              <a:rPr lang="en-US" altLang="en-US" sz="1600" b="1">
                <a:latin typeface="+mj-lt"/>
              </a:rPr>
              <a:t>5</a:t>
            </a:r>
          </a:p>
          <a:p>
            <a:pPr algn="ctr">
              <a:lnSpc>
                <a:spcPct val="92000"/>
              </a:lnSpc>
              <a:spcBef>
                <a:spcPct val="15000"/>
              </a:spcBef>
            </a:pPr>
            <a:r>
              <a:rPr lang="en-US" altLang="en-US" sz="1600" b="1">
                <a:latin typeface="+mj-lt"/>
              </a:rPr>
              <a:t>3</a:t>
            </a:r>
          </a:p>
          <a:p>
            <a:pPr algn="ctr">
              <a:lnSpc>
                <a:spcPct val="92000"/>
              </a:lnSpc>
              <a:spcBef>
                <a:spcPct val="15000"/>
              </a:spcBef>
            </a:pPr>
            <a:r>
              <a:rPr lang="en-US" altLang="en-US" sz="1600" b="1">
                <a:latin typeface="+mj-lt"/>
              </a:rPr>
              <a:t>1</a:t>
            </a:r>
          </a:p>
          <a:p>
            <a:pPr algn="ctr">
              <a:lnSpc>
                <a:spcPct val="92000"/>
              </a:lnSpc>
              <a:spcBef>
                <a:spcPct val="15000"/>
              </a:spcBef>
            </a:pPr>
            <a:r>
              <a:rPr lang="en-US" altLang="en-US" sz="1600" b="1">
                <a:latin typeface="+mj-lt"/>
              </a:rPr>
              <a:t>2</a:t>
            </a:r>
          </a:p>
          <a:p>
            <a:pPr algn="ctr">
              <a:lnSpc>
                <a:spcPct val="92000"/>
              </a:lnSpc>
              <a:spcBef>
                <a:spcPct val="15000"/>
              </a:spcBef>
            </a:pPr>
            <a:r>
              <a:rPr lang="en-US" altLang="en-US" sz="1600" b="1">
                <a:latin typeface="+mj-lt"/>
              </a:rPr>
              <a:t>5</a:t>
            </a:r>
          </a:p>
          <a:p>
            <a:pPr algn="ctr">
              <a:lnSpc>
                <a:spcPct val="92000"/>
              </a:lnSpc>
              <a:spcBef>
                <a:spcPct val="15000"/>
              </a:spcBef>
            </a:pPr>
            <a:r>
              <a:rPr lang="en-US" altLang="en-US" sz="1600" b="1">
                <a:latin typeface="+mj-lt"/>
              </a:rPr>
              <a:t>1</a:t>
            </a:r>
          </a:p>
          <a:p>
            <a:pPr algn="ctr">
              <a:lnSpc>
                <a:spcPct val="92000"/>
              </a:lnSpc>
              <a:spcBef>
                <a:spcPct val="15000"/>
              </a:spcBef>
            </a:pPr>
            <a:r>
              <a:rPr lang="en-US" altLang="en-US" sz="1600" b="1">
                <a:latin typeface="+mj-lt"/>
              </a:rPr>
              <a:t>4</a:t>
            </a:r>
          </a:p>
          <a:p>
            <a:pPr algn="ctr">
              <a:lnSpc>
                <a:spcPct val="92000"/>
              </a:lnSpc>
              <a:spcBef>
                <a:spcPct val="15000"/>
              </a:spcBef>
            </a:pPr>
            <a:r>
              <a:rPr lang="en-US" altLang="en-US" sz="1600" b="1">
                <a:latin typeface="+mj-lt"/>
              </a:rPr>
              <a:t>4</a:t>
            </a:r>
          </a:p>
        </p:txBody>
      </p:sp>
      <p:grpSp>
        <p:nvGrpSpPr>
          <p:cNvPr id="68" name="Group 81">
            <a:extLst>
              <a:ext uri="{FF2B5EF4-FFF2-40B4-BE49-F238E27FC236}">
                <a16:creationId xmlns:a16="http://schemas.microsoft.com/office/drawing/2014/main" id="{BFF34165-006C-6DB0-8504-6F6259801AB2}"/>
              </a:ext>
            </a:extLst>
          </p:cNvPr>
          <p:cNvGrpSpPr>
            <a:grpSpLocks/>
          </p:cNvGrpSpPr>
          <p:nvPr/>
        </p:nvGrpSpPr>
        <p:grpSpPr bwMode="auto">
          <a:xfrm>
            <a:off x="6912437" y="1869256"/>
            <a:ext cx="2801937" cy="2192338"/>
            <a:chOff x="3769" y="1354"/>
            <a:chExt cx="1765" cy="1381"/>
          </a:xfrm>
        </p:grpSpPr>
        <p:sp>
          <p:nvSpPr>
            <p:cNvPr id="69" name="Rectangle 68">
              <a:extLst>
                <a:ext uri="{FF2B5EF4-FFF2-40B4-BE49-F238E27FC236}">
                  <a16:creationId xmlns:a16="http://schemas.microsoft.com/office/drawing/2014/main" id="{BF2A1019-8EB0-20F8-18B8-E0AAA1DE7AAE}"/>
                </a:ext>
              </a:extLst>
            </p:cNvPr>
            <p:cNvSpPr>
              <a:spLocks noChangeArrowheads="1"/>
            </p:cNvSpPr>
            <p:nvPr/>
          </p:nvSpPr>
          <p:spPr bwMode="auto">
            <a:xfrm>
              <a:off x="3769" y="1354"/>
              <a:ext cx="1765" cy="82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600" b="1">
                  <a:latin typeface="+mj-lt"/>
                </a:rPr>
                <a:t>Relationship between</a:t>
              </a:r>
            </a:p>
            <a:p>
              <a:pPr algn="ctr"/>
              <a:r>
                <a:rPr lang="en-US" altLang="en-US" sz="1600" b="1">
                  <a:latin typeface="+mj-lt"/>
                </a:rPr>
                <a:t>Customer Requirements and</a:t>
              </a:r>
            </a:p>
            <a:p>
              <a:pPr algn="ctr"/>
              <a:r>
                <a:rPr lang="en-US" altLang="en-US" sz="1600" b="1">
                  <a:latin typeface="+mj-lt"/>
                </a:rPr>
                <a:t>Technical Descriptors</a:t>
              </a:r>
            </a:p>
            <a:p>
              <a:pPr algn="ctr"/>
              <a:r>
                <a:rPr lang="en-US" altLang="en-US" sz="1600" b="1">
                  <a:latin typeface="+mj-lt"/>
                </a:rPr>
                <a:t>WHATs vs. HOWs</a:t>
              </a:r>
            </a:p>
          </p:txBody>
        </p:sp>
        <p:sp>
          <p:nvSpPr>
            <p:cNvPr id="70" name="Rectangle 69">
              <a:extLst>
                <a:ext uri="{FF2B5EF4-FFF2-40B4-BE49-F238E27FC236}">
                  <a16:creationId xmlns:a16="http://schemas.microsoft.com/office/drawing/2014/main" id="{29EEBD65-7EC1-3092-EC6E-F902AB5FE02E}"/>
                </a:ext>
              </a:extLst>
            </p:cNvPr>
            <p:cNvSpPr>
              <a:spLocks noChangeArrowheads="1"/>
            </p:cNvSpPr>
            <p:nvPr/>
          </p:nvSpPr>
          <p:spPr bwMode="auto">
            <a:xfrm>
              <a:off x="4587" y="2249"/>
              <a:ext cx="481"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dirty="0">
                  <a:latin typeface="+mj-lt"/>
                </a:rPr>
                <a:t>Strong</a:t>
              </a:r>
            </a:p>
          </p:txBody>
        </p:sp>
        <p:sp>
          <p:nvSpPr>
            <p:cNvPr id="71" name="Rectangle 70">
              <a:extLst>
                <a:ext uri="{FF2B5EF4-FFF2-40B4-BE49-F238E27FC236}">
                  <a16:creationId xmlns:a16="http://schemas.microsoft.com/office/drawing/2014/main" id="{D5432412-5DAC-7410-DEBB-09BC504FE634}"/>
                </a:ext>
              </a:extLst>
            </p:cNvPr>
            <p:cNvSpPr>
              <a:spLocks noChangeArrowheads="1"/>
            </p:cNvSpPr>
            <p:nvPr/>
          </p:nvSpPr>
          <p:spPr bwMode="auto">
            <a:xfrm>
              <a:off x="4585" y="2392"/>
              <a:ext cx="549"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dirty="0">
                  <a:latin typeface="+mj-lt"/>
                </a:rPr>
                <a:t>Medium</a:t>
              </a:r>
            </a:p>
          </p:txBody>
        </p:sp>
        <p:sp>
          <p:nvSpPr>
            <p:cNvPr id="72" name="Rectangle 71">
              <a:extLst>
                <a:ext uri="{FF2B5EF4-FFF2-40B4-BE49-F238E27FC236}">
                  <a16:creationId xmlns:a16="http://schemas.microsoft.com/office/drawing/2014/main" id="{8AA11D62-B625-B4E7-96DB-58870B6803A7}"/>
                </a:ext>
              </a:extLst>
            </p:cNvPr>
            <p:cNvSpPr>
              <a:spLocks noChangeArrowheads="1"/>
            </p:cNvSpPr>
            <p:nvPr/>
          </p:nvSpPr>
          <p:spPr bwMode="auto">
            <a:xfrm>
              <a:off x="4585" y="2544"/>
              <a:ext cx="424"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dirty="0">
                  <a:latin typeface="+mj-lt"/>
                </a:rPr>
                <a:t>Weak</a:t>
              </a:r>
            </a:p>
          </p:txBody>
        </p:sp>
        <p:sp>
          <p:nvSpPr>
            <p:cNvPr id="73" name="Oval 72">
              <a:extLst>
                <a:ext uri="{FF2B5EF4-FFF2-40B4-BE49-F238E27FC236}">
                  <a16:creationId xmlns:a16="http://schemas.microsoft.com/office/drawing/2014/main" id="{E6D5BAC1-7301-FE07-A69E-C46F8E976723}"/>
                </a:ext>
              </a:extLst>
            </p:cNvPr>
            <p:cNvSpPr>
              <a:spLocks noChangeArrowheads="1"/>
            </p:cNvSpPr>
            <p:nvPr/>
          </p:nvSpPr>
          <p:spPr bwMode="auto">
            <a:xfrm>
              <a:off x="4509" y="2410"/>
              <a:ext cx="60" cy="63"/>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grpSp>
          <p:nvGrpSpPr>
            <p:cNvPr id="74" name="Group 75">
              <a:extLst>
                <a:ext uri="{FF2B5EF4-FFF2-40B4-BE49-F238E27FC236}">
                  <a16:creationId xmlns:a16="http://schemas.microsoft.com/office/drawing/2014/main" id="{B9A4D16E-56D8-B888-AD83-9D702896B045}"/>
                </a:ext>
              </a:extLst>
            </p:cNvPr>
            <p:cNvGrpSpPr>
              <a:grpSpLocks/>
            </p:cNvGrpSpPr>
            <p:nvPr/>
          </p:nvGrpSpPr>
          <p:grpSpPr bwMode="auto">
            <a:xfrm>
              <a:off x="4505" y="2265"/>
              <a:ext cx="60" cy="64"/>
              <a:chOff x="4505" y="2265"/>
              <a:chExt cx="60" cy="64"/>
            </a:xfrm>
          </p:grpSpPr>
          <p:sp>
            <p:nvSpPr>
              <p:cNvPr id="80" name="Oval 73">
                <a:extLst>
                  <a:ext uri="{FF2B5EF4-FFF2-40B4-BE49-F238E27FC236}">
                    <a16:creationId xmlns:a16="http://schemas.microsoft.com/office/drawing/2014/main" id="{D29E1C31-DC8A-4FAF-E519-771E1D21724B}"/>
                  </a:ext>
                </a:extLst>
              </p:cNvPr>
              <p:cNvSpPr>
                <a:spLocks noChangeArrowheads="1"/>
              </p:cNvSpPr>
              <p:nvPr/>
            </p:nvSpPr>
            <p:spPr bwMode="auto">
              <a:xfrm>
                <a:off x="4505" y="2265"/>
                <a:ext cx="60" cy="64"/>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81" name="Oval 74">
                <a:extLst>
                  <a:ext uri="{FF2B5EF4-FFF2-40B4-BE49-F238E27FC236}">
                    <a16:creationId xmlns:a16="http://schemas.microsoft.com/office/drawing/2014/main" id="{38DF9408-11C6-C91E-CFAD-908E758039C1}"/>
                  </a:ext>
                </a:extLst>
              </p:cNvPr>
              <p:cNvSpPr>
                <a:spLocks noChangeArrowheads="1"/>
              </p:cNvSpPr>
              <p:nvPr/>
            </p:nvSpPr>
            <p:spPr bwMode="auto">
              <a:xfrm>
                <a:off x="4522" y="2283"/>
                <a:ext cx="26" cy="29"/>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grpSp>
        <p:sp>
          <p:nvSpPr>
            <p:cNvPr id="75" name="Rectangle 76">
              <a:extLst>
                <a:ext uri="{FF2B5EF4-FFF2-40B4-BE49-F238E27FC236}">
                  <a16:creationId xmlns:a16="http://schemas.microsoft.com/office/drawing/2014/main" id="{1DC0FED5-2166-62B9-D227-1273FB1925EF}"/>
                </a:ext>
              </a:extLst>
            </p:cNvPr>
            <p:cNvSpPr>
              <a:spLocks noChangeArrowheads="1"/>
            </p:cNvSpPr>
            <p:nvPr/>
          </p:nvSpPr>
          <p:spPr bwMode="auto">
            <a:xfrm>
              <a:off x="4249" y="2249"/>
              <a:ext cx="245"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mj-lt"/>
                </a:rPr>
                <a:t>+9</a:t>
              </a:r>
            </a:p>
          </p:txBody>
        </p:sp>
        <p:sp>
          <p:nvSpPr>
            <p:cNvPr id="76" name="Rectangle 77">
              <a:extLst>
                <a:ext uri="{FF2B5EF4-FFF2-40B4-BE49-F238E27FC236}">
                  <a16:creationId xmlns:a16="http://schemas.microsoft.com/office/drawing/2014/main" id="{1255603D-63BC-0766-9FAC-16C9C86942AB}"/>
                </a:ext>
              </a:extLst>
            </p:cNvPr>
            <p:cNvSpPr>
              <a:spLocks noChangeArrowheads="1"/>
            </p:cNvSpPr>
            <p:nvPr/>
          </p:nvSpPr>
          <p:spPr bwMode="auto">
            <a:xfrm>
              <a:off x="4249" y="2392"/>
              <a:ext cx="245"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mj-lt"/>
                </a:rPr>
                <a:t>+3</a:t>
              </a:r>
            </a:p>
          </p:txBody>
        </p:sp>
        <p:sp>
          <p:nvSpPr>
            <p:cNvPr id="77" name="Rectangle 78">
              <a:extLst>
                <a:ext uri="{FF2B5EF4-FFF2-40B4-BE49-F238E27FC236}">
                  <a16:creationId xmlns:a16="http://schemas.microsoft.com/office/drawing/2014/main" id="{AD128DF6-130F-C36C-AD50-47E5DCBCCC33}"/>
                </a:ext>
              </a:extLst>
            </p:cNvPr>
            <p:cNvSpPr>
              <a:spLocks noChangeArrowheads="1"/>
            </p:cNvSpPr>
            <p:nvPr/>
          </p:nvSpPr>
          <p:spPr bwMode="auto">
            <a:xfrm>
              <a:off x="4243" y="2214"/>
              <a:ext cx="803" cy="521"/>
            </a:xfrm>
            <a:prstGeom prst="rect">
              <a:avLst/>
            </a:prstGeom>
            <a:noFill/>
            <a:ln w="127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78" name="Rectangle 79">
              <a:extLst>
                <a:ext uri="{FF2B5EF4-FFF2-40B4-BE49-F238E27FC236}">
                  <a16:creationId xmlns:a16="http://schemas.microsoft.com/office/drawing/2014/main" id="{18DFA2D0-E4FA-831B-1CE6-4B7637758A20}"/>
                </a:ext>
              </a:extLst>
            </p:cNvPr>
            <p:cNvSpPr>
              <a:spLocks noChangeArrowheads="1"/>
            </p:cNvSpPr>
            <p:nvPr/>
          </p:nvSpPr>
          <p:spPr bwMode="auto">
            <a:xfrm>
              <a:off x="4249" y="2544"/>
              <a:ext cx="245"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mj-lt"/>
                </a:rPr>
                <a:t>+1</a:t>
              </a:r>
            </a:p>
          </p:txBody>
        </p:sp>
        <p:sp>
          <p:nvSpPr>
            <p:cNvPr id="79" name="AutoShape 80">
              <a:extLst>
                <a:ext uri="{FF2B5EF4-FFF2-40B4-BE49-F238E27FC236}">
                  <a16:creationId xmlns:a16="http://schemas.microsoft.com/office/drawing/2014/main" id="{A699B4FC-93F6-95CC-D883-59E811AE2B61}"/>
                </a:ext>
              </a:extLst>
            </p:cNvPr>
            <p:cNvSpPr>
              <a:spLocks noChangeArrowheads="1"/>
            </p:cNvSpPr>
            <p:nvPr/>
          </p:nvSpPr>
          <p:spPr bwMode="auto">
            <a:xfrm>
              <a:off x="4512" y="2560"/>
              <a:ext cx="60" cy="64"/>
            </a:xfrm>
            <a:prstGeom prst="triangle">
              <a:avLst>
                <a:gd name="adj" fmla="val 49995"/>
              </a:avLst>
            </a:prstGeom>
            <a:noFill/>
            <a:ln w="127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grpSp>
    </p:spTree>
    <p:extLst>
      <p:ext uri="{BB962C8B-B14F-4D97-AF65-F5344CB8AC3E}">
        <p14:creationId xmlns:p14="http://schemas.microsoft.com/office/powerpoint/2010/main" val="23345408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2" y="196170"/>
            <a:ext cx="8869650"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IN" dirty="0">
                <a:latin typeface="+mj-lt"/>
              </a:rPr>
              <a:t>Technical Competitive Assessment</a:t>
            </a:r>
          </a:p>
        </p:txBody>
      </p:sp>
      <p:sp>
        <p:nvSpPr>
          <p:cNvPr id="3" name="Rectangle 2">
            <a:extLst>
              <a:ext uri="{FF2B5EF4-FFF2-40B4-BE49-F238E27FC236}">
                <a16:creationId xmlns:a16="http://schemas.microsoft.com/office/drawing/2014/main" id="{A8A7DABE-D689-B7EF-E551-E3790A5F777F}"/>
              </a:ext>
            </a:extLst>
          </p:cNvPr>
          <p:cNvSpPr>
            <a:spLocks noChangeArrowheads="1"/>
          </p:cNvSpPr>
          <p:nvPr/>
        </p:nvSpPr>
        <p:spPr bwMode="auto">
          <a:xfrm>
            <a:off x="4761105" y="3348703"/>
            <a:ext cx="987451" cy="339196"/>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600" b="1" dirty="0">
                <a:latin typeface="+mj-lt"/>
              </a:rPr>
              <a:t>1  3  4  2</a:t>
            </a:r>
          </a:p>
        </p:txBody>
      </p:sp>
      <p:sp>
        <p:nvSpPr>
          <p:cNvPr id="4" name="Rectangle 3">
            <a:extLst>
              <a:ext uri="{FF2B5EF4-FFF2-40B4-BE49-F238E27FC236}">
                <a16:creationId xmlns:a16="http://schemas.microsoft.com/office/drawing/2014/main" id="{759D7D33-E644-1EDD-9A10-7BA86C221ED2}"/>
              </a:ext>
            </a:extLst>
          </p:cNvPr>
          <p:cNvSpPr>
            <a:spLocks noChangeArrowheads="1"/>
          </p:cNvSpPr>
          <p:nvPr/>
        </p:nvSpPr>
        <p:spPr bwMode="auto">
          <a:xfrm>
            <a:off x="5659630" y="3347116"/>
            <a:ext cx="987451" cy="339196"/>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600" b="1" dirty="0">
                <a:latin typeface="+mj-lt"/>
              </a:rPr>
              <a:t>1  2  1  4</a:t>
            </a:r>
          </a:p>
        </p:txBody>
      </p:sp>
      <p:sp>
        <p:nvSpPr>
          <p:cNvPr id="5" name="Line 5">
            <a:extLst>
              <a:ext uri="{FF2B5EF4-FFF2-40B4-BE49-F238E27FC236}">
                <a16:creationId xmlns:a16="http://schemas.microsoft.com/office/drawing/2014/main" id="{BE702569-3E12-15C3-DE85-AF84B79A04F0}"/>
              </a:ext>
            </a:extLst>
          </p:cNvPr>
          <p:cNvSpPr>
            <a:spLocks noChangeShapeType="1"/>
          </p:cNvSpPr>
          <p:nvPr/>
        </p:nvSpPr>
        <p:spPr bwMode="auto">
          <a:xfrm>
            <a:off x="5053218" y="1299241"/>
            <a:ext cx="0" cy="2786062"/>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6" name="Line 6">
            <a:extLst>
              <a:ext uri="{FF2B5EF4-FFF2-40B4-BE49-F238E27FC236}">
                <a16:creationId xmlns:a16="http://schemas.microsoft.com/office/drawing/2014/main" id="{68C827A3-5A30-6B5F-E166-BBA30850FA73}"/>
              </a:ext>
            </a:extLst>
          </p:cNvPr>
          <p:cNvSpPr>
            <a:spLocks noChangeShapeType="1"/>
          </p:cNvSpPr>
          <p:nvPr/>
        </p:nvSpPr>
        <p:spPr bwMode="auto">
          <a:xfrm>
            <a:off x="4834143" y="1561178"/>
            <a:ext cx="2430462"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7" name="Line 7">
            <a:extLst>
              <a:ext uri="{FF2B5EF4-FFF2-40B4-BE49-F238E27FC236}">
                <a16:creationId xmlns:a16="http://schemas.microsoft.com/office/drawing/2014/main" id="{EBF14E8B-F6FD-CBCA-2920-881E8E67A57E}"/>
              </a:ext>
            </a:extLst>
          </p:cNvPr>
          <p:cNvSpPr>
            <a:spLocks noChangeShapeType="1"/>
          </p:cNvSpPr>
          <p:nvPr/>
        </p:nvSpPr>
        <p:spPr bwMode="auto">
          <a:xfrm>
            <a:off x="4834143" y="1824703"/>
            <a:ext cx="2430462"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8" name="Line 8">
            <a:extLst>
              <a:ext uri="{FF2B5EF4-FFF2-40B4-BE49-F238E27FC236}">
                <a16:creationId xmlns:a16="http://schemas.microsoft.com/office/drawing/2014/main" id="{339B80D1-ED49-08DA-56B7-9341C8F35D0E}"/>
              </a:ext>
            </a:extLst>
          </p:cNvPr>
          <p:cNvSpPr>
            <a:spLocks noChangeShapeType="1"/>
          </p:cNvSpPr>
          <p:nvPr/>
        </p:nvSpPr>
        <p:spPr bwMode="auto">
          <a:xfrm>
            <a:off x="4834143" y="2091403"/>
            <a:ext cx="2430462"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9" name="Line 9">
            <a:extLst>
              <a:ext uri="{FF2B5EF4-FFF2-40B4-BE49-F238E27FC236}">
                <a16:creationId xmlns:a16="http://schemas.microsoft.com/office/drawing/2014/main" id="{1C672ED3-B96F-1CAE-74C8-3582429B540B}"/>
              </a:ext>
            </a:extLst>
          </p:cNvPr>
          <p:cNvSpPr>
            <a:spLocks noChangeShapeType="1"/>
          </p:cNvSpPr>
          <p:nvPr/>
        </p:nvSpPr>
        <p:spPr bwMode="auto">
          <a:xfrm>
            <a:off x="4834143" y="2353341"/>
            <a:ext cx="2430462"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0" name="Line 10">
            <a:extLst>
              <a:ext uri="{FF2B5EF4-FFF2-40B4-BE49-F238E27FC236}">
                <a16:creationId xmlns:a16="http://schemas.microsoft.com/office/drawing/2014/main" id="{DC2F2B41-E2C9-240B-A7A6-27BCC18F33AE}"/>
              </a:ext>
            </a:extLst>
          </p:cNvPr>
          <p:cNvSpPr>
            <a:spLocks noChangeShapeType="1"/>
          </p:cNvSpPr>
          <p:nvPr/>
        </p:nvSpPr>
        <p:spPr bwMode="auto">
          <a:xfrm>
            <a:off x="4834143" y="2620041"/>
            <a:ext cx="2430462"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1" name="Line 11">
            <a:extLst>
              <a:ext uri="{FF2B5EF4-FFF2-40B4-BE49-F238E27FC236}">
                <a16:creationId xmlns:a16="http://schemas.microsoft.com/office/drawing/2014/main" id="{9F24B6E7-FF60-63A7-9B35-0C481D8B724F}"/>
              </a:ext>
            </a:extLst>
          </p:cNvPr>
          <p:cNvSpPr>
            <a:spLocks noChangeShapeType="1"/>
          </p:cNvSpPr>
          <p:nvPr/>
        </p:nvSpPr>
        <p:spPr bwMode="auto">
          <a:xfrm>
            <a:off x="4834143" y="2883566"/>
            <a:ext cx="2430462"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2" name="Line 12">
            <a:extLst>
              <a:ext uri="{FF2B5EF4-FFF2-40B4-BE49-F238E27FC236}">
                <a16:creationId xmlns:a16="http://schemas.microsoft.com/office/drawing/2014/main" id="{2F192034-DCFD-D2DA-51BF-179FC4038451}"/>
              </a:ext>
            </a:extLst>
          </p:cNvPr>
          <p:cNvSpPr>
            <a:spLocks noChangeShapeType="1"/>
          </p:cNvSpPr>
          <p:nvPr/>
        </p:nvSpPr>
        <p:spPr bwMode="auto">
          <a:xfrm>
            <a:off x="4834143" y="3147091"/>
            <a:ext cx="2430462"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3" name="Line 13">
            <a:extLst>
              <a:ext uri="{FF2B5EF4-FFF2-40B4-BE49-F238E27FC236}">
                <a16:creationId xmlns:a16="http://schemas.microsoft.com/office/drawing/2014/main" id="{107151A5-4CEC-11AE-0F71-DBFDF87C6F80}"/>
              </a:ext>
            </a:extLst>
          </p:cNvPr>
          <p:cNvSpPr>
            <a:spLocks noChangeShapeType="1"/>
          </p:cNvSpPr>
          <p:nvPr/>
        </p:nvSpPr>
        <p:spPr bwMode="auto">
          <a:xfrm flipH="1">
            <a:off x="5497718" y="1299241"/>
            <a:ext cx="1587" cy="278130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4" name="Line 14">
            <a:extLst>
              <a:ext uri="{FF2B5EF4-FFF2-40B4-BE49-F238E27FC236}">
                <a16:creationId xmlns:a16="http://schemas.microsoft.com/office/drawing/2014/main" id="{F79AF391-D471-BAC9-ED39-77B4A01ADEFE}"/>
              </a:ext>
            </a:extLst>
          </p:cNvPr>
          <p:cNvSpPr>
            <a:spLocks noChangeShapeType="1"/>
          </p:cNvSpPr>
          <p:nvPr/>
        </p:nvSpPr>
        <p:spPr bwMode="auto">
          <a:xfrm>
            <a:off x="5716793" y="1299241"/>
            <a:ext cx="0" cy="2786062"/>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5" name="Line 15">
            <a:extLst>
              <a:ext uri="{FF2B5EF4-FFF2-40B4-BE49-F238E27FC236}">
                <a16:creationId xmlns:a16="http://schemas.microsoft.com/office/drawing/2014/main" id="{7137F126-274A-22A1-5F34-326A2A7ACC5D}"/>
              </a:ext>
            </a:extLst>
          </p:cNvPr>
          <p:cNvSpPr>
            <a:spLocks noChangeShapeType="1"/>
          </p:cNvSpPr>
          <p:nvPr/>
        </p:nvSpPr>
        <p:spPr bwMode="auto">
          <a:xfrm>
            <a:off x="5939043" y="1299241"/>
            <a:ext cx="1587" cy="2786062"/>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6" name="Line 16">
            <a:extLst>
              <a:ext uri="{FF2B5EF4-FFF2-40B4-BE49-F238E27FC236}">
                <a16:creationId xmlns:a16="http://schemas.microsoft.com/office/drawing/2014/main" id="{E3C4478A-B7D3-78A7-A07E-74D715B60E46}"/>
              </a:ext>
            </a:extLst>
          </p:cNvPr>
          <p:cNvSpPr>
            <a:spLocks noChangeShapeType="1"/>
          </p:cNvSpPr>
          <p:nvPr/>
        </p:nvSpPr>
        <p:spPr bwMode="auto">
          <a:xfrm flipH="1">
            <a:off x="6158118" y="1299241"/>
            <a:ext cx="1587" cy="2786062"/>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7" name="Line 17">
            <a:extLst>
              <a:ext uri="{FF2B5EF4-FFF2-40B4-BE49-F238E27FC236}">
                <a16:creationId xmlns:a16="http://schemas.microsoft.com/office/drawing/2014/main" id="{E5005E61-D98F-34F3-FBA5-3C8CF5B4F252}"/>
              </a:ext>
            </a:extLst>
          </p:cNvPr>
          <p:cNvSpPr>
            <a:spLocks noChangeShapeType="1"/>
          </p:cNvSpPr>
          <p:nvPr/>
        </p:nvSpPr>
        <p:spPr bwMode="auto">
          <a:xfrm flipH="1">
            <a:off x="6381955" y="1299241"/>
            <a:ext cx="1588" cy="2786062"/>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8" name="Line 18">
            <a:extLst>
              <a:ext uri="{FF2B5EF4-FFF2-40B4-BE49-F238E27FC236}">
                <a16:creationId xmlns:a16="http://schemas.microsoft.com/office/drawing/2014/main" id="{41CBFAE5-1263-082B-2F6E-8C3F699E01EC}"/>
              </a:ext>
            </a:extLst>
          </p:cNvPr>
          <p:cNvSpPr>
            <a:spLocks noChangeShapeType="1"/>
          </p:cNvSpPr>
          <p:nvPr/>
        </p:nvSpPr>
        <p:spPr bwMode="auto">
          <a:xfrm>
            <a:off x="6823280" y="1299241"/>
            <a:ext cx="0" cy="2112962"/>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9" name="Line 19">
            <a:extLst>
              <a:ext uri="{FF2B5EF4-FFF2-40B4-BE49-F238E27FC236}">
                <a16:creationId xmlns:a16="http://schemas.microsoft.com/office/drawing/2014/main" id="{4235C26D-F1B1-42E4-0F93-51D4C323B3C0}"/>
              </a:ext>
            </a:extLst>
          </p:cNvPr>
          <p:cNvSpPr>
            <a:spLocks noChangeShapeType="1"/>
          </p:cNvSpPr>
          <p:nvPr/>
        </p:nvSpPr>
        <p:spPr bwMode="auto">
          <a:xfrm>
            <a:off x="7045530" y="1299241"/>
            <a:ext cx="0" cy="2112962"/>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0" name="Line 20">
            <a:extLst>
              <a:ext uri="{FF2B5EF4-FFF2-40B4-BE49-F238E27FC236}">
                <a16:creationId xmlns:a16="http://schemas.microsoft.com/office/drawing/2014/main" id="{7E672FCA-9250-8934-7EDB-E9D5DB673C85}"/>
              </a:ext>
            </a:extLst>
          </p:cNvPr>
          <p:cNvSpPr>
            <a:spLocks noChangeShapeType="1"/>
          </p:cNvSpPr>
          <p:nvPr/>
        </p:nvSpPr>
        <p:spPr bwMode="auto">
          <a:xfrm flipH="1">
            <a:off x="2843418" y="2620041"/>
            <a:ext cx="444500"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1" name="Line 21">
            <a:extLst>
              <a:ext uri="{FF2B5EF4-FFF2-40B4-BE49-F238E27FC236}">
                <a16:creationId xmlns:a16="http://schemas.microsoft.com/office/drawing/2014/main" id="{DD6455D1-048F-58E9-D144-07FCE7D51F0D}"/>
              </a:ext>
            </a:extLst>
          </p:cNvPr>
          <p:cNvSpPr>
            <a:spLocks noChangeShapeType="1"/>
          </p:cNvSpPr>
          <p:nvPr/>
        </p:nvSpPr>
        <p:spPr bwMode="auto">
          <a:xfrm>
            <a:off x="2403680" y="1299241"/>
            <a:ext cx="2428875"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2" name="Line 22">
            <a:extLst>
              <a:ext uri="{FF2B5EF4-FFF2-40B4-BE49-F238E27FC236}">
                <a16:creationId xmlns:a16="http://schemas.microsoft.com/office/drawing/2014/main" id="{6271460D-1813-FCA0-2D20-ADD72C264A64}"/>
              </a:ext>
            </a:extLst>
          </p:cNvPr>
          <p:cNvSpPr>
            <a:spLocks noChangeShapeType="1"/>
          </p:cNvSpPr>
          <p:nvPr/>
        </p:nvSpPr>
        <p:spPr bwMode="auto">
          <a:xfrm>
            <a:off x="2843418" y="1299241"/>
            <a:ext cx="0" cy="2112962"/>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3" name="Line 23">
            <a:extLst>
              <a:ext uri="{FF2B5EF4-FFF2-40B4-BE49-F238E27FC236}">
                <a16:creationId xmlns:a16="http://schemas.microsoft.com/office/drawing/2014/main" id="{60ED75D0-A585-61AF-DA41-ABDCAF2C7BA7}"/>
              </a:ext>
            </a:extLst>
          </p:cNvPr>
          <p:cNvSpPr>
            <a:spLocks noChangeShapeType="1"/>
          </p:cNvSpPr>
          <p:nvPr/>
        </p:nvSpPr>
        <p:spPr bwMode="auto">
          <a:xfrm>
            <a:off x="2403680" y="1299241"/>
            <a:ext cx="0" cy="2112962"/>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4" name="Line 24">
            <a:extLst>
              <a:ext uri="{FF2B5EF4-FFF2-40B4-BE49-F238E27FC236}">
                <a16:creationId xmlns:a16="http://schemas.microsoft.com/office/drawing/2014/main" id="{EAC25EB7-8431-DEC7-F60F-4D6B2B06832C}"/>
              </a:ext>
            </a:extLst>
          </p:cNvPr>
          <p:cNvSpPr>
            <a:spLocks noChangeShapeType="1"/>
          </p:cNvSpPr>
          <p:nvPr/>
        </p:nvSpPr>
        <p:spPr bwMode="auto">
          <a:xfrm>
            <a:off x="7264605" y="1299241"/>
            <a:ext cx="0" cy="2112962"/>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5" name="Line 25">
            <a:extLst>
              <a:ext uri="{FF2B5EF4-FFF2-40B4-BE49-F238E27FC236}">
                <a16:creationId xmlns:a16="http://schemas.microsoft.com/office/drawing/2014/main" id="{A567FE91-BD59-3D84-7DB4-9385951233A6}"/>
              </a:ext>
            </a:extLst>
          </p:cNvPr>
          <p:cNvSpPr>
            <a:spLocks noChangeShapeType="1"/>
          </p:cNvSpPr>
          <p:nvPr/>
        </p:nvSpPr>
        <p:spPr bwMode="auto">
          <a:xfrm>
            <a:off x="3287918" y="1299241"/>
            <a:ext cx="0" cy="2112962"/>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6" name="Line 26">
            <a:extLst>
              <a:ext uri="{FF2B5EF4-FFF2-40B4-BE49-F238E27FC236}">
                <a16:creationId xmlns:a16="http://schemas.microsoft.com/office/drawing/2014/main" id="{73DC676B-C8A5-FFD3-9F44-2EC8312B47E9}"/>
              </a:ext>
            </a:extLst>
          </p:cNvPr>
          <p:cNvSpPr>
            <a:spLocks noChangeShapeType="1"/>
          </p:cNvSpPr>
          <p:nvPr/>
        </p:nvSpPr>
        <p:spPr bwMode="auto">
          <a:xfrm>
            <a:off x="3287918" y="1561178"/>
            <a:ext cx="1544637"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7" name="Line 27">
            <a:extLst>
              <a:ext uri="{FF2B5EF4-FFF2-40B4-BE49-F238E27FC236}">
                <a16:creationId xmlns:a16="http://schemas.microsoft.com/office/drawing/2014/main" id="{D4B97EA9-8334-03D9-CCF3-D8D0F22F6B8C}"/>
              </a:ext>
            </a:extLst>
          </p:cNvPr>
          <p:cNvSpPr>
            <a:spLocks noChangeShapeType="1"/>
          </p:cNvSpPr>
          <p:nvPr/>
        </p:nvSpPr>
        <p:spPr bwMode="auto">
          <a:xfrm>
            <a:off x="3287918" y="1824703"/>
            <a:ext cx="1544637"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8" name="Line 28">
            <a:extLst>
              <a:ext uri="{FF2B5EF4-FFF2-40B4-BE49-F238E27FC236}">
                <a16:creationId xmlns:a16="http://schemas.microsoft.com/office/drawing/2014/main" id="{9BC8CF41-E50A-A834-9EB0-881D41291F9B}"/>
              </a:ext>
            </a:extLst>
          </p:cNvPr>
          <p:cNvSpPr>
            <a:spLocks noChangeShapeType="1"/>
          </p:cNvSpPr>
          <p:nvPr/>
        </p:nvSpPr>
        <p:spPr bwMode="auto">
          <a:xfrm>
            <a:off x="3287918" y="2091403"/>
            <a:ext cx="1544637"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9" name="Line 29">
            <a:extLst>
              <a:ext uri="{FF2B5EF4-FFF2-40B4-BE49-F238E27FC236}">
                <a16:creationId xmlns:a16="http://schemas.microsoft.com/office/drawing/2014/main" id="{35B8A6A2-EAEA-4478-0C2B-2250D9FEC4DA}"/>
              </a:ext>
            </a:extLst>
          </p:cNvPr>
          <p:cNvSpPr>
            <a:spLocks noChangeShapeType="1"/>
          </p:cNvSpPr>
          <p:nvPr/>
        </p:nvSpPr>
        <p:spPr bwMode="auto">
          <a:xfrm>
            <a:off x="3287918" y="2353341"/>
            <a:ext cx="1544637"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0" name="Line 30">
            <a:extLst>
              <a:ext uri="{FF2B5EF4-FFF2-40B4-BE49-F238E27FC236}">
                <a16:creationId xmlns:a16="http://schemas.microsoft.com/office/drawing/2014/main" id="{7CC7D5E1-1777-C504-1C08-EA0E9575A4C5}"/>
              </a:ext>
            </a:extLst>
          </p:cNvPr>
          <p:cNvSpPr>
            <a:spLocks noChangeShapeType="1"/>
          </p:cNvSpPr>
          <p:nvPr/>
        </p:nvSpPr>
        <p:spPr bwMode="auto">
          <a:xfrm>
            <a:off x="3287918" y="2620041"/>
            <a:ext cx="1544637"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1" name="Line 31">
            <a:extLst>
              <a:ext uri="{FF2B5EF4-FFF2-40B4-BE49-F238E27FC236}">
                <a16:creationId xmlns:a16="http://schemas.microsoft.com/office/drawing/2014/main" id="{27477931-77E2-2796-6C2C-DBF0D3DC7EE6}"/>
              </a:ext>
            </a:extLst>
          </p:cNvPr>
          <p:cNvSpPr>
            <a:spLocks noChangeShapeType="1"/>
          </p:cNvSpPr>
          <p:nvPr/>
        </p:nvSpPr>
        <p:spPr bwMode="auto">
          <a:xfrm>
            <a:off x="3287918" y="2883566"/>
            <a:ext cx="1544637"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2" name="Line 32">
            <a:extLst>
              <a:ext uri="{FF2B5EF4-FFF2-40B4-BE49-F238E27FC236}">
                <a16:creationId xmlns:a16="http://schemas.microsoft.com/office/drawing/2014/main" id="{099365F7-1F24-D7F5-17CD-F6BDB2DDE98E}"/>
              </a:ext>
            </a:extLst>
          </p:cNvPr>
          <p:cNvSpPr>
            <a:spLocks noChangeShapeType="1"/>
          </p:cNvSpPr>
          <p:nvPr/>
        </p:nvSpPr>
        <p:spPr bwMode="auto">
          <a:xfrm>
            <a:off x="3287918" y="3147091"/>
            <a:ext cx="1544637"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3" name="Line 33">
            <a:extLst>
              <a:ext uri="{FF2B5EF4-FFF2-40B4-BE49-F238E27FC236}">
                <a16:creationId xmlns:a16="http://schemas.microsoft.com/office/drawing/2014/main" id="{0063D03D-5F90-1F8E-9088-5B2DE365BC4C}"/>
              </a:ext>
            </a:extLst>
          </p:cNvPr>
          <p:cNvSpPr>
            <a:spLocks noChangeShapeType="1"/>
          </p:cNvSpPr>
          <p:nvPr/>
        </p:nvSpPr>
        <p:spPr bwMode="auto">
          <a:xfrm>
            <a:off x="4834143" y="1299241"/>
            <a:ext cx="0" cy="2112962"/>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4" name="Line 34">
            <a:extLst>
              <a:ext uri="{FF2B5EF4-FFF2-40B4-BE49-F238E27FC236}">
                <a16:creationId xmlns:a16="http://schemas.microsoft.com/office/drawing/2014/main" id="{81799F8F-C0DE-CF2C-E19C-400694813B91}"/>
              </a:ext>
            </a:extLst>
          </p:cNvPr>
          <p:cNvSpPr>
            <a:spLocks noChangeShapeType="1"/>
          </p:cNvSpPr>
          <p:nvPr/>
        </p:nvSpPr>
        <p:spPr bwMode="auto">
          <a:xfrm>
            <a:off x="2403680" y="3412203"/>
            <a:ext cx="4198938"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5" name="Line 35">
            <a:extLst>
              <a:ext uri="{FF2B5EF4-FFF2-40B4-BE49-F238E27FC236}">
                <a16:creationId xmlns:a16="http://schemas.microsoft.com/office/drawing/2014/main" id="{21349C77-7DBB-1DB3-AFF4-4D914F56E649}"/>
              </a:ext>
            </a:extLst>
          </p:cNvPr>
          <p:cNvSpPr>
            <a:spLocks noChangeShapeType="1"/>
          </p:cNvSpPr>
          <p:nvPr/>
        </p:nvSpPr>
        <p:spPr bwMode="auto">
          <a:xfrm>
            <a:off x="6602618" y="1299241"/>
            <a:ext cx="0" cy="2112962"/>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6" name="Line 36">
            <a:extLst>
              <a:ext uri="{FF2B5EF4-FFF2-40B4-BE49-F238E27FC236}">
                <a16:creationId xmlns:a16="http://schemas.microsoft.com/office/drawing/2014/main" id="{3B162D26-5081-5E88-FC42-B090F9554664}"/>
              </a:ext>
            </a:extLst>
          </p:cNvPr>
          <p:cNvSpPr>
            <a:spLocks noChangeShapeType="1"/>
          </p:cNvSpPr>
          <p:nvPr/>
        </p:nvSpPr>
        <p:spPr bwMode="auto">
          <a:xfrm>
            <a:off x="4834143" y="1299241"/>
            <a:ext cx="2430462"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7" name="Rectangle 37">
            <a:extLst>
              <a:ext uri="{FF2B5EF4-FFF2-40B4-BE49-F238E27FC236}">
                <a16:creationId xmlns:a16="http://schemas.microsoft.com/office/drawing/2014/main" id="{0E3D6CE0-EF9E-7056-8581-AC897C15A277}"/>
              </a:ext>
            </a:extLst>
          </p:cNvPr>
          <p:cNvSpPr>
            <a:spLocks noChangeArrowheads="1"/>
          </p:cNvSpPr>
          <p:nvPr/>
        </p:nvSpPr>
        <p:spPr bwMode="auto">
          <a:xfrm rot="16200000">
            <a:off x="1658348" y="2074735"/>
            <a:ext cx="1928813" cy="5080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85000"/>
              </a:lnSpc>
            </a:pPr>
            <a:r>
              <a:rPr lang="en-US" altLang="en-US" sz="1600" b="1">
                <a:latin typeface="+mj-lt"/>
              </a:rPr>
              <a:t>Customer Requirements</a:t>
            </a:r>
          </a:p>
        </p:txBody>
      </p:sp>
      <p:sp>
        <p:nvSpPr>
          <p:cNvPr id="38" name="Line 38">
            <a:extLst>
              <a:ext uri="{FF2B5EF4-FFF2-40B4-BE49-F238E27FC236}">
                <a16:creationId xmlns:a16="http://schemas.microsoft.com/office/drawing/2014/main" id="{3BBA1FC4-764B-62FD-6DC7-C91F21CE63B8}"/>
              </a:ext>
            </a:extLst>
          </p:cNvPr>
          <p:cNvSpPr>
            <a:spLocks noChangeShapeType="1"/>
          </p:cNvSpPr>
          <p:nvPr/>
        </p:nvSpPr>
        <p:spPr bwMode="auto">
          <a:xfrm>
            <a:off x="6602618" y="3412203"/>
            <a:ext cx="0" cy="2378075"/>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9" name="Line 39">
            <a:extLst>
              <a:ext uri="{FF2B5EF4-FFF2-40B4-BE49-F238E27FC236}">
                <a16:creationId xmlns:a16="http://schemas.microsoft.com/office/drawing/2014/main" id="{4A25EA79-8E0D-5F5B-156F-203F212341EC}"/>
              </a:ext>
            </a:extLst>
          </p:cNvPr>
          <p:cNvSpPr>
            <a:spLocks noChangeShapeType="1"/>
          </p:cNvSpPr>
          <p:nvPr/>
        </p:nvSpPr>
        <p:spPr bwMode="auto">
          <a:xfrm>
            <a:off x="6602618" y="5790278"/>
            <a:ext cx="661987"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40" name="Rectangle 40">
            <a:extLst>
              <a:ext uri="{FF2B5EF4-FFF2-40B4-BE49-F238E27FC236}">
                <a16:creationId xmlns:a16="http://schemas.microsoft.com/office/drawing/2014/main" id="{8CA9012A-777B-FC11-7907-8B0804B4F87B}"/>
              </a:ext>
            </a:extLst>
          </p:cNvPr>
          <p:cNvSpPr>
            <a:spLocks noChangeArrowheads="1"/>
          </p:cNvSpPr>
          <p:nvPr/>
        </p:nvSpPr>
        <p:spPr bwMode="auto">
          <a:xfrm rot="16200000">
            <a:off x="6266068" y="4809203"/>
            <a:ext cx="1381125" cy="64452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75000"/>
              </a:lnSpc>
            </a:pPr>
            <a:r>
              <a:rPr lang="en-US" altLang="en-US" sz="1600" b="1" dirty="0">
                <a:latin typeface="+mj-lt"/>
              </a:rPr>
              <a:t>Customer</a:t>
            </a:r>
          </a:p>
          <a:p>
            <a:pPr algn="ctr">
              <a:lnSpc>
                <a:spcPct val="75000"/>
              </a:lnSpc>
            </a:pPr>
            <a:r>
              <a:rPr lang="en-US" altLang="en-US" sz="1600" b="1" dirty="0">
                <a:latin typeface="+mj-lt"/>
              </a:rPr>
              <a:t>Competitive</a:t>
            </a:r>
          </a:p>
          <a:p>
            <a:pPr algn="ctr">
              <a:lnSpc>
                <a:spcPct val="75000"/>
              </a:lnSpc>
            </a:pPr>
            <a:r>
              <a:rPr lang="en-US" altLang="en-US" sz="1600" b="1" dirty="0">
                <a:latin typeface="+mj-lt"/>
              </a:rPr>
              <a:t>Assessment</a:t>
            </a:r>
          </a:p>
        </p:txBody>
      </p:sp>
      <p:sp>
        <p:nvSpPr>
          <p:cNvPr id="41" name="Rectangle 41">
            <a:extLst>
              <a:ext uri="{FF2B5EF4-FFF2-40B4-BE49-F238E27FC236}">
                <a16:creationId xmlns:a16="http://schemas.microsoft.com/office/drawing/2014/main" id="{A83E9731-BDE9-806D-832C-6CE37E25A757}"/>
              </a:ext>
            </a:extLst>
          </p:cNvPr>
          <p:cNvSpPr>
            <a:spLocks noChangeArrowheads="1"/>
          </p:cNvSpPr>
          <p:nvPr/>
        </p:nvSpPr>
        <p:spPr bwMode="auto">
          <a:xfrm rot="16200000">
            <a:off x="6658805" y="3740516"/>
            <a:ext cx="527388" cy="75783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105000"/>
              </a:lnSpc>
            </a:pPr>
            <a:r>
              <a:rPr lang="en-US" altLang="en-US" sz="1400" b="1">
                <a:latin typeface="+mj-lt"/>
              </a:rPr>
              <a:t>Our</a:t>
            </a:r>
          </a:p>
          <a:p>
            <a:pPr>
              <a:lnSpc>
                <a:spcPct val="105000"/>
              </a:lnSpc>
            </a:pPr>
            <a:r>
              <a:rPr lang="en-US" altLang="en-US" sz="1400" b="1">
                <a:latin typeface="+mj-lt"/>
              </a:rPr>
              <a:t>A’s</a:t>
            </a:r>
          </a:p>
          <a:p>
            <a:pPr>
              <a:lnSpc>
                <a:spcPct val="105000"/>
              </a:lnSpc>
            </a:pPr>
            <a:r>
              <a:rPr lang="en-US" altLang="en-US" sz="1400" b="1">
                <a:latin typeface="+mj-lt"/>
              </a:rPr>
              <a:t>B’s</a:t>
            </a:r>
          </a:p>
        </p:txBody>
      </p:sp>
      <p:sp>
        <p:nvSpPr>
          <p:cNvPr id="42" name="Line 42">
            <a:extLst>
              <a:ext uri="{FF2B5EF4-FFF2-40B4-BE49-F238E27FC236}">
                <a16:creationId xmlns:a16="http://schemas.microsoft.com/office/drawing/2014/main" id="{8872077A-6439-67D2-413B-2D2C8F1575EB}"/>
              </a:ext>
            </a:extLst>
          </p:cNvPr>
          <p:cNvSpPr>
            <a:spLocks noChangeShapeType="1"/>
          </p:cNvSpPr>
          <p:nvPr/>
        </p:nvSpPr>
        <p:spPr bwMode="auto">
          <a:xfrm>
            <a:off x="6823280" y="3412203"/>
            <a:ext cx="0" cy="1057275"/>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43" name="Line 43">
            <a:extLst>
              <a:ext uri="{FF2B5EF4-FFF2-40B4-BE49-F238E27FC236}">
                <a16:creationId xmlns:a16="http://schemas.microsoft.com/office/drawing/2014/main" id="{393E43B3-C48D-6B1A-C63F-2E7070786B5A}"/>
              </a:ext>
            </a:extLst>
          </p:cNvPr>
          <p:cNvSpPr>
            <a:spLocks noChangeShapeType="1"/>
          </p:cNvSpPr>
          <p:nvPr/>
        </p:nvSpPr>
        <p:spPr bwMode="auto">
          <a:xfrm>
            <a:off x="7042355" y="3412203"/>
            <a:ext cx="0" cy="1057275"/>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44" name="Line 44">
            <a:extLst>
              <a:ext uri="{FF2B5EF4-FFF2-40B4-BE49-F238E27FC236}">
                <a16:creationId xmlns:a16="http://schemas.microsoft.com/office/drawing/2014/main" id="{AD7EF408-3413-4FCD-CD91-82EF072E5879}"/>
              </a:ext>
            </a:extLst>
          </p:cNvPr>
          <p:cNvSpPr>
            <a:spLocks noChangeShapeType="1"/>
          </p:cNvSpPr>
          <p:nvPr/>
        </p:nvSpPr>
        <p:spPr bwMode="auto">
          <a:xfrm>
            <a:off x="7264605" y="3412203"/>
            <a:ext cx="0" cy="2378075"/>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45" name="Line 45">
            <a:extLst>
              <a:ext uri="{FF2B5EF4-FFF2-40B4-BE49-F238E27FC236}">
                <a16:creationId xmlns:a16="http://schemas.microsoft.com/office/drawing/2014/main" id="{A3B2FF5F-0C29-948E-A12F-E33C265FE13B}"/>
              </a:ext>
            </a:extLst>
          </p:cNvPr>
          <p:cNvSpPr>
            <a:spLocks noChangeShapeType="1"/>
          </p:cNvSpPr>
          <p:nvPr/>
        </p:nvSpPr>
        <p:spPr bwMode="auto">
          <a:xfrm>
            <a:off x="6602618" y="4469478"/>
            <a:ext cx="661987"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46" name="Line 46">
            <a:extLst>
              <a:ext uri="{FF2B5EF4-FFF2-40B4-BE49-F238E27FC236}">
                <a16:creationId xmlns:a16="http://schemas.microsoft.com/office/drawing/2014/main" id="{629D9A4B-53BD-0CAB-9D6C-62E64DFC056D}"/>
              </a:ext>
            </a:extLst>
          </p:cNvPr>
          <p:cNvSpPr>
            <a:spLocks noChangeShapeType="1"/>
          </p:cNvSpPr>
          <p:nvPr/>
        </p:nvSpPr>
        <p:spPr bwMode="auto">
          <a:xfrm flipH="1">
            <a:off x="5273880" y="1299241"/>
            <a:ext cx="1588" cy="2795587"/>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grpSp>
        <p:nvGrpSpPr>
          <p:cNvPr id="47" name="Group 67">
            <a:extLst>
              <a:ext uri="{FF2B5EF4-FFF2-40B4-BE49-F238E27FC236}">
                <a16:creationId xmlns:a16="http://schemas.microsoft.com/office/drawing/2014/main" id="{20AE8330-CA2A-9440-F243-808A81EA0A93}"/>
              </a:ext>
            </a:extLst>
          </p:cNvPr>
          <p:cNvGrpSpPr>
            <a:grpSpLocks/>
          </p:cNvGrpSpPr>
          <p:nvPr/>
        </p:nvGrpSpPr>
        <p:grpSpPr bwMode="auto">
          <a:xfrm>
            <a:off x="4883355" y="1361153"/>
            <a:ext cx="1663700" cy="1716088"/>
            <a:chOff x="2240" y="1164"/>
            <a:chExt cx="1048" cy="1081"/>
          </a:xfrm>
        </p:grpSpPr>
        <p:sp>
          <p:nvSpPr>
            <p:cNvPr id="48" name="Oval 47">
              <a:extLst>
                <a:ext uri="{FF2B5EF4-FFF2-40B4-BE49-F238E27FC236}">
                  <a16:creationId xmlns:a16="http://schemas.microsoft.com/office/drawing/2014/main" id="{2F929B08-AD96-2E60-1795-009B03742B5B}"/>
                </a:ext>
              </a:extLst>
            </p:cNvPr>
            <p:cNvSpPr>
              <a:spLocks noChangeArrowheads="1"/>
            </p:cNvSpPr>
            <p:nvPr/>
          </p:nvSpPr>
          <p:spPr bwMode="auto">
            <a:xfrm>
              <a:off x="2248" y="1669"/>
              <a:ext cx="60" cy="75"/>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49" name="Oval 48">
              <a:extLst>
                <a:ext uri="{FF2B5EF4-FFF2-40B4-BE49-F238E27FC236}">
                  <a16:creationId xmlns:a16="http://schemas.microsoft.com/office/drawing/2014/main" id="{4C3787D6-A9A6-E235-E9C2-0E0CB88199F0}"/>
                </a:ext>
              </a:extLst>
            </p:cNvPr>
            <p:cNvSpPr>
              <a:spLocks noChangeArrowheads="1"/>
            </p:cNvSpPr>
            <p:nvPr/>
          </p:nvSpPr>
          <p:spPr bwMode="auto">
            <a:xfrm>
              <a:off x="2265" y="1690"/>
              <a:ext cx="26" cy="34"/>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50" name="Oval 49">
              <a:extLst>
                <a:ext uri="{FF2B5EF4-FFF2-40B4-BE49-F238E27FC236}">
                  <a16:creationId xmlns:a16="http://schemas.microsoft.com/office/drawing/2014/main" id="{72DF96F4-FE09-6875-0200-40E3D51CC091}"/>
                </a:ext>
              </a:extLst>
            </p:cNvPr>
            <p:cNvSpPr>
              <a:spLocks noChangeArrowheads="1"/>
            </p:cNvSpPr>
            <p:nvPr/>
          </p:nvSpPr>
          <p:spPr bwMode="auto">
            <a:xfrm>
              <a:off x="2391" y="1336"/>
              <a:ext cx="60" cy="77"/>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51" name="AutoShape 50">
              <a:extLst>
                <a:ext uri="{FF2B5EF4-FFF2-40B4-BE49-F238E27FC236}">
                  <a16:creationId xmlns:a16="http://schemas.microsoft.com/office/drawing/2014/main" id="{DC4FB860-6FD1-BCC7-6C34-A27D4A9E745F}"/>
                </a:ext>
              </a:extLst>
            </p:cNvPr>
            <p:cNvSpPr>
              <a:spLocks noChangeArrowheads="1"/>
            </p:cNvSpPr>
            <p:nvPr/>
          </p:nvSpPr>
          <p:spPr bwMode="auto">
            <a:xfrm>
              <a:off x="2939" y="1330"/>
              <a:ext cx="60" cy="77"/>
            </a:xfrm>
            <a:prstGeom prst="triangle">
              <a:avLst>
                <a:gd name="adj" fmla="val 49995"/>
              </a:avLst>
            </a:prstGeom>
            <a:noFill/>
            <a:ln w="127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52" name="Oval 51">
              <a:extLst>
                <a:ext uri="{FF2B5EF4-FFF2-40B4-BE49-F238E27FC236}">
                  <a16:creationId xmlns:a16="http://schemas.microsoft.com/office/drawing/2014/main" id="{3D3C192D-B6BF-C3E6-9520-CAD1C4D9E354}"/>
                </a:ext>
              </a:extLst>
            </p:cNvPr>
            <p:cNvSpPr>
              <a:spLocks noChangeArrowheads="1"/>
            </p:cNvSpPr>
            <p:nvPr/>
          </p:nvSpPr>
          <p:spPr bwMode="auto">
            <a:xfrm>
              <a:off x="2664" y="1170"/>
              <a:ext cx="63" cy="75"/>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53" name="Oval 52">
              <a:extLst>
                <a:ext uri="{FF2B5EF4-FFF2-40B4-BE49-F238E27FC236}">
                  <a16:creationId xmlns:a16="http://schemas.microsoft.com/office/drawing/2014/main" id="{33DFB720-9CE6-0E78-D409-AA80127E13E3}"/>
                </a:ext>
              </a:extLst>
            </p:cNvPr>
            <p:cNvSpPr>
              <a:spLocks noChangeArrowheads="1"/>
            </p:cNvSpPr>
            <p:nvPr/>
          </p:nvSpPr>
          <p:spPr bwMode="auto">
            <a:xfrm>
              <a:off x="2682" y="1191"/>
              <a:ext cx="27" cy="35"/>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54" name="Oval 53">
              <a:extLst>
                <a:ext uri="{FF2B5EF4-FFF2-40B4-BE49-F238E27FC236}">
                  <a16:creationId xmlns:a16="http://schemas.microsoft.com/office/drawing/2014/main" id="{D240FC3D-BAC2-4AB6-DA61-EC6AC1BD7FB1}"/>
                </a:ext>
              </a:extLst>
            </p:cNvPr>
            <p:cNvSpPr>
              <a:spLocks noChangeArrowheads="1"/>
            </p:cNvSpPr>
            <p:nvPr/>
          </p:nvSpPr>
          <p:spPr bwMode="auto">
            <a:xfrm>
              <a:off x="2803" y="1669"/>
              <a:ext cx="63" cy="75"/>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55" name="Oval 54">
              <a:extLst>
                <a:ext uri="{FF2B5EF4-FFF2-40B4-BE49-F238E27FC236}">
                  <a16:creationId xmlns:a16="http://schemas.microsoft.com/office/drawing/2014/main" id="{BA8CFAA3-237A-B847-5FF4-8653D21F410A}"/>
                </a:ext>
              </a:extLst>
            </p:cNvPr>
            <p:cNvSpPr>
              <a:spLocks noChangeArrowheads="1"/>
            </p:cNvSpPr>
            <p:nvPr/>
          </p:nvSpPr>
          <p:spPr bwMode="auto">
            <a:xfrm>
              <a:off x="2821" y="1690"/>
              <a:ext cx="27" cy="34"/>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56" name="Oval 55">
              <a:extLst>
                <a:ext uri="{FF2B5EF4-FFF2-40B4-BE49-F238E27FC236}">
                  <a16:creationId xmlns:a16="http://schemas.microsoft.com/office/drawing/2014/main" id="{C75C4CC8-874D-C635-AB3A-86EB5884ADF2}"/>
                </a:ext>
              </a:extLst>
            </p:cNvPr>
            <p:cNvSpPr>
              <a:spLocks noChangeArrowheads="1"/>
            </p:cNvSpPr>
            <p:nvPr/>
          </p:nvSpPr>
          <p:spPr bwMode="auto">
            <a:xfrm>
              <a:off x="2525" y="1835"/>
              <a:ext cx="63" cy="75"/>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57" name="Oval 56">
              <a:extLst>
                <a:ext uri="{FF2B5EF4-FFF2-40B4-BE49-F238E27FC236}">
                  <a16:creationId xmlns:a16="http://schemas.microsoft.com/office/drawing/2014/main" id="{83F42167-EC05-ADBD-AF7E-C9CB7DD1359F}"/>
                </a:ext>
              </a:extLst>
            </p:cNvPr>
            <p:cNvSpPr>
              <a:spLocks noChangeArrowheads="1"/>
            </p:cNvSpPr>
            <p:nvPr/>
          </p:nvSpPr>
          <p:spPr bwMode="auto">
            <a:xfrm>
              <a:off x="2543" y="1856"/>
              <a:ext cx="26" cy="36"/>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58" name="Oval 57">
              <a:extLst>
                <a:ext uri="{FF2B5EF4-FFF2-40B4-BE49-F238E27FC236}">
                  <a16:creationId xmlns:a16="http://schemas.microsoft.com/office/drawing/2014/main" id="{61415E82-572E-2A51-A3A4-71582BBDD27E}"/>
                </a:ext>
              </a:extLst>
            </p:cNvPr>
            <p:cNvSpPr>
              <a:spLocks noChangeArrowheads="1"/>
            </p:cNvSpPr>
            <p:nvPr/>
          </p:nvSpPr>
          <p:spPr bwMode="auto">
            <a:xfrm>
              <a:off x="3222" y="2169"/>
              <a:ext cx="62" cy="74"/>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59" name="Oval 58">
              <a:extLst>
                <a:ext uri="{FF2B5EF4-FFF2-40B4-BE49-F238E27FC236}">
                  <a16:creationId xmlns:a16="http://schemas.microsoft.com/office/drawing/2014/main" id="{804C9F4B-BC37-844A-6FD6-8841D8B2D483}"/>
                </a:ext>
              </a:extLst>
            </p:cNvPr>
            <p:cNvSpPr>
              <a:spLocks noChangeArrowheads="1"/>
            </p:cNvSpPr>
            <p:nvPr/>
          </p:nvSpPr>
          <p:spPr bwMode="auto">
            <a:xfrm>
              <a:off x="3239" y="2189"/>
              <a:ext cx="28" cy="36"/>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60" name="Oval 59">
              <a:extLst>
                <a:ext uri="{FF2B5EF4-FFF2-40B4-BE49-F238E27FC236}">
                  <a16:creationId xmlns:a16="http://schemas.microsoft.com/office/drawing/2014/main" id="{A0158201-B13B-F7E6-94BF-896333D524C3}"/>
                </a:ext>
              </a:extLst>
            </p:cNvPr>
            <p:cNvSpPr>
              <a:spLocks noChangeArrowheads="1"/>
            </p:cNvSpPr>
            <p:nvPr/>
          </p:nvSpPr>
          <p:spPr bwMode="auto">
            <a:xfrm>
              <a:off x="2669" y="1670"/>
              <a:ext cx="62" cy="76"/>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61" name="Oval 60">
              <a:extLst>
                <a:ext uri="{FF2B5EF4-FFF2-40B4-BE49-F238E27FC236}">
                  <a16:creationId xmlns:a16="http://schemas.microsoft.com/office/drawing/2014/main" id="{511F4068-71D7-40F9-5F57-F1E4CC8552D7}"/>
                </a:ext>
              </a:extLst>
            </p:cNvPr>
            <p:cNvSpPr>
              <a:spLocks noChangeArrowheads="1"/>
            </p:cNvSpPr>
            <p:nvPr/>
          </p:nvSpPr>
          <p:spPr bwMode="auto">
            <a:xfrm>
              <a:off x="3226" y="1837"/>
              <a:ext cx="62" cy="76"/>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62" name="Oval 61">
              <a:extLst>
                <a:ext uri="{FF2B5EF4-FFF2-40B4-BE49-F238E27FC236}">
                  <a16:creationId xmlns:a16="http://schemas.microsoft.com/office/drawing/2014/main" id="{0FDC73FD-D6F2-1DDF-2391-1A457FFA744F}"/>
                </a:ext>
              </a:extLst>
            </p:cNvPr>
            <p:cNvSpPr>
              <a:spLocks noChangeArrowheads="1"/>
            </p:cNvSpPr>
            <p:nvPr/>
          </p:nvSpPr>
          <p:spPr bwMode="auto">
            <a:xfrm>
              <a:off x="2530" y="2171"/>
              <a:ext cx="62" cy="74"/>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63" name="Oval 62">
              <a:extLst>
                <a:ext uri="{FF2B5EF4-FFF2-40B4-BE49-F238E27FC236}">
                  <a16:creationId xmlns:a16="http://schemas.microsoft.com/office/drawing/2014/main" id="{A60D7A9E-650F-B503-987C-82E802A9AE0E}"/>
                </a:ext>
              </a:extLst>
            </p:cNvPr>
            <p:cNvSpPr>
              <a:spLocks noChangeArrowheads="1"/>
            </p:cNvSpPr>
            <p:nvPr/>
          </p:nvSpPr>
          <p:spPr bwMode="auto">
            <a:xfrm>
              <a:off x="3087" y="2171"/>
              <a:ext cx="63" cy="74"/>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64" name="AutoShape 63">
              <a:extLst>
                <a:ext uri="{FF2B5EF4-FFF2-40B4-BE49-F238E27FC236}">
                  <a16:creationId xmlns:a16="http://schemas.microsoft.com/office/drawing/2014/main" id="{E830C53C-35B6-9E46-D96C-36A642F78740}"/>
                </a:ext>
              </a:extLst>
            </p:cNvPr>
            <p:cNvSpPr>
              <a:spLocks noChangeArrowheads="1"/>
            </p:cNvSpPr>
            <p:nvPr/>
          </p:nvSpPr>
          <p:spPr bwMode="auto">
            <a:xfrm>
              <a:off x="2240" y="1164"/>
              <a:ext cx="63" cy="75"/>
            </a:xfrm>
            <a:prstGeom prst="triangle">
              <a:avLst>
                <a:gd name="adj" fmla="val 49995"/>
              </a:avLst>
            </a:prstGeom>
            <a:noFill/>
            <a:ln w="127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65" name="AutoShape 64">
              <a:extLst>
                <a:ext uri="{FF2B5EF4-FFF2-40B4-BE49-F238E27FC236}">
                  <a16:creationId xmlns:a16="http://schemas.microsoft.com/office/drawing/2014/main" id="{74507073-B697-F98D-5444-85B2E22C5FDD}"/>
                </a:ext>
              </a:extLst>
            </p:cNvPr>
            <p:cNvSpPr>
              <a:spLocks noChangeArrowheads="1"/>
            </p:cNvSpPr>
            <p:nvPr/>
          </p:nvSpPr>
          <p:spPr bwMode="auto">
            <a:xfrm>
              <a:off x="3216" y="1664"/>
              <a:ext cx="63" cy="74"/>
            </a:xfrm>
            <a:prstGeom prst="triangle">
              <a:avLst>
                <a:gd name="adj" fmla="val 49995"/>
              </a:avLst>
            </a:prstGeom>
            <a:noFill/>
            <a:ln w="127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66" name="AutoShape 65">
              <a:extLst>
                <a:ext uri="{FF2B5EF4-FFF2-40B4-BE49-F238E27FC236}">
                  <a16:creationId xmlns:a16="http://schemas.microsoft.com/office/drawing/2014/main" id="{C74A9B7F-B0AE-80F3-963C-E4917FB89330}"/>
                </a:ext>
              </a:extLst>
            </p:cNvPr>
            <p:cNvSpPr>
              <a:spLocks noChangeArrowheads="1"/>
            </p:cNvSpPr>
            <p:nvPr/>
          </p:nvSpPr>
          <p:spPr bwMode="auto">
            <a:xfrm>
              <a:off x="3077" y="1829"/>
              <a:ext cx="61" cy="77"/>
            </a:xfrm>
            <a:prstGeom prst="triangle">
              <a:avLst>
                <a:gd name="adj" fmla="val 49995"/>
              </a:avLst>
            </a:prstGeom>
            <a:noFill/>
            <a:ln w="127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67" name="AutoShape 66">
              <a:extLst>
                <a:ext uri="{FF2B5EF4-FFF2-40B4-BE49-F238E27FC236}">
                  <a16:creationId xmlns:a16="http://schemas.microsoft.com/office/drawing/2014/main" id="{097BB9E8-B9BC-577C-F149-39386A535459}"/>
                </a:ext>
              </a:extLst>
            </p:cNvPr>
            <p:cNvSpPr>
              <a:spLocks noChangeArrowheads="1"/>
            </p:cNvSpPr>
            <p:nvPr/>
          </p:nvSpPr>
          <p:spPr bwMode="auto">
            <a:xfrm>
              <a:off x="2381" y="1997"/>
              <a:ext cx="60" cy="74"/>
            </a:xfrm>
            <a:prstGeom prst="triangle">
              <a:avLst>
                <a:gd name="adj" fmla="val 49995"/>
              </a:avLst>
            </a:prstGeom>
            <a:noFill/>
            <a:ln w="127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grpSp>
      <p:sp>
        <p:nvSpPr>
          <p:cNvPr id="68" name="Line 68">
            <a:extLst>
              <a:ext uri="{FF2B5EF4-FFF2-40B4-BE49-F238E27FC236}">
                <a16:creationId xmlns:a16="http://schemas.microsoft.com/office/drawing/2014/main" id="{886C07D3-C647-0B98-5EB1-3E692023FCCD}"/>
              </a:ext>
            </a:extLst>
          </p:cNvPr>
          <p:cNvSpPr>
            <a:spLocks noChangeShapeType="1"/>
          </p:cNvSpPr>
          <p:nvPr/>
        </p:nvSpPr>
        <p:spPr bwMode="auto">
          <a:xfrm>
            <a:off x="6602618" y="3412203"/>
            <a:ext cx="661987"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69" name="Rectangle 69">
            <a:extLst>
              <a:ext uri="{FF2B5EF4-FFF2-40B4-BE49-F238E27FC236}">
                <a16:creationId xmlns:a16="http://schemas.microsoft.com/office/drawing/2014/main" id="{1CA0A319-62A6-4726-BA34-A245392470BE}"/>
              </a:ext>
            </a:extLst>
          </p:cNvPr>
          <p:cNvSpPr>
            <a:spLocks noChangeArrowheads="1"/>
          </p:cNvSpPr>
          <p:nvPr/>
        </p:nvSpPr>
        <p:spPr bwMode="auto">
          <a:xfrm>
            <a:off x="6585155" y="1284953"/>
            <a:ext cx="254000" cy="215106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92000"/>
              </a:lnSpc>
              <a:spcBef>
                <a:spcPct val="15000"/>
              </a:spcBef>
            </a:pPr>
            <a:r>
              <a:rPr lang="en-US" altLang="en-US" sz="1600" b="1" dirty="0">
                <a:latin typeface="+mj-lt"/>
              </a:rPr>
              <a:t>5</a:t>
            </a:r>
          </a:p>
          <a:p>
            <a:pPr algn="ctr">
              <a:lnSpc>
                <a:spcPct val="92000"/>
              </a:lnSpc>
              <a:spcBef>
                <a:spcPct val="15000"/>
              </a:spcBef>
            </a:pPr>
            <a:r>
              <a:rPr lang="en-US" altLang="en-US" sz="1600" b="1" dirty="0">
                <a:latin typeface="+mj-lt"/>
              </a:rPr>
              <a:t>3</a:t>
            </a:r>
          </a:p>
          <a:p>
            <a:pPr algn="ctr">
              <a:lnSpc>
                <a:spcPct val="92000"/>
              </a:lnSpc>
              <a:spcBef>
                <a:spcPct val="15000"/>
              </a:spcBef>
            </a:pPr>
            <a:r>
              <a:rPr lang="en-US" altLang="en-US" sz="1600" b="1" dirty="0">
                <a:latin typeface="+mj-lt"/>
              </a:rPr>
              <a:t>1</a:t>
            </a:r>
          </a:p>
          <a:p>
            <a:pPr algn="ctr">
              <a:lnSpc>
                <a:spcPct val="92000"/>
              </a:lnSpc>
              <a:spcBef>
                <a:spcPct val="15000"/>
              </a:spcBef>
            </a:pPr>
            <a:r>
              <a:rPr lang="en-US" altLang="en-US" sz="1600" b="1" dirty="0">
                <a:latin typeface="+mj-lt"/>
              </a:rPr>
              <a:t>2</a:t>
            </a:r>
          </a:p>
          <a:p>
            <a:pPr algn="ctr">
              <a:lnSpc>
                <a:spcPct val="92000"/>
              </a:lnSpc>
              <a:spcBef>
                <a:spcPct val="15000"/>
              </a:spcBef>
            </a:pPr>
            <a:r>
              <a:rPr lang="en-US" altLang="en-US" sz="1600" b="1" dirty="0">
                <a:latin typeface="+mj-lt"/>
              </a:rPr>
              <a:t>5</a:t>
            </a:r>
          </a:p>
          <a:p>
            <a:pPr algn="ctr">
              <a:lnSpc>
                <a:spcPct val="92000"/>
              </a:lnSpc>
              <a:spcBef>
                <a:spcPct val="15000"/>
              </a:spcBef>
            </a:pPr>
            <a:r>
              <a:rPr lang="en-US" altLang="en-US" sz="1600" b="1" dirty="0">
                <a:latin typeface="+mj-lt"/>
              </a:rPr>
              <a:t>1</a:t>
            </a:r>
          </a:p>
          <a:p>
            <a:pPr algn="ctr">
              <a:lnSpc>
                <a:spcPct val="92000"/>
              </a:lnSpc>
              <a:spcBef>
                <a:spcPct val="15000"/>
              </a:spcBef>
            </a:pPr>
            <a:r>
              <a:rPr lang="en-US" altLang="en-US" sz="1600" b="1" dirty="0">
                <a:latin typeface="+mj-lt"/>
              </a:rPr>
              <a:t>4</a:t>
            </a:r>
          </a:p>
          <a:p>
            <a:pPr algn="ctr">
              <a:lnSpc>
                <a:spcPct val="92000"/>
              </a:lnSpc>
              <a:spcBef>
                <a:spcPct val="15000"/>
              </a:spcBef>
            </a:pPr>
            <a:r>
              <a:rPr lang="en-US" altLang="en-US" sz="1600" b="1" dirty="0">
                <a:latin typeface="+mj-lt"/>
              </a:rPr>
              <a:t>4</a:t>
            </a:r>
          </a:p>
        </p:txBody>
      </p:sp>
      <p:grpSp>
        <p:nvGrpSpPr>
          <p:cNvPr id="70" name="Group 83">
            <a:extLst>
              <a:ext uri="{FF2B5EF4-FFF2-40B4-BE49-F238E27FC236}">
                <a16:creationId xmlns:a16="http://schemas.microsoft.com/office/drawing/2014/main" id="{951F3293-9B53-907F-1961-3ECC04050DE9}"/>
              </a:ext>
            </a:extLst>
          </p:cNvPr>
          <p:cNvGrpSpPr>
            <a:grpSpLocks/>
          </p:cNvGrpSpPr>
          <p:nvPr/>
        </p:nvGrpSpPr>
        <p:grpSpPr bwMode="auto">
          <a:xfrm>
            <a:off x="7310643" y="1662778"/>
            <a:ext cx="2801937" cy="2192338"/>
            <a:chOff x="3769" y="1354"/>
            <a:chExt cx="1765" cy="1381"/>
          </a:xfrm>
        </p:grpSpPr>
        <p:sp>
          <p:nvSpPr>
            <p:cNvPr id="71" name="Rectangle 70">
              <a:extLst>
                <a:ext uri="{FF2B5EF4-FFF2-40B4-BE49-F238E27FC236}">
                  <a16:creationId xmlns:a16="http://schemas.microsoft.com/office/drawing/2014/main" id="{3F89BC51-84DA-F23E-ABEB-3CF3BBBFD5E0}"/>
                </a:ext>
              </a:extLst>
            </p:cNvPr>
            <p:cNvSpPr>
              <a:spLocks noChangeArrowheads="1"/>
            </p:cNvSpPr>
            <p:nvPr/>
          </p:nvSpPr>
          <p:spPr bwMode="auto">
            <a:xfrm>
              <a:off x="3769" y="1354"/>
              <a:ext cx="1765" cy="82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600" b="1">
                  <a:latin typeface="+mj-lt"/>
                </a:rPr>
                <a:t>Relationship between</a:t>
              </a:r>
            </a:p>
            <a:p>
              <a:pPr algn="ctr"/>
              <a:r>
                <a:rPr lang="en-US" altLang="en-US" sz="1600" b="1">
                  <a:latin typeface="+mj-lt"/>
                </a:rPr>
                <a:t>Customer Requirements and</a:t>
              </a:r>
            </a:p>
            <a:p>
              <a:pPr algn="ctr"/>
              <a:r>
                <a:rPr lang="en-US" altLang="en-US" sz="1600" b="1">
                  <a:latin typeface="+mj-lt"/>
                </a:rPr>
                <a:t>Technical Descriptors</a:t>
              </a:r>
            </a:p>
            <a:p>
              <a:pPr algn="ctr"/>
              <a:r>
                <a:rPr lang="en-US" altLang="en-US" sz="1600" b="1">
                  <a:latin typeface="+mj-lt"/>
                </a:rPr>
                <a:t>WHATs vs. HOWs</a:t>
              </a:r>
            </a:p>
          </p:txBody>
        </p:sp>
        <p:sp>
          <p:nvSpPr>
            <p:cNvPr id="72" name="Rectangle 71">
              <a:extLst>
                <a:ext uri="{FF2B5EF4-FFF2-40B4-BE49-F238E27FC236}">
                  <a16:creationId xmlns:a16="http://schemas.microsoft.com/office/drawing/2014/main" id="{07325728-26B1-3B6F-1E85-9DD9752784F0}"/>
                </a:ext>
              </a:extLst>
            </p:cNvPr>
            <p:cNvSpPr>
              <a:spLocks noChangeArrowheads="1"/>
            </p:cNvSpPr>
            <p:nvPr/>
          </p:nvSpPr>
          <p:spPr bwMode="auto">
            <a:xfrm>
              <a:off x="4587" y="2249"/>
              <a:ext cx="481"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mj-lt"/>
                </a:rPr>
                <a:t>Strong</a:t>
              </a:r>
            </a:p>
          </p:txBody>
        </p:sp>
        <p:sp>
          <p:nvSpPr>
            <p:cNvPr id="73" name="Rectangle 72">
              <a:extLst>
                <a:ext uri="{FF2B5EF4-FFF2-40B4-BE49-F238E27FC236}">
                  <a16:creationId xmlns:a16="http://schemas.microsoft.com/office/drawing/2014/main" id="{43236F9A-D54E-0675-D707-64EFCA98C366}"/>
                </a:ext>
              </a:extLst>
            </p:cNvPr>
            <p:cNvSpPr>
              <a:spLocks noChangeArrowheads="1"/>
            </p:cNvSpPr>
            <p:nvPr/>
          </p:nvSpPr>
          <p:spPr bwMode="auto">
            <a:xfrm>
              <a:off x="4585" y="2392"/>
              <a:ext cx="549"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mj-lt"/>
                </a:rPr>
                <a:t>Medium</a:t>
              </a:r>
            </a:p>
          </p:txBody>
        </p:sp>
        <p:sp>
          <p:nvSpPr>
            <p:cNvPr id="74" name="Rectangle 73">
              <a:extLst>
                <a:ext uri="{FF2B5EF4-FFF2-40B4-BE49-F238E27FC236}">
                  <a16:creationId xmlns:a16="http://schemas.microsoft.com/office/drawing/2014/main" id="{3A9897A0-CAAF-A023-C539-D61F41CFCCFA}"/>
                </a:ext>
              </a:extLst>
            </p:cNvPr>
            <p:cNvSpPr>
              <a:spLocks noChangeArrowheads="1"/>
            </p:cNvSpPr>
            <p:nvPr/>
          </p:nvSpPr>
          <p:spPr bwMode="auto">
            <a:xfrm>
              <a:off x="4585" y="2544"/>
              <a:ext cx="424"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dirty="0">
                  <a:latin typeface="+mj-lt"/>
                </a:rPr>
                <a:t>Weak</a:t>
              </a:r>
            </a:p>
          </p:txBody>
        </p:sp>
        <p:sp>
          <p:nvSpPr>
            <p:cNvPr id="75" name="Oval 74">
              <a:extLst>
                <a:ext uri="{FF2B5EF4-FFF2-40B4-BE49-F238E27FC236}">
                  <a16:creationId xmlns:a16="http://schemas.microsoft.com/office/drawing/2014/main" id="{E76D80FE-B767-0D5F-A2E6-F19266C7D724}"/>
                </a:ext>
              </a:extLst>
            </p:cNvPr>
            <p:cNvSpPr>
              <a:spLocks noChangeArrowheads="1"/>
            </p:cNvSpPr>
            <p:nvPr/>
          </p:nvSpPr>
          <p:spPr bwMode="auto">
            <a:xfrm>
              <a:off x="4509" y="2410"/>
              <a:ext cx="60" cy="63"/>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grpSp>
          <p:nvGrpSpPr>
            <p:cNvPr id="76" name="Group 77">
              <a:extLst>
                <a:ext uri="{FF2B5EF4-FFF2-40B4-BE49-F238E27FC236}">
                  <a16:creationId xmlns:a16="http://schemas.microsoft.com/office/drawing/2014/main" id="{A2B00CEA-397B-2FED-B182-41C43F35D2A9}"/>
                </a:ext>
              </a:extLst>
            </p:cNvPr>
            <p:cNvGrpSpPr>
              <a:grpSpLocks/>
            </p:cNvGrpSpPr>
            <p:nvPr/>
          </p:nvGrpSpPr>
          <p:grpSpPr bwMode="auto">
            <a:xfrm>
              <a:off x="4505" y="2265"/>
              <a:ext cx="60" cy="64"/>
              <a:chOff x="4505" y="2265"/>
              <a:chExt cx="60" cy="64"/>
            </a:xfrm>
          </p:grpSpPr>
          <p:sp>
            <p:nvSpPr>
              <p:cNvPr id="82" name="Oval 75">
                <a:extLst>
                  <a:ext uri="{FF2B5EF4-FFF2-40B4-BE49-F238E27FC236}">
                    <a16:creationId xmlns:a16="http://schemas.microsoft.com/office/drawing/2014/main" id="{80E05370-5E00-9E73-7074-F8F731CABF1B}"/>
                  </a:ext>
                </a:extLst>
              </p:cNvPr>
              <p:cNvSpPr>
                <a:spLocks noChangeArrowheads="1"/>
              </p:cNvSpPr>
              <p:nvPr/>
            </p:nvSpPr>
            <p:spPr bwMode="auto">
              <a:xfrm>
                <a:off x="4505" y="2265"/>
                <a:ext cx="60" cy="64"/>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83" name="Oval 76">
                <a:extLst>
                  <a:ext uri="{FF2B5EF4-FFF2-40B4-BE49-F238E27FC236}">
                    <a16:creationId xmlns:a16="http://schemas.microsoft.com/office/drawing/2014/main" id="{1DE10A2D-3239-A6C1-151C-FD617604A68F}"/>
                  </a:ext>
                </a:extLst>
              </p:cNvPr>
              <p:cNvSpPr>
                <a:spLocks noChangeArrowheads="1"/>
              </p:cNvSpPr>
              <p:nvPr/>
            </p:nvSpPr>
            <p:spPr bwMode="auto">
              <a:xfrm>
                <a:off x="4522" y="2283"/>
                <a:ext cx="26" cy="29"/>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grpSp>
        <p:sp>
          <p:nvSpPr>
            <p:cNvPr id="77" name="Rectangle 78">
              <a:extLst>
                <a:ext uri="{FF2B5EF4-FFF2-40B4-BE49-F238E27FC236}">
                  <a16:creationId xmlns:a16="http://schemas.microsoft.com/office/drawing/2014/main" id="{4EFEBA86-26D9-44B2-2250-A26AFC39D0A5}"/>
                </a:ext>
              </a:extLst>
            </p:cNvPr>
            <p:cNvSpPr>
              <a:spLocks noChangeArrowheads="1"/>
            </p:cNvSpPr>
            <p:nvPr/>
          </p:nvSpPr>
          <p:spPr bwMode="auto">
            <a:xfrm>
              <a:off x="4249" y="2249"/>
              <a:ext cx="245"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mj-lt"/>
                </a:rPr>
                <a:t>+9</a:t>
              </a:r>
            </a:p>
          </p:txBody>
        </p:sp>
        <p:sp>
          <p:nvSpPr>
            <p:cNvPr id="78" name="Rectangle 79">
              <a:extLst>
                <a:ext uri="{FF2B5EF4-FFF2-40B4-BE49-F238E27FC236}">
                  <a16:creationId xmlns:a16="http://schemas.microsoft.com/office/drawing/2014/main" id="{46AB0427-A9EB-D6B1-BF55-D4D566BCD694}"/>
                </a:ext>
              </a:extLst>
            </p:cNvPr>
            <p:cNvSpPr>
              <a:spLocks noChangeArrowheads="1"/>
            </p:cNvSpPr>
            <p:nvPr/>
          </p:nvSpPr>
          <p:spPr bwMode="auto">
            <a:xfrm>
              <a:off x="4249" y="2392"/>
              <a:ext cx="245"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mj-lt"/>
                </a:rPr>
                <a:t>+3</a:t>
              </a:r>
            </a:p>
          </p:txBody>
        </p:sp>
        <p:sp>
          <p:nvSpPr>
            <p:cNvPr id="79" name="Rectangle 80">
              <a:extLst>
                <a:ext uri="{FF2B5EF4-FFF2-40B4-BE49-F238E27FC236}">
                  <a16:creationId xmlns:a16="http://schemas.microsoft.com/office/drawing/2014/main" id="{FA0A244A-65D5-E1D9-CA95-35B7318DAACD}"/>
                </a:ext>
              </a:extLst>
            </p:cNvPr>
            <p:cNvSpPr>
              <a:spLocks noChangeArrowheads="1"/>
            </p:cNvSpPr>
            <p:nvPr/>
          </p:nvSpPr>
          <p:spPr bwMode="auto">
            <a:xfrm>
              <a:off x="4243" y="2214"/>
              <a:ext cx="803" cy="521"/>
            </a:xfrm>
            <a:prstGeom prst="rect">
              <a:avLst/>
            </a:prstGeom>
            <a:noFill/>
            <a:ln w="127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80" name="Rectangle 81">
              <a:extLst>
                <a:ext uri="{FF2B5EF4-FFF2-40B4-BE49-F238E27FC236}">
                  <a16:creationId xmlns:a16="http://schemas.microsoft.com/office/drawing/2014/main" id="{C22DD557-9E71-219C-6704-22BC90BEA734}"/>
                </a:ext>
              </a:extLst>
            </p:cNvPr>
            <p:cNvSpPr>
              <a:spLocks noChangeArrowheads="1"/>
            </p:cNvSpPr>
            <p:nvPr/>
          </p:nvSpPr>
          <p:spPr bwMode="auto">
            <a:xfrm>
              <a:off x="4249" y="2544"/>
              <a:ext cx="245"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mj-lt"/>
                </a:rPr>
                <a:t>+1</a:t>
              </a:r>
            </a:p>
          </p:txBody>
        </p:sp>
        <p:sp>
          <p:nvSpPr>
            <p:cNvPr id="81" name="AutoShape 82">
              <a:extLst>
                <a:ext uri="{FF2B5EF4-FFF2-40B4-BE49-F238E27FC236}">
                  <a16:creationId xmlns:a16="http://schemas.microsoft.com/office/drawing/2014/main" id="{E43F9A61-BA88-FB3E-C144-81F62FCDFC66}"/>
                </a:ext>
              </a:extLst>
            </p:cNvPr>
            <p:cNvSpPr>
              <a:spLocks noChangeArrowheads="1"/>
            </p:cNvSpPr>
            <p:nvPr/>
          </p:nvSpPr>
          <p:spPr bwMode="auto">
            <a:xfrm>
              <a:off x="4512" y="2560"/>
              <a:ext cx="60" cy="64"/>
            </a:xfrm>
            <a:prstGeom prst="triangle">
              <a:avLst>
                <a:gd name="adj" fmla="val 49995"/>
              </a:avLst>
            </a:prstGeom>
            <a:noFill/>
            <a:ln w="127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grpSp>
      <p:sp>
        <p:nvSpPr>
          <p:cNvPr id="84" name="Line 84">
            <a:extLst>
              <a:ext uri="{FF2B5EF4-FFF2-40B4-BE49-F238E27FC236}">
                <a16:creationId xmlns:a16="http://schemas.microsoft.com/office/drawing/2014/main" id="{4DB638FF-56A8-17F1-1004-CFA762A122A2}"/>
              </a:ext>
            </a:extLst>
          </p:cNvPr>
          <p:cNvSpPr>
            <a:spLocks noChangeShapeType="1"/>
          </p:cNvSpPr>
          <p:nvPr/>
        </p:nvSpPr>
        <p:spPr bwMode="auto">
          <a:xfrm flipH="1">
            <a:off x="4832555" y="3628103"/>
            <a:ext cx="1752600"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85" name="Rectangle 85">
            <a:extLst>
              <a:ext uri="{FF2B5EF4-FFF2-40B4-BE49-F238E27FC236}">
                <a16:creationId xmlns:a16="http://schemas.microsoft.com/office/drawing/2014/main" id="{EC068B9F-B99B-1471-97E9-4B5489A56B2E}"/>
              </a:ext>
            </a:extLst>
          </p:cNvPr>
          <p:cNvSpPr>
            <a:spLocks noChangeArrowheads="1"/>
          </p:cNvSpPr>
          <p:nvPr/>
        </p:nvSpPr>
        <p:spPr bwMode="auto">
          <a:xfrm>
            <a:off x="2576718" y="3459828"/>
            <a:ext cx="1381125" cy="64452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75000"/>
              </a:lnSpc>
            </a:pPr>
            <a:r>
              <a:rPr lang="en-US" altLang="en-US" sz="1600" b="1" dirty="0">
                <a:latin typeface="+mj-lt"/>
              </a:rPr>
              <a:t>Technical</a:t>
            </a:r>
          </a:p>
          <a:p>
            <a:pPr algn="ctr">
              <a:lnSpc>
                <a:spcPct val="75000"/>
              </a:lnSpc>
            </a:pPr>
            <a:r>
              <a:rPr lang="en-US" altLang="en-US" sz="1600" b="1" dirty="0">
                <a:latin typeface="+mj-lt"/>
              </a:rPr>
              <a:t>Competitive</a:t>
            </a:r>
          </a:p>
          <a:p>
            <a:pPr algn="ctr">
              <a:lnSpc>
                <a:spcPct val="75000"/>
              </a:lnSpc>
            </a:pPr>
            <a:r>
              <a:rPr lang="en-US" altLang="en-US" sz="1600" b="1" dirty="0">
                <a:latin typeface="+mj-lt"/>
              </a:rPr>
              <a:t>Assessment</a:t>
            </a:r>
          </a:p>
        </p:txBody>
      </p:sp>
      <p:sp>
        <p:nvSpPr>
          <p:cNvPr id="86" name="Rectangle 86">
            <a:extLst>
              <a:ext uri="{FF2B5EF4-FFF2-40B4-BE49-F238E27FC236}">
                <a16:creationId xmlns:a16="http://schemas.microsoft.com/office/drawing/2014/main" id="{AF69D711-3E85-8B81-063F-A59BC46EAA18}"/>
              </a:ext>
            </a:extLst>
          </p:cNvPr>
          <p:cNvSpPr>
            <a:spLocks noChangeArrowheads="1"/>
          </p:cNvSpPr>
          <p:nvPr/>
        </p:nvSpPr>
        <p:spPr bwMode="auto">
          <a:xfrm>
            <a:off x="3943555" y="3383628"/>
            <a:ext cx="527388" cy="75783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105000"/>
              </a:lnSpc>
            </a:pPr>
            <a:r>
              <a:rPr lang="en-US" altLang="en-US" sz="1400" b="1">
                <a:latin typeface="+mj-lt"/>
              </a:rPr>
              <a:t>Our</a:t>
            </a:r>
          </a:p>
          <a:p>
            <a:pPr>
              <a:lnSpc>
                <a:spcPct val="105000"/>
              </a:lnSpc>
            </a:pPr>
            <a:r>
              <a:rPr lang="en-US" altLang="en-US" sz="1400" b="1">
                <a:latin typeface="+mj-lt"/>
              </a:rPr>
              <a:t>A’s</a:t>
            </a:r>
          </a:p>
          <a:p>
            <a:pPr>
              <a:lnSpc>
                <a:spcPct val="105000"/>
              </a:lnSpc>
            </a:pPr>
            <a:r>
              <a:rPr lang="en-US" altLang="en-US" sz="1400" b="1">
                <a:latin typeface="+mj-lt"/>
              </a:rPr>
              <a:t>B’s</a:t>
            </a:r>
          </a:p>
        </p:txBody>
      </p:sp>
      <p:sp>
        <p:nvSpPr>
          <p:cNvPr id="87" name="Line 87">
            <a:extLst>
              <a:ext uri="{FF2B5EF4-FFF2-40B4-BE49-F238E27FC236}">
                <a16:creationId xmlns:a16="http://schemas.microsoft.com/office/drawing/2014/main" id="{15FE3EFE-CC5E-9C5E-4411-E656EE93A202}"/>
              </a:ext>
            </a:extLst>
          </p:cNvPr>
          <p:cNvSpPr>
            <a:spLocks noChangeShapeType="1"/>
          </p:cNvSpPr>
          <p:nvPr/>
        </p:nvSpPr>
        <p:spPr bwMode="auto">
          <a:xfrm flipH="1">
            <a:off x="4832555" y="3856703"/>
            <a:ext cx="1752600"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88" name="Line 88">
            <a:extLst>
              <a:ext uri="{FF2B5EF4-FFF2-40B4-BE49-F238E27FC236}">
                <a16:creationId xmlns:a16="http://schemas.microsoft.com/office/drawing/2014/main" id="{E2F2DDB4-7C0D-CF6B-74F4-2DA6B18181B8}"/>
              </a:ext>
            </a:extLst>
          </p:cNvPr>
          <p:cNvSpPr>
            <a:spLocks noChangeShapeType="1"/>
          </p:cNvSpPr>
          <p:nvPr/>
        </p:nvSpPr>
        <p:spPr bwMode="auto">
          <a:xfrm flipH="1">
            <a:off x="4832555" y="4085303"/>
            <a:ext cx="1752600"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89" name="Line 89">
            <a:extLst>
              <a:ext uri="{FF2B5EF4-FFF2-40B4-BE49-F238E27FC236}">
                <a16:creationId xmlns:a16="http://schemas.microsoft.com/office/drawing/2014/main" id="{48EB0BFB-32F8-F93A-AEBC-343985591408}"/>
              </a:ext>
            </a:extLst>
          </p:cNvPr>
          <p:cNvSpPr>
            <a:spLocks noChangeShapeType="1"/>
          </p:cNvSpPr>
          <p:nvPr/>
        </p:nvSpPr>
        <p:spPr bwMode="auto">
          <a:xfrm flipH="1">
            <a:off x="3918155" y="3628103"/>
            <a:ext cx="914400"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90" name="Line 90">
            <a:extLst>
              <a:ext uri="{FF2B5EF4-FFF2-40B4-BE49-F238E27FC236}">
                <a16:creationId xmlns:a16="http://schemas.microsoft.com/office/drawing/2014/main" id="{DFD24A2D-73B9-112E-BB85-AC8C82B4AD72}"/>
              </a:ext>
            </a:extLst>
          </p:cNvPr>
          <p:cNvSpPr>
            <a:spLocks noChangeShapeType="1"/>
          </p:cNvSpPr>
          <p:nvPr/>
        </p:nvSpPr>
        <p:spPr bwMode="auto">
          <a:xfrm flipH="1">
            <a:off x="4832555" y="3432841"/>
            <a:ext cx="1588" cy="652462"/>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91" name="Line 91">
            <a:extLst>
              <a:ext uri="{FF2B5EF4-FFF2-40B4-BE49-F238E27FC236}">
                <a16:creationId xmlns:a16="http://schemas.microsoft.com/office/drawing/2014/main" id="{0B20DF5B-86F6-ECEB-26F4-E04013372750}"/>
              </a:ext>
            </a:extLst>
          </p:cNvPr>
          <p:cNvSpPr>
            <a:spLocks noChangeShapeType="1"/>
          </p:cNvSpPr>
          <p:nvPr/>
        </p:nvSpPr>
        <p:spPr bwMode="auto">
          <a:xfrm flipH="1">
            <a:off x="3918155" y="3432841"/>
            <a:ext cx="1588" cy="652462"/>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92" name="Line 92">
            <a:extLst>
              <a:ext uri="{FF2B5EF4-FFF2-40B4-BE49-F238E27FC236}">
                <a16:creationId xmlns:a16="http://schemas.microsoft.com/office/drawing/2014/main" id="{4A067A9D-6A1C-521D-7082-AAEEF47D78E0}"/>
              </a:ext>
            </a:extLst>
          </p:cNvPr>
          <p:cNvSpPr>
            <a:spLocks noChangeShapeType="1"/>
          </p:cNvSpPr>
          <p:nvPr/>
        </p:nvSpPr>
        <p:spPr bwMode="auto">
          <a:xfrm flipH="1">
            <a:off x="2622755" y="3432841"/>
            <a:ext cx="1588" cy="652462"/>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93" name="Line 93">
            <a:extLst>
              <a:ext uri="{FF2B5EF4-FFF2-40B4-BE49-F238E27FC236}">
                <a16:creationId xmlns:a16="http://schemas.microsoft.com/office/drawing/2014/main" id="{06C087DB-1102-2952-4020-3F8F9BCDE922}"/>
              </a:ext>
            </a:extLst>
          </p:cNvPr>
          <p:cNvSpPr>
            <a:spLocks noChangeShapeType="1"/>
          </p:cNvSpPr>
          <p:nvPr/>
        </p:nvSpPr>
        <p:spPr bwMode="auto">
          <a:xfrm flipH="1">
            <a:off x="3918155" y="3856703"/>
            <a:ext cx="914400"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94" name="Line 94">
            <a:extLst>
              <a:ext uri="{FF2B5EF4-FFF2-40B4-BE49-F238E27FC236}">
                <a16:creationId xmlns:a16="http://schemas.microsoft.com/office/drawing/2014/main" id="{3DBA11F1-EF38-26F0-F223-005943E7C677}"/>
              </a:ext>
            </a:extLst>
          </p:cNvPr>
          <p:cNvSpPr>
            <a:spLocks noChangeShapeType="1"/>
          </p:cNvSpPr>
          <p:nvPr/>
        </p:nvSpPr>
        <p:spPr bwMode="auto">
          <a:xfrm flipH="1">
            <a:off x="3918155" y="4085303"/>
            <a:ext cx="914400"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95" name="Line 95">
            <a:extLst>
              <a:ext uri="{FF2B5EF4-FFF2-40B4-BE49-F238E27FC236}">
                <a16:creationId xmlns:a16="http://schemas.microsoft.com/office/drawing/2014/main" id="{34DE0ED9-BD1B-C765-BE68-F95858A1FE0A}"/>
              </a:ext>
            </a:extLst>
          </p:cNvPr>
          <p:cNvSpPr>
            <a:spLocks noChangeShapeType="1"/>
          </p:cNvSpPr>
          <p:nvPr/>
        </p:nvSpPr>
        <p:spPr bwMode="auto">
          <a:xfrm flipH="1">
            <a:off x="2622755" y="4085303"/>
            <a:ext cx="1295400"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Tree>
    <p:extLst>
      <p:ext uri="{BB962C8B-B14F-4D97-AF65-F5344CB8AC3E}">
        <p14:creationId xmlns:p14="http://schemas.microsoft.com/office/powerpoint/2010/main" val="22871680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2" y="196170"/>
            <a:ext cx="8943392"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IN" dirty="0">
                <a:latin typeface="+mj-lt"/>
              </a:rPr>
              <a:t>Prioritized Customer Requirements</a:t>
            </a:r>
          </a:p>
        </p:txBody>
      </p:sp>
      <p:sp>
        <p:nvSpPr>
          <p:cNvPr id="3" name="Rectangle 3">
            <a:extLst>
              <a:ext uri="{FF2B5EF4-FFF2-40B4-BE49-F238E27FC236}">
                <a16:creationId xmlns:a16="http://schemas.microsoft.com/office/drawing/2014/main" id="{754A3925-E096-3DAF-8BFC-C4F399D21CB2}"/>
              </a:ext>
            </a:extLst>
          </p:cNvPr>
          <p:cNvSpPr txBox="1">
            <a:spLocks noChangeArrowheads="1"/>
          </p:cNvSpPr>
          <p:nvPr/>
        </p:nvSpPr>
        <p:spPr>
          <a:xfrm>
            <a:off x="2127557" y="1182943"/>
            <a:ext cx="6950075" cy="4114800"/>
          </a:xfrm>
          <a:prstGeom prst="rect">
            <a:avLst/>
          </a:prstGeom>
          <a:no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800">
                <a:latin typeface="+mj-lt"/>
              </a:rPr>
              <a:t>Importance Rating</a:t>
            </a:r>
          </a:p>
          <a:p>
            <a:r>
              <a:rPr lang="en-US" altLang="en-US" sz="2800">
                <a:latin typeface="+mj-lt"/>
              </a:rPr>
              <a:t>Target Value</a:t>
            </a:r>
          </a:p>
          <a:p>
            <a:r>
              <a:rPr lang="en-US" altLang="en-US" sz="2800">
                <a:latin typeface="+mj-lt"/>
              </a:rPr>
              <a:t>Scale-Up Factor</a:t>
            </a:r>
          </a:p>
          <a:p>
            <a:r>
              <a:rPr lang="en-US" altLang="en-US" sz="2800">
                <a:latin typeface="+mj-lt"/>
              </a:rPr>
              <a:t>Sales Point</a:t>
            </a:r>
          </a:p>
          <a:p>
            <a:r>
              <a:rPr lang="en-US" altLang="en-US" sz="2800">
                <a:latin typeface="+mj-lt"/>
              </a:rPr>
              <a:t>Absolute Weight &amp; Percent</a:t>
            </a:r>
          </a:p>
          <a:p>
            <a:pPr lvl="1"/>
            <a:r>
              <a:rPr lang="en-US" altLang="en-US" sz="2800">
                <a:latin typeface="+mj-lt"/>
              </a:rPr>
              <a:t>(Importance Rating)</a:t>
            </a:r>
          </a:p>
          <a:p>
            <a:pPr lvl="1"/>
            <a:r>
              <a:rPr lang="en-US" altLang="en-US" sz="2800">
                <a:latin typeface="+mj-lt"/>
              </a:rPr>
              <a:t>(Scale-Up Factor)</a:t>
            </a:r>
          </a:p>
          <a:p>
            <a:pPr lvl="1"/>
            <a:r>
              <a:rPr lang="en-US" altLang="en-US" sz="2800">
                <a:latin typeface="+mj-lt"/>
              </a:rPr>
              <a:t>(Sales Point)</a:t>
            </a:r>
            <a:endParaRPr lang="en-US" altLang="en-US" sz="2800" dirty="0">
              <a:latin typeface="+mj-lt"/>
            </a:endParaRPr>
          </a:p>
        </p:txBody>
      </p:sp>
    </p:spTree>
    <p:extLst>
      <p:ext uri="{BB962C8B-B14F-4D97-AF65-F5344CB8AC3E}">
        <p14:creationId xmlns:p14="http://schemas.microsoft.com/office/powerpoint/2010/main" val="3859387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666B36A-6151-76B3-1E5D-2A71530BD56D}"/>
              </a:ext>
            </a:extLst>
          </p:cNvPr>
          <p:cNvSpPr>
            <a:spLocks noChangeArrowheads="1"/>
          </p:cNvSpPr>
          <p:nvPr/>
        </p:nvSpPr>
        <p:spPr bwMode="auto">
          <a:xfrm>
            <a:off x="6443561" y="3006725"/>
            <a:ext cx="354012" cy="170497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110000"/>
              </a:lnSpc>
            </a:pPr>
            <a:r>
              <a:rPr lang="en-US" altLang="en-US" sz="1200" b="1">
                <a:latin typeface="+mj-lt"/>
              </a:rPr>
              <a:t>7</a:t>
            </a:r>
          </a:p>
          <a:p>
            <a:pPr algn="ctr">
              <a:lnSpc>
                <a:spcPct val="110000"/>
              </a:lnSpc>
            </a:pPr>
            <a:r>
              <a:rPr lang="en-US" altLang="en-US" sz="1200" b="1">
                <a:latin typeface="+mj-lt"/>
              </a:rPr>
              <a:t>3</a:t>
            </a:r>
          </a:p>
          <a:p>
            <a:pPr algn="ctr">
              <a:lnSpc>
                <a:spcPct val="110000"/>
              </a:lnSpc>
            </a:pPr>
            <a:r>
              <a:rPr lang="en-US" altLang="en-US" sz="1200" b="1">
                <a:latin typeface="+mj-lt"/>
              </a:rPr>
              <a:t>9</a:t>
            </a:r>
          </a:p>
          <a:p>
            <a:pPr algn="ctr">
              <a:lnSpc>
                <a:spcPct val="110000"/>
              </a:lnSpc>
            </a:pPr>
            <a:r>
              <a:rPr lang="en-US" altLang="en-US" sz="1200" b="1">
                <a:latin typeface="+mj-lt"/>
              </a:rPr>
              <a:t>10</a:t>
            </a:r>
          </a:p>
          <a:p>
            <a:pPr algn="ctr">
              <a:lnSpc>
                <a:spcPct val="110000"/>
              </a:lnSpc>
            </a:pPr>
            <a:r>
              <a:rPr lang="en-US" altLang="en-US" sz="1200" b="1">
                <a:latin typeface="+mj-lt"/>
              </a:rPr>
              <a:t>2</a:t>
            </a:r>
          </a:p>
          <a:p>
            <a:pPr algn="ctr">
              <a:lnSpc>
                <a:spcPct val="110000"/>
              </a:lnSpc>
            </a:pPr>
            <a:r>
              <a:rPr lang="en-US" altLang="en-US" sz="1200" b="1">
                <a:latin typeface="+mj-lt"/>
              </a:rPr>
              <a:t>4</a:t>
            </a:r>
          </a:p>
          <a:p>
            <a:pPr algn="ctr">
              <a:lnSpc>
                <a:spcPct val="110000"/>
              </a:lnSpc>
            </a:pPr>
            <a:r>
              <a:rPr lang="en-US" altLang="en-US" sz="1200" b="1">
                <a:latin typeface="+mj-lt"/>
              </a:rPr>
              <a:t>8</a:t>
            </a:r>
          </a:p>
          <a:p>
            <a:pPr algn="ctr">
              <a:lnSpc>
                <a:spcPct val="110000"/>
              </a:lnSpc>
            </a:pPr>
            <a:r>
              <a:rPr lang="en-US" altLang="en-US" sz="1200" b="1">
                <a:latin typeface="+mj-lt"/>
              </a:rPr>
              <a:t>1</a:t>
            </a:r>
          </a:p>
        </p:txBody>
      </p:sp>
      <p:sp>
        <p:nvSpPr>
          <p:cNvPr id="4" name="Line 3">
            <a:extLst>
              <a:ext uri="{FF2B5EF4-FFF2-40B4-BE49-F238E27FC236}">
                <a16:creationId xmlns:a16="http://schemas.microsoft.com/office/drawing/2014/main" id="{0E996308-EF5F-A344-C49D-84A0273954C8}"/>
              </a:ext>
            </a:extLst>
          </p:cNvPr>
          <p:cNvSpPr>
            <a:spLocks noChangeShapeType="1"/>
          </p:cNvSpPr>
          <p:nvPr/>
        </p:nvSpPr>
        <p:spPr bwMode="auto">
          <a:xfrm>
            <a:off x="4548086" y="3065462"/>
            <a:ext cx="0" cy="1589088"/>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 name="Line 4">
            <a:extLst>
              <a:ext uri="{FF2B5EF4-FFF2-40B4-BE49-F238E27FC236}">
                <a16:creationId xmlns:a16="http://schemas.microsoft.com/office/drawing/2014/main" id="{6A969033-9617-B681-7B63-3FBA5574C1A6}"/>
              </a:ext>
            </a:extLst>
          </p:cNvPr>
          <p:cNvSpPr>
            <a:spLocks noChangeShapeType="1"/>
          </p:cNvSpPr>
          <p:nvPr/>
        </p:nvSpPr>
        <p:spPr bwMode="auto">
          <a:xfrm>
            <a:off x="4352823" y="3263900"/>
            <a:ext cx="2168525"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6" name="Line 5">
            <a:extLst>
              <a:ext uri="{FF2B5EF4-FFF2-40B4-BE49-F238E27FC236}">
                <a16:creationId xmlns:a16="http://schemas.microsoft.com/office/drawing/2014/main" id="{622FE9C5-7404-3358-8484-07DB4C70BA04}"/>
              </a:ext>
            </a:extLst>
          </p:cNvPr>
          <p:cNvSpPr>
            <a:spLocks noChangeShapeType="1"/>
          </p:cNvSpPr>
          <p:nvPr/>
        </p:nvSpPr>
        <p:spPr bwMode="auto">
          <a:xfrm>
            <a:off x="4352823" y="3462337"/>
            <a:ext cx="2168525"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7" name="Line 6">
            <a:extLst>
              <a:ext uri="{FF2B5EF4-FFF2-40B4-BE49-F238E27FC236}">
                <a16:creationId xmlns:a16="http://schemas.microsoft.com/office/drawing/2014/main" id="{8448E06F-593D-D1EB-1DFB-26C55D05E524}"/>
              </a:ext>
            </a:extLst>
          </p:cNvPr>
          <p:cNvSpPr>
            <a:spLocks noChangeShapeType="1"/>
          </p:cNvSpPr>
          <p:nvPr/>
        </p:nvSpPr>
        <p:spPr bwMode="auto">
          <a:xfrm>
            <a:off x="4352823" y="3662362"/>
            <a:ext cx="2168525"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8" name="Line 7">
            <a:extLst>
              <a:ext uri="{FF2B5EF4-FFF2-40B4-BE49-F238E27FC236}">
                <a16:creationId xmlns:a16="http://schemas.microsoft.com/office/drawing/2014/main" id="{DD88CD19-B8EC-41BA-E17C-7D57C051D214}"/>
              </a:ext>
            </a:extLst>
          </p:cNvPr>
          <p:cNvSpPr>
            <a:spLocks noChangeShapeType="1"/>
          </p:cNvSpPr>
          <p:nvPr/>
        </p:nvSpPr>
        <p:spPr bwMode="auto">
          <a:xfrm>
            <a:off x="4352823" y="3859212"/>
            <a:ext cx="2168525"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9" name="Line 8">
            <a:extLst>
              <a:ext uri="{FF2B5EF4-FFF2-40B4-BE49-F238E27FC236}">
                <a16:creationId xmlns:a16="http://schemas.microsoft.com/office/drawing/2014/main" id="{9BE1736C-DF3F-E6F7-FDA6-5998ACC89507}"/>
              </a:ext>
            </a:extLst>
          </p:cNvPr>
          <p:cNvSpPr>
            <a:spLocks noChangeShapeType="1"/>
          </p:cNvSpPr>
          <p:nvPr/>
        </p:nvSpPr>
        <p:spPr bwMode="auto">
          <a:xfrm>
            <a:off x="4352823" y="4059237"/>
            <a:ext cx="2168525"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0" name="Line 9">
            <a:extLst>
              <a:ext uri="{FF2B5EF4-FFF2-40B4-BE49-F238E27FC236}">
                <a16:creationId xmlns:a16="http://schemas.microsoft.com/office/drawing/2014/main" id="{5DB1174E-EC16-4918-FB7C-FD2101CC072C}"/>
              </a:ext>
            </a:extLst>
          </p:cNvPr>
          <p:cNvSpPr>
            <a:spLocks noChangeShapeType="1"/>
          </p:cNvSpPr>
          <p:nvPr/>
        </p:nvSpPr>
        <p:spPr bwMode="auto">
          <a:xfrm>
            <a:off x="4352823" y="4256087"/>
            <a:ext cx="2168525"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1" name="Line 10">
            <a:extLst>
              <a:ext uri="{FF2B5EF4-FFF2-40B4-BE49-F238E27FC236}">
                <a16:creationId xmlns:a16="http://schemas.microsoft.com/office/drawing/2014/main" id="{B3B13EE3-2F2F-56E6-1EC8-6DF804A41447}"/>
              </a:ext>
            </a:extLst>
          </p:cNvPr>
          <p:cNvSpPr>
            <a:spLocks noChangeShapeType="1"/>
          </p:cNvSpPr>
          <p:nvPr/>
        </p:nvSpPr>
        <p:spPr bwMode="auto">
          <a:xfrm>
            <a:off x="4352823" y="4456112"/>
            <a:ext cx="2168525"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2" name="Line 11">
            <a:extLst>
              <a:ext uri="{FF2B5EF4-FFF2-40B4-BE49-F238E27FC236}">
                <a16:creationId xmlns:a16="http://schemas.microsoft.com/office/drawing/2014/main" id="{ACBE01BA-3531-DC54-BD8B-6B960C41079A}"/>
              </a:ext>
            </a:extLst>
          </p:cNvPr>
          <p:cNvSpPr>
            <a:spLocks noChangeShapeType="1"/>
          </p:cNvSpPr>
          <p:nvPr/>
        </p:nvSpPr>
        <p:spPr bwMode="auto">
          <a:xfrm>
            <a:off x="4944961" y="3065462"/>
            <a:ext cx="0" cy="1589088"/>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3" name="Line 12">
            <a:extLst>
              <a:ext uri="{FF2B5EF4-FFF2-40B4-BE49-F238E27FC236}">
                <a16:creationId xmlns:a16="http://schemas.microsoft.com/office/drawing/2014/main" id="{5A85E4F4-B8CD-11E1-E668-108713277E81}"/>
              </a:ext>
            </a:extLst>
          </p:cNvPr>
          <p:cNvSpPr>
            <a:spLocks noChangeShapeType="1"/>
          </p:cNvSpPr>
          <p:nvPr/>
        </p:nvSpPr>
        <p:spPr bwMode="auto">
          <a:xfrm>
            <a:off x="5140223" y="3065462"/>
            <a:ext cx="0" cy="1589088"/>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4" name="Line 13">
            <a:extLst>
              <a:ext uri="{FF2B5EF4-FFF2-40B4-BE49-F238E27FC236}">
                <a16:creationId xmlns:a16="http://schemas.microsoft.com/office/drawing/2014/main" id="{8D0E839D-2362-ED66-AAF0-800FCDDE2905}"/>
              </a:ext>
            </a:extLst>
          </p:cNvPr>
          <p:cNvSpPr>
            <a:spLocks noChangeShapeType="1"/>
          </p:cNvSpPr>
          <p:nvPr/>
        </p:nvSpPr>
        <p:spPr bwMode="auto">
          <a:xfrm>
            <a:off x="5338661" y="3065462"/>
            <a:ext cx="0" cy="1589088"/>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5" name="Line 14">
            <a:extLst>
              <a:ext uri="{FF2B5EF4-FFF2-40B4-BE49-F238E27FC236}">
                <a16:creationId xmlns:a16="http://schemas.microsoft.com/office/drawing/2014/main" id="{3E9B708A-8FB2-D0BF-A0E3-9E0808290529}"/>
              </a:ext>
            </a:extLst>
          </p:cNvPr>
          <p:cNvSpPr>
            <a:spLocks noChangeShapeType="1"/>
          </p:cNvSpPr>
          <p:nvPr/>
        </p:nvSpPr>
        <p:spPr bwMode="auto">
          <a:xfrm>
            <a:off x="5533923" y="3065462"/>
            <a:ext cx="0" cy="1589088"/>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6" name="Line 15">
            <a:extLst>
              <a:ext uri="{FF2B5EF4-FFF2-40B4-BE49-F238E27FC236}">
                <a16:creationId xmlns:a16="http://schemas.microsoft.com/office/drawing/2014/main" id="{72B91A61-3AB1-4E72-4A7D-AB1DB3755BBB}"/>
              </a:ext>
            </a:extLst>
          </p:cNvPr>
          <p:cNvSpPr>
            <a:spLocks noChangeShapeType="1"/>
          </p:cNvSpPr>
          <p:nvPr/>
        </p:nvSpPr>
        <p:spPr bwMode="auto">
          <a:xfrm>
            <a:off x="5733948" y="3065462"/>
            <a:ext cx="0" cy="1589088"/>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7" name="Line 16">
            <a:extLst>
              <a:ext uri="{FF2B5EF4-FFF2-40B4-BE49-F238E27FC236}">
                <a16:creationId xmlns:a16="http://schemas.microsoft.com/office/drawing/2014/main" id="{D6648737-B2DD-595B-E350-ABEB7123CA57}"/>
              </a:ext>
            </a:extLst>
          </p:cNvPr>
          <p:cNvSpPr>
            <a:spLocks noChangeShapeType="1"/>
          </p:cNvSpPr>
          <p:nvPr/>
        </p:nvSpPr>
        <p:spPr bwMode="auto">
          <a:xfrm>
            <a:off x="6127648" y="3065462"/>
            <a:ext cx="0" cy="1589088"/>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8" name="Line 17">
            <a:extLst>
              <a:ext uri="{FF2B5EF4-FFF2-40B4-BE49-F238E27FC236}">
                <a16:creationId xmlns:a16="http://schemas.microsoft.com/office/drawing/2014/main" id="{B2E9D7C8-35B4-522D-A760-A0EC501AA14A}"/>
              </a:ext>
            </a:extLst>
          </p:cNvPr>
          <p:cNvSpPr>
            <a:spLocks noChangeShapeType="1"/>
          </p:cNvSpPr>
          <p:nvPr/>
        </p:nvSpPr>
        <p:spPr bwMode="auto">
          <a:xfrm>
            <a:off x="6326086" y="3065462"/>
            <a:ext cx="0" cy="1589088"/>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9" name="Line 18">
            <a:extLst>
              <a:ext uri="{FF2B5EF4-FFF2-40B4-BE49-F238E27FC236}">
                <a16:creationId xmlns:a16="http://schemas.microsoft.com/office/drawing/2014/main" id="{F38857F5-282E-253D-586E-1F6F9F31B1D4}"/>
              </a:ext>
            </a:extLst>
          </p:cNvPr>
          <p:cNvSpPr>
            <a:spLocks noChangeShapeType="1"/>
          </p:cNvSpPr>
          <p:nvPr/>
        </p:nvSpPr>
        <p:spPr bwMode="auto">
          <a:xfrm flipH="1">
            <a:off x="2577998" y="4059237"/>
            <a:ext cx="393700"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0" name="Line 19">
            <a:extLst>
              <a:ext uri="{FF2B5EF4-FFF2-40B4-BE49-F238E27FC236}">
                <a16:creationId xmlns:a16="http://schemas.microsoft.com/office/drawing/2014/main" id="{32E36B5F-655D-CFFA-61CE-C222A69FEA8C}"/>
              </a:ext>
            </a:extLst>
          </p:cNvPr>
          <p:cNvSpPr>
            <a:spLocks noChangeShapeType="1"/>
          </p:cNvSpPr>
          <p:nvPr/>
        </p:nvSpPr>
        <p:spPr bwMode="auto">
          <a:xfrm>
            <a:off x="3168548" y="4852987"/>
            <a:ext cx="1182688"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1" name="Line 20">
            <a:extLst>
              <a:ext uri="{FF2B5EF4-FFF2-40B4-BE49-F238E27FC236}">
                <a16:creationId xmlns:a16="http://schemas.microsoft.com/office/drawing/2014/main" id="{FB63465B-3811-7C93-6E5A-0E129AB6C508}"/>
              </a:ext>
            </a:extLst>
          </p:cNvPr>
          <p:cNvSpPr>
            <a:spLocks noChangeShapeType="1"/>
          </p:cNvSpPr>
          <p:nvPr/>
        </p:nvSpPr>
        <p:spPr bwMode="auto">
          <a:xfrm>
            <a:off x="3166961" y="5051425"/>
            <a:ext cx="1184275"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2" name="Line 21">
            <a:extLst>
              <a:ext uri="{FF2B5EF4-FFF2-40B4-BE49-F238E27FC236}">
                <a16:creationId xmlns:a16="http://schemas.microsoft.com/office/drawing/2014/main" id="{D9EE4435-25BA-501E-5408-ECAD2A558CE6}"/>
              </a:ext>
            </a:extLst>
          </p:cNvPr>
          <p:cNvSpPr>
            <a:spLocks noChangeShapeType="1"/>
          </p:cNvSpPr>
          <p:nvPr/>
        </p:nvSpPr>
        <p:spPr bwMode="auto">
          <a:xfrm>
            <a:off x="4548086" y="4654550"/>
            <a:ext cx="0" cy="595312"/>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3" name="Line 22">
            <a:extLst>
              <a:ext uri="{FF2B5EF4-FFF2-40B4-BE49-F238E27FC236}">
                <a16:creationId xmlns:a16="http://schemas.microsoft.com/office/drawing/2014/main" id="{9308D666-E261-87B3-412D-836AAFEDED1F}"/>
              </a:ext>
            </a:extLst>
          </p:cNvPr>
          <p:cNvSpPr>
            <a:spLocks noChangeShapeType="1"/>
          </p:cNvSpPr>
          <p:nvPr/>
        </p:nvSpPr>
        <p:spPr bwMode="auto">
          <a:xfrm>
            <a:off x="3168548" y="4654550"/>
            <a:ext cx="0" cy="598487"/>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4" name="Line 23">
            <a:extLst>
              <a:ext uri="{FF2B5EF4-FFF2-40B4-BE49-F238E27FC236}">
                <a16:creationId xmlns:a16="http://schemas.microsoft.com/office/drawing/2014/main" id="{497CD02B-535D-E36E-DBE7-05BFA58FE0AA}"/>
              </a:ext>
            </a:extLst>
          </p:cNvPr>
          <p:cNvSpPr>
            <a:spLocks noChangeShapeType="1"/>
          </p:cNvSpPr>
          <p:nvPr/>
        </p:nvSpPr>
        <p:spPr bwMode="auto">
          <a:xfrm flipH="1">
            <a:off x="4746523" y="4654550"/>
            <a:ext cx="1588" cy="595312"/>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5" name="Line 24">
            <a:extLst>
              <a:ext uri="{FF2B5EF4-FFF2-40B4-BE49-F238E27FC236}">
                <a16:creationId xmlns:a16="http://schemas.microsoft.com/office/drawing/2014/main" id="{3FA67794-377A-D5C7-F5E0-6B90B3A5C023}"/>
              </a:ext>
            </a:extLst>
          </p:cNvPr>
          <p:cNvSpPr>
            <a:spLocks noChangeShapeType="1"/>
          </p:cNvSpPr>
          <p:nvPr/>
        </p:nvSpPr>
        <p:spPr bwMode="auto">
          <a:xfrm flipH="1">
            <a:off x="4943373" y="4654550"/>
            <a:ext cx="1588" cy="595312"/>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6" name="Line 25">
            <a:extLst>
              <a:ext uri="{FF2B5EF4-FFF2-40B4-BE49-F238E27FC236}">
                <a16:creationId xmlns:a16="http://schemas.microsoft.com/office/drawing/2014/main" id="{B08D4DB7-9F15-F479-37AC-E870663C9C09}"/>
              </a:ext>
            </a:extLst>
          </p:cNvPr>
          <p:cNvSpPr>
            <a:spLocks noChangeShapeType="1"/>
          </p:cNvSpPr>
          <p:nvPr/>
        </p:nvSpPr>
        <p:spPr bwMode="auto">
          <a:xfrm>
            <a:off x="5140223" y="4654550"/>
            <a:ext cx="0" cy="595312"/>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7" name="Line 26">
            <a:extLst>
              <a:ext uri="{FF2B5EF4-FFF2-40B4-BE49-F238E27FC236}">
                <a16:creationId xmlns:a16="http://schemas.microsoft.com/office/drawing/2014/main" id="{BAA17B0F-26F8-BC41-DB99-61F4550D0D63}"/>
              </a:ext>
            </a:extLst>
          </p:cNvPr>
          <p:cNvSpPr>
            <a:spLocks noChangeShapeType="1"/>
          </p:cNvSpPr>
          <p:nvPr/>
        </p:nvSpPr>
        <p:spPr bwMode="auto">
          <a:xfrm>
            <a:off x="5338661" y="4654550"/>
            <a:ext cx="1587" cy="598487"/>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8" name="Line 27">
            <a:extLst>
              <a:ext uri="{FF2B5EF4-FFF2-40B4-BE49-F238E27FC236}">
                <a16:creationId xmlns:a16="http://schemas.microsoft.com/office/drawing/2014/main" id="{3E09AACF-3578-235E-8B00-895D62896DBA}"/>
              </a:ext>
            </a:extLst>
          </p:cNvPr>
          <p:cNvSpPr>
            <a:spLocks noChangeShapeType="1"/>
          </p:cNvSpPr>
          <p:nvPr/>
        </p:nvSpPr>
        <p:spPr bwMode="auto">
          <a:xfrm>
            <a:off x="5533923" y="4654550"/>
            <a:ext cx="0" cy="595312"/>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9" name="Line 28">
            <a:extLst>
              <a:ext uri="{FF2B5EF4-FFF2-40B4-BE49-F238E27FC236}">
                <a16:creationId xmlns:a16="http://schemas.microsoft.com/office/drawing/2014/main" id="{A139303E-91D0-54C8-D379-A4316DF066E2}"/>
              </a:ext>
            </a:extLst>
          </p:cNvPr>
          <p:cNvSpPr>
            <a:spLocks noChangeShapeType="1"/>
          </p:cNvSpPr>
          <p:nvPr/>
        </p:nvSpPr>
        <p:spPr bwMode="auto">
          <a:xfrm>
            <a:off x="5733948" y="4654550"/>
            <a:ext cx="1588" cy="60325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0" name="Line 29">
            <a:extLst>
              <a:ext uri="{FF2B5EF4-FFF2-40B4-BE49-F238E27FC236}">
                <a16:creationId xmlns:a16="http://schemas.microsoft.com/office/drawing/2014/main" id="{480A66A0-4B95-5A4D-7FF0-E9B69174A301}"/>
              </a:ext>
            </a:extLst>
          </p:cNvPr>
          <p:cNvSpPr>
            <a:spLocks noChangeShapeType="1"/>
          </p:cNvSpPr>
          <p:nvPr/>
        </p:nvSpPr>
        <p:spPr bwMode="auto">
          <a:xfrm>
            <a:off x="4352823" y="4852987"/>
            <a:ext cx="1573213"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1" name="Line 30">
            <a:extLst>
              <a:ext uri="{FF2B5EF4-FFF2-40B4-BE49-F238E27FC236}">
                <a16:creationId xmlns:a16="http://schemas.microsoft.com/office/drawing/2014/main" id="{DB401AF3-4E9E-C5BE-FD10-7B6BC50572B9}"/>
              </a:ext>
            </a:extLst>
          </p:cNvPr>
          <p:cNvSpPr>
            <a:spLocks noChangeShapeType="1"/>
          </p:cNvSpPr>
          <p:nvPr/>
        </p:nvSpPr>
        <p:spPr bwMode="auto">
          <a:xfrm>
            <a:off x="4352823" y="5051425"/>
            <a:ext cx="1573213"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2" name="Line 31">
            <a:extLst>
              <a:ext uri="{FF2B5EF4-FFF2-40B4-BE49-F238E27FC236}">
                <a16:creationId xmlns:a16="http://schemas.microsoft.com/office/drawing/2014/main" id="{8688DF0E-BE12-A7B2-A8A6-3FE85FEA557A}"/>
              </a:ext>
            </a:extLst>
          </p:cNvPr>
          <p:cNvSpPr>
            <a:spLocks noChangeShapeType="1"/>
          </p:cNvSpPr>
          <p:nvPr/>
        </p:nvSpPr>
        <p:spPr bwMode="auto">
          <a:xfrm>
            <a:off x="6719786" y="3065462"/>
            <a:ext cx="0" cy="1589088"/>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3" name="Line 32">
            <a:extLst>
              <a:ext uri="{FF2B5EF4-FFF2-40B4-BE49-F238E27FC236}">
                <a16:creationId xmlns:a16="http://schemas.microsoft.com/office/drawing/2014/main" id="{CE17D1B6-5C69-04AC-90B1-89CB8927454A}"/>
              </a:ext>
            </a:extLst>
          </p:cNvPr>
          <p:cNvSpPr>
            <a:spLocks noChangeShapeType="1"/>
          </p:cNvSpPr>
          <p:nvPr/>
        </p:nvSpPr>
        <p:spPr bwMode="auto">
          <a:xfrm>
            <a:off x="6916636" y="3065462"/>
            <a:ext cx="0" cy="1589088"/>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4" name="Line 33">
            <a:extLst>
              <a:ext uri="{FF2B5EF4-FFF2-40B4-BE49-F238E27FC236}">
                <a16:creationId xmlns:a16="http://schemas.microsoft.com/office/drawing/2014/main" id="{08DCA174-279A-E3EC-F845-9EAEEB59E81C}"/>
              </a:ext>
            </a:extLst>
          </p:cNvPr>
          <p:cNvSpPr>
            <a:spLocks noChangeShapeType="1"/>
          </p:cNvSpPr>
          <p:nvPr/>
        </p:nvSpPr>
        <p:spPr bwMode="auto">
          <a:xfrm flipV="1">
            <a:off x="5337073" y="1277937"/>
            <a:ext cx="0" cy="396875"/>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5" name="Line 34">
            <a:extLst>
              <a:ext uri="{FF2B5EF4-FFF2-40B4-BE49-F238E27FC236}">
                <a16:creationId xmlns:a16="http://schemas.microsoft.com/office/drawing/2014/main" id="{40D90727-C6A2-6DDF-6BC7-800650FA442B}"/>
              </a:ext>
            </a:extLst>
          </p:cNvPr>
          <p:cNvSpPr>
            <a:spLocks noChangeShapeType="1"/>
          </p:cNvSpPr>
          <p:nvPr/>
        </p:nvSpPr>
        <p:spPr bwMode="auto">
          <a:xfrm>
            <a:off x="2184298" y="3065462"/>
            <a:ext cx="2166938"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6" name="Line 35">
            <a:extLst>
              <a:ext uri="{FF2B5EF4-FFF2-40B4-BE49-F238E27FC236}">
                <a16:creationId xmlns:a16="http://schemas.microsoft.com/office/drawing/2014/main" id="{80B560D1-24B5-D82A-B676-056B853F7E7E}"/>
              </a:ext>
            </a:extLst>
          </p:cNvPr>
          <p:cNvSpPr>
            <a:spLocks noChangeShapeType="1"/>
          </p:cNvSpPr>
          <p:nvPr/>
        </p:nvSpPr>
        <p:spPr bwMode="auto">
          <a:xfrm>
            <a:off x="2577998" y="3065462"/>
            <a:ext cx="0" cy="1589088"/>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7" name="Line 36">
            <a:extLst>
              <a:ext uri="{FF2B5EF4-FFF2-40B4-BE49-F238E27FC236}">
                <a16:creationId xmlns:a16="http://schemas.microsoft.com/office/drawing/2014/main" id="{FE9A0F1A-716E-B804-F86D-F6FA87101ADA}"/>
              </a:ext>
            </a:extLst>
          </p:cNvPr>
          <p:cNvSpPr>
            <a:spLocks noChangeShapeType="1"/>
          </p:cNvSpPr>
          <p:nvPr/>
        </p:nvSpPr>
        <p:spPr bwMode="auto">
          <a:xfrm>
            <a:off x="2184298" y="3065462"/>
            <a:ext cx="0" cy="1589088"/>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8" name="Line 37">
            <a:extLst>
              <a:ext uri="{FF2B5EF4-FFF2-40B4-BE49-F238E27FC236}">
                <a16:creationId xmlns:a16="http://schemas.microsoft.com/office/drawing/2014/main" id="{3D6E7BCE-31A5-DA4E-DDEB-6AB5AD71360F}"/>
              </a:ext>
            </a:extLst>
          </p:cNvPr>
          <p:cNvSpPr>
            <a:spLocks noChangeShapeType="1"/>
          </p:cNvSpPr>
          <p:nvPr/>
        </p:nvSpPr>
        <p:spPr bwMode="auto">
          <a:xfrm>
            <a:off x="2184298" y="4654550"/>
            <a:ext cx="2166938"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9" name="Line 38">
            <a:extLst>
              <a:ext uri="{FF2B5EF4-FFF2-40B4-BE49-F238E27FC236}">
                <a16:creationId xmlns:a16="http://schemas.microsoft.com/office/drawing/2014/main" id="{40187AC4-4363-8F6E-DB8A-F9CCFAFE96DA}"/>
              </a:ext>
            </a:extLst>
          </p:cNvPr>
          <p:cNvSpPr>
            <a:spLocks noChangeShapeType="1"/>
          </p:cNvSpPr>
          <p:nvPr/>
        </p:nvSpPr>
        <p:spPr bwMode="auto">
          <a:xfrm>
            <a:off x="2184298" y="4654550"/>
            <a:ext cx="0" cy="3175"/>
          </a:xfrm>
          <a:prstGeom prst="line">
            <a:avLst/>
          </a:prstGeom>
          <a:noFill/>
          <a:ln w="254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40" name="Line 39">
            <a:extLst>
              <a:ext uri="{FF2B5EF4-FFF2-40B4-BE49-F238E27FC236}">
                <a16:creationId xmlns:a16="http://schemas.microsoft.com/office/drawing/2014/main" id="{CF701FA5-61E1-1B27-5F4E-AE71044D7560}"/>
              </a:ext>
            </a:extLst>
          </p:cNvPr>
          <p:cNvSpPr>
            <a:spLocks noChangeShapeType="1"/>
          </p:cNvSpPr>
          <p:nvPr/>
        </p:nvSpPr>
        <p:spPr bwMode="auto">
          <a:xfrm>
            <a:off x="2184298" y="4654550"/>
            <a:ext cx="0" cy="593725"/>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41" name="Line 40">
            <a:extLst>
              <a:ext uri="{FF2B5EF4-FFF2-40B4-BE49-F238E27FC236}">
                <a16:creationId xmlns:a16="http://schemas.microsoft.com/office/drawing/2014/main" id="{0BE24CC8-12BC-0462-E5EE-A443D3F0EDB2}"/>
              </a:ext>
            </a:extLst>
          </p:cNvPr>
          <p:cNvSpPr>
            <a:spLocks noChangeShapeType="1"/>
          </p:cNvSpPr>
          <p:nvPr/>
        </p:nvSpPr>
        <p:spPr bwMode="auto">
          <a:xfrm>
            <a:off x="4352823" y="4654550"/>
            <a:ext cx="1588" cy="614362"/>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42" name="Line 41">
            <a:extLst>
              <a:ext uri="{FF2B5EF4-FFF2-40B4-BE49-F238E27FC236}">
                <a16:creationId xmlns:a16="http://schemas.microsoft.com/office/drawing/2014/main" id="{66AFA0A7-D504-BFAC-6279-C80896564B47}"/>
              </a:ext>
            </a:extLst>
          </p:cNvPr>
          <p:cNvSpPr>
            <a:spLocks noChangeShapeType="1"/>
          </p:cNvSpPr>
          <p:nvPr/>
        </p:nvSpPr>
        <p:spPr bwMode="auto">
          <a:xfrm>
            <a:off x="6521348" y="3065462"/>
            <a:ext cx="0" cy="1589088"/>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43" name="Line 42">
            <a:extLst>
              <a:ext uri="{FF2B5EF4-FFF2-40B4-BE49-F238E27FC236}">
                <a16:creationId xmlns:a16="http://schemas.microsoft.com/office/drawing/2014/main" id="{314C4F1E-9F82-E571-737D-47EE736691A7}"/>
              </a:ext>
            </a:extLst>
          </p:cNvPr>
          <p:cNvSpPr>
            <a:spLocks noChangeShapeType="1"/>
          </p:cNvSpPr>
          <p:nvPr/>
        </p:nvSpPr>
        <p:spPr bwMode="auto">
          <a:xfrm>
            <a:off x="2971698" y="3065462"/>
            <a:ext cx="0" cy="1589088"/>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44" name="Line 43">
            <a:extLst>
              <a:ext uri="{FF2B5EF4-FFF2-40B4-BE49-F238E27FC236}">
                <a16:creationId xmlns:a16="http://schemas.microsoft.com/office/drawing/2014/main" id="{9A7A3242-23F7-2CDA-F38A-CFCE180B0E89}"/>
              </a:ext>
            </a:extLst>
          </p:cNvPr>
          <p:cNvSpPr>
            <a:spLocks noChangeShapeType="1"/>
          </p:cNvSpPr>
          <p:nvPr/>
        </p:nvSpPr>
        <p:spPr bwMode="auto">
          <a:xfrm>
            <a:off x="2971698" y="3263900"/>
            <a:ext cx="1379538"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45" name="Line 44">
            <a:extLst>
              <a:ext uri="{FF2B5EF4-FFF2-40B4-BE49-F238E27FC236}">
                <a16:creationId xmlns:a16="http://schemas.microsoft.com/office/drawing/2014/main" id="{50041B3B-EF1B-CB6F-CBAE-99BBD0AA65E4}"/>
              </a:ext>
            </a:extLst>
          </p:cNvPr>
          <p:cNvSpPr>
            <a:spLocks noChangeShapeType="1"/>
          </p:cNvSpPr>
          <p:nvPr/>
        </p:nvSpPr>
        <p:spPr bwMode="auto">
          <a:xfrm>
            <a:off x="2971698" y="3462337"/>
            <a:ext cx="1379538"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46" name="Line 45">
            <a:extLst>
              <a:ext uri="{FF2B5EF4-FFF2-40B4-BE49-F238E27FC236}">
                <a16:creationId xmlns:a16="http://schemas.microsoft.com/office/drawing/2014/main" id="{3727F71D-B317-774A-7940-D0F1455D0C93}"/>
              </a:ext>
            </a:extLst>
          </p:cNvPr>
          <p:cNvSpPr>
            <a:spLocks noChangeShapeType="1"/>
          </p:cNvSpPr>
          <p:nvPr/>
        </p:nvSpPr>
        <p:spPr bwMode="auto">
          <a:xfrm>
            <a:off x="2971698" y="3662362"/>
            <a:ext cx="1379538"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47" name="Line 46">
            <a:extLst>
              <a:ext uri="{FF2B5EF4-FFF2-40B4-BE49-F238E27FC236}">
                <a16:creationId xmlns:a16="http://schemas.microsoft.com/office/drawing/2014/main" id="{2DDFC4E9-3A66-080F-F28A-C56BBCDE5C0F}"/>
              </a:ext>
            </a:extLst>
          </p:cNvPr>
          <p:cNvSpPr>
            <a:spLocks noChangeShapeType="1"/>
          </p:cNvSpPr>
          <p:nvPr/>
        </p:nvSpPr>
        <p:spPr bwMode="auto">
          <a:xfrm>
            <a:off x="2971698" y="3859212"/>
            <a:ext cx="1379538"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48" name="Line 47">
            <a:extLst>
              <a:ext uri="{FF2B5EF4-FFF2-40B4-BE49-F238E27FC236}">
                <a16:creationId xmlns:a16="http://schemas.microsoft.com/office/drawing/2014/main" id="{87CB8922-37CA-534E-4454-4595432124DD}"/>
              </a:ext>
            </a:extLst>
          </p:cNvPr>
          <p:cNvSpPr>
            <a:spLocks noChangeShapeType="1"/>
          </p:cNvSpPr>
          <p:nvPr/>
        </p:nvSpPr>
        <p:spPr bwMode="auto">
          <a:xfrm>
            <a:off x="2971698" y="4059237"/>
            <a:ext cx="1379538"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49" name="Line 48">
            <a:extLst>
              <a:ext uri="{FF2B5EF4-FFF2-40B4-BE49-F238E27FC236}">
                <a16:creationId xmlns:a16="http://schemas.microsoft.com/office/drawing/2014/main" id="{2E3C1F5B-5AA1-808E-1EC5-431B011E8BA0}"/>
              </a:ext>
            </a:extLst>
          </p:cNvPr>
          <p:cNvSpPr>
            <a:spLocks noChangeShapeType="1"/>
          </p:cNvSpPr>
          <p:nvPr/>
        </p:nvSpPr>
        <p:spPr bwMode="auto">
          <a:xfrm>
            <a:off x="2971698" y="4256087"/>
            <a:ext cx="1379538"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0" name="Line 49">
            <a:extLst>
              <a:ext uri="{FF2B5EF4-FFF2-40B4-BE49-F238E27FC236}">
                <a16:creationId xmlns:a16="http://schemas.microsoft.com/office/drawing/2014/main" id="{5E21B97A-DC8A-611B-CEFA-FD8C99AB5759}"/>
              </a:ext>
            </a:extLst>
          </p:cNvPr>
          <p:cNvSpPr>
            <a:spLocks noChangeShapeType="1"/>
          </p:cNvSpPr>
          <p:nvPr/>
        </p:nvSpPr>
        <p:spPr bwMode="auto">
          <a:xfrm>
            <a:off x="2971698" y="4456112"/>
            <a:ext cx="1379538"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1" name="Line 50">
            <a:extLst>
              <a:ext uri="{FF2B5EF4-FFF2-40B4-BE49-F238E27FC236}">
                <a16:creationId xmlns:a16="http://schemas.microsoft.com/office/drawing/2014/main" id="{BBEB1A1C-C8EB-48E0-C353-19899FBA00DF}"/>
              </a:ext>
            </a:extLst>
          </p:cNvPr>
          <p:cNvSpPr>
            <a:spLocks noChangeShapeType="1"/>
          </p:cNvSpPr>
          <p:nvPr/>
        </p:nvSpPr>
        <p:spPr bwMode="auto">
          <a:xfrm>
            <a:off x="4352823" y="3065462"/>
            <a:ext cx="0" cy="1589088"/>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2" name="Line 51">
            <a:extLst>
              <a:ext uri="{FF2B5EF4-FFF2-40B4-BE49-F238E27FC236}">
                <a16:creationId xmlns:a16="http://schemas.microsoft.com/office/drawing/2014/main" id="{382C6210-57CE-C028-5C16-58F3BD7B401F}"/>
              </a:ext>
            </a:extLst>
          </p:cNvPr>
          <p:cNvSpPr>
            <a:spLocks noChangeShapeType="1"/>
          </p:cNvSpPr>
          <p:nvPr/>
        </p:nvSpPr>
        <p:spPr bwMode="auto">
          <a:xfrm>
            <a:off x="4352823" y="4654550"/>
            <a:ext cx="1573213"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3" name="Line 52">
            <a:extLst>
              <a:ext uri="{FF2B5EF4-FFF2-40B4-BE49-F238E27FC236}">
                <a16:creationId xmlns:a16="http://schemas.microsoft.com/office/drawing/2014/main" id="{823FE069-ECE3-EEDB-F43C-EF4C3A92FA6E}"/>
              </a:ext>
            </a:extLst>
          </p:cNvPr>
          <p:cNvSpPr>
            <a:spLocks noChangeShapeType="1"/>
          </p:cNvSpPr>
          <p:nvPr/>
        </p:nvSpPr>
        <p:spPr bwMode="auto">
          <a:xfrm>
            <a:off x="5929211" y="3065462"/>
            <a:ext cx="0" cy="1589088"/>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4" name="Line 53">
            <a:extLst>
              <a:ext uri="{FF2B5EF4-FFF2-40B4-BE49-F238E27FC236}">
                <a16:creationId xmlns:a16="http://schemas.microsoft.com/office/drawing/2014/main" id="{C3D7899C-7FE2-774C-29D9-161DD8FD8FCC}"/>
              </a:ext>
            </a:extLst>
          </p:cNvPr>
          <p:cNvSpPr>
            <a:spLocks noChangeShapeType="1"/>
          </p:cNvSpPr>
          <p:nvPr/>
        </p:nvSpPr>
        <p:spPr bwMode="auto">
          <a:xfrm>
            <a:off x="4548086" y="1674812"/>
            <a:ext cx="0" cy="139065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5" name="Line 54">
            <a:extLst>
              <a:ext uri="{FF2B5EF4-FFF2-40B4-BE49-F238E27FC236}">
                <a16:creationId xmlns:a16="http://schemas.microsoft.com/office/drawing/2014/main" id="{27C63E0E-A779-B1B0-1E88-89A1786930D2}"/>
              </a:ext>
            </a:extLst>
          </p:cNvPr>
          <p:cNvSpPr>
            <a:spLocks noChangeShapeType="1"/>
          </p:cNvSpPr>
          <p:nvPr/>
        </p:nvSpPr>
        <p:spPr bwMode="auto">
          <a:xfrm>
            <a:off x="4746523" y="1674812"/>
            <a:ext cx="0" cy="1387475"/>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6" name="Line 55">
            <a:extLst>
              <a:ext uri="{FF2B5EF4-FFF2-40B4-BE49-F238E27FC236}">
                <a16:creationId xmlns:a16="http://schemas.microsoft.com/office/drawing/2014/main" id="{63E152DD-80CC-6222-BF0F-44EE3004D1D8}"/>
              </a:ext>
            </a:extLst>
          </p:cNvPr>
          <p:cNvSpPr>
            <a:spLocks noChangeShapeType="1"/>
          </p:cNvSpPr>
          <p:nvPr/>
        </p:nvSpPr>
        <p:spPr bwMode="auto">
          <a:xfrm>
            <a:off x="4943373" y="1674812"/>
            <a:ext cx="0" cy="1387475"/>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7" name="Line 56">
            <a:extLst>
              <a:ext uri="{FF2B5EF4-FFF2-40B4-BE49-F238E27FC236}">
                <a16:creationId xmlns:a16="http://schemas.microsoft.com/office/drawing/2014/main" id="{5377289C-73C8-29EB-A3F2-FF8A963F0441}"/>
              </a:ext>
            </a:extLst>
          </p:cNvPr>
          <p:cNvSpPr>
            <a:spLocks noChangeShapeType="1"/>
          </p:cNvSpPr>
          <p:nvPr/>
        </p:nvSpPr>
        <p:spPr bwMode="auto">
          <a:xfrm>
            <a:off x="5140223" y="1674812"/>
            <a:ext cx="0" cy="139065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8" name="Line 57">
            <a:extLst>
              <a:ext uri="{FF2B5EF4-FFF2-40B4-BE49-F238E27FC236}">
                <a16:creationId xmlns:a16="http://schemas.microsoft.com/office/drawing/2014/main" id="{F009AE4E-B19A-01D4-A7BC-A4F93262404A}"/>
              </a:ext>
            </a:extLst>
          </p:cNvPr>
          <p:cNvSpPr>
            <a:spLocks noChangeShapeType="1"/>
          </p:cNvSpPr>
          <p:nvPr/>
        </p:nvSpPr>
        <p:spPr bwMode="auto">
          <a:xfrm>
            <a:off x="5337073" y="1674812"/>
            <a:ext cx="0" cy="139065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9" name="Line 58">
            <a:extLst>
              <a:ext uri="{FF2B5EF4-FFF2-40B4-BE49-F238E27FC236}">
                <a16:creationId xmlns:a16="http://schemas.microsoft.com/office/drawing/2014/main" id="{BE5D0AA9-A14E-6866-175D-CC9C0138BAD4}"/>
              </a:ext>
            </a:extLst>
          </p:cNvPr>
          <p:cNvSpPr>
            <a:spLocks noChangeShapeType="1"/>
          </p:cNvSpPr>
          <p:nvPr/>
        </p:nvSpPr>
        <p:spPr bwMode="auto">
          <a:xfrm>
            <a:off x="5533923" y="1674812"/>
            <a:ext cx="0" cy="139065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60" name="Line 59">
            <a:extLst>
              <a:ext uri="{FF2B5EF4-FFF2-40B4-BE49-F238E27FC236}">
                <a16:creationId xmlns:a16="http://schemas.microsoft.com/office/drawing/2014/main" id="{2FD203A2-2E0E-31E9-D143-23D9022BDB3E}"/>
              </a:ext>
            </a:extLst>
          </p:cNvPr>
          <p:cNvSpPr>
            <a:spLocks noChangeShapeType="1"/>
          </p:cNvSpPr>
          <p:nvPr/>
        </p:nvSpPr>
        <p:spPr bwMode="auto">
          <a:xfrm>
            <a:off x="5730773" y="1674812"/>
            <a:ext cx="0" cy="138430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61" name="Line 60">
            <a:extLst>
              <a:ext uri="{FF2B5EF4-FFF2-40B4-BE49-F238E27FC236}">
                <a16:creationId xmlns:a16="http://schemas.microsoft.com/office/drawing/2014/main" id="{B0263A6B-A935-113A-DD79-617D32458700}"/>
              </a:ext>
            </a:extLst>
          </p:cNvPr>
          <p:cNvSpPr>
            <a:spLocks noChangeShapeType="1"/>
          </p:cNvSpPr>
          <p:nvPr/>
        </p:nvSpPr>
        <p:spPr bwMode="auto">
          <a:xfrm>
            <a:off x="4352823" y="1674812"/>
            <a:ext cx="1573213"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62" name="Line 61">
            <a:extLst>
              <a:ext uri="{FF2B5EF4-FFF2-40B4-BE49-F238E27FC236}">
                <a16:creationId xmlns:a16="http://schemas.microsoft.com/office/drawing/2014/main" id="{3162143B-A69F-9047-56AE-5CEAF783E167}"/>
              </a:ext>
            </a:extLst>
          </p:cNvPr>
          <p:cNvSpPr>
            <a:spLocks noChangeShapeType="1"/>
          </p:cNvSpPr>
          <p:nvPr/>
        </p:nvSpPr>
        <p:spPr bwMode="auto">
          <a:xfrm>
            <a:off x="4352823" y="3065462"/>
            <a:ext cx="2168525"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63" name="Line 62">
            <a:extLst>
              <a:ext uri="{FF2B5EF4-FFF2-40B4-BE49-F238E27FC236}">
                <a16:creationId xmlns:a16="http://schemas.microsoft.com/office/drawing/2014/main" id="{B28F68D9-36D6-793B-EDC9-D8F8772F5C0B}"/>
              </a:ext>
            </a:extLst>
          </p:cNvPr>
          <p:cNvSpPr>
            <a:spLocks noChangeShapeType="1"/>
          </p:cNvSpPr>
          <p:nvPr/>
        </p:nvSpPr>
        <p:spPr bwMode="auto">
          <a:xfrm flipV="1">
            <a:off x="4352823" y="1681162"/>
            <a:ext cx="0" cy="138430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64" name="Line 63">
            <a:extLst>
              <a:ext uri="{FF2B5EF4-FFF2-40B4-BE49-F238E27FC236}">
                <a16:creationId xmlns:a16="http://schemas.microsoft.com/office/drawing/2014/main" id="{39DEA6A0-AEB9-B234-72A8-40DF2338E1C9}"/>
              </a:ext>
            </a:extLst>
          </p:cNvPr>
          <p:cNvSpPr>
            <a:spLocks noChangeShapeType="1"/>
          </p:cNvSpPr>
          <p:nvPr/>
        </p:nvSpPr>
        <p:spPr bwMode="auto">
          <a:xfrm>
            <a:off x="5929211" y="1674812"/>
            <a:ext cx="0" cy="139065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65" name="Rectangle 64">
            <a:extLst>
              <a:ext uri="{FF2B5EF4-FFF2-40B4-BE49-F238E27FC236}">
                <a16:creationId xmlns:a16="http://schemas.microsoft.com/office/drawing/2014/main" id="{6E55F5FB-6712-87C3-38CB-4DDA75C087A3}"/>
              </a:ext>
            </a:extLst>
          </p:cNvPr>
          <p:cNvSpPr>
            <a:spLocks noChangeArrowheads="1"/>
          </p:cNvSpPr>
          <p:nvPr/>
        </p:nvSpPr>
        <p:spPr bwMode="auto">
          <a:xfrm rot="16200000">
            <a:off x="1650105" y="3690143"/>
            <a:ext cx="1500188" cy="42227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90000"/>
              </a:lnSpc>
            </a:pPr>
            <a:r>
              <a:rPr lang="en-US" altLang="en-US" sz="1200" b="1">
                <a:latin typeface="+mj-lt"/>
              </a:rPr>
              <a:t>Customer Requirements</a:t>
            </a:r>
          </a:p>
        </p:txBody>
      </p:sp>
      <p:sp>
        <p:nvSpPr>
          <p:cNvPr id="66" name="Line 65">
            <a:extLst>
              <a:ext uri="{FF2B5EF4-FFF2-40B4-BE49-F238E27FC236}">
                <a16:creationId xmlns:a16="http://schemas.microsoft.com/office/drawing/2014/main" id="{5902E4E1-51E4-90AB-0F3B-F2153FFA6256}"/>
              </a:ext>
            </a:extLst>
          </p:cNvPr>
          <p:cNvSpPr>
            <a:spLocks noChangeShapeType="1"/>
          </p:cNvSpPr>
          <p:nvPr/>
        </p:nvSpPr>
        <p:spPr bwMode="auto">
          <a:xfrm>
            <a:off x="5929211" y="4654550"/>
            <a:ext cx="0" cy="1787525"/>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67" name="Rectangle 66">
            <a:extLst>
              <a:ext uri="{FF2B5EF4-FFF2-40B4-BE49-F238E27FC236}">
                <a16:creationId xmlns:a16="http://schemas.microsoft.com/office/drawing/2014/main" id="{9151B030-E5E6-9ACB-F72F-60A17690CA38}"/>
              </a:ext>
            </a:extLst>
          </p:cNvPr>
          <p:cNvSpPr>
            <a:spLocks noChangeArrowheads="1"/>
          </p:cNvSpPr>
          <p:nvPr/>
        </p:nvSpPr>
        <p:spPr bwMode="auto">
          <a:xfrm rot="16200000">
            <a:off x="7064273" y="3571875"/>
            <a:ext cx="1457325" cy="5588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85000"/>
              </a:lnSpc>
            </a:pPr>
            <a:r>
              <a:rPr lang="en-US" altLang="en-US" sz="1200" b="1">
                <a:latin typeface="+mj-lt"/>
              </a:rPr>
              <a:t>Prioritized Customer</a:t>
            </a:r>
          </a:p>
          <a:p>
            <a:pPr algn="ctr">
              <a:lnSpc>
                <a:spcPct val="85000"/>
              </a:lnSpc>
            </a:pPr>
            <a:r>
              <a:rPr lang="en-US" altLang="en-US" sz="1200" b="1">
                <a:latin typeface="+mj-lt"/>
              </a:rPr>
              <a:t>Requirements</a:t>
            </a:r>
          </a:p>
        </p:txBody>
      </p:sp>
      <p:sp>
        <p:nvSpPr>
          <p:cNvPr id="68" name="Line 67">
            <a:extLst>
              <a:ext uri="{FF2B5EF4-FFF2-40B4-BE49-F238E27FC236}">
                <a16:creationId xmlns:a16="http://schemas.microsoft.com/office/drawing/2014/main" id="{A2E4AFB2-C7D1-5D98-A3EE-0E80B7E92C64}"/>
              </a:ext>
            </a:extLst>
          </p:cNvPr>
          <p:cNvSpPr>
            <a:spLocks noChangeShapeType="1"/>
          </p:cNvSpPr>
          <p:nvPr/>
        </p:nvSpPr>
        <p:spPr bwMode="auto">
          <a:xfrm>
            <a:off x="5929211" y="6442075"/>
            <a:ext cx="592137"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69" name="Line 68">
            <a:extLst>
              <a:ext uri="{FF2B5EF4-FFF2-40B4-BE49-F238E27FC236}">
                <a16:creationId xmlns:a16="http://schemas.microsoft.com/office/drawing/2014/main" id="{57FD719C-29CA-8342-30B4-A17FA7E87453}"/>
              </a:ext>
            </a:extLst>
          </p:cNvPr>
          <p:cNvSpPr>
            <a:spLocks noChangeShapeType="1"/>
          </p:cNvSpPr>
          <p:nvPr/>
        </p:nvSpPr>
        <p:spPr bwMode="auto">
          <a:xfrm flipV="1">
            <a:off x="4352823" y="1277937"/>
            <a:ext cx="0" cy="396875"/>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70" name="Line 69">
            <a:extLst>
              <a:ext uri="{FF2B5EF4-FFF2-40B4-BE49-F238E27FC236}">
                <a16:creationId xmlns:a16="http://schemas.microsoft.com/office/drawing/2014/main" id="{71DA0E1D-E73B-8C92-6968-D5F4AD312B52}"/>
              </a:ext>
            </a:extLst>
          </p:cNvPr>
          <p:cNvSpPr>
            <a:spLocks noChangeShapeType="1"/>
          </p:cNvSpPr>
          <p:nvPr/>
        </p:nvSpPr>
        <p:spPr bwMode="auto">
          <a:xfrm>
            <a:off x="5929211" y="1277937"/>
            <a:ext cx="0" cy="396875"/>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71" name="Line 70">
            <a:extLst>
              <a:ext uri="{FF2B5EF4-FFF2-40B4-BE49-F238E27FC236}">
                <a16:creationId xmlns:a16="http://schemas.microsoft.com/office/drawing/2014/main" id="{77497160-62B2-FC35-1E8B-66EF2F4A1EAE}"/>
              </a:ext>
            </a:extLst>
          </p:cNvPr>
          <p:cNvSpPr>
            <a:spLocks noChangeShapeType="1"/>
          </p:cNvSpPr>
          <p:nvPr/>
        </p:nvSpPr>
        <p:spPr bwMode="auto">
          <a:xfrm>
            <a:off x="4352823" y="1277937"/>
            <a:ext cx="1573213"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72" name="Rectangle 71">
            <a:extLst>
              <a:ext uri="{FF2B5EF4-FFF2-40B4-BE49-F238E27FC236}">
                <a16:creationId xmlns:a16="http://schemas.microsoft.com/office/drawing/2014/main" id="{16781CE5-F797-69C5-AE4E-1280A995CECB}"/>
              </a:ext>
            </a:extLst>
          </p:cNvPr>
          <p:cNvSpPr>
            <a:spLocks noChangeArrowheads="1"/>
          </p:cNvSpPr>
          <p:nvPr/>
        </p:nvSpPr>
        <p:spPr bwMode="auto">
          <a:xfrm>
            <a:off x="4378223" y="889000"/>
            <a:ext cx="1524000" cy="42227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90000"/>
              </a:lnSpc>
            </a:pPr>
            <a:r>
              <a:rPr lang="en-US" altLang="en-US" sz="1200" b="1" dirty="0">
                <a:latin typeface="+mj-lt"/>
              </a:rPr>
              <a:t>Technical Descriptors</a:t>
            </a:r>
          </a:p>
        </p:txBody>
      </p:sp>
      <p:sp>
        <p:nvSpPr>
          <p:cNvPr id="73" name="Line 72">
            <a:extLst>
              <a:ext uri="{FF2B5EF4-FFF2-40B4-BE49-F238E27FC236}">
                <a16:creationId xmlns:a16="http://schemas.microsoft.com/office/drawing/2014/main" id="{C014EFBD-9608-99DC-42CA-BF8D1248E1D9}"/>
              </a:ext>
            </a:extLst>
          </p:cNvPr>
          <p:cNvSpPr>
            <a:spLocks noChangeShapeType="1"/>
          </p:cNvSpPr>
          <p:nvPr/>
        </p:nvSpPr>
        <p:spPr bwMode="auto">
          <a:xfrm>
            <a:off x="6521348" y="3065462"/>
            <a:ext cx="590550"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74" name="Line 73">
            <a:extLst>
              <a:ext uri="{FF2B5EF4-FFF2-40B4-BE49-F238E27FC236}">
                <a16:creationId xmlns:a16="http://schemas.microsoft.com/office/drawing/2014/main" id="{69CC7361-B18F-3190-862A-3291DB86DDAC}"/>
              </a:ext>
            </a:extLst>
          </p:cNvPr>
          <p:cNvSpPr>
            <a:spLocks noChangeShapeType="1"/>
          </p:cNvSpPr>
          <p:nvPr/>
        </p:nvSpPr>
        <p:spPr bwMode="auto">
          <a:xfrm>
            <a:off x="6521348" y="4654550"/>
            <a:ext cx="590550"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75" name="Line 74">
            <a:extLst>
              <a:ext uri="{FF2B5EF4-FFF2-40B4-BE49-F238E27FC236}">
                <a16:creationId xmlns:a16="http://schemas.microsoft.com/office/drawing/2014/main" id="{0C962617-7AC0-50B6-AB2E-1C1C4729157C}"/>
              </a:ext>
            </a:extLst>
          </p:cNvPr>
          <p:cNvSpPr>
            <a:spLocks noChangeShapeType="1"/>
          </p:cNvSpPr>
          <p:nvPr/>
        </p:nvSpPr>
        <p:spPr bwMode="auto">
          <a:xfrm flipV="1">
            <a:off x="2970111" y="1674812"/>
            <a:ext cx="0" cy="139065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76" name="Line 75">
            <a:extLst>
              <a:ext uri="{FF2B5EF4-FFF2-40B4-BE49-F238E27FC236}">
                <a16:creationId xmlns:a16="http://schemas.microsoft.com/office/drawing/2014/main" id="{59D830EF-4880-BD79-B3DC-090BB4076B0F}"/>
              </a:ext>
            </a:extLst>
          </p:cNvPr>
          <p:cNvSpPr>
            <a:spLocks noChangeShapeType="1"/>
          </p:cNvSpPr>
          <p:nvPr/>
        </p:nvSpPr>
        <p:spPr bwMode="auto">
          <a:xfrm flipV="1">
            <a:off x="2576411" y="1277937"/>
            <a:ext cx="0" cy="1787525"/>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77" name="Line 76">
            <a:extLst>
              <a:ext uri="{FF2B5EF4-FFF2-40B4-BE49-F238E27FC236}">
                <a16:creationId xmlns:a16="http://schemas.microsoft.com/office/drawing/2014/main" id="{7F4562F9-2BE3-A331-D8F3-2CFD828A60D1}"/>
              </a:ext>
            </a:extLst>
          </p:cNvPr>
          <p:cNvSpPr>
            <a:spLocks noChangeShapeType="1"/>
          </p:cNvSpPr>
          <p:nvPr/>
        </p:nvSpPr>
        <p:spPr bwMode="auto">
          <a:xfrm>
            <a:off x="2970111" y="1674812"/>
            <a:ext cx="1381125"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78" name="Line 77">
            <a:extLst>
              <a:ext uri="{FF2B5EF4-FFF2-40B4-BE49-F238E27FC236}">
                <a16:creationId xmlns:a16="http://schemas.microsoft.com/office/drawing/2014/main" id="{6409ADB2-C151-CF86-AFDB-CE6BA0B79E34}"/>
              </a:ext>
            </a:extLst>
          </p:cNvPr>
          <p:cNvSpPr>
            <a:spLocks noChangeShapeType="1"/>
          </p:cNvSpPr>
          <p:nvPr/>
        </p:nvSpPr>
        <p:spPr bwMode="auto">
          <a:xfrm>
            <a:off x="2576411" y="1277937"/>
            <a:ext cx="1774825" cy="1787525"/>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79" name="Rectangle 78">
            <a:extLst>
              <a:ext uri="{FF2B5EF4-FFF2-40B4-BE49-F238E27FC236}">
                <a16:creationId xmlns:a16="http://schemas.microsoft.com/office/drawing/2014/main" id="{D98C01F3-03BA-3415-2E1F-24216A389AA1}"/>
              </a:ext>
            </a:extLst>
          </p:cNvPr>
          <p:cNvSpPr>
            <a:spLocks noChangeArrowheads="1"/>
          </p:cNvSpPr>
          <p:nvPr/>
        </p:nvSpPr>
        <p:spPr bwMode="auto">
          <a:xfrm>
            <a:off x="3569722" y="1333500"/>
            <a:ext cx="778804" cy="277641"/>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200" b="1">
                <a:latin typeface="+mj-lt"/>
              </a:rPr>
              <a:t>Primary</a:t>
            </a:r>
          </a:p>
        </p:txBody>
      </p:sp>
      <p:sp>
        <p:nvSpPr>
          <p:cNvPr id="80" name="Rectangle 79">
            <a:extLst>
              <a:ext uri="{FF2B5EF4-FFF2-40B4-BE49-F238E27FC236}">
                <a16:creationId xmlns:a16="http://schemas.microsoft.com/office/drawing/2014/main" id="{33A2E7E3-6A1D-D805-D09F-EF543F676CDF}"/>
              </a:ext>
            </a:extLst>
          </p:cNvPr>
          <p:cNvSpPr>
            <a:spLocks noChangeArrowheads="1"/>
          </p:cNvSpPr>
          <p:nvPr/>
        </p:nvSpPr>
        <p:spPr bwMode="auto">
          <a:xfrm rot="16200000">
            <a:off x="2364015" y="2548818"/>
            <a:ext cx="778804" cy="277641"/>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200" b="1" dirty="0">
                <a:latin typeface="+mj-lt"/>
              </a:rPr>
              <a:t>Primary</a:t>
            </a:r>
          </a:p>
        </p:txBody>
      </p:sp>
      <p:sp>
        <p:nvSpPr>
          <p:cNvPr id="81" name="Rectangle 80">
            <a:extLst>
              <a:ext uri="{FF2B5EF4-FFF2-40B4-BE49-F238E27FC236}">
                <a16:creationId xmlns:a16="http://schemas.microsoft.com/office/drawing/2014/main" id="{0B7B5931-FC01-F1DE-E5FD-5948625F39DD}"/>
              </a:ext>
            </a:extLst>
          </p:cNvPr>
          <p:cNvSpPr>
            <a:spLocks noChangeArrowheads="1"/>
          </p:cNvSpPr>
          <p:nvPr/>
        </p:nvSpPr>
        <p:spPr bwMode="auto">
          <a:xfrm rot="16200000">
            <a:off x="2702682" y="2433724"/>
            <a:ext cx="971420" cy="277641"/>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200" b="1">
                <a:latin typeface="+mj-lt"/>
              </a:rPr>
              <a:t>Secondary</a:t>
            </a:r>
          </a:p>
        </p:txBody>
      </p:sp>
      <p:sp>
        <p:nvSpPr>
          <p:cNvPr id="82" name="Rectangle 81">
            <a:extLst>
              <a:ext uri="{FF2B5EF4-FFF2-40B4-BE49-F238E27FC236}">
                <a16:creationId xmlns:a16="http://schemas.microsoft.com/office/drawing/2014/main" id="{321A2D61-EB02-667E-2A97-4679D732D7FC}"/>
              </a:ext>
            </a:extLst>
          </p:cNvPr>
          <p:cNvSpPr>
            <a:spLocks noChangeArrowheads="1"/>
          </p:cNvSpPr>
          <p:nvPr/>
        </p:nvSpPr>
        <p:spPr bwMode="auto">
          <a:xfrm>
            <a:off x="3353557" y="1703387"/>
            <a:ext cx="971420" cy="277641"/>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200" b="1">
                <a:latin typeface="+mj-lt"/>
              </a:rPr>
              <a:t>Secondary</a:t>
            </a:r>
          </a:p>
        </p:txBody>
      </p:sp>
      <p:sp>
        <p:nvSpPr>
          <p:cNvPr id="83" name="Rectangle 82">
            <a:extLst>
              <a:ext uri="{FF2B5EF4-FFF2-40B4-BE49-F238E27FC236}">
                <a16:creationId xmlns:a16="http://schemas.microsoft.com/office/drawing/2014/main" id="{09DF6C88-2B00-FF68-F773-FA6391220D55}"/>
              </a:ext>
            </a:extLst>
          </p:cNvPr>
          <p:cNvSpPr>
            <a:spLocks noChangeArrowheads="1"/>
          </p:cNvSpPr>
          <p:nvPr/>
        </p:nvSpPr>
        <p:spPr bwMode="auto">
          <a:xfrm>
            <a:off x="2132205" y="4675187"/>
            <a:ext cx="1088438" cy="53617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80000"/>
              </a:lnSpc>
            </a:pPr>
            <a:r>
              <a:rPr lang="en-US" altLang="en-US" sz="1200" b="1">
                <a:latin typeface="+mj-lt"/>
              </a:rPr>
              <a:t>Technical</a:t>
            </a:r>
          </a:p>
          <a:p>
            <a:pPr algn="ctr">
              <a:lnSpc>
                <a:spcPct val="80000"/>
              </a:lnSpc>
            </a:pPr>
            <a:r>
              <a:rPr lang="en-US" altLang="en-US" sz="1200" b="1">
                <a:latin typeface="+mj-lt"/>
              </a:rPr>
              <a:t>Competitive</a:t>
            </a:r>
          </a:p>
          <a:p>
            <a:pPr algn="ctr">
              <a:lnSpc>
                <a:spcPct val="80000"/>
              </a:lnSpc>
            </a:pPr>
            <a:r>
              <a:rPr lang="en-US" altLang="en-US" sz="1200" b="1">
                <a:latin typeface="+mj-lt"/>
              </a:rPr>
              <a:t>Assessment</a:t>
            </a:r>
          </a:p>
        </p:txBody>
      </p:sp>
      <p:sp>
        <p:nvSpPr>
          <p:cNvPr id="84" name="Rectangle 83">
            <a:extLst>
              <a:ext uri="{FF2B5EF4-FFF2-40B4-BE49-F238E27FC236}">
                <a16:creationId xmlns:a16="http://schemas.microsoft.com/office/drawing/2014/main" id="{E35D818C-8880-62F6-EB15-4049FBF854CE}"/>
              </a:ext>
            </a:extLst>
          </p:cNvPr>
          <p:cNvSpPr>
            <a:spLocks noChangeArrowheads="1"/>
          </p:cNvSpPr>
          <p:nvPr/>
        </p:nvSpPr>
        <p:spPr bwMode="auto">
          <a:xfrm rot="16200000">
            <a:off x="5675505" y="5664401"/>
            <a:ext cx="1088438" cy="53617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80000"/>
              </a:lnSpc>
            </a:pPr>
            <a:r>
              <a:rPr lang="en-US" altLang="en-US" sz="1200" b="1">
                <a:latin typeface="+mj-lt"/>
              </a:rPr>
              <a:t>Customer</a:t>
            </a:r>
          </a:p>
          <a:p>
            <a:pPr algn="ctr">
              <a:lnSpc>
                <a:spcPct val="80000"/>
              </a:lnSpc>
            </a:pPr>
            <a:r>
              <a:rPr lang="en-US" altLang="en-US" sz="1200" b="1">
                <a:latin typeface="+mj-lt"/>
              </a:rPr>
              <a:t>Competitive</a:t>
            </a:r>
          </a:p>
          <a:p>
            <a:pPr algn="ctr">
              <a:lnSpc>
                <a:spcPct val="80000"/>
              </a:lnSpc>
            </a:pPr>
            <a:r>
              <a:rPr lang="en-US" altLang="en-US" sz="1200" b="1">
                <a:latin typeface="+mj-lt"/>
              </a:rPr>
              <a:t>Assessment</a:t>
            </a:r>
          </a:p>
        </p:txBody>
      </p:sp>
      <p:sp>
        <p:nvSpPr>
          <p:cNvPr id="85" name="Line 84">
            <a:extLst>
              <a:ext uri="{FF2B5EF4-FFF2-40B4-BE49-F238E27FC236}">
                <a16:creationId xmlns:a16="http://schemas.microsoft.com/office/drawing/2014/main" id="{14DC305D-DA0C-407E-5C5D-5A2FAC168658}"/>
              </a:ext>
            </a:extLst>
          </p:cNvPr>
          <p:cNvSpPr>
            <a:spLocks noChangeShapeType="1"/>
          </p:cNvSpPr>
          <p:nvPr/>
        </p:nvSpPr>
        <p:spPr bwMode="auto">
          <a:xfrm>
            <a:off x="6127648" y="4654550"/>
            <a:ext cx="0" cy="79375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86" name="Line 85">
            <a:extLst>
              <a:ext uri="{FF2B5EF4-FFF2-40B4-BE49-F238E27FC236}">
                <a16:creationId xmlns:a16="http://schemas.microsoft.com/office/drawing/2014/main" id="{7E8F52B5-7663-E386-3498-BDB39E21D0AE}"/>
              </a:ext>
            </a:extLst>
          </p:cNvPr>
          <p:cNvSpPr>
            <a:spLocks noChangeShapeType="1"/>
          </p:cNvSpPr>
          <p:nvPr/>
        </p:nvSpPr>
        <p:spPr bwMode="auto">
          <a:xfrm>
            <a:off x="6324498" y="4654550"/>
            <a:ext cx="0" cy="79375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87" name="Line 86">
            <a:extLst>
              <a:ext uri="{FF2B5EF4-FFF2-40B4-BE49-F238E27FC236}">
                <a16:creationId xmlns:a16="http://schemas.microsoft.com/office/drawing/2014/main" id="{BEF0310A-D7D4-6D94-ADD9-9FC0DAA6C8D2}"/>
              </a:ext>
            </a:extLst>
          </p:cNvPr>
          <p:cNvSpPr>
            <a:spLocks noChangeShapeType="1"/>
          </p:cNvSpPr>
          <p:nvPr/>
        </p:nvSpPr>
        <p:spPr bwMode="auto">
          <a:xfrm>
            <a:off x="6521348" y="4654550"/>
            <a:ext cx="0" cy="1787525"/>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88" name="Line 87">
            <a:extLst>
              <a:ext uri="{FF2B5EF4-FFF2-40B4-BE49-F238E27FC236}">
                <a16:creationId xmlns:a16="http://schemas.microsoft.com/office/drawing/2014/main" id="{E9E17581-3C5D-2DA3-731C-479F4F61D327}"/>
              </a:ext>
            </a:extLst>
          </p:cNvPr>
          <p:cNvSpPr>
            <a:spLocks noChangeShapeType="1"/>
          </p:cNvSpPr>
          <p:nvPr/>
        </p:nvSpPr>
        <p:spPr bwMode="auto">
          <a:xfrm>
            <a:off x="6521348" y="6442075"/>
            <a:ext cx="592138"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89" name="Line 88">
            <a:extLst>
              <a:ext uri="{FF2B5EF4-FFF2-40B4-BE49-F238E27FC236}">
                <a16:creationId xmlns:a16="http://schemas.microsoft.com/office/drawing/2014/main" id="{FEF4F517-C700-25DB-E106-6A75A2412819}"/>
              </a:ext>
            </a:extLst>
          </p:cNvPr>
          <p:cNvSpPr>
            <a:spLocks noChangeShapeType="1"/>
          </p:cNvSpPr>
          <p:nvPr/>
        </p:nvSpPr>
        <p:spPr bwMode="auto">
          <a:xfrm>
            <a:off x="5929211" y="5448300"/>
            <a:ext cx="592137"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90" name="Rectangle 89">
            <a:extLst>
              <a:ext uri="{FF2B5EF4-FFF2-40B4-BE49-F238E27FC236}">
                <a16:creationId xmlns:a16="http://schemas.microsoft.com/office/drawing/2014/main" id="{EFE0AD5D-DC1C-0BEE-2F6B-A8BB25F51124}"/>
              </a:ext>
            </a:extLst>
          </p:cNvPr>
          <p:cNvSpPr>
            <a:spLocks noChangeArrowheads="1"/>
          </p:cNvSpPr>
          <p:nvPr/>
        </p:nvSpPr>
        <p:spPr bwMode="auto">
          <a:xfrm>
            <a:off x="3146323" y="4630737"/>
            <a:ext cx="547688" cy="66833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105000"/>
              </a:lnSpc>
            </a:pPr>
            <a:r>
              <a:rPr lang="en-US" altLang="en-US" sz="1200" b="1">
                <a:latin typeface="+mj-lt"/>
              </a:rPr>
              <a:t>Our</a:t>
            </a:r>
          </a:p>
          <a:p>
            <a:pPr>
              <a:lnSpc>
                <a:spcPct val="105000"/>
              </a:lnSpc>
            </a:pPr>
            <a:r>
              <a:rPr lang="en-US" altLang="en-US" sz="1200" b="1">
                <a:latin typeface="+mj-lt"/>
              </a:rPr>
              <a:t>A’s</a:t>
            </a:r>
          </a:p>
          <a:p>
            <a:pPr>
              <a:lnSpc>
                <a:spcPct val="105000"/>
              </a:lnSpc>
            </a:pPr>
            <a:r>
              <a:rPr lang="en-US" altLang="en-US" sz="1200" b="1">
                <a:latin typeface="+mj-lt"/>
              </a:rPr>
              <a:t>B’s</a:t>
            </a:r>
          </a:p>
        </p:txBody>
      </p:sp>
      <p:sp>
        <p:nvSpPr>
          <p:cNvPr id="91" name="Line 90">
            <a:extLst>
              <a:ext uri="{FF2B5EF4-FFF2-40B4-BE49-F238E27FC236}">
                <a16:creationId xmlns:a16="http://schemas.microsoft.com/office/drawing/2014/main" id="{C9398C8A-9EE4-CABE-D433-3E246DE01973}"/>
              </a:ext>
            </a:extLst>
          </p:cNvPr>
          <p:cNvSpPr>
            <a:spLocks noChangeShapeType="1"/>
          </p:cNvSpPr>
          <p:nvPr/>
        </p:nvSpPr>
        <p:spPr bwMode="auto">
          <a:xfrm>
            <a:off x="7507186" y="3065462"/>
            <a:ext cx="0" cy="1589088"/>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92" name="Line 91">
            <a:extLst>
              <a:ext uri="{FF2B5EF4-FFF2-40B4-BE49-F238E27FC236}">
                <a16:creationId xmlns:a16="http://schemas.microsoft.com/office/drawing/2014/main" id="{27A581C5-592D-473F-67F2-582560C7D79B}"/>
              </a:ext>
            </a:extLst>
          </p:cNvPr>
          <p:cNvSpPr>
            <a:spLocks noChangeShapeType="1"/>
          </p:cNvSpPr>
          <p:nvPr/>
        </p:nvSpPr>
        <p:spPr bwMode="auto">
          <a:xfrm>
            <a:off x="7507186" y="4654550"/>
            <a:ext cx="0" cy="1782762"/>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93" name="Line 92">
            <a:extLst>
              <a:ext uri="{FF2B5EF4-FFF2-40B4-BE49-F238E27FC236}">
                <a16:creationId xmlns:a16="http://schemas.microsoft.com/office/drawing/2014/main" id="{7716A734-9799-B583-0C03-DF90BA10B3CC}"/>
              </a:ext>
            </a:extLst>
          </p:cNvPr>
          <p:cNvSpPr>
            <a:spLocks noChangeShapeType="1"/>
          </p:cNvSpPr>
          <p:nvPr/>
        </p:nvSpPr>
        <p:spPr bwMode="auto">
          <a:xfrm flipH="1">
            <a:off x="7111898" y="6442075"/>
            <a:ext cx="395288"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94" name="Line 93">
            <a:extLst>
              <a:ext uri="{FF2B5EF4-FFF2-40B4-BE49-F238E27FC236}">
                <a16:creationId xmlns:a16="http://schemas.microsoft.com/office/drawing/2014/main" id="{7CC5B8B8-E819-DBC2-7027-83C61F52AC26}"/>
              </a:ext>
            </a:extLst>
          </p:cNvPr>
          <p:cNvSpPr>
            <a:spLocks noChangeShapeType="1"/>
          </p:cNvSpPr>
          <p:nvPr/>
        </p:nvSpPr>
        <p:spPr bwMode="auto">
          <a:xfrm flipV="1">
            <a:off x="7111898" y="3063875"/>
            <a:ext cx="941388" cy="1587"/>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95" name="Line 94">
            <a:extLst>
              <a:ext uri="{FF2B5EF4-FFF2-40B4-BE49-F238E27FC236}">
                <a16:creationId xmlns:a16="http://schemas.microsoft.com/office/drawing/2014/main" id="{C19CDF46-5891-C68D-F250-3BB58662C363}"/>
              </a:ext>
            </a:extLst>
          </p:cNvPr>
          <p:cNvSpPr>
            <a:spLocks noChangeShapeType="1"/>
          </p:cNvSpPr>
          <p:nvPr/>
        </p:nvSpPr>
        <p:spPr bwMode="auto">
          <a:xfrm>
            <a:off x="7111898" y="4654550"/>
            <a:ext cx="395288"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96" name="Line 95">
            <a:extLst>
              <a:ext uri="{FF2B5EF4-FFF2-40B4-BE49-F238E27FC236}">
                <a16:creationId xmlns:a16="http://schemas.microsoft.com/office/drawing/2014/main" id="{0E792C49-8976-528A-9A81-ED6B4787F8C0}"/>
              </a:ext>
            </a:extLst>
          </p:cNvPr>
          <p:cNvSpPr>
            <a:spLocks noChangeShapeType="1"/>
          </p:cNvSpPr>
          <p:nvPr/>
        </p:nvSpPr>
        <p:spPr bwMode="auto">
          <a:xfrm>
            <a:off x="7489723" y="4654550"/>
            <a:ext cx="563563"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97" name="Line 96">
            <a:extLst>
              <a:ext uri="{FF2B5EF4-FFF2-40B4-BE49-F238E27FC236}">
                <a16:creationId xmlns:a16="http://schemas.microsoft.com/office/drawing/2014/main" id="{44FF2DD4-223B-B042-E11D-9D098885C412}"/>
              </a:ext>
            </a:extLst>
          </p:cNvPr>
          <p:cNvSpPr>
            <a:spLocks noChangeShapeType="1"/>
          </p:cNvSpPr>
          <p:nvPr/>
        </p:nvSpPr>
        <p:spPr bwMode="auto">
          <a:xfrm>
            <a:off x="6521348" y="3263900"/>
            <a:ext cx="985838"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98" name="Line 97">
            <a:extLst>
              <a:ext uri="{FF2B5EF4-FFF2-40B4-BE49-F238E27FC236}">
                <a16:creationId xmlns:a16="http://schemas.microsoft.com/office/drawing/2014/main" id="{C6C4D212-F277-7CE8-6296-691C613248E0}"/>
              </a:ext>
            </a:extLst>
          </p:cNvPr>
          <p:cNvSpPr>
            <a:spLocks noChangeShapeType="1"/>
          </p:cNvSpPr>
          <p:nvPr/>
        </p:nvSpPr>
        <p:spPr bwMode="auto">
          <a:xfrm>
            <a:off x="6521348" y="3859212"/>
            <a:ext cx="985838"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99" name="Line 98">
            <a:extLst>
              <a:ext uri="{FF2B5EF4-FFF2-40B4-BE49-F238E27FC236}">
                <a16:creationId xmlns:a16="http://schemas.microsoft.com/office/drawing/2014/main" id="{333D38C7-80DF-38F4-586E-7182F4A829DA}"/>
              </a:ext>
            </a:extLst>
          </p:cNvPr>
          <p:cNvSpPr>
            <a:spLocks noChangeShapeType="1"/>
          </p:cNvSpPr>
          <p:nvPr/>
        </p:nvSpPr>
        <p:spPr bwMode="auto">
          <a:xfrm>
            <a:off x="6521348" y="4059237"/>
            <a:ext cx="985838"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00" name="Line 99">
            <a:extLst>
              <a:ext uri="{FF2B5EF4-FFF2-40B4-BE49-F238E27FC236}">
                <a16:creationId xmlns:a16="http://schemas.microsoft.com/office/drawing/2014/main" id="{BE3418FB-65C0-2FCE-D621-20087A509B72}"/>
              </a:ext>
            </a:extLst>
          </p:cNvPr>
          <p:cNvSpPr>
            <a:spLocks noChangeShapeType="1"/>
          </p:cNvSpPr>
          <p:nvPr/>
        </p:nvSpPr>
        <p:spPr bwMode="auto">
          <a:xfrm>
            <a:off x="6521348" y="4256087"/>
            <a:ext cx="985838"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01" name="Line 100">
            <a:extLst>
              <a:ext uri="{FF2B5EF4-FFF2-40B4-BE49-F238E27FC236}">
                <a16:creationId xmlns:a16="http://schemas.microsoft.com/office/drawing/2014/main" id="{642019FE-CF2B-76D3-91FA-5CBD526BB52C}"/>
              </a:ext>
            </a:extLst>
          </p:cNvPr>
          <p:cNvSpPr>
            <a:spLocks noChangeShapeType="1"/>
          </p:cNvSpPr>
          <p:nvPr/>
        </p:nvSpPr>
        <p:spPr bwMode="auto">
          <a:xfrm>
            <a:off x="6521348" y="4456112"/>
            <a:ext cx="985838"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02" name="Line 101">
            <a:extLst>
              <a:ext uri="{FF2B5EF4-FFF2-40B4-BE49-F238E27FC236}">
                <a16:creationId xmlns:a16="http://schemas.microsoft.com/office/drawing/2014/main" id="{C8718D33-ED2C-0311-B0BE-504FD6599A69}"/>
              </a:ext>
            </a:extLst>
          </p:cNvPr>
          <p:cNvSpPr>
            <a:spLocks noChangeShapeType="1"/>
          </p:cNvSpPr>
          <p:nvPr/>
        </p:nvSpPr>
        <p:spPr bwMode="auto">
          <a:xfrm>
            <a:off x="6521348" y="3462337"/>
            <a:ext cx="985838"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03" name="Line 102">
            <a:extLst>
              <a:ext uri="{FF2B5EF4-FFF2-40B4-BE49-F238E27FC236}">
                <a16:creationId xmlns:a16="http://schemas.microsoft.com/office/drawing/2014/main" id="{89627EA8-434A-A47F-56AD-84A7A27303AA}"/>
              </a:ext>
            </a:extLst>
          </p:cNvPr>
          <p:cNvSpPr>
            <a:spLocks noChangeShapeType="1"/>
          </p:cNvSpPr>
          <p:nvPr/>
        </p:nvSpPr>
        <p:spPr bwMode="auto">
          <a:xfrm>
            <a:off x="6521348" y="3662362"/>
            <a:ext cx="985838"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04" name="Line 103">
            <a:extLst>
              <a:ext uri="{FF2B5EF4-FFF2-40B4-BE49-F238E27FC236}">
                <a16:creationId xmlns:a16="http://schemas.microsoft.com/office/drawing/2014/main" id="{984B7521-7ED5-1952-F680-7FBC5BEF5CA2}"/>
              </a:ext>
            </a:extLst>
          </p:cNvPr>
          <p:cNvSpPr>
            <a:spLocks noChangeShapeType="1"/>
          </p:cNvSpPr>
          <p:nvPr/>
        </p:nvSpPr>
        <p:spPr bwMode="auto">
          <a:xfrm>
            <a:off x="4746523" y="3065462"/>
            <a:ext cx="0" cy="1589088"/>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05" name="Rectangle 104">
            <a:extLst>
              <a:ext uri="{FF2B5EF4-FFF2-40B4-BE49-F238E27FC236}">
                <a16:creationId xmlns:a16="http://schemas.microsoft.com/office/drawing/2014/main" id="{7B1B490C-1631-9B02-A911-E89A9FB25980}"/>
              </a:ext>
            </a:extLst>
          </p:cNvPr>
          <p:cNvSpPr>
            <a:spLocks noChangeArrowheads="1"/>
          </p:cNvSpPr>
          <p:nvPr/>
        </p:nvSpPr>
        <p:spPr bwMode="auto">
          <a:xfrm rot="16200000">
            <a:off x="6089549" y="4984082"/>
            <a:ext cx="1858962" cy="105067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105000"/>
              </a:lnSpc>
            </a:pPr>
            <a:r>
              <a:rPr lang="en-US" altLang="en-US" sz="1200" b="1" dirty="0">
                <a:latin typeface="+mj-lt"/>
              </a:rPr>
              <a:t>Customer Importance</a:t>
            </a:r>
          </a:p>
          <a:p>
            <a:pPr>
              <a:lnSpc>
                <a:spcPct val="105000"/>
              </a:lnSpc>
            </a:pPr>
            <a:r>
              <a:rPr lang="en-US" altLang="en-US" sz="1200" b="1" dirty="0">
                <a:latin typeface="+mj-lt"/>
              </a:rPr>
              <a:t>Target Value</a:t>
            </a:r>
          </a:p>
          <a:p>
            <a:pPr>
              <a:lnSpc>
                <a:spcPct val="105000"/>
              </a:lnSpc>
            </a:pPr>
            <a:r>
              <a:rPr lang="en-US" altLang="en-US" sz="1200" b="1" dirty="0">
                <a:latin typeface="+mj-lt"/>
              </a:rPr>
              <a:t>Scale-up Factor</a:t>
            </a:r>
          </a:p>
          <a:p>
            <a:pPr>
              <a:lnSpc>
                <a:spcPct val="105000"/>
              </a:lnSpc>
            </a:pPr>
            <a:r>
              <a:rPr lang="en-US" altLang="en-US" sz="1200" b="1" dirty="0">
                <a:latin typeface="+mj-lt"/>
              </a:rPr>
              <a:t>Sales Point</a:t>
            </a:r>
          </a:p>
          <a:p>
            <a:pPr>
              <a:lnSpc>
                <a:spcPct val="105000"/>
              </a:lnSpc>
            </a:pPr>
            <a:r>
              <a:rPr lang="en-US" altLang="en-US" sz="1200" b="1" dirty="0">
                <a:latin typeface="+mj-lt"/>
              </a:rPr>
              <a:t>Absolute Weight</a:t>
            </a:r>
          </a:p>
        </p:txBody>
      </p:sp>
      <p:sp>
        <p:nvSpPr>
          <p:cNvPr id="106" name="Line 105">
            <a:extLst>
              <a:ext uri="{FF2B5EF4-FFF2-40B4-BE49-F238E27FC236}">
                <a16:creationId xmlns:a16="http://schemas.microsoft.com/office/drawing/2014/main" id="{873634B8-4A12-EC6B-58F2-0D09CFCC551A}"/>
              </a:ext>
            </a:extLst>
          </p:cNvPr>
          <p:cNvSpPr>
            <a:spLocks noChangeShapeType="1"/>
          </p:cNvSpPr>
          <p:nvPr/>
        </p:nvSpPr>
        <p:spPr bwMode="auto">
          <a:xfrm>
            <a:off x="7310336" y="3065462"/>
            <a:ext cx="0" cy="3368675"/>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07" name="Line 106">
            <a:extLst>
              <a:ext uri="{FF2B5EF4-FFF2-40B4-BE49-F238E27FC236}">
                <a16:creationId xmlns:a16="http://schemas.microsoft.com/office/drawing/2014/main" id="{4B9A599E-B4A5-FF26-604F-8A8BD1709293}"/>
              </a:ext>
            </a:extLst>
          </p:cNvPr>
          <p:cNvSpPr>
            <a:spLocks noChangeShapeType="1"/>
          </p:cNvSpPr>
          <p:nvPr/>
        </p:nvSpPr>
        <p:spPr bwMode="auto">
          <a:xfrm>
            <a:off x="2182711" y="5249862"/>
            <a:ext cx="3746500"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08" name="Line 107">
            <a:extLst>
              <a:ext uri="{FF2B5EF4-FFF2-40B4-BE49-F238E27FC236}">
                <a16:creationId xmlns:a16="http://schemas.microsoft.com/office/drawing/2014/main" id="{2D9F9CDA-9650-47E1-F0D7-4E5C4EF372C5}"/>
              </a:ext>
            </a:extLst>
          </p:cNvPr>
          <p:cNvSpPr>
            <a:spLocks noChangeShapeType="1"/>
          </p:cNvSpPr>
          <p:nvPr/>
        </p:nvSpPr>
        <p:spPr bwMode="auto">
          <a:xfrm>
            <a:off x="8056461" y="3065462"/>
            <a:ext cx="0" cy="1589088"/>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09" name="Line 108">
            <a:extLst>
              <a:ext uri="{FF2B5EF4-FFF2-40B4-BE49-F238E27FC236}">
                <a16:creationId xmlns:a16="http://schemas.microsoft.com/office/drawing/2014/main" id="{B57B4460-F7A5-FADC-73EB-D5D82BDB4FDB}"/>
              </a:ext>
            </a:extLst>
          </p:cNvPr>
          <p:cNvSpPr>
            <a:spLocks noChangeShapeType="1"/>
          </p:cNvSpPr>
          <p:nvPr/>
        </p:nvSpPr>
        <p:spPr bwMode="auto">
          <a:xfrm>
            <a:off x="5929211" y="881062"/>
            <a:ext cx="0" cy="396875"/>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10" name="Line 109">
            <a:extLst>
              <a:ext uri="{FF2B5EF4-FFF2-40B4-BE49-F238E27FC236}">
                <a16:creationId xmlns:a16="http://schemas.microsoft.com/office/drawing/2014/main" id="{7C147610-D236-8DBC-8A4F-BE39FD52A303}"/>
              </a:ext>
            </a:extLst>
          </p:cNvPr>
          <p:cNvSpPr>
            <a:spLocks noChangeShapeType="1"/>
          </p:cNvSpPr>
          <p:nvPr/>
        </p:nvSpPr>
        <p:spPr bwMode="auto">
          <a:xfrm>
            <a:off x="6718198" y="3065462"/>
            <a:ext cx="0" cy="337185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11" name="Line 110">
            <a:extLst>
              <a:ext uri="{FF2B5EF4-FFF2-40B4-BE49-F238E27FC236}">
                <a16:creationId xmlns:a16="http://schemas.microsoft.com/office/drawing/2014/main" id="{8B00E4E4-852E-7A49-F362-950499862398}"/>
              </a:ext>
            </a:extLst>
          </p:cNvPr>
          <p:cNvSpPr>
            <a:spLocks noChangeShapeType="1"/>
          </p:cNvSpPr>
          <p:nvPr/>
        </p:nvSpPr>
        <p:spPr bwMode="auto">
          <a:xfrm>
            <a:off x="6915048" y="3065462"/>
            <a:ext cx="0" cy="3368675"/>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12" name="Line 111">
            <a:extLst>
              <a:ext uri="{FF2B5EF4-FFF2-40B4-BE49-F238E27FC236}">
                <a16:creationId xmlns:a16="http://schemas.microsoft.com/office/drawing/2014/main" id="{E3BD064C-F967-CA67-909A-6EC91D05F715}"/>
              </a:ext>
            </a:extLst>
          </p:cNvPr>
          <p:cNvSpPr>
            <a:spLocks noChangeShapeType="1"/>
          </p:cNvSpPr>
          <p:nvPr/>
        </p:nvSpPr>
        <p:spPr bwMode="auto">
          <a:xfrm>
            <a:off x="7111898" y="3065462"/>
            <a:ext cx="0" cy="3368675"/>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grpSp>
        <p:nvGrpSpPr>
          <p:cNvPr id="113" name="Group 132">
            <a:extLst>
              <a:ext uri="{FF2B5EF4-FFF2-40B4-BE49-F238E27FC236}">
                <a16:creationId xmlns:a16="http://schemas.microsoft.com/office/drawing/2014/main" id="{8474ED48-0775-C1B4-CA66-093AC8BA33A7}"/>
              </a:ext>
            </a:extLst>
          </p:cNvPr>
          <p:cNvGrpSpPr>
            <a:grpSpLocks/>
          </p:cNvGrpSpPr>
          <p:nvPr/>
        </p:nvGrpSpPr>
        <p:grpSpPr bwMode="auto">
          <a:xfrm>
            <a:off x="4398861" y="3116262"/>
            <a:ext cx="1481137" cy="1285875"/>
            <a:chOff x="1749" y="1990"/>
            <a:chExt cx="933" cy="810"/>
          </a:xfrm>
        </p:grpSpPr>
        <p:sp>
          <p:nvSpPr>
            <p:cNvPr id="114" name="Oval 112">
              <a:extLst>
                <a:ext uri="{FF2B5EF4-FFF2-40B4-BE49-F238E27FC236}">
                  <a16:creationId xmlns:a16="http://schemas.microsoft.com/office/drawing/2014/main" id="{6190A13A-B055-129B-C32F-5EDF14DFE467}"/>
                </a:ext>
              </a:extLst>
            </p:cNvPr>
            <p:cNvSpPr>
              <a:spLocks noChangeArrowheads="1"/>
            </p:cNvSpPr>
            <p:nvPr/>
          </p:nvSpPr>
          <p:spPr bwMode="auto">
            <a:xfrm>
              <a:off x="1754" y="2369"/>
              <a:ext cx="54" cy="54"/>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115" name="Oval 113">
              <a:extLst>
                <a:ext uri="{FF2B5EF4-FFF2-40B4-BE49-F238E27FC236}">
                  <a16:creationId xmlns:a16="http://schemas.microsoft.com/office/drawing/2014/main" id="{C2852E4F-84F6-F518-FAD1-651847994159}"/>
                </a:ext>
              </a:extLst>
            </p:cNvPr>
            <p:cNvSpPr>
              <a:spLocks noChangeArrowheads="1"/>
            </p:cNvSpPr>
            <p:nvPr/>
          </p:nvSpPr>
          <p:spPr bwMode="auto">
            <a:xfrm>
              <a:off x="1770" y="2384"/>
              <a:ext cx="23" cy="24"/>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116" name="Oval 114">
              <a:extLst>
                <a:ext uri="{FF2B5EF4-FFF2-40B4-BE49-F238E27FC236}">
                  <a16:creationId xmlns:a16="http://schemas.microsoft.com/office/drawing/2014/main" id="{042C3D47-5DB1-277E-9DC6-2D2222E70D99}"/>
                </a:ext>
              </a:extLst>
            </p:cNvPr>
            <p:cNvSpPr>
              <a:spLocks noChangeArrowheads="1"/>
            </p:cNvSpPr>
            <p:nvPr/>
          </p:nvSpPr>
          <p:spPr bwMode="auto">
            <a:xfrm>
              <a:off x="1883" y="2119"/>
              <a:ext cx="54" cy="55"/>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117" name="AutoShape 115">
              <a:extLst>
                <a:ext uri="{FF2B5EF4-FFF2-40B4-BE49-F238E27FC236}">
                  <a16:creationId xmlns:a16="http://schemas.microsoft.com/office/drawing/2014/main" id="{15C8F51F-9D53-D7BD-7CA5-C68136260760}"/>
                </a:ext>
              </a:extLst>
            </p:cNvPr>
            <p:cNvSpPr>
              <a:spLocks noChangeArrowheads="1"/>
            </p:cNvSpPr>
            <p:nvPr/>
          </p:nvSpPr>
          <p:spPr bwMode="auto">
            <a:xfrm>
              <a:off x="2370" y="2114"/>
              <a:ext cx="54" cy="55"/>
            </a:xfrm>
            <a:prstGeom prst="triangle">
              <a:avLst>
                <a:gd name="adj" fmla="val 49995"/>
              </a:avLst>
            </a:prstGeom>
            <a:noFill/>
            <a:ln w="127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118" name="Oval 116">
              <a:extLst>
                <a:ext uri="{FF2B5EF4-FFF2-40B4-BE49-F238E27FC236}">
                  <a16:creationId xmlns:a16="http://schemas.microsoft.com/office/drawing/2014/main" id="{CC6B723C-55EE-EE18-E2B7-B1F767FBF630}"/>
                </a:ext>
              </a:extLst>
            </p:cNvPr>
            <p:cNvSpPr>
              <a:spLocks noChangeArrowheads="1"/>
            </p:cNvSpPr>
            <p:nvPr/>
          </p:nvSpPr>
          <p:spPr bwMode="auto">
            <a:xfrm>
              <a:off x="2127" y="1993"/>
              <a:ext cx="54" cy="55"/>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119" name="Oval 117">
              <a:extLst>
                <a:ext uri="{FF2B5EF4-FFF2-40B4-BE49-F238E27FC236}">
                  <a16:creationId xmlns:a16="http://schemas.microsoft.com/office/drawing/2014/main" id="{0F5F3546-236B-B4C5-FB45-892DE67C911B}"/>
                </a:ext>
              </a:extLst>
            </p:cNvPr>
            <p:cNvSpPr>
              <a:spLocks noChangeArrowheads="1"/>
            </p:cNvSpPr>
            <p:nvPr/>
          </p:nvSpPr>
          <p:spPr bwMode="auto">
            <a:xfrm>
              <a:off x="2142" y="2008"/>
              <a:ext cx="23" cy="26"/>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120" name="Oval 118">
              <a:extLst>
                <a:ext uri="{FF2B5EF4-FFF2-40B4-BE49-F238E27FC236}">
                  <a16:creationId xmlns:a16="http://schemas.microsoft.com/office/drawing/2014/main" id="{4162661D-D39B-9E3B-2521-9385CE17E502}"/>
                </a:ext>
              </a:extLst>
            </p:cNvPr>
            <p:cNvSpPr>
              <a:spLocks noChangeArrowheads="1"/>
            </p:cNvSpPr>
            <p:nvPr/>
          </p:nvSpPr>
          <p:spPr bwMode="auto">
            <a:xfrm>
              <a:off x="2251" y="2369"/>
              <a:ext cx="54" cy="54"/>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121" name="Oval 119">
              <a:extLst>
                <a:ext uri="{FF2B5EF4-FFF2-40B4-BE49-F238E27FC236}">
                  <a16:creationId xmlns:a16="http://schemas.microsoft.com/office/drawing/2014/main" id="{8BB08270-D6EE-AF75-AE92-9BDCC98944E7}"/>
                </a:ext>
              </a:extLst>
            </p:cNvPr>
            <p:cNvSpPr>
              <a:spLocks noChangeArrowheads="1"/>
            </p:cNvSpPr>
            <p:nvPr/>
          </p:nvSpPr>
          <p:spPr bwMode="auto">
            <a:xfrm>
              <a:off x="2266" y="2384"/>
              <a:ext cx="24" cy="24"/>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122" name="Oval 120">
              <a:extLst>
                <a:ext uri="{FF2B5EF4-FFF2-40B4-BE49-F238E27FC236}">
                  <a16:creationId xmlns:a16="http://schemas.microsoft.com/office/drawing/2014/main" id="{8394EB51-A8C0-6277-8413-A065F6F10868}"/>
                </a:ext>
              </a:extLst>
            </p:cNvPr>
            <p:cNvSpPr>
              <a:spLocks noChangeArrowheads="1"/>
            </p:cNvSpPr>
            <p:nvPr/>
          </p:nvSpPr>
          <p:spPr bwMode="auto">
            <a:xfrm>
              <a:off x="2003" y="2493"/>
              <a:ext cx="54" cy="56"/>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123" name="Oval 121">
              <a:extLst>
                <a:ext uri="{FF2B5EF4-FFF2-40B4-BE49-F238E27FC236}">
                  <a16:creationId xmlns:a16="http://schemas.microsoft.com/office/drawing/2014/main" id="{10942541-F6ED-92B6-8524-DB6E27860613}"/>
                </a:ext>
              </a:extLst>
            </p:cNvPr>
            <p:cNvSpPr>
              <a:spLocks noChangeArrowheads="1"/>
            </p:cNvSpPr>
            <p:nvPr/>
          </p:nvSpPr>
          <p:spPr bwMode="auto">
            <a:xfrm>
              <a:off x="2018" y="2509"/>
              <a:ext cx="23" cy="25"/>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124" name="Oval 122">
              <a:extLst>
                <a:ext uri="{FF2B5EF4-FFF2-40B4-BE49-F238E27FC236}">
                  <a16:creationId xmlns:a16="http://schemas.microsoft.com/office/drawing/2014/main" id="{1FADB241-7C30-33B1-231C-740E97CAB1CD}"/>
                </a:ext>
              </a:extLst>
            </p:cNvPr>
            <p:cNvSpPr>
              <a:spLocks noChangeArrowheads="1"/>
            </p:cNvSpPr>
            <p:nvPr/>
          </p:nvSpPr>
          <p:spPr bwMode="auto">
            <a:xfrm>
              <a:off x="2623" y="2743"/>
              <a:ext cx="54" cy="56"/>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125" name="Oval 123">
              <a:extLst>
                <a:ext uri="{FF2B5EF4-FFF2-40B4-BE49-F238E27FC236}">
                  <a16:creationId xmlns:a16="http://schemas.microsoft.com/office/drawing/2014/main" id="{9C856786-F891-C84C-BF5F-B0583097557C}"/>
                </a:ext>
              </a:extLst>
            </p:cNvPr>
            <p:cNvSpPr>
              <a:spLocks noChangeArrowheads="1"/>
            </p:cNvSpPr>
            <p:nvPr/>
          </p:nvSpPr>
          <p:spPr bwMode="auto">
            <a:xfrm>
              <a:off x="2639" y="2760"/>
              <a:ext cx="23" cy="24"/>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126" name="Oval 124">
              <a:extLst>
                <a:ext uri="{FF2B5EF4-FFF2-40B4-BE49-F238E27FC236}">
                  <a16:creationId xmlns:a16="http://schemas.microsoft.com/office/drawing/2014/main" id="{5BB63444-5DE1-0A0B-6D45-A288C333984B}"/>
                </a:ext>
              </a:extLst>
            </p:cNvPr>
            <p:cNvSpPr>
              <a:spLocks noChangeArrowheads="1"/>
            </p:cNvSpPr>
            <p:nvPr/>
          </p:nvSpPr>
          <p:spPr bwMode="auto">
            <a:xfrm>
              <a:off x="2131" y="2370"/>
              <a:ext cx="54" cy="54"/>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127" name="Oval 125">
              <a:extLst>
                <a:ext uri="{FF2B5EF4-FFF2-40B4-BE49-F238E27FC236}">
                  <a16:creationId xmlns:a16="http://schemas.microsoft.com/office/drawing/2014/main" id="{AC1A959B-34C1-C845-3E90-CC37CBB64E03}"/>
                </a:ext>
              </a:extLst>
            </p:cNvPr>
            <p:cNvSpPr>
              <a:spLocks noChangeArrowheads="1"/>
            </p:cNvSpPr>
            <p:nvPr/>
          </p:nvSpPr>
          <p:spPr bwMode="auto">
            <a:xfrm>
              <a:off x="2628" y="2495"/>
              <a:ext cx="54" cy="55"/>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128" name="Oval 126">
              <a:extLst>
                <a:ext uri="{FF2B5EF4-FFF2-40B4-BE49-F238E27FC236}">
                  <a16:creationId xmlns:a16="http://schemas.microsoft.com/office/drawing/2014/main" id="{6E782051-501F-E5BC-0BCE-6185508B80EB}"/>
                </a:ext>
              </a:extLst>
            </p:cNvPr>
            <p:cNvSpPr>
              <a:spLocks noChangeArrowheads="1"/>
            </p:cNvSpPr>
            <p:nvPr/>
          </p:nvSpPr>
          <p:spPr bwMode="auto">
            <a:xfrm>
              <a:off x="2007" y="2746"/>
              <a:ext cx="54" cy="54"/>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129" name="Oval 127">
              <a:extLst>
                <a:ext uri="{FF2B5EF4-FFF2-40B4-BE49-F238E27FC236}">
                  <a16:creationId xmlns:a16="http://schemas.microsoft.com/office/drawing/2014/main" id="{5484933B-076F-2440-D094-06D88BAA2D38}"/>
                </a:ext>
              </a:extLst>
            </p:cNvPr>
            <p:cNvSpPr>
              <a:spLocks noChangeArrowheads="1"/>
            </p:cNvSpPr>
            <p:nvPr/>
          </p:nvSpPr>
          <p:spPr bwMode="auto">
            <a:xfrm>
              <a:off x="2503" y="2746"/>
              <a:ext cx="54" cy="54"/>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130" name="AutoShape 128">
              <a:extLst>
                <a:ext uri="{FF2B5EF4-FFF2-40B4-BE49-F238E27FC236}">
                  <a16:creationId xmlns:a16="http://schemas.microsoft.com/office/drawing/2014/main" id="{706E408A-26E6-E5C9-45A6-BF8CD14D9666}"/>
                </a:ext>
              </a:extLst>
            </p:cNvPr>
            <p:cNvSpPr>
              <a:spLocks noChangeArrowheads="1"/>
            </p:cNvSpPr>
            <p:nvPr/>
          </p:nvSpPr>
          <p:spPr bwMode="auto">
            <a:xfrm>
              <a:off x="1749" y="1990"/>
              <a:ext cx="54" cy="54"/>
            </a:xfrm>
            <a:prstGeom prst="triangle">
              <a:avLst>
                <a:gd name="adj" fmla="val 49995"/>
              </a:avLst>
            </a:prstGeom>
            <a:noFill/>
            <a:ln w="127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131" name="AutoShape 129">
              <a:extLst>
                <a:ext uri="{FF2B5EF4-FFF2-40B4-BE49-F238E27FC236}">
                  <a16:creationId xmlns:a16="http://schemas.microsoft.com/office/drawing/2014/main" id="{67AD3885-EED1-BE57-9D53-713149842A40}"/>
                </a:ext>
              </a:extLst>
            </p:cNvPr>
            <p:cNvSpPr>
              <a:spLocks noChangeArrowheads="1"/>
            </p:cNvSpPr>
            <p:nvPr/>
          </p:nvSpPr>
          <p:spPr bwMode="auto">
            <a:xfrm>
              <a:off x="2618" y="2364"/>
              <a:ext cx="54" cy="55"/>
            </a:xfrm>
            <a:prstGeom prst="triangle">
              <a:avLst>
                <a:gd name="adj" fmla="val 49995"/>
              </a:avLst>
            </a:prstGeom>
            <a:noFill/>
            <a:ln w="127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132" name="AutoShape 130">
              <a:extLst>
                <a:ext uri="{FF2B5EF4-FFF2-40B4-BE49-F238E27FC236}">
                  <a16:creationId xmlns:a16="http://schemas.microsoft.com/office/drawing/2014/main" id="{E6993B84-A384-B6B5-4904-7BEA312F7171}"/>
                </a:ext>
              </a:extLst>
            </p:cNvPr>
            <p:cNvSpPr>
              <a:spLocks noChangeArrowheads="1"/>
            </p:cNvSpPr>
            <p:nvPr/>
          </p:nvSpPr>
          <p:spPr bwMode="auto">
            <a:xfrm>
              <a:off x="2494" y="2490"/>
              <a:ext cx="54" cy="54"/>
            </a:xfrm>
            <a:prstGeom prst="triangle">
              <a:avLst>
                <a:gd name="adj" fmla="val 49995"/>
              </a:avLst>
            </a:prstGeom>
            <a:noFill/>
            <a:ln w="127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133" name="AutoShape 131">
              <a:extLst>
                <a:ext uri="{FF2B5EF4-FFF2-40B4-BE49-F238E27FC236}">
                  <a16:creationId xmlns:a16="http://schemas.microsoft.com/office/drawing/2014/main" id="{5225D345-0DF2-A849-934D-A9B34DAEC170}"/>
                </a:ext>
              </a:extLst>
            </p:cNvPr>
            <p:cNvSpPr>
              <a:spLocks noChangeArrowheads="1"/>
            </p:cNvSpPr>
            <p:nvPr/>
          </p:nvSpPr>
          <p:spPr bwMode="auto">
            <a:xfrm>
              <a:off x="1873" y="2615"/>
              <a:ext cx="54" cy="54"/>
            </a:xfrm>
            <a:prstGeom prst="triangle">
              <a:avLst>
                <a:gd name="adj" fmla="val 49995"/>
              </a:avLst>
            </a:prstGeom>
            <a:noFill/>
            <a:ln w="127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grpSp>
      <p:grpSp>
        <p:nvGrpSpPr>
          <p:cNvPr id="134" name="Group 135">
            <a:extLst>
              <a:ext uri="{FF2B5EF4-FFF2-40B4-BE49-F238E27FC236}">
                <a16:creationId xmlns:a16="http://schemas.microsoft.com/office/drawing/2014/main" id="{B8BC2D77-6439-E481-491E-12026BF0F6C5}"/>
              </a:ext>
            </a:extLst>
          </p:cNvPr>
          <p:cNvGrpSpPr>
            <a:grpSpLocks/>
          </p:cNvGrpSpPr>
          <p:nvPr/>
        </p:nvGrpSpPr>
        <p:grpSpPr bwMode="auto">
          <a:xfrm>
            <a:off x="4287736" y="4619625"/>
            <a:ext cx="1692276" cy="277812"/>
            <a:chOff x="1679" y="2937"/>
            <a:chExt cx="1066" cy="175"/>
          </a:xfrm>
        </p:grpSpPr>
        <p:sp>
          <p:nvSpPr>
            <p:cNvPr id="135" name="Rectangle 133">
              <a:extLst>
                <a:ext uri="{FF2B5EF4-FFF2-40B4-BE49-F238E27FC236}">
                  <a16:creationId xmlns:a16="http://schemas.microsoft.com/office/drawing/2014/main" id="{49C90E0E-8EC6-6E07-7F37-7EF6840F4B3E}"/>
                </a:ext>
              </a:extLst>
            </p:cNvPr>
            <p:cNvSpPr>
              <a:spLocks noChangeArrowheads="1"/>
            </p:cNvSpPr>
            <p:nvPr/>
          </p:nvSpPr>
          <p:spPr bwMode="auto">
            <a:xfrm>
              <a:off x="1679" y="2937"/>
              <a:ext cx="577" cy="17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200" b="1">
                  <a:latin typeface="+mj-lt"/>
                </a:rPr>
                <a:t>1   3   4   2</a:t>
              </a:r>
            </a:p>
          </p:txBody>
        </p:sp>
        <p:sp>
          <p:nvSpPr>
            <p:cNvPr id="136" name="Rectangle 134">
              <a:extLst>
                <a:ext uri="{FF2B5EF4-FFF2-40B4-BE49-F238E27FC236}">
                  <a16:creationId xmlns:a16="http://schemas.microsoft.com/office/drawing/2014/main" id="{DBE2A74F-1BB3-8380-97B5-0DAEDBF7D105}"/>
                </a:ext>
              </a:extLst>
            </p:cNvPr>
            <p:cNvSpPr>
              <a:spLocks noChangeArrowheads="1"/>
            </p:cNvSpPr>
            <p:nvPr/>
          </p:nvSpPr>
          <p:spPr bwMode="auto">
            <a:xfrm>
              <a:off x="2168" y="2937"/>
              <a:ext cx="577" cy="17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200" b="1">
                  <a:latin typeface="+mj-lt"/>
                </a:rPr>
                <a:t>1   2   1   4</a:t>
              </a:r>
            </a:p>
          </p:txBody>
        </p:sp>
      </p:grpSp>
      <p:sp>
        <p:nvSpPr>
          <p:cNvPr id="137" name="Rectangle 136">
            <a:extLst>
              <a:ext uri="{FF2B5EF4-FFF2-40B4-BE49-F238E27FC236}">
                <a16:creationId xmlns:a16="http://schemas.microsoft.com/office/drawing/2014/main" id="{585EA9E7-38C3-2F84-2E85-E943FA2D1A9F}"/>
              </a:ext>
            </a:extLst>
          </p:cNvPr>
          <p:cNvSpPr>
            <a:spLocks noChangeArrowheads="1"/>
          </p:cNvSpPr>
          <p:nvPr/>
        </p:nvSpPr>
        <p:spPr bwMode="auto">
          <a:xfrm>
            <a:off x="5892976" y="3006725"/>
            <a:ext cx="270908" cy="170232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110000"/>
              </a:lnSpc>
            </a:pPr>
            <a:r>
              <a:rPr lang="en-US" altLang="en-US" sz="1200" b="1">
                <a:latin typeface="+mj-lt"/>
              </a:rPr>
              <a:t>5</a:t>
            </a:r>
          </a:p>
          <a:p>
            <a:pPr algn="ctr">
              <a:lnSpc>
                <a:spcPct val="110000"/>
              </a:lnSpc>
            </a:pPr>
            <a:r>
              <a:rPr lang="en-US" altLang="en-US" sz="1200" b="1">
                <a:latin typeface="+mj-lt"/>
              </a:rPr>
              <a:t>3</a:t>
            </a:r>
          </a:p>
          <a:p>
            <a:pPr algn="ctr">
              <a:lnSpc>
                <a:spcPct val="110000"/>
              </a:lnSpc>
            </a:pPr>
            <a:r>
              <a:rPr lang="en-US" altLang="en-US" sz="1200" b="1">
                <a:latin typeface="+mj-lt"/>
              </a:rPr>
              <a:t>1</a:t>
            </a:r>
          </a:p>
          <a:p>
            <a:pPr algn="ctr">
              <a:lnSpc>
                <a:spcPct val="110000"/>
              </a:lnSpc>
            </a:pPr>
            <a:r>
              <a:rPr lang="en-US" altLang="en-US" sz="1200" b="1">
                <a:latin typeface="+mj-lt"/>
              </a:rPr>
              <a:t>2</a:t>
            </a:r>
          </a:p>
          <a:p>
            <a:pPr algn="ctr">
              <a:lnSpc>
                <a:spcPct val="110000"/>
              </a:lnSpc>
            </a:pPr>
            <a:r>
              <a:rPr lang="en-US" altLang="en-US" sz="1200" b="1">
                <a:latin typeface="+mj-lt"/>
              </a:rPr>
              <a:t>5</a:t>
            </a:r>
          </a:p>
          <a:p>
            <a:pPr algn="ctr">
              <a:lnSpc>
                <a:spcPct val="110000"/>
              </a:lnSpc>
            </a:pPr>
            <a:r>
              <a:rPr lang="en-US" altLang="en-US" sz="1200" b="1">
                <a:latin typeface="+mj-lt"/>
              </a:rPr>
              <a:t>1</a:t>
            </a:r>
          </a:p>
          <a:p>
            <a:pPr algn="ctr">
              <a:lnSpc>
                <a:spcPct val="110000"/>
              </a:lnSpc>
            </a:pPr>
            <a:r>
              <a:rPr lang="en-US" altLang="en-US" sz="1200" b="1">
                <a:latin typeface="+mj-lt"/>
              </a:rPr>
              <a:t>4</a:t>
            </a:r>
          </a:p>
          <a:p>
            <a:pPr algn="ctr">
              <a:lnSpc>
                <a:spcPct val="110000"/>
              </a:lnSpc>
            </a:pPr>
            <a:r>
              <a:rPr lang="en-US" altLang="en-US" sz="1200" b="1">
                <a:latin typeface="+mj-lt"/>
              </a:rPr>
              <a:t>4</a:t>
            </a:r>
          </a:p>
        </p:txBody>
      </p:sp>
      <p:sp>
        <p:nvSpPr>
          <p:cNvPr id="138" name="Rectangle 137">
            <a:extLst>
              <a:ext uri="{FF2B5EF4-FFF2-40B4-BE49-F238E27FC236}">
                <a16:creationId xmlns:a16="http://schemas.microsoft.com/office/drawing/2014/main" id="{17120845-BA1C-98D2-8824-2E6D634377B6}"/>
              </a:ext>
            </a:extLst>
          </p:cNvPr>
          <p:cNvSpPr>
            <a:spLocks noChangeArrowheads="1"/>
          </p:cNvSpPr>
          <p:nvPr/>
        </p:nvSpPr>
        <p:spPr bwMode="auto">
          <a:xfrm>
            <a:off x="6683273" y="3006725"/>
            <a:ext cx="268288" cy="170497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110000"/>
              </a:lnSpc>
            </a:pPr>
            <a:r>
              <a:rPr lang="en-US" altLang="en-US" sz="1200" b="1">
                <a:latin typeface="+mj-lt"/>
              </a:rPr>
              <a:t>5</a:t>
            </a:r>
          </a:p>
          <a:p>
            <a:pPr algn="ctr">
              <a:lnSpc>
                <a:spcPct val="110000"/>
              </a:lnSpc>
            </a:pPr>
            <a:r>
              <a:rPr lang="en-US" altLang="en-US" sz="1200" b="1">
                <a:latin typeface="+mj-lt"/>
              </a:rPr>
              <a:t>3</a:t>
            </a:r>
          </a:p>
          <a:p>
            <a:pPr algn="ctr">
              <a:lnSpc>
                <a:spcPct val="110000"/>
              </a:lnSpc>
            </a:pPr>
            <a:r>
              <a:rPr lang="en-US" altLang="en-US" sz="1200" b="1">
                <a:latin typeface="+mj-lt"/>
              </a:rPr>
              <a:t>2</a:t>
            </a:r>
          </a:p>
          <a:p>
            <a:pPr algn="ctr">
              <a:lnSpc>
                <a:spcPct val="110000"/>
              </a:lnSpc>
            </a:pPr>
            <a:r>
              <a:rPr lang="en-US" altLang="en-US" sz="1200" b="1">
                <a:latin typeface="+mj-lt"/>
              </a:rPr>
              <a:t>3</a:t>
            </a:r>
          </a:p>
          <a:p>
            <a:pPr algn="ctr">
              <a:lnSpc>
                <a:spcPct val="110000"/>
              </a:lnSpc>
            </a:pPr>
            <a:r>
              <a:rPr lang="en-US" altLang="en-US" sz="1200" b="1">
                <a:latin typeface="+mj-lt"/>
              </a:rPr>
              <a:t>5</a:t>
            </a:r>
          </a:p>
          <a:p>
            <a:pPr algn="ctr">
              <a:lnSpc>
                <a:spcPct val="110000"/>
              </a:lnSpc>
            </a:pPr>
            <a:r>
              <a:rPr lang="en-US" altLang="en-US" sz="1200" b="1">
                <a:latin typeface="+mj-lt"/>
              </a:rPr>
              <a:t>2</a:t>
            </a:r>
          </a:p>
          <a:p>
            <a:pPr algn="ctr">
              <a:lnSpc>
                <a:spcPct val="110000"/>
              </a:lnSpc>
            </a:pPr>
            <a:r>
              <a:rPr lang="en-US" altLang="en-US" sz="1200" b="1">
                <a:latin typeface="+mj-lt"/>
              </a:rPr>
              <a:t>4</a:t>
            </a:r>
          </a:p>
          <a:p>
            <a:pPr algn="ctr">
              <a:lnSpc>
                <a:spcPct val="110000"/>
              </a:lnSpc>
            </a:pPr>
            <a:r>
              <a:rPr lang="en-US" altLang="en-US" sz="1200" b="1">
                <a:latin typeface="+mj-lt"/>
              </a:rPr>
              <a:t>4</a:t>
            </a:r>
          </a:p>
        </p:txBody>
      </p:sp>
      <p:sp>
        <p:nvSpPr>
          <p:cNvPr id="139" name="Rectangle 138">
            <a:extLst>
              <a:ext uri="{FF2B5EF4-FFF2-40B4-BE49-F238E27FC236}">
                <a16:creationId xmlns:a16="http://schemas.microsoft.com/office/drawing/2014/main" id="{CC23240D-1F1A-99C8-4E64-9516BB36F36C}"/>
              </a:ext>
            </a:extLst>
          </p:cNvPr>
          <p:cNvSpPr>
            <a:spLocks noChangeArrowheads="1"/>
          </p:cNvSpPr>
          <p:nvPr/>
        </p:nvSpPr>
        <p:spPr bwMode="auto">
          <a:xfrm>
            <a:off x="6759473" y="3613150"/>
            <a:ext cx="493713" cy="47307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125000"/>
              </a:lnSpc>
            </a:pPr>
            <a:r>
              <a:rPr lang="en-US" altLang="en-US" sz="1000" b="1">
                <a:latin typeface="+mj-lt"/>
              </a:rPr>
              <a:t>1.5</a:t>
            </a:r>
          </a:p>
          <a:p>
            <a:pPr algn="ctr">
              <a:lnSpc>
                <a:spcPct val="125000"/>
              </a:lnSpc>
            </a:pPr>
            <a:r>
              <a:rPr lang="en-US" altLang="en-US" sz="1000" b="1">
                <a:latin typeface="+mj-lt"/>
              </a:rPr>
              <a:t>1</a:t>
            </a:r>
          </a:p>
        </p:txBody>
      </p:sp>
      <p:sp>
        <p:nvSpPr>
          <p:cNvPr id="140" name="Rectangle 139">
            <a:extLst>
              <a:ext uri="{FF2B5EF4-FFF2-40B4-BE49-F238E27FC236}">
                <a16:creationId xmlns:a16="http://schemas.microsoft.com/office/drawing/2014/main" id="{6DC5A60B-1F69-57B8-14CB-9A3E470C198C}"/>
              </a:ext>
            </a:extLst>
          </p:cNvPr>
          <p:cNvSpPr>
            <a:spLocks noChangeArrowheads="1"/>
          </p:cNvSpPr>
          <p:nvPr/>
        </p:nvSpPr>
        <p:spPr bwMode="auto">
          <a:xfrm>
            <a:off x="6934098" y="3040062"/>
            <a:ext cx="569913" cy="165417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128000"/>
              </a:lnSpc>
            </a:pPr>
            <a:r>
              <a:rPr lang="en-US" altLang="en-US" sz="1000" b="1">
                <a:latin typeface="+mj-lt"/>
              </a:rPr>
              <a:t>1.2</a:t>
            </a:r>
          </a:p>
          <a:p>
            <a:pPr algn="ctr">
              <a:lnSpc>
                <a:spcPct val="128000"/>
              </a:lnSpc>
            </a:pPr>
            <a:r>
              <a:rPr lang="en-US" altLang="en-US" sz="1000" b="1">
                <a:latin typeface="+mj-lt"/>
              </a:rPr>
              <a:t>1.5</a:t>
            </a:r>
          </a:p>
          <a:p>
            <a:pPr algn="ctr">
              <a:lnSpc>
                <a:spcPct val="128000"/>
              </a:lnSpc>
            </a:pPr>
            <a:r>
              <a:rPr lang="en-US" altLang="en-US" sz="1000" b="1">
                <a:latin typeface="+mj-lt"/>
              </a:rPr>
              <a:t>1</a:t>
            </a:r>
          </a:p>
          <a:p>
            <a:pPr algn="ctr">
              <a:lnSpc>
                <a:spcPct val="128000"/>
              </a:lnSpc>
            </a:pPr>
            <a:r>
              <a:rPr lang="en-US" altLang="en-US" sz="1000" b="1">
                <a:latin typeface="+mj-lt"/>
              </a:rPr>
              <a:t>1</a:t>
            </a:r>
          </a:p>
          <a:p>
            <a:pPr algn="ctr">
              <a:lnSpc>
                <a:spcPct val="128000"/>
              </a:lnSpc>
            </a:pPr>
            <a:r>
              <a:rPr lang="en-US" altLang="en-US" sz="1000" b="1">
                <a:latin typeface="+mj-lt"/>
              </a:rPr>
              <a:t>1.5</a:t>
            </a:r>
          </a:p>
          <a:p>
            <a:pPr algn="ctr">
              <a:lnSpc>
                <a:spcPct val="128000"/>
              </a:lnSpc>
            </a:pPr>
            <a:r>
              <a:rPr lang="en-US" altLang="en-US" sz="1000" b="1">
                <a:latin typeface="+mj-lt"/>
              </a:rPr>
              <a:t>1</a:t>
            </a:r>
          </a:p>
          <a:p>
            <a:pPr algn="ctr">
              <a:lnSpc>
                <a:spcPct val="128000"/>
              </a:lnSpc>
            </a:pPr>
            <a:r>
              <a:rPr lang="en-US" altLang="en-US" sz="1000" b="1">
                <a:latin typeface="+mj-lt"/>
              </a:rPr>
              <a:t>1.5</a:t>
            </a:r>
          </a:p>
          <a:p>
            <a:pPr algn="ctr">
              <a:lnSpc>
                <a:spcPct val="128000"/>
              </a:lnSpc>
            </a:pPr>
            <a:r>
              <a:rPr lang="en-US" altLang="en-US" sz="1000" b="1">
                <a:latin typeface="+mj-lt"/>
              </a:rPr>
              <a:t>1</a:t>
            </a:r>
          </a:p>
        </p:txBody>
      </p:sp>
      <p:sp>
        <p:nvSpPr>
          <p:cNvPr id="141" name="Rectangle 140">
            <a:extLst>
              <a:ext uri="{FF2B5EF4-FFF2-40B4-BE49-F238E27FC236}">
                <a16:creationId xmlns:a16="http://schemas.microsoft.com/office/drawing/2014/main" id="{C3EB0F21-67A9-6570-77CD-39BF10F7BE94}"/>
              </a:ext>
            </a:extLst>
          </p:cNvPr>
          <p:cNvSpPr>
            <a:spLocks noChangeArrowheads="1"/>
          </p:cNvSpPr>
          <p:nvPr/>
        </p:nvSpPr>
        <p:spPr bwMode="auto">
          <a:xfrm>
            <a:off x="7123011" y="3581400"/>
            <a:ext cx="577850" cy="54927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125000"/>
              </a:lnSpc>
            </a:pPr>
            <a:r>
              <a:rPr lang="en-US" altLang="en-US" sz="1200" b="1">
                <a:latin typeface="+mj-lt"/>
              </a:rPr>
              <a:t>15</a:t>
            </a:r>
          </a:p>
          <a:p>
            <a:pPr algn="ctr">
              <a:lnSpc>
                <a:spcPct val="125000"/>
              </a:lnSpc>
            </a:pPr>
            <a:r>
              <a:rPr lang="en-US" altLang="en-US" sz="1200" b="1">
                <a:latin typeface="+mj-lt"/>
              </a:rPr>
              <a:t>3</a:t>
            </a:r>
          </a:p>
        </p:txBody>
      </p:sp>
      <p:sp>
        <p:nvSpPr>
          <p:cNvPr id="142" name="Line 141">
            <a:extLst>
              <a:ext uri="{FF2B5EF4-FFF2-40B4-BE49-F238E27FC236}">
                <a16:creationId xmlns:a16="http://schemas.microsoft.com/office/drawing/2014/main" id="{E0D11D28-879B-023F-F9A4-B2F21071C507}"/>
              </a:ext>
            </a:extLst>
          </p:cNvPr>
          <p:cNvSpPr>
            <a:spLocks noChangeShapeType="1"/>
          </p:cNvSpPr>
          <p:nvPr/>
        </p:nvSpPr>
        <p:spPr bwMode="auto">
          <a:xfrm>
            <a:off x="5929211" y="4654550"/>
            <a:ext cx="592137"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43" name="Line 142">
            <a:extLst>
              <a:ext uri="{FF2B5EF4-FFF2-40B4-BE49-F238E27FC236}">
                <a16:creationId xmlns:a16="http://schemas.microsoft.com/office/drawing/2014/main" id="{D3C95F2D-5421-4C54-9DDD-CA182F305E80}"/>
              </a:ext>
            </a:extLst>
          </p:cNvPr>
          <p:cNvSpPr>
            <a:spLocks noChangeShapeType="1"/>
          </p:cNvSpPr>
          <p:nvPr/>
        </p:nvSpPr>
        <p:spPr bwMode="auto">
          <a:xfrm>
            <a:off x="4352823" y="881062"/>
            <a:ext cx="1573213"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44" name="Line 143">
            <a:extLst>
              <a:ext uri="{FF2B5EF4-FFF2-40B4-BE49-F238E27FC236}">
                <a16:creationId xmlns:a16="http://schemas.microsoft.com/office/drawing/2014/main" id="{0B6D8D67-981C-59D9-B0FB-40DA5D8FB927}"/>
              </a:ext>
            </a:extLst>
          </p:cNvPr>
          <p:cNvSpPr>
            <a:spLocks noChangeShapeType="1"/>
          </p:cNvSpPr>
          <p:nvPr/>
        </p:nvSpPr>
        <p:spPr bwMode="auto">
          <a:xfrm>
            <a:off x="2576411" y="1277937"/>
            <a:ext cx="1771650"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45" name="Line 144">
            <a:extLst>
              <a:ext uri="{FF2B5EF4-FFF2-40B4-BE49-F238E27FC236}">
                <a16:creationId xmlns:a16="http://schemas.microsoft.com/office/drawing/2014/main" id="{491911E2-0A7D-F3DA-D958-C2AF4A83CE53}"/>
              </a:ext>
            </a:extLst>
          </p:cNvPr>
          <p:cNvSpPr>
            <a:spLocks noChangeShapeType="1"/>
          </p:cNvSpPr>
          <p:nvPr/>
        </p:nvSpPr>
        <p:spPr bwMode="auto">
          <a:xfrm flipV="1">
            <a:off x="4352823" y="881062"/>
            <a:ext cx="0" cy="396875"/>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46" name="Rectangle 145">
            <a:extLst>
              <a:ext uri="{FF2B5EF4-FFF2-40B4-BE49-F238E27FC236}">
                <a16:creationId xmlns:a16="http://schemas.microsoft.com/office/drawing/2014/main" id="{0726107C-1232-C2A5-5A2C-78975591A00B}"/>
              </a:ext>
            </a:extLst>
          </p:cNvPr>
          <p:cNvSpPr>
            <a:spLocks noChangeArrowheads="1"/>
          </p:cNvSpPr>
          <p:nvPr/>
        </p:nvSpPr>
        <p:spPr bwMode="auto">
          <a:xfrm rot="16200000">
            <a:off x="5964136" y="4735512"/>
            <a:ext cx="547688" cy="66833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105000"/>
              </a:lnSpc>
            </a:pPr>
            <a:r>
              <a:rPr lang="en-US" altLang="en-US" sz="1200" b="1">
                <a:latin typeface="+mj-lt"/>
              </a:rPr>
              <a:t>Our</a:t>
            </a:r>
          </a:p>
          <a:p>
            <a:pPr>
              <a:lnSpc>
                <a:spcPct val="105000"/>
              </a:lnSpc>
            </a:pPr>
            <a:r>
              <a:rPr lang="en-US" altLang="en-US" sz="1200" b="1">
                <a:latin typeface="+mj-lt"/>
              </a:rPr>
              <a:t>A’s</a:t>
            </a:r>
          </a:p>
          <a:p>
            <a:pPr>
              <a:lnSpc>
                <a:spcPct val="105000"/>
              </a:lnSpc>
            </a:pPr>
            <a:r>
              <a:rPr lang="en-US" altLang="en-US" sz="1200" b="1">
                <a:latin typeface="+mj-lt"/>
              </a:rPr>
              <a:t>B’s</a:t>
            </a:r>
          </a:p>
        </p:txBody>
      </p:sp>
      <p:grpSp>
        <p:nvGrpSpPr>
          <p:cNvPr id="147" name="Group 159">
            <a:extLst>
              <a:ext uri="{FF2B5EF4-FFF2-40B4-BE49-F238E27FC236}">
                <a16:creationId xmlns:a16="http://schemas.microsoft.com/office/drawing/2014/main" id="{81562CB8-E81D-F02D-9481-A2358E3AFB10}"/>
              </a:ext>
            </a:extLst>
          </p:cNvPr>
          <p:cNvGrpSpPr>
            <a:grpSpLocks/>
          </p:cNvGrpSpPr>
          <p:nvPr/>
        </p:nvGrpSpPr>
        <p:grpSpPr bwMode="auto">
          <a:xfrm>
            <a:off x="7446861" y="1236662"/>
            <a:ext cx="2801937" cy="2192338"/>
            <a:chOff x="3669" y="806"/>
            <a:chExt cx="1765" cy="1381"/>
          </a:xfrm>
        </p:grpSpPr>
        <p:sp>
          <p:nvSpPr>
            <p:cNvPr id="148" name="Rectangle 146">
              <a:extLst>
                <a:ext uri="{FF2B5EF4-FFF2-40B4-BE49-F238E27FC236}">
                  <a16:creationId xmlns:a16="http://schemas.microsoft.com/office/drawing/2014/main" id="{933420A3-A87D-E40D-7361-0EC2702DFA40}"/>
                </a:ext>
              </a:extLst>
            </p:cNvPr>
            <p:cNvSpPr>
              <a:spLocks noChangeArrowheads="1"/>
            </p:cNvSpPr>
            <p:nvPr/>
          </p:nvSpPr>
          <p:spPr bwMode="auto">
            <a:xfrm>
              <a:off x="3669" y="806"/>
              <a:ext cx="1765" cy="82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600" b="1">
                  <a:latin typeface="+mj-lt"/>
                </a:rPr>
                <a:t>Relationship between</a:t>
              </a:r>
            </a:p>
            <a:p>
              <a:pPr algn="ctr"/>
              <a:r>
                <a:rPr lang="en-US" altLang="en-US" sz="1600" b="1">
                  <a:latin typeface="+mj-lt"/>
                </a:rPr>
                <a:t>Customer Requirements and</a:t>
              </a:r>
            </a:p>
            <a:p>
              <a:pPr algn="ctr"/>
              <a:r>
                <a:rPr lang="en-US" altLang="en-US" sz="1600" b="1">
                  <a:latin typeface="+mj-lt"/>
                </a:rPr>
                <a:t>Technical Descriptors</a:t>
              </a:r>
            </a:p>
            <a:p>
              <a:pPr algn="ctr"/>
              <a:r>
                <a:rPr lang="en-US" altLang="en-US" sz="1600" b="1">
                  <a:latin typeface="+mj-lt"/>
                </a:rPr>
                <a:t>WHATs vs. HOWs</a:t>
              </a:r>
            </a:p>
          </p:txBody>
        </p:sp>
        <p:sp>
          <p:nvSpPr>
            <p:cNvPr id="149" name="Rectangle 147">
              <a:extLst>
                <a:ext uri="{FF2B5EF4-FFF2-40B4-BE49-F238E27FC236}">
                  <a16:creationId xmlns:a16="http://schemas.microsoft.com/office/drawing/2014/main" id="{6B6708BA-684A-18B9-B37E-1AEBF40EBE08}"/>
                </a:ext>
              </a:extLst>
            </p:cNvPr>
            <p:cNvSpPr>
              <a:spLocks noChangeArrowheads="1"/>
            </p:cNvSpPr>
            <p:nvPr/>
          </p:nvSpPr>
          <p:spPr bwMode="auto">
            <a:xfrm>
              <a:off x="4487" y="1701"/>
              <a:ext cx="481"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mj-lt"/>
                </a:rPr>
                <a:t>Strong</a:t>
              </a:r>
            </a:p>
          </p:txBody>
        </p:sp>
        <p:sp>
          <p:nvSpPr>
            <p:cNvPr id="150" name="Rectangle 148">
              <a:extLst>
                <a:ext uri="{FF2B5EF4-FFF2-40B4-BE49-F238E27FC236}">
                  <a16:creationId xmlns:a16="http://schemas.microsoft.com/office/drawing/2014/main" id="{1A51BCEC-58AF-BC23-3F04-D2CF4031D81A}"/>
                </a:ext>
              </a:extLst>
            </p:cNvPr>
            <p:cNvSpPr>
              <a:spLocks noChangeArrowheads="1"/>
            </p:cNvSpPr>
            <p:nvPr/>
          </p:nvSpPr>
          <p:spPr bwMode="auto">
            <a:xfrm>
              <a:off x="4485" y="1844"/>
              <a:ext cx="549"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dirty="0">
                  <a:latin typeface="+mj-lt"/>
                </a:rPr>
                <a:t>Medium</a:t>
              </a:r>
            </a:p>
          </p:txBody>
        </p:sp>
        <p:sp>
          <p:nvSpPr>
            <p:cNvPr id="151" name="Rectangle 149">
              <a:extLst>
                <a:ext uri="{FF2B5EF4-FFF2-40B4-BE49-F238E27FC236}">
                  <a16:creationId xmlns:a16="http://schemas.microsoft.com/office/drawing/2014/main" id="{947E477C-7FFB-24C6-924E-DD5D0A3DA80D}"/>
                </a:ext>
              </a:extLst>
            </p:cNvPr>
            <p:cNvSpPr>
              <a:spLocks noChangeArrowheads="1"/>
            </p:cNvSpPr>
            <p:nvPr/>
          </p:nvSpPr>
          <p:spPr bwMode="auto">
            <a:xfrm>
              <a:off x="4485" y="1996"/>
              <a:ext cx="424"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mj-lt"/>
                </a:rPr>
                <a:t>Weak</a:t>
              </a:r>
            </a:p>
          </p:txBody>
        </p:sp>
        <p:sp>
          <p:nvSpPr>
            <p:cNvPr id="152" name="Oval 150">
              <a:extLst>
                <a:ext uri="{FF2B5EF4-FFF2-40B4-BE49-F238E27FC236}">
                  <a16:creationId xmlns:a16="http://schemas.microsoft.com/office/drawing/2014/main" id="{020A52BE-FC2A-5B96-B969-139C607AE8B0}"/>
                </a:ext>
              </a:extLst>
            </p:cNvPr>
            <p:cNvSpPr>
              <a:spLocks noChangeArrowheads="1"/>
            </p:cNvSpPr>
            <p:nvPr/>
          </p:nvSpPr>
          <p:spPr bwMode="auto">
            <a:xfrm>
              <a:off x="4409" y="1862"/>
              <a:ext cx="60" cy="63"/>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grpSp>
          <p:nvGrpSpPr>
            <p:cNvPr id="153" name="Group 153">
              <a:extLst>
                <a:ext uri="{FF2B5EF4-FFF2-40B4-BE49-F238E27FC236}">
                  <a16:creationId xmlns:a16="http://schemas.microsoft.com/office/drawing/2014/main" id="{460E8B34-01D4-8029-8271-51809DEFDEFB}"/>
                </a:ext>
              </a:extLst>
            </p:cNvPr>
            <p:cNvGrpSpPr>
              <a:grpSpLocks/>
            </p:cNvGrpSpPr>
            <p:nvPr/>
          </p:nvGrpSpPr>
          <p:grpSpPr bwMode="auto">
            <a:xfrm>
              <a:off x="4405" y="1717"/>
              <a:ext cx="60" cy="64"/>
              <a:chOff x="4405" y="1717"/>
              <a:chExt cx="60" cy="64"/>
            </a:xfrm>
          </p:grpSpPr>
          <p:sp>
            <p:nvSpPr>
              <p:cNvPr id="159" name="Oval 151">
                <a:extLst>
                  <a:ext uri="{FF2B5EF4-FFF2-40B4-BE49-F238E27FC236}">
                    <a16:creationId xmlns:a16="http://schemas.microsoft.com/office/drawing/2014/main" id="{F55AC301-F82C-59B8-930E-A91E5F3B3746}"/>
                  </a:ext>
                </a:extLst>
              </p:cNvPr>
              <p:cNvSpPr>
                <a:spLocks noChangeArrowheads="1"/>
              </p:cNvSpPr>
              <p:nvPr/>
            </p:nvSpPr>
            <p:spPr bwMode="auto">
              <a:xfrm>
                <a:off x="4405" y="1717"/>
                <a:ext cx="60" cy="64"/>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160" name="Oval 152">
                <a:extLst>
                  <a:ext uri="{FF2B5EF4-FFF2-40B4-BE49-F238E27FC236}">
                    <a16:creationId xmlns:a16="http://schemas.microsoft.com/office/drawing/2014/main" id="{50E422B6-8C59-92B9-6350-2789982341BE}"/>
                  </a:ext>
                </a:extLst>
              </p:cNvPr>
              <p:cNvSpPr>
                <a:spLocks noChangeArrowheads="1"/>
              </p:cNvSpPr>
              <p:nvPr/>
            </p:nvSpPr>
            <p:spPr bwMode="auto">
              <a:xfrm>
                <a:off x="4422" y="1735"/>
                <a:ext cx="26" cy="29"/>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grpSp>
        <p:sp>
          <p:nvSpPr>
            <p:cNvPr id="154" name="Rectangle 154">
              <a:extLst>
                <a:ext uri="{FF2B5EF4-FFF2-40B4-BE49-F238E27FC236}">
                  <a16:creationId xmlns:a16="http://schemas.microsoft.com/office/drawing/2014/main" id="{52F33BEC-EF31-E293-16A1-AFC6004AC43F}"/>
                </a:ext>
              </a:extLst>
            </p:cNvPr>
            <p:cNvSpPr>
              <a:spLocks noChangeArrowheads="1"/>
            </p:cNvSpPr>
            <p:nvPr/>
          </p:nvSpPr>
          <p:spPr bwMode="auto">
            <a:xfrm>
              <a:off x="4149" y="1701"/>
              <a:ext cx="245"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mj-lt"/>
                </a:rPr>
                <a:t>+9</a:t>
              </a:r>
            </a:p>
          </p:txBody>
        </p:sp>
        <p:sp>
          <p:nvSpPr>
            <p:cNvPr id="155" name="Rectangle 155">
              <a:extLst>
                <a:ext uri="{FF2B5EF4-FFF2-40B4-BE49-F238E27FC236}">
                  <a16:creationId xmlns:a16="http://schemas.microsoft.com/office/drawing/2014/main" id="{8740BAFC-8AA2-3D83-591F-C7B722FC6AD0}"/>
                </a:ext>
              </a:extLst>
            </p:cNvPr>
            <p:cNvSpPr>
              <a:spLocks noChangeArrowheads="1"/>
            </p:cNvSpPr>
            <p:nvPr/>
          </p:nvSpPr>
          <p:spPr bwMode="auto">
            <a:xfrm>
              <a:off x="4149" y="1844"/>
              <a:ext cx="245"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mj-lt"/>
                </a:rPr>
                <a:t>+3</a:t>
              </a:r>
            </a:p>
          </p:txBody>
        </p:sp>
        <p:sp>
          <p:nvSpPr>
            <p:cNvPr id="156" name="Rectangle 156">
              <a:extLst>
                <a:ext uri="{FF2B5EF4-FFF2-40B4-BE49-F238E27FC236}">
                  <a16:creationId xmlns:a16="http://schemas.microsoft.com/office/drawing/2014/main" id="{8CE09444-8080-4C7E-E2A9-E524B6C809CA}"/>
                </a:ext>
              </a:extLst>
            </p:cNvPr>
            <p:cNvSpPr>
              <a:spLocks noChangeArrowheads="1"/>
            </p:cNvSpPr>
            <p:nvPr/>
          </p:nvSpPr>
          <p:spPr bwMode="auto">
            <a:xfrm>
              <a:off x="4143" y="1666"/>
              <a:ext cx="868" cy="521"/>
            </a:xfrm>
            <a:prstGeom prst="rect">
              <a:avLst/>
            </a:prstGeom>
            <a:noFill/>
            <a:ln w="127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157" name="Rectangle 157">
              <a:extLst>
                <a:ext uri="{FF2B5EF4-FFF2-40B4-BE49-F238E27FC236}">
                  <a16:creationId xmlns:a16="http://schemas.microsoft.com/office/drawing/2014/main" id="{A69BC5CD-A580-635F-7019-2BC5654ACA0C}"/>
                </a:ext>
              </a:extLst>
            </p:cNvPr>
            <p:cNvSpPr>
              <a:spLocks noChangeArrowheads="1"/>
            </p:cNvSpPr>
            <p:nvPr/>
          </p:nvSpPr>
          <p:spPr bwMode="auto">
            <a:xfrm>
              <a:off x="4149" y="1996"/>
              <a:ext cx="245"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mj-lt"/>
                </a:rPr>
                <a:t>+1</a:t>
              </a:r>
            </a:p>
          </p:txBody>
        </p:sp>
        <p:sp>
          <p:nvSpPr>
            <p:cNvPr id="158" name="AutoShape 158">
              <a:extLst>
                <a:ext uri="{FF2B5EF4-FFF2-40B4-BE49-F238E27FC236}">
                  <a16:creationId xmlns:a16="http://schemas.microsoft.com/office/drawing/2014/main" id="{95ADA377-DD42-07D7-8509-E28E4742DE2C}"/>
                </a:ext>
              </a:extLst>
            </p:cNvPr>
            <p:cNvSpPr>
              <a:spLocks noChangeArrowheads="1"/>
            </p:cNvSpPr>
            <p:nvPr/>
          </p:nvSpPr>
          <p:spPr bwMode="auto">
            <a:xfrm>
              <a:off x="4412" y="2012"/>
              <a:ext cx="60" cy="64"/>
            </a:xfrm>
            <a:prstGeom prst="triangle">
              <a:avLst>
                <a:gd name="adj" fmla="val 49995"/>
              </a:avLst>
            </a:prstGeom>
            <a:noFill/>
            <a:ln w="127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grpSp>
    </p:spTree>
    <p:extLst>
      <p:ext uri="{BB962C8B-B14F-4D97-AF65-F5344CB8AC3E}">
        <p14:creationId xmlns:p14="http://schemas.microsoft.com/office/powerpoint/2010/main" val="10453645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65">
            <a:extLst>
              <a:ext uri="{FF2B5EF4-FFF2-40B4-BE49-F238E27FC236}">
                <a16:creationId xmlns:a16="http://schemas.microsoft.com/office/drawing/2014/main" id="{12666424-9317-CA02-B929-D24D3BCE7006}"/>
              </a:ext>
            </a:extLst>
          </p:cNvPr>
          <p:cNvGrpSpPr>
            <a:grpSpLocks/>
          </p:cNvGrpSpPr>
          <p:nvPr/>
        </p:nvGrpSpPr>
        <p:grpSpPr bwMode="auto">
          <a:xfrm>
            <a:off x="4803775" y="152400"/>
            <a:ext cx="1570038" cy="723900"/>
            <a:chOff x="3026" y="96"/>
            <a:chExt cx="989" cy="456"/>
          </a:xfrm>
        </p:grpSpPr>
        <p:sp>
          <p:nvSpPr>
            <p:cNvPr id="4" name="Line 2">
              <a:extLst>
                <a:ext uri="{FF2B5EF4-FFF2-40B4-BE49-F238E27FC236}">
                  <a16:creationId xmlns:a16="http://schemas.microsoft.com/office/drawing/2014/main" id="{02D27FE6-0273-0E3D-5B2C-E0BFC352ADE8}"/>
                </a:ext>
              </a:extLst>
            </p:cNvPr>
            <p:cNvSpPr>
              <a:spLocks noChangeShapeType="1"/>
            </p:cNvSpPr>
            <p:nvPr/>
          </p:nvSpPr>
          <p:spPr bwMode="auto">
            <a:xfrm flipV="1">
              <a:off x="3030" y="96"/>
              <a:ext cx="491" cy="451"/>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 name="Line 3">
              <a:extLst>
                <a:ext uri="{FF2B5EF4-FFF2-40B4-BE49-F238E27FC236}">
                  <a16:creationId xmlns:a16="http://schemas.microsoft.com/office/drawing/2014/main" id="{9EDF09DE-466F-4327-B0E8-21B54EDCCA75}"/>
                </a:ext>
              </a:extLst>
            </p:cNvPr>
            <p:cNvSpPr>
              <a:spLocks noChangeShapeType="1"/>
            </p:cNvSpPr>
            <p:nvPr/>
          </p:nvSpPr>
          <p:spPr bwMode="auto">
            <a:xfrm flipH="1" flipV="1">
              <a:off x="3092" y="491"/>
              <a:ext cx="60" cy="56"/>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6" name="Line 4">
              <a:extLst>
                <a:ext uri="{FF2B5EF4-FFF2-40B4-BE49-F238E27FC236}">
                  <a16:creationId xmlns:a16="http://schemas.microsoft.com/office/drawing/2014/main" id="{15F8A668-E0F2-D438-5A13-BE5D705CB92B}"/>
                </a:ext>
              </a:extLst>
            </p:cNvPr>
            <p:cNvSpPr>
              <a:spLocks noChangeShapeType="1"/>
            </p:cNvSpPr>
            <p:nvPr/>
          </p:nvSpPr>
          <p:spPr bwMode="auto">
            <a:xfrm flipH="1" flipV="1">
              <a:off x="3152" y="434"/>
              <a:ext cx="125" cy="113"/>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7" name="Line 5">
              <a:extLst>
                <a:ext uri="{FF2B5EF4-FFF2-40B4-BE49-F238E27FC236}">
                  <a16:creationId xmlns:a16="http://schemas.microsoft.com/office/drawing/2014/main" id="{441ED4B1-86EF-96F0-E8D8-787BC883DFEA}"/>
                </a:ext>
              </a:extLst>
            </p:cNvPr>
            <p:cNvSpPr>
              <a:spLocks noChangeShapeType="1"/>
            </p:cNvSpPr>
            <p:nvPr/>
          </p:nvSpPr>
          <p:spPr bwMode="auto">
            <a:xfrm flipH="1" flipV="1">
              <a:off x="3214" y="378"/>
              <a:ext cx="186" cy="169"/>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8" name="Line 6">
              <a:extLst>
                <a:ext uri="{FF2B5EF4-FFF2-40B4-BE49-F238E27FC236}">
                  <a16:creationId xmlns:a16="http://schemas.microsoft.com/office/drawing/2014/main" id="{396E7E06-5259-7A83-770F-0E96299913D9}"/>
                </a:ext>
              </a:extLst>
            </p:cNvPr>
            <p:cNvSpPr>
              <a:spLocks noChangeShapeType="1"/>
            </p:cNvSpPr>
            <p:nvPr/>
          </p:nvSpPr>
          <p:spPr bwMode="auto">
            <a:xfrm flipH="1" flipV="1">
              <a:off x="3277" y="322"/>
              <a:ext cx="245" cy="225"/>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9" name="Line 7">
              <a:extLst>
                <a:ext uri="{FF2B5EF4-FFF2-40B4-BE49-F238E27FC236}">
                  <a16:creationId xmlns:a16="http://schemas.microsoft.com/office/drawing/2014/main" id="{D4B61C62-2D33-7613-BA75-1EBFCDD91F82}"/>
                </a:ext>
              </a:extLst>
            </p:cNvPr>
            <p:cNvSpPr>
              <a:spLocks noChangeShapeType="1"/>
            </p:cNvSpPr>
            <p:nvPr/>
          </p:nvSpPr>
          <p:spPr bwMode="auto">
            <a:xfrm flipH="1" flipV="1">
              <a:off x="3338" y="265"/>
              <a:ext cx="309" cy="282"/>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0" name="Line 8">
              <a:extLst>
                <a:ext uri="{FF2B5EF4-FFF2-40B4-BE49-F238E27FC236}">
                  <a16:creationId xmlns:a16="http://schemas.microsoft.com/office/drawing/2014/main" id="{D0604284-DF2C-A22B-40BC-EAAC7BFA80F5}"/>
                </a:ext>
              </a:extLst>
            </p:cNvPr>
            <p:cNvSpPr>
              <a:spLocks noChangeShapeType="1"/>
            </p:cNvSpPr>
            <p:nvPr/>
          </p:nvSpPr>
          <p:spPr bwMode="auto">
            <a:xfrm flipH="1" flipV="1">
              <a:off x="3400" y="209"/>
              <a:ext cx="369" cy="338"/>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1" name="Line 9">
              <a:extLst>
                <a:ext uri="{FF2B5EF4-FFF2-40B4-BE49-F238E27FC236}">
                  <a16:creationId xmlns:a16="http://schemas.microsoft.com/office/drawing/2014/main" id="{D2019BB3-14B3-2EA0-C79A-0D823ED98E3B}"/>
                </a:ext>
              </a:extLst>
            </p:cNvPr>
            <p:cNvSpPr>
              <a:spLocks noChangeShapeType="1"/>
            </p:cNvSpPr>
            <p:nvPr/>
          </p:nvSpPr>
          <p:spPr bwMode="auto">
            <a:xfrm flipH="1" flipV="1">
              <a:off x="3461" y="152"/>
              <a:ext cx="432" cy="395"/>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2" name="Line 10">
              <a:extLst>
                <a:ext uri="{FF2B5EF4-FFF2-40B4-BE49-F238E27FC236}">
                  <a16:creationId xmlns:a16="http://schemas.microsoft.com/office/drawing/2014/main" id="{08F0C122-F70D-CF55-AA3D-CD7BACEC605B}"/>
                </a:ext>
              </a:extLst>
            </p:cNvPr>
            <p:cNvSpPr>
              <a:spLocks noChangeShapeType="1"/>
            </p:cNvSpPr>
            <p:nvPr/>
          </p:nvSpPr>
          <p:spPr bwMode="auto">
            <a:xfrm flipH="1" flipV="1">
              <a:off x="3521" y="96"/>
              <a:ext cx="491" cy="451"/>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3" name="Line 11">
              <a:extLst>
                <a:ext uri="{FF2B5EF4-FFF2-40B4-BE49-F238E27FC236}">
                  <a16:creationId xmlns:a16="http://schemas.microsoft.com/office/drawing/2014/main" id="{4BCAA83F-6B88-A06A-350E-D17C2DFEADDD}"/>
                </a:ext>
              </a:extLst>
            </p:cNvPr>
            <p:cNvSpPr>
              <a:spLocks noChangeShapeType="1"/>
            </p:cNvSpPr>
            <p:nvPr/>
          </p:nvSpPr>
          <p:spPr bwMode="auto">
            <a:xfrm flipV="1">
              <a:off x="3889" y="491"/>
              <a:ext cx="61" cy="56"/>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4" name="Line 12">
              <a:extLst>
                <a:ext uri="{FF2B5EF4-FFF2-40B4-BE49-F238E27FC236}">
                  <a16:creationId xmlns:a16="http://schemas.microsoft.com/office/drawing/2014/main" id="{E19AB33F-DF8F-FD0A-8A19-F5B7B1F071E5}"/>
                </a:ext>
              </a:extLst>
            </p:cNvPr>
            <p:cNvSpPr>
              <a:spLocks noChangeShapeType="1"/>
            </p:cNvSpPr>
            <p:nvPr/>
          </p:nvSpPr>
          <p:spPr bwMode="auto">
            <a:xfrm flipV="1">
              <a:off x="3765" y="434"/>
              <a:ext cx="124" cy="113"/>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5" name="Line 13">
              <a:extLst>
                <a:ext uri="{FF2B5EF4-FFF2-40B4-BE49-F238E27FC236}">
                  <a16:creationId xmlns:a16="http://schemas.microsoft.com/office/drawing/2014/main" id="{4F197841-A176-B225-FE7C-317D3AD36AEB}"/>
                </a:ext>
              </a:extLst>
            </p:cNvPr>
            <p:cNvSpPr>
              <a:spLocks noChangeShapeType="1"/>
            </p:cNvSpPr>
            <p:nvPr/>
          </p:nvSpPr>
          <p:spPr bwMode="auto">
            <a:xfrm flipV="1">
              <a:off x="3642" y="378"/>
              <a:ext cx="186" cy="169"/>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6" name="Line 14">
              <a:extLst>
                <a:ext uri="{FF2B5EF4-FFF2-40B4-BE49-F238E27FC236}">
                  <a16:creationId xmlns:a16="http://schemas.microsoft.com/office/drawing/2014/main" id="{6A073B28-2B26-A8CC-E806-98EFEA7197C7}"/>
                </a:ext>
              </a:extLst>
            </p:cNvPr>
            <p:cNvSpPr>
              <a:spLocks noChangeShapeType="1"/>
            </p:cNvSpPr>
            <p:nvPr/>
          </p:nvSpPr>
          <p:spPr bwMode="auto">
            <a:xfrm flipV="1">
              <a:off x="3519" y="322"/>
              <a:ext cx="246" cy="225"/>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7" name="Line 15">
              <a:extLst>
                <a:ext uri="{FF2B5EF4-FFF2-40B4-BE49-F238E27FC236}">
                  <a16:creationId xmlns:a16="http://schemas.microsoft.com/office/drawing/2014/main" id="{4147DEE5-D78C-E509-DCD5-F4D647289FC3}"/>
                </a:ext>
              </a:extLst>
            </p:cNvPr>
            <p:cNvSpPr>
              <a:spLocks noChangeShapeType="1"/>
            </p:cNvSpPr>
            <p:nvPr/>
          </p:nvSpPr>
          <p:spPr bwMode="auto">
            <a:xfrm flipV="1">
              <a:off x="3395" y="265"/>
              <a:ext cx="308" cy="282"/>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8" name="Line 16">
              <a:extLst>
                <a:ext uri="{FF2B5EF4-FFF2-40B4-BE49-F238E27FC236}">
                  <a16:creationId xmlns:a16="http://schemas.microsoft.com/office/drawing/2014/main" id="{30C1420A-9254-C8CB-78E4-681AA06862A3}"/>
                </a:ext>
              </a:extLst>
            </p:cNvPr>
            <p:cNvSpPr>
              <a:spLocks noChangeShapeType="1"/>
            </p:cNvSpPr>
            <p:nvPr/>
          </p:nvSpPr>
          <p:spPr bwMode="auto">
            <a:xfrm flipV="1">
              <a:off x="3273" y="209"/>
              <a:ext cx="369" cy="338"/>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9" name="Line 17">
              <a:extLst>
                <a:ext uri="{FF2B5EF4-FFF2-40B4-BE49-F238E27FC236}">
                  <a16:creationId xmlns:a16="http://schemas.microsoft.com/office/drawing/2014/main" id="{C89E858A-B307-1C2D-C2C5-443E41C1F49C}"/>
                </a:ext>
              </a:extLst>
            </p:cNvPr>
            <p:cNvSpPr>
              <a:spLocks noChangeShapeType="1"/>
            </p:cNvSpPr>
            <p:nvPr/>
          </p:nvSpPr>
          <p:spPr bwMode="auto">
            <a:xfrm flipV="1">
              <a:off x="3148" y="152"/>
              <a:ext cx="433" cy="395"/>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0" name="Line 18">
              <a:extLst>
                <a:ext uri="{FF2B5EF4-FFF2-40B4-BE49-F238E27FC236}">
                  <a16:creationId xmlns:a16="http://schemas.microsoft.com/office/drawing/2014/main" id="{04C39D1E-FE79-EF7B-A926-EF0AA8DC608C}"/>
                </a:ext>
              </a:extLst>
            </p:cNvPr>
            <p:cNvSpPr>
              <a:spLocks noChangeShapeType="1"/>
            </p:cNvSpPr>
            <p:nvPr/>
          </p:nvSpPr>
          <p:spPr bwMode="auto">
            <a:xfrm flipH="1">
              <a:off x="3026" y="552"/>
              <a:ext cx="989"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grpSp>
          <p:nvGrpSpPr>
            <p:cNvPr id="21" name="Group 21">
              <a:extLst>
                <a:ext uri="{FF2B5EF4-FFF2-40B4-BE49-F238E27FC236}">
                  <a16:creationId xmlns:a16="http://schemas.microsoft.com/office/drawing/2014/main" id="{D802996E-73E8-6CA5-F2B0-A71304090D97}"/>
                </a:ext>
              </a:extLst>
            </p:cNvPr>
            <p:cNvGrpSpPr>
              <a:grpSpLocks/>
            </p:cNvGrpSpPr>
            <p:nvPr/>
          </p:nvGrpSpPr>
          <p:grpSpPr bwMode="auto">
            <a:xfrm>
              <a:off x="3554" y="188"/>
              <a:ext cx="54" cy="48"/>
              <a:chOff x="3554" y="188"/>
              <a:chExt cx="54" cy="48"/>
            </a:xfrm>
          </p:grpSpPr>
          <p:sp>
            <p:nvSpPr>
              <p:cNvPr id="65" name="Oval 19">
                <a:extLst>
                  <a:ext uri="{FF2B5EF4-FFF2-40B4-BE49-F238E27FC236}">
                    <a16:creationId xmlns:a16="http://schemas.microsoft.com/office/drawing/2014/main" id="{3A7093E1-FA22-B9E2-E773-7EFE32C53745}"/>
                  </a:ext>
                </a:extLst>
              </p:cNvPr>
              <p:cNvSpPr>
                <a:spLocks noChangeArrowheads="1"/>
              </p:cNvSpPr>
              <p:nvPr/>
            </p:nvSpPr>
            <p:spPr bwMode="auto">
              <a:xfrm>
                <a:off x="3554" y="188"/>
                <a:ext cx="54" cy="48"/>
              </a:xfrm>
              <a:prstGeom prst="ellipse">
                <a:avLst/>
              </a:prstGeom>
              <a:noFill/>
              <a:ln w="127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66" name="Oval 20">
                <a:extLst>
                  <a:ext uri="{FF2B5EF4-FFF2-40B4-BE49-F238E27FC236}">
                    <a16:creationId xmlns:a16="http://schemas.microsoft.com/office/drawing/2014/main" id="{BA64EDA2-7D7E-8EF7-C7B8-D9C55122BADE}"/>
                  </a:ext>
                </a:extLst>
              </p:cNvPr>
              <p:cNvSpPr>
                <a:spLocks noChangeArrowheads="1"/>
              </p:cNvSpPr>
              <p:nvPr/>
            </p:nvSpPr>
            <p:spPr bwMode="auto">
              <a:xfrm>
                <a:off x="3570" y="202"/>
                <a:ext cx="22" cy="22"/>
              </a:xfrm>
              <a:prstGeom prst="ellipse">
                <a:avLst/>
              </a:prstGeom>
              <a:noFill/>
              <a:ln w="127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grpSp>
        <p:grpSp>
          <p:nvGrpSpPr>
            <p:cNvPr id="22" name="Group 26">
              <a:extLst>
                <a:ext uri="{FF2B5EF4-FFF2-40B4-BE49-F238E27FC236}">
                  <a16:creationId xmlns:a16="http://schemas.microsoft.com/office/drawing/2014/main" id="{8169A0EE-AB94-234C-99D7-EACC7A8C0B18}"/>
                </a:ext>
              </a:extLst>
            </p:cNvPr>
            <p:cNvGrpSpPr>
              <a:grpSpLocks/>
            </p:cNvGrpSpPr>
            <p:nvPr/>
          </p:nvGrpSpPr>
          <p:grpSpPr bwMode="auto">
            <a:xfrm>
              <a:off x="3244" y="351"/>
              <a:ext cx="61" cy="56"/>
              <a:chOff x="3244" y="351"/>
              <a:chExt cx="61" cy="56"/>
            </a:xfrm>
          </p:grpSpPr>
          <p:sp>
            <p:nvSpPr>
              <p:cNvPr id="61" name="Line 22">
                <a:extLst>
                  <a:ext uri="{FF2B5EF4-FFF2-40B4-BE49-F238E27FC236}">
                    <a16:creationId xmlns:a16="http://schemas.microsoft.com/office/drawing/2014/main" id="{A9383233-3746-BD5B-31AD-5AF040A49A70}"/>
                  </a:ext>
                </a:extLst>
              </p:cNvPr>
              <p:cNvSpPr>
                <a:spLocks noChangeShapeType="1"/>
              </p:cNvSpPr>
              <p:nvPr/>
            </p:nvSpPr>
            <p:spPr bwMode="auto">
              <a:xfrm>
                <a:off x="3244" y="379"/>
                <a:ext cx="61"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62" name="Line 23">
                <a:extLst>
                  <a:ext uri="{FF2B5EF4-FFF2-40B4-BE49-F238E27FC236}">
                    <a16:creationId xmlns:a16="http://schemas.microsoft.com/office/drawing/2014/main" id="{D47C7753-FAA6-553C-B70B-39A1E74C11B2}"/>
                  </a:ext>
                </a:extLst>
              </p:cNvPr>
              <p:cNvSpPr>
                <a:spLocks noChangeShapeType="1"/>
              </p:cNvSpPr>
              <p:nvPr/>
            </p:nvSpPr>
            <p:spPr bwMode="auto">
              <a:xfrm>
                <a:off x="3275" y="351"/>
                <a:ext cx="0" cy="56"/>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63" name="Line 24">
                <a:extLst>
                  <a:ext uri="{FF2B5EF4-FFF2-40B4-BE49-F238E27FC236}">
                    <a16:creationId xmlns:a16="http://schemas.microsoft.com/office/drawing/2014/main" id="{E1623C09-E417-103E-DB64-B178C348B3D3}"/>
                  </a:ext>
                </a:extLst>
              </p:cNvPr>
              <p:cNvSpPr>
                <a:spLocks noChangeShapeType="1"/>
              </p:cNvSpPr>
              <p:nvPr/>
            </p:nvSpPr>
            <p:spPr bwMode="auto">
              <a:xfrm flipV="1">
                <a:off x="3244" y="351"/>
                <a:ext cx="61" cy="56"/>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64" name="Line 25">
                <a:extLst>
                  <a:ext uri="{FF2B5EF4-FFF2-40B4-BE49-F238E27FC236}">
                    <a16:creationId xmlns:a16="http://schemas.microsoft.com/office/drawing/2014/main" id="{345AD88D-E9E2-E2F0-2E9A-9848645CA996}"/>
                  </a:ext>
                </a:extLst>
              </p:cNvPr>
              <p:cNvSpPr>
                <a:spLocks noChangeShapeType="1"/>
              </p:cNvSpPr>
              <p:nvPr/>
            </p:nvSpPr>
            <p:spPr bwMode="auto">
              <a:xfrm flipH="1" flipV="1">
                <a:off x="3244" y="351"/>
                <a:ext cx="61" cy="56"/>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grpSp>
        <p:grpSp>
          <p:nvGrpSpPr>
            <p:cNvPr id="23" name="Group 29">
              <a:extLst>
                <a:ext uri="{FF2B5EF4-FFF2-40B4-BE49-F238E27FC236}">
                  <a16:creationId xmlns:a16="http://schemas.microsoft.com/office/drawing/2014/main" id="{19F0150E-2AFE-A5F5-F6F1-11EC02C044DA}"/>
                </a:ext>
              </a:extLst>
            </p:cNvPr>
            <p:cNvGrpSpPr>
              <a:grpSpLocks/>
            </p:cNvGrpSpPr>
            <p:nvPr/>
          </p:nvGrpSpPr>
          <p:grpSpPr bwMode="auto">
            <a:xfrm>
              <a:off x="3307" y="301"/>
              <a:ext cx="54" cy="48"/>
              <a:chOff x="3307" y="301"/>
              <a:chExt cx="54" cy="48"/>
            </a:xfrm>
          </p:grpSpPr>
          <p:sp>
            <p:nvSpPr>
              <p:cNvPr id="59" name="Oval 27">
                <a:extLst>
                  <a:ext uri="{FF2B5EF4-FFF2-40B4-BE49-F238E27FC236}">
                    <a16:creationId xmlns:a16="http://schemas.microsoft.com/office/drawing/2014/main" id="{74D42231-6F78-5495-C12C-AD441CF4026E}"/>
                  </a:ext>
                </a:extLst>
              </p:cNvPr>
              <p:cNvSpPr>
                <a:spLocks noChangeArrowheads="1"/>
              </p:cNvSpPr>
              <p:nvPr/>
            </p:nvSpPr>
            <p:spPr bwMode="auto">
              <a:xfrm>
                <a:off x="3307" y="301"/>
                <a:ext cx="54" cy="48"/>
              </a:xfrm>
              <a:prstGeom prst="ellipse">
                <a:avLst/>
              </a:prstGeom>
              <a:noFill/>
              <a:ln w="127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60" name="Oval 28">
                <a:extLst>
                  <a:ext uri="{FF2B5EF4-FFF2-40B4-BE49-F238E27FC236}">
                    <a16:creationId xmlns:a16="http://schemas.microsoft.com/office/drawing/2014/main" id="{EA26FC79-7926-18EF-F9D6-B4A335E9E1FC}"/>
                  </a:ext>
                </a:extLst>
              </p:cNvPr>
              <p:cNvSpPr>
                <a:spLocks noChangeArrowheads="1"/>
              </p:cNvSpPr>
              <p:nvPr/>
            </p:nvSpPr>
            <p:spPr bwMode="auto">
              <a:xfrm>
                <a:off x="3323" y="315"/>
                <a:ext cx="23" cy="21"/>
              </a:xfrm>
              <a:prstGeom prst="ellipse">
                <a:avLst/>
              </a:prstGeom>
              <a:noFill/>
              <a:ln w="127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grpSp>
        <p:grpSp>
          <p:nvGrpSpPr>
            <p:cNvPr id="24" name="Group 32">
              <a:extLst>
                <a:ext uri="{FF2B5EF4-FFF2-40B4-BE49-F238E27FC236}">
                  <a16:creationId xmlns:a16="http://schemas.microsoft.com/office/drawing/2014/main" id="{7B33C709-1F86-5634-8A83-0760F8BF2E62}"/>
                </a:ext>
              </a:extLst>
            </p:cNvPr>
            <p:cNvGrpSpPr>
              <a:grpSpLocks/>
            </p:cNvGrpSpPr>
            <p:nvPr/>
          </p:nvGrpSpPr>
          <p:grpSpPr bwMode="auto">
            <a:xfrm>
              <a:off x="3801" y="414"/>
              <a:ext cx="54" cy="48"/>
              <a:chOff x="3801" y="414"/>
              <a:chExt cx="54" cy="48"/>
            </a:xfrm>
          </p:grpSpPr>
          <p:sp>
            <p:nvSpPr>
              <p:cNvPr id="57" name="Oval 30">
                <a:extLst>
                  <a:ext uri="{FF2B5EF4-FFF2-40B4-BE49-F238E27FC236}">
                    <a16:creationId xmlns:a16="http://schemas.microsoft.com/office/drawing/2014/main" id="{24B88477-B6D9-8D62-E5DE-8FAD0C1E9584}"/>
                  </a:ext>
                </a:extLst>
              </p:cNvPr>
              <p:cNvSpPr>
                <a:spLocks noChangeArrowheads="1"/>
              </p:cNvSpPr>
              <p:nvPr/>
            </p:nvSpPr>
            <p:spPr bwMode="auto">
              <a:xfrm>
                <a:off x="3801" y="414"/>
                <a:ext cx="54" cy="48"/>
              </a:xfrm>
              <a:prstGeom prst="ellipse">
                <a:avLst/>
              </a:prstGeom>
              <a:noFill/>
              <a:ln w="127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58" name="Oval 31">
                <a:extLst>
                  <a:ext uri="{FF2B5EF4-FFF2-40B4-BE49-F238E27FC236}">
                    <a16:creationId xmlns:a16="http://schemas.microsoft.com/office/drawing/2014/main" id="{8C5B8442-FA43-D68A-32F8-58F3446C49A9}"/>
                  </a:ext>
                </a:extLst>
              </p:cNvPr>
              <p:cNvSpPr>
                <a:spLocks noChangeArrowheads="1"/>
              </p:cNvSpPr>
              <p:nvPr/>
            </p:nvSpPr>
            <p:spPr bwMode="auto">
              <a:xfrm>
                <a:off x="3816" y="428"/>
                <a:ext cx="23" cy="21"/>
              </a:xfrm>
              <a:prstGeom prst="ellipse">
                <a:avLst/>
              </a:prstGeom>
              <a:noFill/>
              <a:ln w="127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grpSp>
        <p:grpSp>
          <p:nvGrpSpPr>
            <p:cNvPr id="25" name="Group 35">
              <a:extLst>
                <a:ext uri="{FF2B5EF4-FFF2-40B4-BE49-F238E27FC236}">
                  <a16:creationId xmlns:a16="http://schemas.microsoft.com/office/drawing/2014/main" id="{2B4CBEB7-1816-1598-5CCB-40125D6CE03A}"/>
                </a:ext>
              </a:extLst>
            </p:cNvPr>
            <p:cNvGrpSpPr>
              <a:grpSpLocks/>
            </p:cNvGrpSpPr>
            <p:nvPr/>
          </p:nvGrpSpPr>
          <p:grpSpPr bwMode="auto">
            <a:xfrm>
              <a:off x="3121" y="470"/>
              <a:ext cx="54" cy="49"/>
              <a:chOff x="3121" y="470"/>
              <a:chExt cx="54" cy="49"/>
            </a:xfrm>
          </p:grpSpPr>
          <p:sp>
            <p:nvSpPr>
              <p:cNvPr id="55" name="Oval 33">
                <a:extLst>
                  <a:ext uri="{FF2B5EF4-FFF2-40B4-BE49-F238E27FC236}">
                    <a16:creationId xmlns:a16="http://schemas.microsoft.com/office/drawing/2014/main" id="{8E73AFA6-9B9C-2618-3388-6838611DF0FF}"/>
                  </a:ext>
                </a:extLst>
              </p:cNvPr>
              <p:cNvSpPr>
                <a:spLocks noChangeArrowheads="1"/>
              </p:cNvSpPr>
              <p:nvPr/>
            </p:nvSpPr>
            <p:spPr bwMode="auto">
              <a:xfrm>
                <a:off x="3121" y="470"/>
                <a:ext cx="54" cy="49"/>
              </a:xfrm>
              <a:prstGeom prst="ellipse">
                <a:avLst/>
              </a:prstGeom>
              <a:noFill/>
              <a:ln w="127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56" name="Oval 34">
                <a:extLst>
                  <a:ext uri="{FF2B5EF4-FFF2-40B4-BE49-F238E27FC236}">
                    <a16:creationId xmlns:a16="http://schemas.microsoft.com/office/drawing/2014/main" id="{18AC6EF0-0E7B-A2AD-4A64-B7D24E65BB57}"/>
                  </a:ext>
                </a:extLst>
              </p:cNvPr>
              <p:cNvSpPr>
                <a:spLocks noChangeArrowheads="1"/>
              </p:cNvSpPr>
              <p:nvPr/>
            </p:nvSpPr>
            <p:spPr bwMode="auto">
              <a:xfrm>
                <a:off x="3137" y="484"/>
                <a:ext cx="23" cy="22"/>
              </a:xfrm>
              <a:prstGeom prst="ellipse">
                <a:avLst/>
              </a:prstGeom>
              <a:noFill/>
              <a:ln w="127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grpSp>
        <p:grpSp>
          <p:nvGrpSpPr>
            <p:cNvPr id="26" name="Group 38">
              <a:extLst>
                <a:ext uri="{FF2B5EF4-FFF2-40B4-BE49-F238E27FC236}">
                  <a16:creationId xmlns:a16="http://schemas.microsoft.com/office/drawing/2014/main" id="{9A1199B8-71DE-0B8F-81F8-1A880A788A98}"/>
                </a:ext>
              </a:extLst>
            </p:cNvPr>
            <p:cNvGrpSpPr>
              <a:grpSpLocks/>
            </p:cNvGrpSpPr>
            <p:nvPr/>
          </p:nvGrpSpPr>
          <p:grpSpPr bwMode="auto">
            <a:xfrm>
              <a:off x="3554" y="414"/>
              <a:ext cx="54" cy="48"/>
              <a:chOff x="3554" y="414"/>
              <a:chExt cx="54" cy="48"/>
            </a:xfrm>
          </p:grpSpPr>
          <p:sp>
            <p:nvSpPr>
              <p:cNvPr id="53" name="Oval 36">
                <a:extLst>
                  <a:ext uri="{FF2B5EF4-FFF2-40B4-BE49-F238E27FC236}">
                    <a16:creationId xmlns:a16="http://schemas.microsoft.com/office/drawing/2014/main" id="{48994CBA-E842-242D-217E-92B409ECDADA}"/>
                  </a:ext>
                </a:extLst>
              </p:cNvPr>
              <p:cNvSpPr>
                <a:spLocks noChangeArrowheads="1"/>
              </p:cNvSpPr>
              <p:nvPr/>
            </p:nvSpPr>
            <p:spPr bwMode="auto">
              <a:xfrm>
                <a:off x="3554" y="414"/>
                <a:ext cx="54" cy="48"/>
              </a:xfrm>
              <a:prstGeom prst="ellipse">
                <a:avLst/>
              </a:prstGeom>
              <a:noFill/>
              <a:ln w="127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54" name="Oval 37">
                <a:extLst>
                  <a:ext uri="{FF2B5EF4-FFF2-40B4-BE49-F238E27FC236}">
                    <a16:creationId xmlns:a16="http://schemas.microsoft.com/office/drawing/2014/main" id="{7FCF7B71-5851-51B3-7715-68D7ABA59144}"/>
                  </a:ext>
                </a:extLst>
              </p:cNvPr>
              <p:cNvSpPr>
                <a:spLocks noChangeArrowheads="1"/>
              </p:cNvSpPr>
              <p:nvPr/>
            </p:nvSpPr>
            <p:spPr bwMode="auto">
              <a:xfrm>
                <a:off x="3570" y="428"/>
                <a:ext cx="22" cy="21"/>
              </a:xfrm>
              <a:prstGeom prst="ellipse">
                <a:avLst/>
              </a:prstGeom>
              <a:noFill/>
              <a:ln w="127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grpSp>
        <p:grpSp>
          <p:nvGrpSpPr>
            <p:cNvPr id="27" name="Group 43">
              <a:extLst>
                <a:ext uri="{FF2B5EF4-FFF2-40B4-BE49-F238E27FC236}">
                  <a16:creationId xmlns:a16="http://schemas.microsoft.com/office/drawing/2014/main" id="{F5F767F9-550D-5922-BAD8-AC165D495049}"/>
                </a:ext>
              </a:extLst>
            </p:cNvPr>
            <p:cNvGrpSpPr>
              <a:grpSpLocks/>
            </p:cNvGrpSpPr>
            <p:nvPr/>
          </p:nvGrpSpPr>
          <p:grpSpPr bwMode="auto">
            <a:xfrm>
              <a:off x="3676" y="410"/>
              <a:ext cx="61" cy="56"/>
              <a:chOff x="3676" y="410"/>
              <a:chExt cx="61" cy="56"/>
            </a:xfrm>
          </p:grpSpPr>
          <p:sp>
            <p:nvSpPr>
              <p:cNvPr id="49" name="Line 39">
                <a:extLst>
                  <a:ext uri="{FF2B5EF4-FFF2-40B4-BE49-F238E27FC236}">
                    <a16:creationId xmlns:a16="http://schemas.microsoft.com/office/drawing/2014/main" id="{9348017D-B8F6-C1F8-4E6C-F002EF5599F4}"/>
                  </a:ext>
                </a:extLst>
              </p:cNvPr>
              <p:cNvSpPr>
                <a:spLocks noChangeShapeType="1"/>
              </p:cNvSpPr>
              <p:nvPr/>
            </p:nvSpPr>
            <p:spPr bwMode="auto">
              <a:xfrm>
                <a:off x="3676" y="438"/>
                <a:ext cx="61"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0" name="Line 40">
                <a:extLst>
                  <a:ext uri="{FF2B5EF4-FFF2-40B4-BE49-F238E27FC236}">
                    <a16:creationId xmlns:a16="http://schemas.microsoft.com/office/drawing/2014/main" id="{2F32858E-2255-5AE1-AD40-88085E20A5D3}"/>
                  </a:ext>
                </a:extLst>
              </p:cNvPr>
              <p:cNvSpPr>
                <a:spLocks noChangeShapeType="1"/>
              </p:cNvSpPr>
              <p:nvPr/>
            </p:nvSpPr>
            <p:spPr bwMode="auto">
              <a:xfrm>
                <a:off x="3706" y="410"/>
                <a:ext cx="0" cy="56"/>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1" name="Line 41">
                <a:extLst>
                  <a:ext uri="{FF2B5EF4-FFF2-40B4-BE49-F238E27FC236}">
                    <a16:creationId xmlns:a16="http://schemas.microsoft.com/office/drawing/2014/main" id="{1295A025-5920-2E61-9DC4-9BE110428C03}"/>
                  </a:ext>
                </a:extLst>
              </p:cNvPr>
              <p:cNvSpPr>
                <a:spLocks noChangeShapeType="1"/>
              </p:cNvSpPr>
              <p:nvPr/>
            </p:nvSpPr>
            <p:spPr bwMode="auto">
              <a:xfrm flipV="1">
                <a:off x="3676" y="410"/>
                <a:ext cx="61" cy="56"/>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52" name="Line 42">
                <a:extLst>
                  <a:ext uri="{FF2B5EF4-FFF2-40B4-BE49-F238E27FC236}">
                    <a16:creationId xmlns:a16="http://schemas.microsoft.com/office/drawing/2014/main" id="{84BB9944-7379-A0CB-EF63-D2F4E15D7236}"/>
                  </a:ext>
                </a:extLst>
              </p:cNvPr>
              <p:cNvSpPr>
                <a:spLocks noChangeShapeType="1"/>
              </p:cNvSpPr>
              <p:nvPr/>
            </p:nvSpPr>
            <p:spPr bwMode="auto">
              <a:xfrm flipH="1" flipV="1">
                <a:off x="3676" y="410"/>
                <a:ext cx="61" cy="56"/>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grpSp>
        <p:grpSp>
          <p:nvGrpSpPr>
            <p:cNvPr id="28" name="Group 48">
              <a:extLst>
                <a:ext uri="{FF2B5EF4-FFF2-40B4-BE49-F238E27FC236}">
                  <a16:creationId xmlns:a16="http://schemas.microsoft.com/office/drawing/2014/main" id="{56D34ACB-9687-C096-7A18-DC8A73C571BD}"/>
                </a:ext>
              </a:extLst>
            </p:cNvPr>
            <p:cNvGrpSpPr>
              <a:grpSpLocks/>
            </p:cNvGrpSpPr>
            <p:nvPr/>
          </p:nvGrpSpPr>
          <p:grpSpPr bwMode="auto">
            <a:xfrm>
              <a:off x="3429" y="295"/>
              <a:ext cx="62" cy="56"/>
              <a:chOff x="3429" y="295"/>
              <a:chExt cx="62" cy="56"/>
            </a:xfrm>
          </p:grpSpPr>
          <p:sp>
            <p:nvSpPr>
              <p:cNvPr id="45" name="Line 44">
                <a:extLst>
                  <a:ext uri="{FF2B5EF4-FFF2-40B4-BE49-F238E27FC236}">
                    <a16:creationId xmlns:a16="http://schemas.microsoft.com/office/drawing/2014/main" id="{9EA997F9-DF6D-6139-A26B-DEF763C22F3E}"/>
                  </a:ext>
                </a:extLst>
              </p:cNvPr>
              <p:cNvSpPr>
                <a:spLocks noChangeShapeType="1"/>
              </p:cNvSpPr>
              <p:nvPr/>
            </p:nvSpPr>
            <p:spPr bwMode="auto">
              <a:xfrm>
                <a:off x="3429" y="323"/>
                <a:ext cx="62"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46" name="Line 45">
                <a:extLst>
                  <a:ext uri="{FF2B5EF4-FFF2-40B4-BE49-F238E27FC236}">
                    <a16:creationId xmlns:a16="http://schemas.microsoft.com/office/drawing/2014/main" id="{1DD88CB7-E8AA-AD53-AE6E-3D5A67CE61E3}"/>
                  </a:ext>
                </a:extLst>
              </p:cNvPr>
              <p:cNvSpPr>
                <a:spLocks noChangeShapeType="1"/>
              </p:cNvSpPr>
              <p:nvPr/>
            </p:nvSpPr>
            <p:spPr bwMode="auto">
              <a:xfrm>
                <a:off x="3460" y="295"/>
                <a:ext cx="0" cy="56"/>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47" name="Line 46">
                <a:extLst>
                  <a:ext uri="{FF2B5EF4-FFF2-40B4-BE49-F238E27FC236}">
                    <a16:creationId xmlns:a16="http://schemas.microsoft.com/office/drawing/2014/main" id="{EB30A816-E9C0-430E-6C2C-4027FFF51AF6}"/>
                  </a:ext>
                </a:extLst>
              </p:cNvPr>
              <p:cNvSpPr>
                <a:spLocks noChangeShapeType="1"/>
              </p:cNvSpPr>
              <p:nvPr/>
            </p:nvSpPr>
            <p:spPr bwMode="auto">
              <a:xfrm flipV="1">
                <a:off x="3429" y="295"/>
                <a:ext cx="62" cy="56"/>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48" name="Line 47">
                <a:extLst>
                  <a:ext uri="{FF2B5EF4-FFF2-40B4-BE49-F238E27FC236}">
                    <a16:creationId xmlns:a16="http://schemas.microsoft.com/office/drawing/2014/main" id="{93A90D47-A288-96F4-EDE2-AEAEE4B5EBE1}"/>
                  </a:ext>
                </a:extLst>
              </p:cNvPr>
              <p:cNvSpPr>
                <a:spLocks noChangeShapeType="1"/>
              </p:cNvSpPr>
              <p:nvPr/>
            </p:nvSpPr>
            <p:spPr bwMode="auto">
              <a:xfrm flipH="1" flipV="1">
                <a:off x="3429" y="295"/>
                <a:ext cx="62" cy="56"/>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grpSp>
        <p:grpSp>
          <p:nvGrpSpPr>
            <p:cNvPr id="29" name="Group 53">
              <a:extLst>
                <a:ext uri="{FF2B5EF4-FFF2-40B4-BE49-F238E27FC236}">
                  <a16:creationId xmlns:a16="http://schemas.microsoft.com/office/drawing/2014/main" id="{97CE23F9-A97B-87B1-4D13-6FED2B320AA3}"/>
                </a:ext>
              </a:extLst>
            </p:cNvPr>
            <p:cNvGrpSpPr>
              <a:grpSpLocks/>
            </p:cNvGrpSpPr>
            <p:nvPr/>
          </p:nvGrpSpPr>
          <p:grpSpPr bwMode="auto">
            <a:xfrm>
              <a:off x="3491" y="464"/>
              <a:ext cx="61" cy="56"/>
              <a:chOff x="3491" y="464"/>
              <a:chExt cx="61" cy="56"/>
            </a:xfrm>
          </p:grpSpPr>
          <p:sp>
            <p:nvSpPr>
              <p:cNvPr id="41" name="Line 49">
                <a:extLst>
                  <a:ext uri="{FF2B5EF4-FFF2-40B4-BE49-F238E27FC236}">
                    <a16:creationId xmlns:a16="http://schemas.microsoft.com/office/drawing/2014/main" id="{8510AC46-48D2-FACA-18EE-677EC9384CF3}"/>
                  </a:ext>
                </a:extLst>
              </p:cNvPr>
              <p:cNvSpPr>
                <a:spLocks noChangeShapeType="1"/>
              </p:cNvSpPr>
              <p:nvPr/>
            </p:nvSpPr>
            <p:spPr bwMode="auto">
              <a:xfrm>
                <a:off x="3491" y="492"/>
                <a:ext cx="61"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42" name="Line 50">
                <a:extLst>
                  <a:ext uri="{FF2B5EF4-FFF2-40B4-BE49-F238E27FC236}">
                    <a16:creationId xmlns:a16="http://schemas.microsoft.com/office/drawing/2014/main" id="{0D7A9198-F42D-1EE2-E5D7-7A7D79092659}"/>
                  </a:ext>
                </a:extLst>
              </p:cNvPr>
              <p:cNvSpPr>
                <a:spLocks noChangeShapeType="1"/>
              </p:cNvSpPr>
              <p:nvPr/>
            </p:nvSpPr>
            <p:spPr bwMode="auto">
              <a:xfrm>
                <a:off x="3521" y="464"/>
                <a:ext cx="0" cy="56"/>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43" name="Line 51">
                <a:extLst>
                  <a:ext uri="{FF2B5EF4-FFF2-40B4-BE49-F238E27FC236}">
                    <a16:creationId xmlns:a16="http://schemas.microsoft.com/office/drawing/2014/main" id="{71596C86-20D2-EBE9-667F-CC118E5A7062}"/>
                  </a:ext>
                </a:extLst>
              </p:cNvPr>
              <p:cNvSpPr>
                <a:spLocks noChangeShapeType="1"/>
              </p:cNvSpPr>
              <p:nvPr/>
            </p:nvSpPr>
            <p:spPr bwMode="auto">
              <a:xfrm flipV="1">
                <a:off x="3491" y="464"/>
                <a:ext cx="61" cy="56"/>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44" name="Line 52">
                <a:extLst>
                  <a:ext uri="{FF2B5EF4-FFF2-40B4-BE49-F238E27FC236}">
                    <a16:creationId xmlns:a16="http://schemas.microsoft.com/office/drawing/2014/main" id="{134D95EB-DA1E-C806-24D8-530C6DD31D7C}"/>
                  </a:ext>
                </a:extLst>
              </p:cNvPr>
              <p:cNvSpPr>
                <a:spLocks noChangeShapeType="1"/>
              </p:cNvSpPr>
              <p:nvPr/>
            </p:nvSpPr>
            <p:spPr bwMode="auto">
              <a:xfrm flipH="1" flipV="1">
                <a:off x="3491" y="464"/>
                <a:ext cx="61" cy="56"/>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grpSp>
        <p:sp>
          <p:nvSpPr>
            <p:cNvPr id="30" name="Oval 54">
              <a:extLst>
                <a:ext uri="{FF2B5EF4-FFF2-40B4-BE49-F238E27FC236}">
                  <a16:creationId xmlns:a16="http://schemas.microsoft.com/office/drawing/2014/main" id="{10DEF0FC-9AB8-D19C-EA75-9C3551361B9B}"/>
                </a:ext>
              </a:extLst>
            </p:cNvPr>
            <p:cNvSpPr>
              <a:spLocks noChangeArrowheads="1"/>
            </p:cNvSpPr>
            <p:nvPr/>
          </p:nvSpPr>
          <p:spPr bwMode="auto">
            <a:xfrm>
              <a:off x="3553" y="302"/>
              <a:ext cx="54" cy="48"/>
            </a:xfrm>
            <a:prstGeom prst="ellipse">
              <a:avLst/>
            </a:prstGeom>
            <a:noFill/>
            <a:ln w="127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31" name="Oval 55">
              <a:extLst>
                <a:ext uri="{FF2B5EF4-FFF2-40B4-BE49-F238E27FC236}">
                  <a16:creationId xmlns:a16="http://schemas.microsoft.com/office/drawing/2014/main" id="{E38212D7-0073-05BB-2E20-B393F77AD302}"/>
                </a:ext>
              </a:extLst>
            </p:cNvPr>
            <p:cNvSpPr>
              <a:spLocks noChangeArrowheads="1"/>
            </p:cNvSpPr>
            <p:nvPr/>
          </p:nvSpPr>
          <p:spPr bwMode="auto">
            <a:xfrm>
              <a:off x="3615" y="471"/>
              <a:ext cx="53" cy="49"/>
            </a:xfrm>
            <a:prstGeom prst="ellipse">
              <a:avLst/>
            </a:prstGeom>
            <a:noFill/>
            <a:ln w="127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grpSp>
          <p:nvGrpSpPr>
            <p:cNvPr id="32" name="Group 58">
              <a:extLst>
                <a:ext uri="{FF2B5EF4-FFF2-40B4-BE49-F238E27FC236}">
                  <a16:creationId xmlns:a16="http://schemas.microsoft.com/office/drawing/2014/main" id="{D51C0816-AEE3-6BC9-8C96-052E9277C7C4}"/>
                </a:ext>
              </a:extLst>
            </p:cNvPr>
            <p:cNvGrpSpPr>
              <a:grpSpLocks/>
            </p:cNvGrpSpPr>
            <p:nvPr/>
          </p:nvGrpSpPr>
          <p:grpSpPr bwMode="auto">
            <a:xfrm>
              <a:off x="3487" y="128"/>
              <a:ext cx="62" cy="56"/>
              <a:chOff x="3487" y="128"/>
              <a:chExt cx="62" cy="56"/>
            </a:xfrm>
          </p:grpSpPr>
          <p:sp>
            <p:nvSpPr>
              <p:cNvPr id="39" name="Line 56">
                <a:extLst>
                  <a:ext uri="{FF2B5EF4-FFF2-40B4-BE49-F238E27FC236}">
                    <a16:creationId xmlns:a16="http://schemas.microsoft.com/office/drawing/2014/main" id="{92B87A68-78DD-F4B0-CD4D-451FFC8F92AF}"/>
                  </a:ext>
                </a:extLst>
              </p:cNvPr>
              <p:cNvSpPr>
                <a:spLocks noChangeShapeType="1"/>
              </p:cNvSpPr>
              <p:nvPr/>
            </p:nvSpPr>
            <p:spPr bwMode="auto">
              <a:xfrm flipV="1">
                <a:off x="3487" y="128"/>
                <a:ext cx="62" cy="56"/>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40" name="Line 57">
                <a:extLst>
                  <a:ext uri="{FF2B5EF4-FFF2-40B4-BE49-F238E27FC236}">
                    <a16:creationId xmlns:a16="http://schemas.microsoft.com/office/drawing/2014/main" id="{E0F322C0-FA62-EB62-078A-6349C3424951}"/>
                  </a:ext>
                </a:extLst>
              </p:cNvPr>
              <p:cNvSpPr>
                <a:spLocks noChangeShapeType="1"/>
              </p:cNvSpPr>
              <p:nvPr/>
            </p:nvSpPr>
            <p:spPr bwMode="auto">
              <a:xfrm flipH="1" flipV="1">
                <a:off x="3487" y="128"/>
                <a:ext cx="62" cy="56"/>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grpSp>
        <p:grpSp>
          <p:nvGrpSpPr>
            <p:cNvPr id="33" name="Group 61">
              <a:extLst>
                <a:ext uri="{FF2B5EF4-FFF2-40B4-BE49-F238E27FC236}">
                  <a16:creationId xmlns:a16="http://schemas.microsoft.com/office/drawing/2014/main" id="{B474BAFD-97BE-FF0D-8518-512A99B418E8}"/>
                </a:ext>
              </a:extLst>
            </p:cNvPr>
            <p:cNvGrpSpPr>
              <a:grpSpLocks/>
            </p:cNvGrpSpPr>
            <p:nvPr/>
          </p:nvGrpSpPr>
          <p:grpSpPr bwMode="auto">
            <a:xfrm>
              <a:off x="3672" y="297"/>
              <a:ext cx="62" cy="56"/>
              <a:chOff x="3672" y="297"/>
              <a:chExt cx="62" cy="56"/>
            </a:xfrm>
          </p:grpSpPr>
          <p:sp>
            <p:nvSpPr>
              <p:cNvPr id="37" name="Line 59">
                <a:extLst>
                  <a:ext uri="{FF2B5EF4-FFF2-40B4-BE49-F238E27FC236}">
                    <a16:creationId xmlns:a16="http://schemas.microsoft.com/office/drawing/2014/main" id="{65476761-ECA6-5FB3-303C-DA44F0E719FD}"/>
                  </a:ext>
                </a:extLst>
              </p:cNvPr>
              <p:cNvSpPr>
                <a:spLocks noChangeShapeType="1"/>
              </p:cNvSpPr>
              <p:nvPr/>
            </p:nvSpPr>
            <p:spPr bwMode="auto">
              <a:xfrm flipV="1">
                <a:off x="3672" y="297"/>
                <a:ext cx="62" cy="56"/>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8" name="Line 60">
                <a:extLst>
                  <a:ext uri="{FF2B5EF4-FFF2-40B4-BE49-F238E27FC236}">
                    <a16:creationId xmlns:a16="http://schemas.microsoft.com/office/drawing/2014/main" id="{9EA43321-03DC-2AD0-D9C3-C1AC25368AEE}"/>
                  </a:ext>
                </a:extLst>
              </p:cNvPr>
              <p:cNvSpPr>
                <a:spLocks noChangeShapeType="1"/>
              </p:cNvSpPr>
              <p:nvPr/>
            </p:nvSpPr>
            <p:spPr bwMode="auto">
              <a:xfrm flipH="1" flipV="1">
                <a:off x="3672" y="297"/>
                <a:ext cx="62" cy="56"/>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grpSp>
        <p:grpSp>
          <p:nvGrpSpPr>
            <p:cNvPr id="34" name="Group 64">
              <a:extLst>
                <a:ext uri="{FF2B5EF4-FFF2-40B4-BE49-F238E27FC236}">
                  <a16:creationId xmlns:a16="http://schemas.microsoft.com/office/drawing/2014/main" id="{332B78B4-0F7E-0F01-EFAD-F17055DE8C49}"/>
                </a:ext>
              </a:extLst>
            </p:cNvPr>
            <p:cNvGrpSpPr>
              <a:grpSpLocks/>
            </p:cNvGrpSpPr>
            <p:nvPr/>
          </p:nvGrpSpPr>
          <p:grpSpPr bwMode="auto">
            <a:xfrm>
              <a:off x="3364" y="466"/>
              <a:ext cx="62" cy="57"/>
              <a:chOff x="3364" y="466"/>
              <a:chExt cx="62" cy="57"/>
            </a:xfrm>
          </p:grpSpPr>
          <p:sp>
            <p:nvSpPr>
              <p:cNvPr id="35" name="Line 62">
                <a:extLst>
                  <a:ext uri="{FF2B5EF4-FFF2-40B4-BE49-F238E27FC236}">
                    <a16:creationId xmlns:a16="http://schemas.microsoft.com/office/drawing/2014/main" id="{07A23EAE-DF9F-5C15-1AF6-B30435FB6BF4}"/>
                  </a:ext>
                </a:extLst>
              </p:cNvPr>
              <p:cNvSpPr>
                <a:spLocks noChangeShapeType="1"/>
              </p:cNvSpPr>
              <p:nvPr/>
            </p:nvSpPr>
            <p:spPr bwMode="auto">
              <a:xfrm flipV="1">
                <a:off x="3364" y="466"/>
                <a:ext cx="62" cy="57"/>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36" name="Line 63">
                <a:extLst>
                  <a:ext uri="{FF2B5EF4-FFF2-40B4-BE49-F238E27FC236}">
                    <a16:creationId xmlns:a16="http://schemas.microsoft.com/office/drawing/2014/main" id="{B149843B-37B0-F81A-D181-A0764C264390}"/>
                  </a:ext>
                </a:extLst>
              </p:cNvPr>
              <p:cNvSpPr>
                <a:spLocks noChangeShapeType="1"/>
              </p:cNvSpPr>
              <p:nvPr/>
            </p:nvSpPr>
            <p:spPr bwMode="auto">
              <a:xfrm flipH="1" flipV="1">
                <a:off x="3364" y="466"/>
                <a:ext cx="62" cy="57"/>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grpSp>
      </p:grpSp>
      <p:sp>
        <p:nvSpPr>
          <p:cNvPr id="67" name="Rectangle 66">
            <a:extLst>
              <a:ext uri="{FF2B5EF4-FFF2-40B4-BE49-F238E27FC236}">
                <a16:creationId xmlns:a16="http://schemas.microsoft.com/office/drawing/2014/main" id="{6C29E1C4-FBE5-D981-E8D1-10E8593CC967}"/>
              </a:ext>
            </a:extLst>
          </p:cNvPr>
          <p:cNvSpPr>
            <a:spLocks noChangeArrowheads="1"/>
          </p:cNvSpPr>
          <p:nvPr/>
        </p:nvSpPr>
        <p:spPr bwMode="auto">
          <a:xfrm>
            <a:off x="2576513" y="5589588"/>
            <a:ext cx="2323200" cy="277641"/>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200" b="1" dirty="0">
                <a:latin typeface="+mj-lt"/>
              </a:rPr>
              <a:t>Absolute Weight and Percent</a:t>
            </a:r>
          </a:p>
        </p:txBody>
      </p:sp>
      <p:sp>
        <p:nvSpPr>
          <p:cNvPr id="68" name="Line 67">
            <a:extLst>
              <a:ext uri="{FF2B5EF4-FFF2-40B4-BE49-F238E27FC236}">
                <a16:creationId xmlns:a16="http://schemas.microsoft.com/office/drawing/2014/main" id="{990C090C-97CA-90B0-6995-427DEA4E73DD}"/>
              </a:ext>
            </a:extLst>
          </p:cNvPr>
          <p:cNvSpPr>
            <a:spLocks noChangeShapeType="1"/>
          </p:cNvSpPr>
          <p:nvPr/>
        </p:nvSpPr>
        <p:spPr bwMode="auto">
          <a:xfrm>
            <a:off x="2641600" y="5259388"/>
            <a:ext cx="393700"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69" name="Line 68">
            <a:extLst>
              <a:ext uri="{FF2B5EF4-FFF2-40B4-BE49-F238E27FC236}">
                <a16:creationId xmlns:a16="http://schemas.microsoft.com/office/drawing/2014/main" id="{3471D5E1-A239-3E9C-E090-7B2D195DF960}"/>
              </a:ext>
            </a:extLst>
          </p:cNvPr>
          <p:cNvSpPr>
            <a:spLocks noChangeShapeType="1"/>
          </p:cNvSpPr>
          <p:nvPr/>
        </p:nvSpPr>
        <p:spPr bwMode="auto">
          <a:xfrm>
            <a:off x="2641600" y="5629275"/>
            <a:ext cx="216693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70" name="Line 69">
            <a:extLst>
              <a:ext uri="{FF2B5EF4-FFF2-40B4-BE49-F238E27FC236}">
                <a16:creationId xmlns:a16="http://schemas.microsoft.com/office/drawing/2014/main" id="{15622038-CD09-0D49-7DF1-AA5CB53F70BC}"/>
              </a:ext>
            </a:extLst>
          </p:cNvPr>
          <p:cNvSpPr>
            <a:spLocks noChangeShapeType="1"/>
          </p:cNvSpPr>
          <p:nvPr/>
        </p:nvSpPr>
        <p:spPr bwMode="auto">
          <a:xfrm>
            <a:off x="5003800" y="5259388"/>
            <a:ext cx="0" cy="74295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71" name="Line 70">
            <a:extLst>
              <a:ext uri="{FF2B5EF4-FFF2-40B4-BE49-F238E27FC236}">
                <a16:creationId xmlns:a16="http://schemas.microsoft.com/office/drawing/2014/main" id="{81D3BE8E-FD12-05A2-24D9-1C9F506EA777}"/>
              </a:ext>
            </a:extLst>
          </p:cNvPr>
          <p:cNvSpPr>
            <a:spLocks noChangeShapeType="1"/>
          </p:cNvSpPr>
          <p:nvPr/>
        </p:nvSpPr>
        <p:spPr bwMode="auto">
          <a:xfrm>
            <a:off x="2641600" y="5818188"/>
            <a:ext cx="216693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72" name="Line 71">
            <a:extLst>
              <a:ext uri="{FF2B5EF4-FFF2-40B4-BE49-F238E27FC236}">
                <a16:creationId xmlns:a16="http://schemas.microsoft.com/office/drawing/2014/main" id="{5800AC88-63ED-207A-7F55-D4EA726677FE}"/>
              </a:ext>
            </a:extLst>
          </p:cNvPr>
          <p:cNvSpPr>
            <a:spLocks noChangeShapeType="1"/>
          </p:cNvSpPr>
          <p:nvPr/>
        </p:nvSpPr>
        <p:spPr bwMode="auto">
          <a:xfrm>
            <a:off x="2641600" y="5446713"/>
            <a:ext cx="216693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73" name="Line 72">
            <a:extLst>
              <a:ext uri="{FF2B5EF4-FFF2-40B4-BE49-F238E27FC236}">
                <a16:creationId xmlns:a16="http://schemas.microsoft.com/office/drawing/2014/main" id="{1A535FD3-E692-0D5E-5E72-D2692B799A96}"/>
              </a:ext>
            </a:extLst>
          </p:cNvPr>
          <p:cNvSpPr>
            <a:spLocks noChangeShapeType="1"/>
          </p:cNvSpPr>
          <p:nvPr/>
        </p:nvSpPr>
        <p:spPr bwMode="auto">
          <a:xfrm>
            <a:off x="3035300" y="5259388"/>
            <a:ext cx="177323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74" name="Line 73">
            <a:extLst>
              <a:ext uri="{FF2B5EF4-FFF2-40B4-BE49-F238E27FC236}">
                <a16:creationId xmlns:a16="http://schemas.microsoft.com/office/drawing/2014/main" id="{506B1865-A209-9198-C854-38408591979A}"/>
              </a:ext>
            </a:extLst>
          </p:cNvPr>
          <p:cNvSpPr>
            <a:spLocks noChangeShapeType="1"/>
          </p:cNvSpPr>
          <p:nvPr/>
        </p:nvSpPr>
        <p:spPr bwMode="auto">
          <a:xfrm>
            <a:off x="5202238" y="5259388"/>
            <a:ext cx="1587" cy="74295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75" name="Line 74">
            <a:extLst>
              <a:ext uri="{FF2B5EF4-FFF2-40B4-BE49-F238E27FC236}">
                <a16:creationId xmlns:a16="http://schemas.microsoft.com/office/drawing/2014/main" id="{F2F44FFF-6084-5170-9824-04E4D60A8236}"/>
              </a:ext>
            </a:extLst>
          </p:cNvPr>
          <p:cNvSpPr>
            <a:spLocks noChangeShapeType="1"/>
          </p:cNvSpPr>
          <p:nvPr/>
        </p:nvSpPr>
        <p:spPr bwMode="auto">
          <a:xfrm>
            <a:off x="5397500" y="5259388"/>
            <a:ext cx="1588" cy="74295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76" name="Line 75">
            <a:extLst>
              <a:ext uri="{FF2B5EF4-FFF2-40B4-BE49-F238E27FC236}">
                <a16:creationId xmlns:a16="http://schemas.microsoft.com/office/drawing/2014/main" id="{8A0DF144-D76D-C51F-D835-63D485473B7C}"/>
              </a:ext>
            </a:extLst>
          </p:cNvPr>
          <p:cNvSpPr>
            <a:spLocks noChangeShapeType="1"/>
          </p:cNvSpPr>
          <p:nvPr/>
        </p:nvSpPr>
        <p:spPr bwMode="auto">
          <a:xfrm>
            <a:off x="5595938" y="5259388"/>
            <a:ext cx="0" cy="74295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77" name="Line 76">
            <a:extLst>
              <a:ext uri="{FF2B5EF4-FFF2-40B4-BE49-F238E27FC236}">
                <a16:creationId xmlns:a16="http://schemas.microsoft.com/office/drawing/2014/main" id="{9E28EFB1-3181-46DD-AB3F-C2B45D656840}"/>
              </a:ext>
            </a:extLst>
          </p:cNvPr>
          <p:cNvSpPr>
            <a:spLocks noChangeShapeType="1"/>
          </p:cNvSpPr>
          <p:nvPr/>
        </p:nvSpPr>
        <p:spPr bwMode="auto">
          <a:xfrm>
            <a:off x="5792788" y="5259388"/>
            <a:ext cx="4762" cy="741362"/>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78" name="Line 77">
            <a:extLst>
              <a:ext uri="{FF2B5EF4-FFF2-40B4-BE49-F238E27FC236}">
                <a16:creationId xmlns:a16="http://schemas.microsoft.com/office/drawing/2014/main" id="{0FCA2576-37B3-0A49-8FF8-E7108718BB28}"/>
              </a:ext>
            </a:extLst>
          </p:cNvPr>
          <p:cNvSpPr>
            <a:spLocks noChangeShapeType="1"/>
          </p:cNvSpPr>
          <p:nvPr/>
        </p:nvSpPr>
        <p:spPr bwMode="auto">
          <a:xfrm>
            <a:off x="5989638" y="5259388"/>
            <a:ext cx="0" cy="74295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79" name="Line 78">
            <a:extLst>
              <a:ext uri="{FF2B5EF4-FFF2-40B4-BE49-F238E27FC236}">
                <a16:creationId xmlns:a16="http://schemas.microsoft.com/office/drawing/2014/main" id="{FDD8AD57-9138-E023-DA85-31D1836F9173}"/>
              </a:ext>
            </a:extLst>
          </p:cNvPr>
          <p:cNvSpPr>
            <a:spLocks noChangeShapeType="1"/>
          </p:cNvSpPr>
          <p:nvPr/>
        </p:nvSpPr>
        <p:spPr bwMode="auto">
          <a:xfrm>
            <a:off x="6184900" y="5259388"/>
            <a:ext cx="0" cy="74295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80" name="Line 79">
            <a:extLst>
              <a:ext uri="{FF2B5EF4-FFF2-40B4-BE49-F238E27FC236}">
                <a16:creationId xmlns:a16="http://schemas.microsoft.com/office/drawing/2014/main" id="{47AF73A1-2455-96E1-0BAE-128ACA6008E0}"/>
              </a:ext>
            </a:extLst>
          </p:cNvPr>
          <p:cNvSpPr>
            <a:spLocks noChangeShapeType="1"/>
          </p:cNvSpPr>
          <p:nvPr/>
        </p:nvSpPr>
        <p:spPr bwMode="auto">
          <a:xfrm>
            <a:off x="2641600" y="5259388"/>
            <a:ext cx="0" cy="74295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81" name="Line 80">
            <a:extLst>
              <a:ext uri="{FF2B5EF4-FFF2-40B4-BE49-F238E27FC236}">
                <a16:creationId xmlns:a16="http://schemas.microsoft.com/office/drawing/2014/main" id="{2945DA6F-6FB7-98AC-E8F5-A0B14BD6810F}"/>
              </a:ext>
            </a:extLst>
          </p:cNvPr>
          <p:cNvSpPr>
            <a:spLocks noChangeShapeType="1"/>
          </p:cNvSpPr>
          <p:nvPr/>
        </p:nvSpPr>
        <p:spPr bwMode="auto">
          <a:xfrm>
            <a:off x="2641600" y="6002338"/>
            <a:ext cx="216693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82" name="Line 81">
            <a:extLst>
              <a:ext uri="{FF2B5EF4-FFF2-40B4-BE49-F238E27FC236}">
                <a16:creationId xmlns:a16="http://schemas.microsoft.com/office/drawing/2014/main" id="{D603E555-D199-55CA-D65F-A28283A2D39E}"/>
              </a:ext>
            </a:extLst>
          </p:cNvPr>
          <p:cNvSpPr>
            <a:spLocks noChangeShapeType="1"/>
          </p:cNvSpPr>
          <p:nvPr/>
        </p:nvSpPr>
        <p:spPr bwMode="auto">
          <a:xfrm>
            <a:off x="4808538" y="5259388"/>
            <a:ext cx="0" cy="187325"/>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83" name="Line 82">
            <a:extLst>
              <a:ext uri="{FF2B5EF4-FFF2-40B4-BE49-F238E27FC236}">
                <a16:creationId xmlns:a16="http://schemas.microsoft.com/office/drawing/2014/main" id="{94BC31FD-FA3A-7A1A-9262-AD3CC763A457}"/>
              </a:ext>
            </a:extLst>
          </p:cNvPr>
          <p:cNvSpPr>
            <a:spLocks noChangeShapeType="1"/>
          </p:cNvSpPr>
          <p:nvPr/>
        </p:nvSpPr>
        <p:spPr bwMode="auto">
          <a:xfrm>
            <a:off x="4810125" y="6002338"/>
            <a:ext cx="1571625"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84" name="Line 83">
            <a:extLst>
              <a:ext uri="{FF2B5EF4-FFF2-40B4-BE49-F238E27FC236}">
                <a16:creationId xmlns:a16="http://schemas.microsoft.com/office/drawing/2014/main" id="{9919FDC1-1C9A-6593-2676-0F88FE0B26FB}"/>
              </a:ext>
            </a:extLst>
          </p:cNvPr>
          <p:cNvSpPr>
            <a:spLocks noChangeShapeType="1"/>
          </p:cNvSpPr>
          <p:nvPr/>
        </p:nvSpPr>
        <p:spPr bwMode="auto">
          <a:xfrm>
            <a:off x="6383338" y="5259388"/>
            <a:ext cx="0" cy="930275"/>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85" name="Line 84">
            <a:extLst>
              <a:ext uri="{FF2B5EF4-FFF2-40B4-BE49-F238E27FC236}">
                <a16:creationId xmlns:a16="http://schemas.microsoft.com/office/drawing/2014/main" id="{6DC5721E-08ED-9566-13F8-AC1EAD924656}"/>
              </a:ext>
            </a:extLst>
          </p:cNvPr>
          <p:cNvSpPr>
            <a:spLocks noChangeShapeType="1"/>
          </p:cNvSpPr>
          <p:nvPr/>
        </p:nvSpPr>
        <p:spPr bwMode="auto">
          <a:xfrm>
            <a:off x="4808538" y="6002338"/>
            <a:ext cx="0" cy="369887"/>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86" name="Line 85">
            <a:extLst>
              <a:ext uri="{FF2B5EF4-FFF2-40B4-BE49-F238E27FC236}">
                <a16:creationId xmlns:a16="http://schemas.microsoft.com/office/drawing/2014/main" id="{D85B3C01-C1E1-9A02-7EB3-E4C30E455D76}"/>
              </a:ext>
            </a:extLst>
          </p:cNvPr>
          <p:cNvSpPr>
            <a:spLocks noChangeShapeType="1"/>
          </p:cNvSpPr>
          <p:nvPr/>
        </p:nvSpPr>
        <p:spPr bwMode="auto">
          <a:xfrm>
            <a:off x="4810125" y="6372225"/>
            <a:ext cx="1573213"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87" name="Line 86">
            <a:extLst>
              <a:ext uri="{FF2B5EF4-FFF2-40B4-BE49-F238E27FC236}">
                <a16:creationId xmlns:a16="http://schemas.microsoft.com/office/drawing/2014/main" id="{5D593F1B-DDC7-A94C-C502-9B2780B515CE}"/>
              </a:ext>
            </a:extLst>
          </p:cNvPr>
          <p:cNvSpPr>
            <a:spLocks noChangeShapeType="1"/>
          </p:cNvSpPr>
          <p:nvPr/>
        </p:nvSpPr>
        <p:spPr bwMode="auto">
          <a:xfrm flipV="1">
            <a:off x="6383338" y="6189663"/>
            <a:ext cx="0" cy="182562"/>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88" name="Rectangle 87">
            <a:extLst>
              <a:ext uri="{FF2B5EF4-FFF2-40B4-BE49-F238E27FC236}">
                <a16:creationId xmlns:a16="http://schemas.microsoft.com/office/drawing/2014/main" id="{1F55E4AB-8E97-1AEA-6146-676CBA553D54}"/>
              </a:ext>
            </a:extLst>
          </p:cNvPr>
          <p:cNvSpPr>
            <a:spLocks noChangeArrowheads="1"/>
          </p:cNvSpPr>
          <p:nvPr/>
        </p:nvSpPr>
        <p:spPr bwMode="auto">
          <a:xfrm>
            <a:off x="4745038" y="5970588"/>
            <a:ext cx="1697037" cy="46230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200" b="1">
                <a:latin typeface="+mj-lt"/>
              </a:rPr>
              <a:t>Prioritized Technical Descriptors</a:t>
            </a:r>
          </a:p>
        </p:txBody>
      </p:sp>
      <p:sp>
        <p:nvSpPr>
          <p:cNvPr id="89" name="Rectangle 88">
            <a:extLst>
              <a:ext uri="{FF2B5EF4-FFF2-40B4-BE49-F238E27FC236}">
                <a16:creationId xmlns:a16="http://schemas.microsoft.com/office/drawing/2014/main" id="{9C40B032-6C34-8705-39EA-C093011B7DA9}"/>
              </a:ext>
            </a:extLst>
          </p:cNvPr>
          <p:cNvSpPr>
            <a:spLocks noChangeArrowheads="1"/>
          </p:cNvSpPr>
          <p:nvPr/>
        </p:nvSpPr>
        <p:spPr bwMode="auto">
          <a:xfrm>
            <a:off x="2574925" y="5233988"/>
            <a:ext cx="2338589" cy="277641"/>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200" b="1">
                <a:latin typeface="+mj-lt"/>
              </a:rPr>
              <a:t>Degree of Technical Difficulty</a:t>
            </a:r>
          </a:p>
        </p:txBody>
      </p:sp>
      <p:sp>
        <p:nvSpPr>
          <p:cNvPr id="90" name="Rectangle 89">
            <a:extLst>
              <a:ext uri="{FF2B5EF4-FFF2-40B4-BE49-F238E27FC236}">
                <a16:creationId xmlns:a16="http://schemas.microsoft.com/office/drawing/2014/main" id="{05A0EAFD-189B-3BC9-597A-07A83D514ADF}"/>
              </a:ext>
            </a:extLst>
          </p:cNvPr>
          <p:cNvSpPr>
            <a:spLocks noChangeArrowheads="1"/>
          </p:cNvSpPr>
          <p:nvPr/>
        </p:nvSpPr>
        <p:spPr bwMode="auto">
          <a:xfrm>
            <a:off x="2581275" y="5780088"/>
            <a:ext cx="2252668" cy="277641"/>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200" b="1">
                <a:latin typeface="+mj-lt"/>
              </a:rPr>
              <a:t>Relative Weight and Percent</a:t>
            </a:r>
          </a:p>
        </p:txBody>
      </p:sp>
      <p:sp>
        <p:nvSpPr>
          <p:cNvPr id="91" name="Rectangle 90">
            <a:extLst>
              <a:ext uri="{FF2B5EF4-FFF2-40B4-BE49-F238E27FC236}">
                <a16:creationId xmlns:a16="http://schemas.microsoft.com/office/drawing/2014/main" id="{61FEE50C-96D2-6537-DA04-7C7576DCDB08}"/>
              </a:ext>
            </a:extLst>
          </p:cNvPr>
          <p:cNvSpPr>
            <a:spLocks noChangeArrowheads="1"/>
          </p:cNvSpPr>
          <p:nvPr/>
        </p:nvSpPr>
        <p:spPr bwMode="auto">
          <a:xfrm>
            <a:off x="2578100" y="5411788"/>
            <a:ext cx="1089401" cy="277641"/>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200" b="1">
                <a:latin typeface="+mj-lt"/>
              </a:rPr>
              <a:t>Target Value</a:t>
            </a:r>
          </a:p>
        </p:txBody>
      </p:sp>
      <p:sp>
        <p:nvSpPr>
          <p:cNvPr id="92" name="Line 91">
            <a:extLst>
              <a:ext uri="{FF2B5EF4-FFF2-40B4-BE49-F238E27FC236}">
                <a16:creationId xmlns:a16="http://schemas.microsoft.com/office/drawing/2014/main" id="{BAD09713-2F9B-1A11-33F8-C69CA254F82E}"/>
              </a:ext>
            </a:extLst>
          </p:cNvPr>
          <p:cNvSpPr>
            <a:spLocks noChangeShapeType="1"/>
          </p:cNvSpPr>
          <p:nvPr/>
        </p:nvSpPr>
        <p:spPr bwMode="auto">
          <a:xfrm>
            <a:off x="4808538" y="5446713"/>
            <a:ext cx="0" cy="555625"/>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93" name="Line 92">
            <a:extLst>
              <a:ext uri="{FF2B5EF4-FFF2-40B4-BE49-F238E27FC236}">
                <a16:creationId xmlns:a16="http://schemas.microsoft.com/office/drawing/2014/main" id="{C17D8B18-B077-063E-C176-8CE2F82A0ADF}"/>
              </a:ext>
            </a:extLst>
          </p:cNvPr>
          <p:cNvSpPr>
            <a:spLocks noChangeShapeType="1"/>
          </p:cNvSpPr>
          <p:nvPr/>
        </p:nvSpPr>
        <p:spPr bwMode="auto">
          <a:xfrm>
            <a:off x="4808538" y="5259388"/>
            <a:ext cx="1574800"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94" name="Line 93">
            <a:extLst>
              <a:ext uri="{FF2B5EF4-FFF2-40B4-BE49-F238E27FC236}">
                <a16:creationId xmlns:a16="http://schemas.microsoft.com/office/drawing/2014/main" id="{69F0960A-10B1-490B-241C-A87FA27CDAAA}"/>
              </a:ext>
            </a:extLst>
          </p:cNvPr>
          <p:cNvSpPr>
            <a:spLocks noChangeShapeType="1"/>
          </p:cNvSpPr>
          <p:nvPr/>
        </p:nvSpPr>
        <p:spPr bwMode="auto">
          <a:xfrm>
            <a:off x="4808538" y="5446713"/>
            <a:ext cx="1574800"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95" name="Line 94">
            <a:extLst>
              <a:ext uri="{FF2B5EF4-FFF2-40B4-BE49-F238E27FC236}">
                <a16:creationId xmlns:a16="http://schemas.microsoft.com/office/drawing/2014/main" id="{FD1B09E2-9004-D635-6305-2DB547B82593}"/>
              </a:ext>
            </a:extLst>
          </p:cNvPr>
          <p:cNvSpPr>
            <a:spLocks noChangeShapeType="1"/>
          </p:cNvSpPr>
          <p:nvPr/>
        </p:nvSpPr>
        <p:spPr bwMode="auto">
          <a:xfrm>
            <a:off x="4808538" y="5629275"/>
            <a:ext cx="1574800"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96" name="Line 95">
            <a:extLst>
              <a:ext uri="{FF2B5EF4-FFF2-40B4-BE49-F238E27FC236}">
                <a16:creationId xmlns:a16="http://schemas.microsoft.com/office/drawing/2014/main" id="{C9E0985F-BBA4-9DE5-CBEF-3C97F4C64FA2}"/>
              </a:ext>
            </a:extLst>
          </p:cNvPr>
          <p:cNvSpPr>
            <a:spLocks noChangeShapeType="1"/>
          </p:cNvSpPr>
          <p:nvPr/>
        </p:nvSpPr>
        <p:spPr bwMode="auto">
          <a:xfrm>
            <a:off x="4808538" y="5818188"/>
            <a:ext cx="1574800"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grpSp>
        <p:nvGrpSpPr>
          <p:cNvPr id="97" name="Group 98">
            <a:extLst>
              <a:ext uri="{FF2B5EF4-FFF2-40B4-BE49-F238E27FC236}">
                <a16:creationId xmlns:a16="http://schemas.microsoft.com/office/drawing/2014/main" id="{E166A12B-4BF0-97EB-3572-0C0B02AC9540}"/>
              </a:ext>
            </a:extLst>
          </p:cNvPr>
          <p:cNvGrpSpPr>
            <a:grpSpLocks/>
          </p:cNvGrpSpPr>
          <p:nvPr/>
        </p:nvGrpSpPr>
        <p:grpSpPr bwMode="auto">
          <a:xfrm>
            <a:off x="4756152" y="5222875"/>
            <a:ext cx="1690688" cy="277813"/>
            <a:chOff x="2996" y="3290"/>
            <a:chExt cx="1065" cy="175"/>
          </a:xfrm>
        </p:grpSpPr>
        <p:sp>
          <p:nvSpPr>
            <p:cNvPr id="98" name="Rectangle 96">
              <a:extLst>
                <a:ext uri="{FF2B5EF4-FFF2-40B4-BE49-F238E27FC236}">
                  <a16:creationId xmlns:a16="http://schemas.microsoft.com/office/drawing/2014/main" id="{74A46EF8-3B7A-25B7-D410-30689A3E9BF5}"/>
                </a:ext>
              </a:extLst>
            </p:cNvPr>
            <p:cNvSpPr>
              <a:spLocks noChangeArrowheads="1"/>
            </p:cNvSpPr>
            <p:nvPr/>
          </p:nvSpPr>
          <p:spPr bwMode="auto">
            <a:xfrm>
              <a:off x="2996" y="3290"/>
              <a:ext cx="577" cy="17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200" b="1" dirty="0">
                  <a:latin typeface="+mj-lt"/>
                </a:rPr>
                <a:t>1   8   4   2</a:t>
              </a:r>
            </a:p>
          </p:txBody>
        </p:sp>
        <p:sp>
          <p:nvSpPr>
            <p:cNvPr id="99" name="Rectangle 97">
              <a:extLst>
                <a:ext uri="{FF2B5EF4-FFF2-40B4-BE49-F238E27FC236}">
                  <a16:creationId xmlns:a16="http://schemas.microsoft.com/office/drawing/2014/main" id="{F90DE17E-EF16-50E1-2ADF-7DBF4888E1AE}"/>
                </a:ext>
              </a:extLst>
            </p:cNvPr>
            <p:cNvSpPr>
              <a:spLocks noChangeArrowheads="1"/>
            </p:cNvSpPr>
            <p:nvPr/>
          </p:nvSpPr>
          <p:spPr bwMode="auto">
            <a:xfrm>
              <a:off x="3484" y="3290"/>
              <a:ext cx="577" cy="17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200" b="1">
                  <a:latin typeface="+mj-lt"/>
                </a:rPr>
                <a:t>9   8   2   5</a:t>
              </a:r>
            </a:p>
          </p:txBody>
        </p:sp>
      </p:grpSp>
      <p:sp>
        <p:nvSpPr>
          <p:cNvPr id="100" name="Rectangle 99">
            <a:extLst>
              <a:ext uri="{FF2B5EF4-FFF2-40B4-BE49-F238E27FC236}">
                <a16:creationId xmlns:a16="http://schemas.microsoft.com/office/drawing/2014/main" id="{6446F25C-2CCA-7459-1DEB-50BF6F0A1F01}"/>
              </a:ext>
            </a:extLst>
          </p:cNvPr>
          <p:cNvSpPr>
            <a:spLocks noChangeArrowheads="1"/>
          </p:cNvSpPr>
          <p:nvPr/>
        </p:nvSpPr>
        <p:spPr bwMode="auto">
          <a:xfrm>
            <a:off x="5514048" y="5599113"/>
            <a:ext cx="355867" cy="277641"/>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200" b="1">
                <a:latin typeface="+mj-lt"/>
              </a:rPr>
              <a:t>90</a:t>
            </a:r>
          </a:p>
        </p:txBody>
      </p:sp>
      <p:sp>
        <p:nvSpPr>
          <p:cNvPr id="101" name="Rectangle 100">
            <a:extLst>
              <a:ext uri="{FF2B5EF4-FFF2-40B4-BE49-F238E27FC236}">
                <a16:creationId xmlns:a16="http://schemas.microsoft.com/office/drawing/2014/main" id="{DF90D935-201E-24FC-B72E-5F600616429D}"/>
              </a:ext>
            </a:extLst>
          </p:cNvPr>
          <p:cNvSpPr>
            <a:spLocks noChangeArrowheads="1"/>
          </p:cNvSpPr>
          <p:nvPr/>
        </p:nvSpPr>
        <p:spPr bwMode="auto">
          <a:xfrm>
            <a:off x="5496384" y="5784850"/>
            <a:ext cx="397545" cy="24686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000" b="1">
                <a:latin typeface="+mj-lt"/>
              </a:rPr>
              <a:t>133</a:t>
            </a:r>
          </a:p>
        </p:txBody>
      </p:sp>
      <p:grpSp>
        <p:nvGrpSpPr>
          <p:cNvPr id="102" name="Group 103">
            <a:extLst>
              <a:ext uri="{FF2B5EF4-FFF2-40B4-BE49-F238E27FC236}">
                <a16:creationId xmlns:a16="http://schemas.microsoft.com/office/drawing/2014/main" id="{8AD01D39-4889-3A35-5EFA-DA0D2F062060}"/>
              </a:ext>
            </a:extLst>
          </p:cNvPr>
          <p:cNvGrpSpPr>
            <a:grpSpLocks/>
          </p:cNvGrpSpPr>
          <p:nvPr/>
        </p:nvGrpSpPr>
        <p:grpSpPr bwMode="auto">
          <a:xfrm>
            <a:off x="4760914" y="5410200"/>
            <a:ext cx="1690688" cy="277813"/>
            <a:chOff x="2999" y="3408"/>
            <a:chExt cx="1065" cy="175"/>
          </a:xfrm>
        </p:grpSpPr>
        <p:sp>
          <p:nvSpPr>
            <p:cNvPr id="103" name="Rectangle 101">
              <a:extLst>
                <a:ext uri="{FF2B5EF4-FFF2-40B4-BE49-F238E27FC236}">
                  <a16:creationId xmlns:a16="http://schemas.microsoft.com/office/drawing/2014/main" id="{3842E40C-478F-0BE3-B849-766906077185}"/>
                </a:ext>
              </a:extLst>
            </p:cNvPr>
            <p:cNvSpPr>
              <a:spLocks noChangeArrowheads="1"/>
            </p:cNvSpPr>
            <p:nvPr/>
          </p:nvSpPr>
          <p:spPr bwMode="auto">
            <a:xfrm>
              <a:off x="2999" y="3408"/>
              <a:ext cx="577" cy="17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200" b="1">
                  <a:latin typeface="+mj-lt"/>
                </a:rPr>
                <a:t>2   3   4   3</a:t>
              </a:r>
            </a:p>
          </p:txBody>
        </p:sp>
        <p:sp>
          <p:nvSpPr>
            <p:cNvPr id="104" name="Rectangle 102">
              <a:extLst>
                <a:ext uri="{FF2B5EF4-FFF2-40B4-BE49-F238E27FC236}">
                  <a16:creationId xmlns:a16="http://schemas.microsoft.com/office/drawing/2014/main" id="{9375559A-C238-B7F8-51DA-8EFE79E146AC}"/>
                </a:ext>
              </a:extLst>
            </p:cNvPr>
            <p:cNvSpPr>
              <a:spLocks noChangeArrowheads="1"/>
            </p:cNvSpPr>
            <p:nvPr/>
          </p:nvSpPr>
          <p:spPr bwMode="auto">
            <a:xfrm>
              <a:off x="3487" y="3408"/>
              <a:ext cx="577" cy="17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200" b="1">
                  <a:latin typeface="+mj-lt"/>
                </a:rPr>
                <a:t>1   3   1   5</a:t>
              </a:r>
            </a:p>
          </p:txBody>
        </p:sp>
      </p:grpSp>
      <p:sp>
        <p:nvSpPr>
          <p:cNvPr id="105" name="Rectangle 104">
            <a:extLst>
              <a:ext uri="{FF2B5EF4-FFF2-40B4-BE49-F238E27FC236}">
                <a16:creationId xmlns:a16="http://schemas.microsoft.com/office/drawing/2014/main" id="{9EB0F95B-B2F6-81C0-81D7-D0CEFE2E4D13}"/>
              </a:ext>
            </a:extLst>
          </p:cNvPr>
          <p:cNvSpPr>
            <a:spLocks noChangeArrowheads="1"/>
          </p:cNvSpPr>
          <p:nvPr/>
        </p:nvSpPr>
        <p:spPr bwMode="auto">
          <a:xfrm>
            <a:off x="6900863" y="3005138"/>
            <a:ext cx="354012" cy="170497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110000"/>
              </a:lnSpc>
            </a:pPr>
            <a:r>
              <a:rPr lang="en-US" altLang="en-US" sz="1200" b="1">
                <a:latin typeface="+mj-lt"/>
              </a:rPr>
              <a:t>7</a:t>
            </a:r>
          </a:p>
          <a:p>
            <a:pPr algn="ctr">
              <a:lnSpc>
                <a:spcPct val="110000"/>
              </a:lnSpc>
            </a:pPr>
            <a:r>
              <a:rPr lang="en-US" altLang="en-US" sz="1200" b="1">
                <a:latin typeface="+mj-lt"/>
              </a:rPr>
              <a:t>3</a:t>
            </a:r>
          </a:p>
          <a:p>
            <a:pPr algn="ctr">
              <a:lnSpc>
                <a:spcPct val="110000"/>
              </a:lnSpc>
            </a:pPr>
            <a:r>
              <a:rPr lang="en-US" altLang="en-US" sz="1200" b="1">
                <a:latin typeface="+mj-lt"/>
              </a:rPr>
              <a:t>9</a:t>
            </a:r>
          </a:p>
          <a:p>
            <a:pPr algn="ctr">
              <a:lnSpc>
                <a:spcPct val="110000"/>
              </a:lnSpc>
            </a:pPr>
            <a:r>
              <a:rPr lang="en-US" altLang="en-US" sz="1200" b="1">
                <a:latin typeface="+mj-lt"/>
              </a:rPr>
              <a:t>10</a:t>
            </a:r>
          </a:p>
          <a:p>
            <a:pPr algn="ctr">
              <a:lnSpc>
                <a:spcPct val="110000"/>
              </a:lnSpc>
            </a:pPr>
            <a:r>
              <a:rPr lang="en-US" altLang="en-US" sz="1200" b="1">
                <a:latin typeface="+mj-lt"/>
              </a:rPr>
              <a:t>2</a:t>
            </a:r>
          </a:p>
          <a:p>
            <a:pPr algn="ctr">
              <a:lnSpc>
                <a:spcPct val="110000"/>
              </a:lnSpc>
            </a:pPr>
            <a:r>
              <a:rPr lang="en-US" altLang="en-US" sz="1200" b="1">
                <a:latin typeface="+mj-lt"/>
              </a:rPr>
              <a:t>4</a:t>
            </a:r>
          </a:p>
          <a:p>
            <a:pPr algn="ctr">
              <a:lnSpc>
                <a:spcPct val="110000"/>
              </a:lnSpc>
            </a:pPr>
            <a:r>
              <a:rPr lang="en-US" altLang="en-US" sz="1200" b="1">
                <a:latin typeface="+mj-lt"/>
              </a:rPr>
              <a:t>8</a:t>
            </a:r>
          </a:p>
          <a:p>
            <a:pPr algn="ctr">
              <a:lnSpc>
                <a:spcPct val="110000"/>
              </a:lnSpc>
            </a:pPr>
            <a:r>
              <a:rPr lang="en-US" altLang="en-US" sz="1200" b="1">
                <a:latin typeface="+mj-lt"/>
              </a:rPr>
              <a:t>1</a:t>
            </a:r>
          </a:p>
        </p:txBody>
      </p:sp>
      <p:sp>
        <p:nvSpPr>
          <p:cNvPr id="106" name="Line 105">
            <a:extLst>
              <a:ext uri="{FF2B5EF4-FFF2-40B4-BE49-F238E27FC236}">
                <a16:creationId xmlns:a16="http://schemas.microsoft.com/office/drawing/2014/main" id="{09A47207-DDE1-6B14-8D0F-DFB3E6042CE6}"/>
              </a:ext>
            </a:extLst>
          </p:cNvPr>
          <p:cNvSpPr>
            <a:spLocks noChangeShapeType="1"/>
          </p:cNvSpPr>
          <p:nvPr/>
        </p:nvSpPr>
        <p:spPr bwMode="auto">
          <a:xfrm>
            <a:off x="5005388" y="3063875"/>
            <a:ext cx="0" cy="1589088"/>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07" name="Line 106">
            <a:extLst>
              <a:ext uri="{FF2B5EF4-FFF2-40B4-BE49-F238E27FC236}">
                <a16:creationId xmlns:a16="http://schemas.microsoft.com/office/drawing/2014/main" id="{F468ECD7-713F-4287-FC20-943F95F9B2AD}"/>
              </a:ext>
            </a:extLst>
          </p:cNvPr>
          <p:cNvSpPr>
            <a:spLocks noChangeShapeType="1"/>
          </p:cNvSpPr>
          <p:nvPr/>
        </p:nvSpPr>
        <p:spPr bwMode="auto">
          <a:xfrm>
            <a:off x="4810125" y="3262313"/>
            <a:ext cx="2168525"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08" name="Line 107">
            <a:extLst>
              <a:ext uri="{FF2B5EF4-FFF2-40B4-BE49-F238E27FC236}">
                <a16:creationId xmlns:a16="http://schemas.microsoft.com/office/drawing/2014/main" id="{F3B7C24B-66FA-D6E6-2A9A-139E6CAA4AFC}"/>
              </a:ext>
            </a:extLst>
          </p:cNvPr>
          <p:cNvSpPr>
            <a:spLocks noChangeShapeType="1"/>
          </p:cNvSpPr>
          <p:nvPr/>
        </p:nvSpPr>
        <p:spPr bwMode="auto">
          <a:xfrm>
            <a:off x="4810125" y="3460750"/>
            <a:ext cx="2168525"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09" name="Line 108">
            <a:extLst>
              <a:ext uri="{FF2B5EF4-FFF2-40B4-BE49-F238E27FC236}">
                <a16:creationId xmlns:a16="http://schemas.microsoft.com/office/drawing/2014/main" id="{8CA5E80E-C9B7-C7C9-6B30-0BA7FB41B788}"/>
              </a:ext>
            </a:extLst>
          </p:cNvPr>
          <p:cNvSpPr>
            <a:spLocks noChangeShapeType="1"/>
          </p:cNvSpPr>
          <p:nvPr/>
        </p:nvSpPr>
        <p:spPr bwMode="auto">
          <a:xfrm>
            <a:off x="4810125" y="3660775"/>
            <a:ext cx="2168525"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10" name="Line 109">
            <a:extLst>
              <a:ext uri="{FF2B5EF4-FFF2-40B4-BE49-F238E27FC236}">
                <a16:creationId xmlns:a16="http://schemas.microsoft.com/office/drawing/2014/main" id="{C44F5433-0F3E-24C4-39AB-3922E1FD5A81}"/>
              </a:ext>
            </a:extLst>
          </p:cNvPr>
          <p:cNvSpPr>
            <a:spLocks noChangeShapeType="1"/>
          </p:cNvSpPr>
          <p:nvPr/>
        </p:nvSpPr>
        <p:spPr bwMode="auto">
          <a:xfrm>
            <a:off x="4810125" y="3857625"/>
            <a:ext cx="2168525"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11" name="Line 110">
            <a:extLst>
              <a:ext uri="{FF2B5EF4-FFF2-40B4-BE49-F238E27FC236}">
                <a16:creationId xmlns:a16="http://schemas.microsoft.com/office/drawing/2014/main" id="{E1ED0DB7-335D-6B51-876B-6A13C9F928EF}"/>
              </a:ext>
            </a:extLst>
          </p:cNvPr>
          <p:cNvSpPr>
            <a:spLocks noChangeShapeType="1"/>
          </p:cNvSpPr>
          <p:nvPr/>
        </p:nvSpPr>
        <p:spPr bwMode="auto">
          <a:xfrm>
            <a:off x="4810125" y="4057650"/>
            <a:ext cx="2168525"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12" name="Line 111">
            <a:extLst>
              <a:ext uri="{FF2B5EF4-FFF2-40B4-BE49-F238E27FC236}">
                <a16:creationId xmlns:a16="http://schemas.microsoft.com/office/drawing/2014/main" id="{0DF523A0-4DB8-80CB-3029-0AE92285B38A}"/>
              </a:ext>
            </a:extLst>
          </p:cNvPr>
          <p:cNvSpPr>
            <a:spLocks noChangeShapeType="1"/>
          </p:cNvSpPr>
          <p:nvPr/>
        </p:nvSpPr>
        <p:spPr bwMode="auto">
          <a:xfrm>
            <a:off x="4810125" y="4254500"/>
            <a:ext cx="2168525"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13" name="Line 112">
            <a:extLst>
              <a:ext uri="{FF2B5EF4-FFF2-40B4-BE49-F238E27FC236}">
                <a16:creationId xmlns:a16="http://schemas.microsoft.com/office/drawing/2014/main" id="{4A6CCEB0-636C-6195-A154-7C7128C30FFE}"/>
              </a:ext>
            </a:extLst>
          </p:cNvPr>
          <p:cNvSpPr>
            <a:spLocks noChangeShapeType="1"/>
          </p:cNvSpPr>
          <p:nvPr/>
        </p:nvSpPr>
        <p:spPr bwMode="auto">
          <a:xfrm>
            <a:off x="4810125" y="4454525"/>
            <a:ext cx="2168525"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14" name="Line 113">
            <a:extLst>
              <a:ext uri="{FF2B5EF4-FFF2-40B4-BE49-F238E27FC236}">
                <a16:creationId xmlns:a16="http://schemas.microsoft.com/office/drawing/2014/main" id="{BD0AEB99-2B80-DFD1-5B73-8B50DA170EFC}"/>
              </a:ext>
            </a:extLst>
          </p:cNvPr>
          <p:cNvSpPr>
            <a:spLocks noChangeShapeType="1"/>
          </p:cNvSpPr>
          <p:nvPr/>
        </p:nvSpPr>
        <p:spPr bwMode="auto">
          <a:xfrm>
            <a:off x="5402263" y="3063875"/>
            <a:ext cx="0" cy="1589088"/>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15" name="Line 114">
            <a:extLst>
              <a:ext uri="{FF2B5EF4-FFF2-40B4-BE49-F238E27FC236}">
                <a16:creationId xmlns:a16="http://schemas.microsoft.com/office/drawing/2014/main" id="{66E590CE-78B2-71D3-687B-A883D8C43C9C}"/>
              </a:ext>
            </a:extLst>
          </p:cNvPr>
          <p:cNvSpPr>
            <a:spLocks noChangeShapeType="1"/>
          </p:cNvSpPr>
          <p:nvPr/>
        </p:nvSpPr>
        <p:spPr bwMode="auto">
          <a:xfrm>
            <a:off x="5597525" y="3063875"/>
            <a:ext cx="0" cy="1589088"/>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16" name="Line 115">
            <a:extLst>
              <a:ext uri="{FF2B5EF4-FFF2-40B4-BE49-F238E27FC236}">
                <a16:creationId xmlns:a16="http://schemas.microsoft.com/office/drawing/2014/main" id="{124EC0F0-5A69-DE60-B133-C4629241CC7B}"/>
              </a:ext>
            </a:extLst>
          </p:cNvPr>
          <p:cNvSpPr>
            <a:spLocks noChangeShapeType="1"/>
          </p:cNvSpPr>
          <p:nvPr/>
        </p:nvSpPr>
        <p:spPr bwMode="auto">
          <a:xfrm>
            <a:off x="5795963" y="3063875"/>
            <a:ext cx="0" cy="1589088"/>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17" name="Line 116">
            <a:extLst>
              <a:ext uri="{FF2B5EF4-FFF2-40B4-BE49-F238E27FC236}">
                <a16:creationId xmlns:a16="http://schemas.microsoft.com/office/drawing/2014/main" id="{616AA52E-4042-A9C0-FF80-FCC0B9E21E51}"/>
              </a:ext>
            </a:extLst>
          </p:cNvPr>
          <p:cNvSpPr>
            <a:spLocks noChangeShapeType="1"/>
          </p:cNvSpPr>
          <p:nvPr/>
        </p:nvSpPr>
        <p:spPr bwMode="auto">
          <a:xfrm>
            <a:off x="5991225" y="3063875"/>
            <a:ext cx="0" cy="1589088"/>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18" name="Line 117">
            <a:extLst>
              <a:ext uri="{FF2B5EF4-FFF2-40B4-BE49-F238E27FC236}">
                <a16:creationId xmlns:a16="http://schemas.microsoft.com/office/drawing/2014/main" id="{ABA94104-8761-A337-C172-503C9B41187E}"/>
              </a:ext>
            </a:extLst>
          </p:cNvPr>
          <p:cNvSpPr>
            <a:spLocks noChangeShapeType="1"/>
          </p:cNvSpPr>
          <p:nvPr/>
        </p:nvSpPr>
        <p:spPr bwMode="auto">
          <a:xfrm>
            <a:off x="6191250" y="3063875"/>
            <a:ext cx="0" cy="1589088"/>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19" name="Line 118">
            <a:extLst>
              <a:ext uri="{FF2B5EF4-FFF2-40B4-BE49-F238E27FC236}">
                <a16:creationId xmlns:a16="http://schemas.microsoft.com/office/drawing/2014/main" id="{BE14B8B7-2137-1847-8EFE-24D640C0DA1F}"/>
              </a:ext>
            </a:extLst>
          </p:cNvPr>
          <p:cNvSpPr>
            <a:spLocks noChangeShapeType="1"/>
          </p:cNvSpPr>
          <p:nvPr/>
        </p:nvSpPr>
        <p:spPr bwMode="auto">
          <a:xfrm>
            <a:off x="6584950" y="3063875"/>
            <a:ext cx="0" cy="1589088"/>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20" name="Line 119">
            <a:extLst>
              <a:ext uri="{FF2B5EF4-FFF2-40B4-BE49-F238E27FC236}">
                <a16:creationId xmlns:a16="http://schemas.microsoft.com/office/drawing/2014/main" id="{6243031A-F71F-ACB0-3DB9-2E5A37C868F1}"/>
              </a:ext>
            </a:extLst>
          </p:cNvPr>
          <p:cNvSpPr>
            <a:spLocks noChangeShapeType="1"/>
          </p:cNvSpPr>
          <p:nvPr/>
        </p:nvSpPr>
        <p:spPr bwMode="auto">
          <a:xfrm>
            <a:off x="6783388" y="3063875"/>
            <a:ext cx="0" cy="1589088"/>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21" name="Line 120">
            <a:extLst>
              <a:ext uri="{FF2B5EF4-FFF2-40B4-BE49-F238E27FC236}">
                <a16:creationId xmlns:a16="http://schemas.microsoft.com/office/drawing/2014/main" id="{53117E78-0652-F895-AD51-DF27A8AE7E62}"/>
              </a:ext>
            </a:extLst>
          </p:cNvPr>
          <p:cNvSpPr>
            <a:spLocks noChangeShapeType="1"/>
          </p:cNvSpPr>
          <p:nvPr/>
        </p:nvSpPr>
        <p:spPr bwMode="auto">
          <a:xfrm flipH="1">
            <a:off x="3035300" y="4057650"/>
            <a:ext cx="393700"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22" name="Line 121">
            <a:extLst>
              <a:ext uri="{FF2B5EF4-FFF2-40B4-BE49-F238E27FC236}">
                <a16:creationId xmlns:a16="http://schemas.microsoft.com/office/drawing/2014/main" id="{08E817DD-A176-D09E-65A3-E485CEE56300}"/>
              </a:ext>
            </a:extLst>
          </p:cNvPr>
          <p:cNvSpPr>
            <a:spLocks noChangeShapeType="1"/>
          </p:cNvSpPr>
          <p:nvPr/>
        </p:nvSpPr>
        <p:spPr bwMode="auto">
          <a:xfrm>
            <a:off x="3625850" y="4851400"/>
            <a:ext cx="118268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23" name="Line 122">
            <a:extLst>
              <a:ext uri="{FF2B5EF4-FFF2-40B4-BE49-F238E27FC236}">
                <a16:creationId xmlns:a16="http://schemas.microsoft.com/office/drawing/2014/main" id="{DF82EE92-DF6A-00A6-C4F8-B88B4AD49A75}"/>
              </a:ext>
            </a:extLst>
          </p:cNvPr>
          <p:cNvSpPr>
            <a:spLocks noChangeShapeType="1"/>
          </p:cNvSpPr>
          <p:nvPr/>
        </p:nvSpPr>
        <p:spPr bwMode="auto">
          <a:xfrm>
            <a:off x="3624263" y="5049838"/>
            <a:ext cx="1184275"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24" name="Line 123">
            <a:extLst>
              <a:ext uri="{FF2B5EF4-FFF2-40B4-BE49-F238E27FC236}">
                <a16:creationId xmlns:a16="http://schemas.microsoft.com/office/drawing/2014/main" id="{6AE47842-473D-4F46-1412-EEE96D46F928}"/>
              </a:ext>
            </a:extLst>
          </p:cNvPr>
          <p:cNvSpPr>
            <a:spLocks noChangeShapeType="1"/>
          </p:cNvSpPr>
          <p:nvPr/>
        </p:nvSpPr>
        <p:spPr bwMode="auto">
          <a:xfrm>
            <a:off x="5005388" y="4652963"/>
            <a:ext cx="0" cy="595312"/>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25" name="Line 124">
            <a:extLst>
              <a:ext uri="{FF2B5EF4-FFF2-40B4-BE49-F238E27FC236}">
                <a16:creationId xmlns:a16="http://schemas.microsoft.com/office/drawing/2014/main" id="{F42A4CB1-4961-A547-2975-13B740EB861F}"/>
              </a:ext>
            </a:extLst>
          </p:cNvPr>
          <p:cNvSpPr>
            <a:spLocks noChangeShapeType="1"/>
          </p:cNvSpPr>
          <p:nvPr/>
        </p:nvSpPr>
        <p:spPr bwMode="auto">
          <a:xfrm>
            <a:off x="3625850" y="4652963"/>
            <a:ext cx="0" cy="598487"/>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26" name="Line 125">
            <a:extLst>
              <a:ext uri="{FF2B5EF4-FFF2-40B4-BE49-F238E27FC236}">
                <a16:creationId xmlns:a16="http://schemas.microsoft.com/office/drawing/2014/main" id="{1F7A5B5D-FFB0-3A1E-7819-2756598609BC}"/>
              </a:ext>
            </a:extLst>
          </p:cNvPr>
          <p:cNvSpPr>
            <a:spLocks noChangeShapeType="1"/>
          </p:cNvSpPr>
          <p:nvPr/>
        </p:nvSpPr>
        <p:spPr bwMode="auto">
          <a:xfrm flipH="1">
            <a:off x="5203825" y="4652963"/>
            <a:ext cx="1588" cy="595312"/>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27" name="Line 126">
            <a:extLst>
              <a:ext uri="{FF2B5EF4-FFF2-40B4-BE49-F238E27FC236}">
                <a16:creationId xmlns:a16="http://schemas.microsoft.com/office/drawing/2014/main" id="{E21296A2-DCFB-43A3-8D75-ADDB6DA7D28F}"/>
              </a:ext>
            </a:extLst>
          </p:cNvPr>
          <p:cNvSpPr>
            <a:spLocks noChangeShapeType="1"/>
          </p:cNvSpPr>
          <p:nvPr/>
        </p:nvSpPr>
        <p:spPr bwMode="auto">
          <a:xfrm flipH="1">
            <a:off x="5400675" y="4652963"/>
            <a:ext cx="1588" cy="595312"/>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28" name="Line 127">
            <a:extLst>
              <a:ext uri="{FF2B5EF4-FFF2-40B4-BE49-F238E27FC236}">
                <a16:creationId xmlns:a16="http://schemas.microsoft.com/office/drawing/2014/main" id="{8FD4EC5F-D014-5CA1-35FB-E2FE92393D05}"/>
              </a:ext>
            </a:extLst>
          </p:cNvPr>
          <p:cNvSpPr>
            <a:spLocks noChangeShapeType="1"/>
          </p:cNvSpPr>
          <p:nvPr/>
        </p:nvSpPr>
        <p:spPr bwMode="auto">
          <a:xfrm>
            <a:off x="5597525" y="4652963"/>
            <a:ext cx="0" cy="595312"/>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29" name="Line 128">
            <a:extLst>
              <a:ext uri="{FF2B5EF4-FFF2-40B4-BE49-F238E27FC236}">
                <a16:creationId xmlns:a16="http://schemas.microsoft.com/office/drawing/2014/main" id="{11B41530-0F32-AE86-D1F5-82D7C598635C}"/>
              </a:ext>
            </a:extLst>
          </p:cNvPr>
          <p:cNvSpPr>
            <a:spLocks noChangeShapeType="1"/>
          </p:cNvSpPr>
          <p:nvPr/>
        </p:nvSpPr>
        <p:spPr bwMode="auto">
          <a:xfrm>
            <a:off x="5795963" y="4652963"/>
            <a:ext cx="1587" cy="598487"/>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30" name="Line 129">
            <a:extLst>
              <a:ext uri="{FF2B5EF4-FFF2-40B4-BE49-F238E27FC236}">
                <a16:creationId xmlns:a16="http://schemas.microsoft.com/office/drawing/2014/main" id="{71C4B9ED-9CA9-E96E-0941-E7C6CCA04B61}"/>
              </a:ext>
            </a:extLst>
          </p:cNvPr>
          <p:cNvSpPr>
            <a:spLocks noChangeShapeType="1"/>
          </p:cNvSpPr>
          <p:nvPr/>
        </p:nvSpPr>
        <p:spPr bwMode="auto">
          <a:xfrm>
            <a:off x="5991225" y="4652963"/>
            <a:ext cx="0" cy="595312"/>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31" name="Line 130">
            <a:extLst>
              <a:ext uri="{FF2B5EF4-FFF2-40B4-BE49-F238E27FC236}">
                <a16:creationId xmlns:a16="http://schemas.microsoft.com/office/drawing/2014/main" id="{9CF81408-51B2-5ED8-1F9C-661E3CB1B1AE}"/>
              </a:ext>
            </a:extLst>
          </p:cNvPr>
          <p:cNvSpPr>
            <a:spLocks noChangeShapeType="1"/>
          </p:cNvSpPr>
          <p:nvPr/>
        </p:nvSpPr>
        <p:spPr bwMode="auto">
          <a:xfrm>
            <a:off x="6191250" y="4652963"/>
            <a:ext cx="1588" cy="60325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32" name="Line 131">
            <a:extLst>
              <a:ext uri="{FF2B5EF4-FFF2-40B4-BE49-F238E27FC236}">
                <a16:creationId xmlns:a16="http://schemas.microsoft.com/office/drawing/2014/main" id="{7340C009-538B-3E44-ACE6-DCC0DC11B105}"/>
              </a:ext>
            </a:extLst>
          </p:cNvPr>
          <p:cNvSpPr>
            <a:spLocks noChangeShapeType="1"/>
          </p:cNvSpPr>
          <p:nvPr/>
        </p:nvSpPr>
        <p:spPr bwMode="auto">
          <a:xfrm>
            <a:off x="4810125" y="4851400"/>
            <a:ext cx="1573213"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33" name="Line 132">
            <a:extLst>
              <a:ext uri="{FF2B5EF4-FFF2-40B4-BE49-F238E27FC236}">
                <a16:creationId xmlns:a16="http://schemas.microsoft.com/office/drawing/2014/main" id="{CEFFF500-3C1D-62DB-7D2A-99D71713200B}"/>
              </a:ext>
            </a:extLst>
          </p:cNvPr>
          <p:cNvSpPr>
            <a:spLocks noChangeShapeType="1"/>
          </p:cNvSpPr>
          <p:nvPr/>
        </p:nvSpPr>
        <p:spPr bwMode="auto">
          <a:xfrm>
            <a:off x="4810125" y="5049838"/>
            <a:ext cx="1573213"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34" name="Line 133">
            <a:extLst>
              <a:ext uri="{FF2B5EF4-FFF2-40B4-BE49-F238E27FC236}">
                <a16:creationId xmlns:a16="http://schemas.microsoft.com/office/drawing/2014/main" id="{24BAE8DC-5A0C-CC36-8FFB-DE743E0858FC}"/>
              </a:ext>
            </a:extLst>
          </p:cNvPr>
          <p:cNvSpPr>
            <a:spLocks noChangeShapeType="1"/>
          </p:cNvSpPr>
          <p:nvPr/>
        </p:nvSpPr>
        <p:spPr bwMode="auto">
          <a:xfrm>
            <a:off x="7177088" y="3063875"/>
            <a:ext cx="0" cy="1589088"/>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35" name="Line 134">
            <a:extLst>
              <a:ext uri="{FF2B5EF4-FFF2-40B4-BE49-F238E27FC236}">
                <a16:creationId xmlns:a16="http://schemas.microsoft.com/office/drawing/2014/main" id="{E9C508CD-98C5-D9CB-51D1-9592497A3398}"/>
              </a:ext>
            </a:extLst>
          </p:cNvPr>
          <p:cNvSpPr>
            <a:spLocks noChangeShapeType="1"/>
          </p:cNvSpPr>
          <p:nvPr/>
        </p:nvSpPr>
        <p:spPr bwMode="auto">
          <a:xfrm>
            <a:off x="7373938" y="3063875"/>
            <a:ext cx="0" cy="1589088"/>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36" name="Line 135">
            <a:extLst>
              <a:ext uri="{FF2B5EF4-FFF2-40B4-BE49-F238E27FC236}">
                <a16:creationId xmlns:a16="http://schemas.microsoft.com/office/drawing/2014/main" id="{FE35D849-8122-3AEB-3794-54119861B5E5}"/>
              </a:ext>
            </a:extLst>
          </p:cNvPr>
          <p:cNvSpPr>
            <a:spLocks noChangeShapeType="1"/>
          </p:cNvSpPr>
          <p:nvPr/>
        </p:nvSpPr>
        <p:spPr bwMode="auto">
          <a:xfrm flipV="1">
            <a:off x="5794375" y="1276350"/>
            <a:ext cx="0" cy="396875"/>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37" name="Line 136">
            <a:extLst>
              <a:ext uri="{FF2B5EF4-FFF2-40B4-BE49-F238E27FC236}">
                <a16:creationId xmlns:a16="http://schemas.microsoft.com/office/drawing/2014/main" id="{F9A5FE0A-0DE8-5C33-833E-F31E6075D50E}"/>
              </a:ext>
            </a:extLst>
          </p:cNvPr>
          <p:cNvSpPr>
            <a:spLocks noChangeShapeType="1"/>
          </p:cNvSpPr>
          <p:nvPr/>
        </p:nvSpPr>
        <p:spPr bwMode="auto">
          <a:xfrm>
            <a:off x="2641600" y="3063875"/>
            <a:ext cx="216693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38" name="Line 137">
            <a:extLst>
              <a:ext uri="{FF2B5EF4-FFF2-40B4-BE49-F238E27FC236}">
                <a16:creationId xmlns:a16="http://schemas.microsoft.com/office/drawing/2014/main" id="{89CA6661-179F-59D7-E247-EC7D9DFD55DB}"/>
              </a:ext>
            </a:extLst>
          </p:cNvPr>
          <p:cNvSpPr>
            <a:spLocks noChangeShapeType="1"/>
          </p:cNvSpPr>
          <p:nvPr/>
        </p:nvSpPr>
        <p:spPr bwMode="auto">
          <a:xfrm>
            <a:off x="3035300" y="3063875"/>
            <a:ext cx="0" cy="1589088"/>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39" name="Line 138">
            <a:extLst>
              <a:ext uri="{FF2B5EF4-FFF2-40B4-BE49-F238E27FC236}">
                <a16:creationId xmlns:a16="http://schemas.microsoft.com/office/drawing/2014/main" id="{C49BE3EB-A16D-120F-453F-0E59B81858BA}"/>
              </a:ext>
            </a:extLst>
          </p:cNvPr>
          <p:cNvSpPr>
            <a:spLocks noChangeShapeType="1"/>
          </p:cNvSpPr>
          <p:nvPr/>
        </p:nvSpPr>
        <p:spPr bwMode="auto">
          <a:xfrm>
            <a:off x="2641600" y="3063875"/>
            <a:ext cx="0" cy="1589088"/>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40" name="Line 139">
            <a:extLst>
              <a:ext uri="{FF2B5EF4-FFF2-40B4-BE49-F238E27FC236}">
                <a16:creationId xmlns:a16="http://schemas.microsoft.com/office/drawing/2014/main" id="{D1BD93AE-2D8D-158E-65F8-FB029AB33AE2}"/>
              </a:ext>
            </a:extLst>
          </p:cNvPr>
          <p:cNvSpPr>
            <a:spLocks noChangeShapeType="1"/>
          </p:cNvSpPr>
          <p:nvPr/>
        </p:nvSpPr>
        <p:spPr bwMode="auto">
          <a:xfrm>
            <a:off x="2641600" y="4652963"/>
            <a:ext cx="216693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41" name="Line 140">
            <a:extLst>
              <a:ext uri="{FF2B5EF4-FFF2-40B4-BE49-F238E27FC236}">
                <a16:creationId xmlns:a16="http://schemas.microsoft.com/office/drawing/2014/main" id="{130E8C96-879A-80B3-94C1-CAD245041F74}"/>
              </a:ext>
            </a:extLst>
          </p:cNvPr>
          <p:cNvSpPr>
            <a:spLocks noChangeShapeType="1"/>
          </p:cNvSpPr>
          <p:nvPr/>
        </p:nvSpPr>
        <p:spPr bwMode="auto">
          <a:xfrm>
            <a:off x="2641600" y="4652963"/>
            <a:ext cx="0" cy="3175"/>
          </a:xfrm>
          <a:prstGeom prst="line">
            <a:avLst/>
          </a:prstGeom>
          <a:noFill/>
          <a:ln w="254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42" name="Line 141">
            <a:extLst>
              <a:ext uri="{FF2B5EF4-FFF2-40B4-BE49-F238E27FC236}">
                <a16:creationId xmlns:a16="http://schemas.microsoft.com/office/drawing/2014/main" id="{71DE758B-EA77-4996-0FB4-D7F3CC2DA743}"/>
              </a:ext>
            </a:extLst>
          </p:cNvPr>
          <p:cNvSpPr>
            <a:spLocks noChangeShapeType="1"/>
          </p:cNvSpPr>
          <p:nvPr/>
        </p:nvSpPr>
        <p:spPr bwMode="auto">
          <a:xfrm>
            <a:off x="2641600" y="4652963"/>
            <a:ext cx="0" cy="593725"/>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43" name="Line 142">
            <a:extLst>
              <a:ext uri="{FF2B5EF4-FFF2-40B4-BE49-F238E27FC236}">
                <a16:creationId xmlns:a16="http://schemas.microsoft.com/office/drawing/2014/main" id="{C13971CC-8C79-8157-5FA1-2D1B73425B2C}"/>
              </a:ext>
            </a:extLst>
          </p:cNvPr>
          <p:cNvSpPr>
            <a:spLocks noChangeShapeType="1"/>
          </p:cNvSpPr>
          <p:nvPr/>
        </p:nvSpPr>
        <p:spPr bwMode="auto">
          <a:xfrm>
            <a:off x="4810125" y="4652963"/>
            <a:ext cx="1588" cy="614362"/>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44" name="Line 143">
            <a:extLst>
              <a:ext uri="{FF2B5EF4-FFF2-40B4-BE49-F238E27FC236}">
                <a16:creationId xmlns:a16="http://schemas.microsoft.com/office/drawing/2014/main" id="{D402DCE8-EB86-90C9-56BC-8E03E7FD51B2}"/>
              </a:ext>
            </a:extLst>
          </p:cNvPr>
          <p:cNvSpPr>
            <a:spLocks noChangeShapeType="1"/>
          </p:cNvSpPr>
          <p:nvPr/>
        </p:nvSpPr>
        <p:spPr bwMode="auto">
          <a:xfrm>
            <a:off x="6978650" y="3063875"/>
            <a:ext cx="0" cy="1589088"/>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45" name="Line 144">
            <a:extLst>
              <a:ext uri="{FF2B5EF4-FFF2-40B4-BE49-F238E27FC236}">
                <a16:creationId xmlns:a16="http://schemas.microsoft.com/office/drawing/2014/main" id="{84D52D0C-BCB9-4A19-57C5-639A78815EB6}"/>
              </a:ext>
            </a:extLst>
          </p:cNvPr>
          <p:cNvSpPr>
            <a:spLocks noChangeShapeType="1"/>
          </p:cNvSpPr>
          <p:nvPr/>
        </p:nvSpPr>
        <p:spPr bwMode="auto">
          <a:xfrm>
            <a:off x="3429000" y="3063875"/>
            <a:ext cx="0" cy="1589088"/>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46" name="Line 145">
            <a:extLst>
              <a:ext uri="{FF2B5EF4-FFF2-40B4-BE49-F238E27FC236}">
                <a16:creationId xmlns:a16="http://schemas.microsoft.com/office/drawing/2014/main" id="{B8A08FAD-E6C9-3100-9B93-AE84C542627D}"/>
              </a:ext>
            </a:extLst>
          </p:cNvPr>
          <p:cNvSpPr>
            <a:spLocks noChangeShapeType="1"/>
          </p:cNvSpPr>
          <p:nvPr/>
        </p:nvSpPr>
        <p:spPr bwMode="auto">
          <a:xfrm>
            <a:off x="3429000" y="3262313"/>
            <a:ext cx="137953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47" name="Line 146">
            <a:extLst>
              <a:ext uri="{FF2B5EF4-FFF2-40B4-BE49-F238E27FC236}">
                <a16:creationId xmlns:a16="http://schemas.microsoft.com/office/drawing/2014/main" id="{DA66368D-6A38-E434-9B72-90E4EEA8E9E1}"/>
              </a:ext>
            </a:extLst>
          </p:cNvPr>
          <p:cNvSpPr>
            <a:spLocks noChangeShapeType="1"/>
          </p:cNvSpPr>
          <p:nvPr/>
        </p:nvSpPr>
        <p:spPr bwMode="auto">
          <a:xfrm>
            <a:off x="3429000" y="3460750"/>
            <a:ext cx="137953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48" name="Line 147">
            <a:extLst>
              <a:ext uri="{FF2B5EF4-FFF2-40B4-BE49-F238E27FC236}">
                <a16:creationId xmlns:a16="http://schemas.microsoft.com/office/drawing/2014/main" id="{78FBFE28-4013-EEB4-48A1-0B4BC452F031}"/>
              </a:ext>
            </a:extLst>
          </p:cNvPr>
          <p:cNvSpPr>
            <a:spLocks noChangeShapeType="1"/>
          </p:cNvSpPr>
          <p:nvPr/>
        </p:nvSpPr>
        <p:spPr bwMode="auto">
          <a:xfrm>
            <a:off x="3429000" y="3660775"/>
            <a:ext cx="137953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49" name="Line 148">
            <a:extLst>
              <a:ext uri="{FF2B5EF4-FFF2-40B4-BE49-F238E27FC236}">
                <a16:creationId xmlns:a16="http://schemas.microsoft.com/office/drawing/2014/main" id="{5C3C833D-9719-3FC7-EED5-195776629DEF}"/>
              </a:ext>
            </a:extLst>
          </p:cNvPr>
          <p:cNvSpPr>
            <a:spLocks noChangeShapeType="1"/>
          </p:cNvSpPr>
          <p:nvPr/>
        </p:nvSpPr>
        <p:spPr bwMode="auto">
          <a:xfrm>
            <a:off x="3429000" y="3857625"/>
            <a:ext cx="137953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50" name="Line 149">
            <a:extLst>
              <a:ext uri="{FF2B5EF4-FFF2-40B4-BE49-F238E27FC236}">
                <a16:creationId xmlns:a16="http://schemas.microsoft.com/office/drawing/2014/main" id="{E39FD7B4-8C63-0FE9-C03B-6EED3B8E59BD}"/>
              </a:ext>
            </a:extLst>
          </p:cNvPr>
          <p:cNvSpPr>
            <a:spLocks noChangeShapeType="1"/>
          </p:cNvSpPr>
          <p:nvPr/>
        </p:nvSpPr>
        <p:spPr bwMode="auto">
          <a:xfrm>
            <a:off x="3429000" y="4057650"/>
            <a:ext cx="137953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51" name="Line 150">
            <a:extLst>
              <a:ext uri="{FF2B5EF4-FFF2-40B4-BE49-F238E27FC236}">
                <a16:creationId xmlns:a16="http://schemas.microsoft.com/office/drawing/2014/main" id="{1606BC5C-E083-ECB9-C3ED-89E0E1C72955}"/>
              </a:ext>
            </a:extLst>
          </p:cNvPr>
          <p:cNvSpPr>
            <a:spLocks noChangeShapeType="1"/>
          </p:cNvSpPr>
          <p:nvPr/>
        </p:nvSpPr>
        <p:spPr bwMode="auto">
          <a:xfrm>
            <a:off x="3429000" y="4254500"/>
            <a:ext cx="137953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52" name="Line 151">
            <a:extLst>
              <a:ext uri="{FF2B5EF4-FFF2-40B4-BE49-F238E27FC236}">
                <a16:creationId xmlns:a16="http://schemas.microsoft.com/office/drawing/2014/main" id="{C4DDA7DC-011E-9930-BA15-481ABFD96226}"/>
              </a:ext>
            </a:extLst>
          </p:cNvPr>
          <p:cNvSpPr>
            <a:spLocks noChangeShapeType="1"/>
          </p:cNvSpPr>
          <p:nvPr/>
        </p:nvSpPr>
        <p:spPr bwMode="auto">
          <a:xfrm>
            <a:off x="3429000" y="4454525"/>
            <a:ext cx="137953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53" name="Line 152">
            <a:extLst>
              <a:ext uri="{FF2B5EF4-FFF2-40B4-BE49-F238E27FC236}">
                <a16:creationId xmlns:a16="http://schemas.microsoft.com/office/drawing/2014/main" id="{0F8F8E55-F7C3-AF2E-1FB1-DD73FB08B429}"/>
              </a:ext>
            </a:extLst>
          </p:cNvPr>
          <p:cNvSpPr>
            <a:spLocks noChangeShapeType="1"/>
          </p:cNvSpPr>
          <p:nvPr/>
        </p:nvSpPr>
        <p:spPr bwMode="auto">
          <a:xfrm>
            <a:off x="4810125" y="3063875"/>
            <a:ext cx="0" cy="1589088"/>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54" name="Line 153">
            <a:extLst>
              <a:ext uri="{FF2B5EF4-FFF2-40B4-BE49-F238E27FC236}">
                <a16:creationId xmlns:a16="http://schemas.microsoft.com/office/drawing/2014/main" id="{B1408B1B-4863-8D12-03FD-3D33EC379B43}"/>
              </a:ext>
            </a:extLst>
          </p:cNvPr>
          <p:cNvSpPr>
            <a:spLocks noChangeShapeType="1"/>
          </p:cNvSpPr>
          <p:nvPr/>
        </p:nvSpPr>
        <p:spPr bwMode="auto">
          <a:xfrm>
            <a:off x="4810125" y="4652963"/>
            <a:ext cx="1573213"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55" name="Line 154">
            <a:extLst>
              <a:ext uri="{FF2B5EF4-FFF2-40B4-BE49-F238E27FC236}">
                <a16:creationId xmlns:a16="http://schemas.microsoft.com/office/drawing/2014/main" id="{D81EF461-07BD-0426-8CE3-F9EE7DC1158D}"/>
              </a:ext>
            </a:extLst>
          </p:cNvPr>
          <p:cNvSpPr>
            <a:spLocks noChangeShapeType="1"/>
          </p:cNvSpPr>
          <p:nvPr/>
        </p:nvSpPr>
        <p:spPr bwMode="auto">
          <a:xfrm>
            <a:off x="6386513" y="3063875"/>
            <a:ext cx="0" cy="1589088"/>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56" name="Line 155">
            <a:extLst>
              <a:ext uri="{FF2B5EF4-FFF2-40B4-BE49-F238E27FC236}">
                <a16:creationId xmlns:a16="http://schemas.microsoft.com/office/drawing/2014/main" id="{D8D1368D-3FDD-30E8-1CA5-C13DCB698917}"/>
              </a:ext>
            </a:extLst>
          </p:cNvPr>
          <p:cNvSpPr>
            <a:spLocks noChangeShapeType="1"/>
          </p:cNvSpPr>
          <p:nvPr/>
        </p:nvSpPr>
        <p:spPr bwMode="auto">
          <a:xfrm>
            <a:off x="5005388" y="1673225"/>
            <a:ext cx="0" cy="139065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57" name="Line 156">
            <a:extLst>
              <a:ext uri="{FF2B5EF4-FFF2-40B4-BE49-F238E27FC236}">
                <a16:creationId xmlns:a16="http://schemas.microsoft.com/office/drawing/2014/main" id="{67B4D4D8-82DC-7FAD-A57E-1C24F5E61EFC}"/>
              </a:ext>
            </a:extLst>
          </p:cNvPr>
          <p:cNvSpPr>
            <a:spLocks noChangeShapeType="1"/>
          </p:cNvSpPr>
          <p:nvPr/>
        </p:nvSpPr>
        <p:spPr bwMode="auto">
          <a:xfrm>
            <a:off x="5203825" y="1673225"/>
            <a:ext cx="0" cy="1387475"/>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58" name="Line 157">
            <a:extLst>
              <a:ext uri="{FF2B5EF4-FFF2-40B4-BE49-F238E27FC236}">
                <a16:creationId xmlns:a16="http://schemas.microsoft.com/office/drawing/2014/main" id="{9E4F4C99-A17A-D63C-7283-9366552C72B5}"/>
              </a:ext>
            </a:extLst>
          </p:cNvPr>
          <p:cNvSpPr>
            <a:spLocks noChangeShapeType="1"/>
          </p:cNvSpPr>
          <p:nvPr/>
        </p:nvSpPr>
        <p:spPr bwMode="auto">
          <a:xfrm>
            <a:off x="5400675" y="1673225"/>
            <a:ext cx="0" cy="1387475"/>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59" name="Line 158">
            <a:extLst>
              <a:ext uri="{FF2B5EF4-FFF2-40B4-BE49-F238E27FC236}">
                <a16:creationId xmlns:a16="http://schemas.microsoft.com/office/drawing/2014/main" id="{B26B09CE-A3E2-5762-7D66-965AB78C4BB4}"/>
              </a:ext>
            </a:extLst>
          </p:cNvPr>
          <p:cNvSpPr>
            <a:spLocks noChangeShapeType="1"/>
          </p:cNvSpPr>
          <p:nvPr/>
        </p:nvSpPr>
        <p:spPr bwMode="auto">
          <a:xfrm>
            <a:off x="5597525" y="1673225"/>
            <a:ext cx="0" cy="139065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60" name="Line 159">
            <a:extLst>
              <a:ext uri="{FF2B5EF4-FFF2-40B4-BE49-F238E27FC236}">
                <a16:creationId xmlns:a16="http://schemas.microsoft.com/office/drawing/2014/main" id="{AC56C447-419B-79C3-3B8D-2F4C74E59BF0}"/>
              </a:ext>
            </a:extLst>
          </p:cNvPr>
          <p:cNvSpPr>
            <a:spLocks noChangeShapeType="1"/>
          </p:cNvSpPr>
          <p:nvPr/>
        </p:nvSpPr>
        <p:spPr bwMode="auto">
          <a:xfrm>
            <a:off x="5794375" y="1673225"/>
            <a:ext cx="0" cy="139065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61" name="Line 160">
            <a:extLst>
              <a:ext uri="{FF2B5EF4-FFF2-40B4-BE49-F238E27FC236}">
                <a16:creationId xmlns:a16="http://schemas.microsoft.com/office/drawing/2014/main" id="{B2D28637-D38D-332E-571A-A8CAD0A51CFF}"/>
              </a:ext>
            </a:extLst>
          </p:cNvPr>
          <p:cNvSpPr>
            <a:spLocks noChangeShapeType="1"/>
          </p:cNvSpPr>
          <p:nvPr/>
        </p:nvSpPr>
        <p:spPr bwMode="auto">
          <a:xfrm>
            <a:off x="5991225" y="1673225"/>
            <a:ext cx="0" cy="139065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62" name="Line 161">
            <a:extLst>
              <a:ext uri="{FF2B5EF4-FFF2-40B4-BE49-F238E27FC236}">
                <a16:creationId xmlns:a16="http://schemas.microsoft.com/office/drawing/2014/main" id="{00A0B4C8-C523-34F5-5CF0-4D99A5BB2D52}"/>
              </a:ext>
            </a:extLst>
          </p:cNvPr>
          <p:cNvSpPr>
            <a:spLocks noChangeShapeType="1"/>
          </p:cNvSpPr>
          <p:nvPr/>
        </p:nvSpPr>
        <p:spPr bwMode="auto">
          <a:xfrm>
            <a:off x="6188075" y="1673225"/>
            <a:ext cx="0" cy="138430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63" name="Line 162">
            <a:extLst>
              <a:ext uri="{FF2B5EF4-FFF2-40B4-BE49-F238E27FC236}">
                <a16:creationId xmlns:a16="http://schemas.microsoft.com/office/drawing/2014/main" id="{C329F83A-CC7E-0E10-8A46-20AA8B357185}"/>
              </a:ext>
            </a:extLst>
          </p:cNvPr>
          <p:cNvSpPr>
            <a:spLocks noChangeShapeType="1"/>
          </p:cNvSpPr>
          <p:nvPr/>
        </p:nvSpPr>
        <p:spPr bwMode="auto">
          <a:xfrm>
            <a:off x="4810125" y="1673225"/>
            <a:ext cx="1573213"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64" name="Line 163">
            <a:extLst>
              <a:ext uri="{FF2B5EF4-FFF2-40B4-BE49-F238E27FC236}">
                <a16:creationId xmlns:a16="http://schemas.microsoft.com/office/drawing/2014/main" id="{155F8650-4F21-F3B1-CD80-7EA61E933364}"/>
              </a:ext>
            </a:extLst>
          </p:cNvPr>
          <p:cNvSpPr>
            <a:spLocks noChangeShapeType="1"/>
          </p:cNvSpPr>
          <p:nvPr/>
        </p:nvSpPr>
        <p:spPr bwMode="auto">
          <a:xfrm>
            <a:off x="4810125" y="3063875"/>
            <a:ext cx="2168525"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65" name="Line 164">
            <a:extLst>
              <a:ext uri="{FF2B5EF4-FFF2-40B4-BE49-F238E27FC236}">
                <a16:creationId xmlns:a16="http://schemas.microsoft.com/office/drawing/2014/main" id="{F24B398B-A9C7-8596-86EB-3ED9C9FAADD6}"/>
              </a:ext>
            </a:extLst>
          </p:cNvPr>
          <p:cNvSpPr>
            <a:spLocks noChangeShapeType="1"/>
          </p:cNvSpPr>
          <p:nvPr/>
        </p:nvSpPr>
        <p:spPr bwMode="auto">
          <a:xfrm flipV="1">
            <a:off x="4810125" y="1679575"/>
            <a:ext cx="0" cy="138430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66" name="Line 165">
            <a:extLst>
              <a:ext uri="{FF2B5EF4-FFF2-40B4-BE49-F238E27FC236}">
                <a16:creationId xmlns:a16="http://schemas.microsoft.com/office/drawing/2014/main" id="{63AD851E-9A54-27BB-5D2C-4AAC5078A169}"/>
              </a:ext>
            </a:extLst>
          </p:cNvPr>
          <p:cNvSpPr>
            <a:spLocks noChangeShapeType="1"/>
          </p:cNvSpPr>
          <p:nvPr/>
        </p:nvSpPr>
        <p:spPr bwMode="auto">
          <a:xfrm>
            <a:off x="6386513" y="1673225"/>
            <a:ext cx="0" cy="139065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67" name="Rectangle 166">
            <a:extLst>
              <a:ext uri="{FF2B5EF4-FFF2-40B4-BE49-F238E27FC236}">
                <a16:creationId xmlns:a16="http://schemas.microsoft.com/office/drawing/2014/main" id="{386658F2-13D5-AC84-FF8C-E663E2613820}"/>
              </a:ext>
            </a:extLst>
          </p:cNvPr>
          <p:cNvSpPr>
            <a:spLocks noChangeArrowheads="1"/>
          </p:cNvSpPr>
          <p:nvPr/>
        </p:nvSpPr>
        <p:spPr bwMode="auto">
          <a:xfrm rot="16200000">
            <a:off x="2107407" y="3688556"/>
            <a:ext cx="1500188" cy="42227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90000"/>
              </a:lnSpc>
            </a:pPr>
            <a:r>
              <a:rPr lang="en-US" altLang="en-US" sz="1200" b="1">
                <a:latin typeface="+mj-lt"/>
              </a:rPr>
              <a:t>Customer Requirements</a:t>
            </a:r>
          </a:p>
        </p:txBody>
      </p:sp>
      <p:sp>
        <p:nvSpPr>
          <p:cNvPr id="168" name="Line 167">
            <a:extLst>
              <a:ext uri="{FF2B5EF4-FFF2-40B4-BE49-F238E27FC236}">
                <a16:creationId xmlns:a16="http://schemas.microsoft.com/office/drawing/2014/main" id="{1F8B2980-B584-0453-7162-69543B54B68F}"/>
              </a:ext>
            </a:extLst>
          </p:cNvPr>
          <p:cNvSpPr>
            <a:spLocks noChangeShapeType="1"/>
          </p:cNvSpPr>
          <p:nvPr/>
        </p:nvSpPr>
        <p:spPr bwMode="auto">
          <a:xfrm>
            <a:off x="6386513" y="4652963"/>
            <a:ext cx="0" cy="1787525"/>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69" name="Rectangle 168">
            <a:extLst>
              <a:ext uri="{FF2B5EF4-FFF2-40B4-BE49-F238E27FC236}">
                <a16:creationId xmlns:a16="http://schemas.microsoft.com/office/drawing/2014/main" id="{ED1491CC-C4B2-5005-2AC9-B4C8E37B7925}"/>
              </a:ext>
            </a:extLst>
          </p:cNvPr>
          <p:cNvSpPr>
            <a:spLocks noChangeArrowheads="1"/>
          </p:cNvSpPr>
          <p:nvPr/>
        </p:nvSpPr>
        <p:spPr bwMode="auto">
          <a:xfrm rot="16200000">
            <a:off x="7521575" y="3570288"/>
            <a:ext cx="1457325" cy="5588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85000"/>
              </a:lnSpc>
            </a:pPr>
            <a:r>
              <a:rPr lang="en-US" altLang="en-US" sz="1200" b="1">
                <a:latin typeface="+mj-lt"/>
              </a:rPr>
              <a:t>Prioritized Customer</a:t>
            </a:r>
          </a:p>
          <a:p>
            <a:pPr algn="ctr">
              <a:lnSpc>
                <a:spcPct val="85000"/>
              </a:lnSpc>
            </a:pPr>
            <a:r>
              <a:rPr lang="en-US" altLang="en-US" sz="1200" b="1">
                <a:latin typeface="+mj-lt"/>
              </a:rPr>
              <a:t>Requirements</a:t>
            </a:r>
          </a:p>
        </p:txBody>
      </p:sp>
      <p:sp>
        <p:nvSpPr>
          <p:cNvPr id="170" name="Line 169">
            <a:extLst>
              <a:ext uri="{FF2B5EF4-FFF2-40B4-BE49-F238E27FC236}">
                <a16:creationId xmlns:a16="http://schemas.microsoft.com/office/drawing/2014/main" id="{DB37607D-50E0-A87A-23C7-5F0D082BBEAE}"/>
              </a:ext>
            </a:extLst>
          </p:cNvPr>
          <p:cNvSpPr>
            <a:spLocks noChangeShapeType="1"/>
          </p:cNvSpPr>
          <p:nvPr/>
        </p:nvSpPr>
        <p:spPr bwMode="auto">
          <a:xfrm>
            <a:off x="6386513" y="6440488"/>
            <a:ext cx="592137"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71" name="Line 170">
            <a:extLst>
              <a:ext uri="{FF2B5EF4-FFF2-40B4-BE49-F238E27FC236}">
                <a16:creationId xmlns:a16="http://schemas.microsoft.com/office/drawing/2014/main" id="{57F971C7-4B47-C058-3DD4-222A9ECCBA7E}"/>
              </a:ext>
            </a:extLst>
          </p:cNvPr>
          <p:cNvSpPr>
            <a:spLocks noChangeShapeType="1"/>
          </p:cNvSpPr>
          <p:nvPr/>
        </p:nvSpPr>
        <p:spPr bwMode="auto">
          <a:xfrm flipV="1">
            <a:off x="4810125" y="1276350"/>
            <a:ext cx="0" cy="396875"/>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72" name="Line 171">
            <a:extLst>
              <a:ext uri="{FF2B5EF4-FFF2-40B4-BE49-F238E27FC236}">
                <a16:creationId xmlns:a16="http://schemas.microsoft.com/office/drawing/2014/main" id="{6B085BA5-A25F-C22B-70F7-6C419FB8F8B8}"/>
              </a:ext>
            </a:extLst>
          </p:cNvPr>
          <p:cNvSpPr>
            <a:spLocks noChangeShapeType="1"/>
          </p:cNvSpPr>
          <p:nvPr/>
        </p:nvSpPr>
        <p:spPr bwMode="auto">
          <a:xfrm>
            <a:off x="6386513" y="1276350"/>
            <a:ext cx="0" cy="396875"/>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73" name="Line 172">
            <a:extLst>
              <a:ext uri="{FF2B5EF4-FFF2-40B4-BE49-F238E27FC236}">
                <a16:creationId xmlns:a16="http://schemas.microsoft.com/office/drawing/2014/main" id="{DB0878EF-59A8-ED46-B891-9357040CC366}"/>
              </a:ext>
            </a:extLst>
          </p:cNvPr>
          <p:cNvSpPr>
            <a:spLocks noChangeShapeType="1"/>
          </p:cNvSpPr>
          <p:nvPr/>
        </p:nvSpPr>
        <p:spPr bwMode="auto">
          <a:xfrm>
            <a:off x="4810125" y="1276350"/>
            <a:ext cx="1573213"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74" name="Rectangle 173">
            <a:extLst>
              <a:ext uri="{FF2B5EF4-FFF2-40B4-BE49-F238E27FC236}">
                <a16:creationId xmlns:a16="http://schemas.microsoft.com/office/drawing/2014/main" id="{F8E4254B-3BBE-4C47-D90C-74AAF63556D9}"/>
              </a:ext>
            </a:extLst>
          </p:cNvPr>
          <p:cNvSpPr>
            <a:spLocks noChangeArrowheads="1"/>
          </p:cNvSpPr>
          <p:nvPr/>
        </p:nvSpPr>
        <p:spPr bwMode="auto">
          <a:xfrm>
            <a:off x="4835525" y="887413"/>
            <a:ext cx="1524000" cy="42227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90000"/>
              </a:lnSpc>
            </a:pPr>
            <a:r>
              <a:rPr lang="en-US" altLang="en-US" sz="1200" b="1">
                <a:latin typeface="+mj-lt"/>
              </a:rPr>
              <a:t>Technical Descriptors</a:t>
            </a:r>
          </a:p>
        </p:txBody>
      </p:sp>
      <p:sp>
        <p:nvSpPr>
          <p:cNvPr id="175" name="Line 174">
            <a:extLst>
              <a:ext uri="{FF2B5EF4-FFF2-40B4-BE49-F238E27FC236}">
                <a16:creationId xmlns:a16="http://schemas.microsoft.com/office/drawing/2014/main" id="{CCF2AAE0-3BE2-2298-9C56-9F51CE397AB3}"/>
              </a:ext>
            </a:extLst>
          </p:cNvPr>
          <p:cNvSpPr>
            <a:spLocks noChangeShapeType="1"/>
          </p:cNvSpPr>
          <p:nvPr/>
        </p:nvSpPr>
        <p:spPr bwMode="auto">
          <a:xfrm>
            <a:off x="6978650" y="3063875"/>
            <a:ext cx="590550"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76" name="Line 175">
            <a:extLst>
              <a:ext uri="{FF2B5EF4-FFF2-40B4-BE49-F238E27FC236}">
                <a16:creationId xmlns:a16="http://schemas.microsoft.com/office/drawing/2014/main" id="{31581442-34FD-23C1-118E-4E65F40A364A}"/>
              </a:ext>
            </a:extLst>
          </p:cNvPr>
          <p:cNvSpPr>
            <a:spLocks noChangeShapeType="1"/>
          </p:cNvSpPr>
          <p:nvPr/>
        </p:nvSpPr>
        <p:spPr bwMode="auto">
          <a:xfrm>
            <a:off x="6978650" y="4652963"/>
            <a:ext cx="590550"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77" name="Line 176">
            <a:extLst>
              <a:ext uri="{FF2B5EF4-FFF2-40B4-BE49-F238E27FC236}">
                <a16:creationId xmlns:a16="http://schemas.microsoft.com/office/drawing/2014/main" id="{CC0CA586-5D51-FB55-FB45-EF069AA71FFF}"/>
              </a:ext>
            </a:extLst>
          </p:cNvPr>
          <p:cNvSpPr>
            <a:spLocks noChangeShapeType="1"/>
          </p:cNvSpPr>
          <p:nvPr/>
        </p:nvSpPr>
        <p:spPr bwMode="auto">
          <a:xfrm flipV="1">
            <a:off x="3427413" y="1673225"/>
            <a:ext cx="0" cy="139065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78" name="Line 177">
            <a:extLst>
              <a:ext uri="{FF2B5EF4-FFF2-40B4-BE49-F238E27FC236}">
                <a16:creationId xmlns:a16="http://schemas.microsoft.com/office/drawing/2014/main" id="{182847B3-094A-6CF6-9B86-8270560FAB57}"/>
              </a:ext>
            </a:extLst>
          </p:cNvPr>
          <p:cNvSpPr>
            <a:spLocks noChangeShapeType="1"/>
          </p:cNvSpPr>
          <p:nvPr/>
        </p:nvSpPr>
        <p:spPr bwMode="auto">
          <a:xfrm flipV="1">
            <a:off x="3033713" y="1276350"/>
            <a:ext cx="0" cy="1787525"/>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79" name="Line 178">
            <a:extLst>
              <a:ext uri="{FF2B5EF4-FFF2-40B4-BE49-F238E27FC236}">
                <a16:creationId xmlns:a16="http://schemas.microsoft.com/office/drawing/2014/main" id="{412B23D3-45F2-3275-C10F-A1E5F4172BF1}"/>
              </a:ext>
            </a:extLst>
          </p:cNvPr>
          <p:cNvSpPr>
            <a:spLocks noChangeShapeType="1"/>
          </p:cNvSpPr>
          <p:nvPr/>
        </p:nvSpPr>
        <p:spPr bwMode="auto">
          <a:xfrm>
            <a:off x="3427413" y="1673225"/>
            <a:ext cx="1381125"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80" name="Line 179">
            <a:extLst>
              <a:ext uri="{FF2B5EF4-FFF2-40B4-BE49-F238E27FC236}">
                <a16:creationId xmlns:a16="http://schemas.microsoft.com/office/drawing/2014/main" id="{61AD2D6F-8B2A-E08A-E8FC-264358E567BC}"/>
              </a:ext>
            </a:extLst>
          </p:cNvPr>
          <p:cNvSpPr>
            <a:spLocks noChangeShapeType="1"/>
          </p:cNvSpPr>
          <p:nvPr/>
        </p:nvSpPr>
        <p:spPr bwMode="auto">
          <a:xfrm>
            <a:off x="3033713" y="1276350"/>
            <a:ext cx="1774825" cy="1787525"/>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81" name="Rectangle 180">
            <a:extLst>
              <a:ext uri="{FF2B5EF4-FFF2-40B4-BE49-F238E27FC236}">
                <a16:creationId xmlns:a16="http://schemas.microsoft.com/office/drawing/2014/main" id="{66184C29-3D05-AF22-AB6A-B2C46D75C4F5}"/>
              </a:ext>
            </a:extLst>
          </p:cNvPr>
          <p:cNvSpPr>
            <a:spLocks noChangeArrowheads="1"/>
          </p:cNvSpPr>
          <p:nvPr/>
        </p:nvSpPr>
        <p:spPr bwMode="auto">
          <a:xfrm>
            <a:off x="4027024" y="1331913"/>
            <a:ext cx="778804" cy="277641"/>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200" b="1">
                <a:latin typeface="+mj-lt"/>
              </a:rPr>
              <a:t>Primary</a:t>
            </a:r>
          </a:p>
        </p:txBody>
      </p:sp>
      <p:sp>
        <p:nvSpPr>
          <p:cNvPr id="182" name="Rectangle 181">
            <a:extLst>
              <a:ext uri="{FF2B5EF4-FFF2-40B4-BE49-F238E27FC236}">
                <a16:creationId xmlns:a16="http://schemas.microsoft.com/office/drawing/2014/main" id="{B0262B49-09E7-6A17-9905-FCC8348A411A}"/>
              </a:ext>
            </a:extLst>
          </p:cNvPr>
          <p:cNvSpPr>
            <a:spLocks noChangeArrowheads="1"/>
          </p:cNvSpPr>
          <p:nvPr/>
        </p:nvSpPr>
        <p:spPr bwMode="auto">
          <a:xfrm rot="16200000">
            <a:off x="2821317" y="2547231"/>
            <a:ext cx="778804" cy="277641"/>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200" b="1">
                <a:latin typeface="+mj-lt"/>
              </a:rPr>
              <a:t>Primary</a:t>
            </a:r>
          </a:p>
        </p:txBody>
      </p:sp>
      <p:sp>
        <p:nvSpPr>
          <p:cNvPr id="183" name="Rectangle 182">
            <a:extLst>
              <a:ext uri="{FF2B5EF4-FFF2-40B4-BE49-F238E27FC236}">
                <a16:creationId xmlns:a16="http://schemas.microsoft.com/office/drawing/2014/main" id="{12331062-5797-42D4-EB2B-FC2F77A87D0E}"/>
              </a:ext>
            </a:extLst>
          </p:cNvPr>
          <p:cNvSpPr>
            <a:spLocks noChangeArrowheads="1"/>
          </p:cNvSpPr>
          <p:nvPr/>
        </p:nvSpPr>
        <p:spPr bwMode="auto">
          <a:xfrm rot="16200000">
            <a:off x="3159984" y="2432137"/>
            <a:ext cx="971420" cy="277641"/>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200" b="1">
                <a:latin typeface="+mj-lt"/>
              </a:rPr>
              <a:t>Secondary</a:t>
            </a:r>
          </a:p>
        </p:txBody>
      </p:sp>
      <p:sp>
        <p:nvSpPr>
          <p:cNvPr id="184" name="Rectangle 183">
            <a:extLst>
              <a:ext uri="{FF2B5EF4-FFF2-40B4-BE49-F238E27FC236}">
                <a16:creationId xmlns:a16="http://schemas.microsoft.com/office/drawing/2014/main" id="{18AFAEF6-E4C7-DFA6-52AD-9728EE1B47CE}"/>
              </a:ext>
            </a:extLst>
          </p:cNvPr>
          <p:cNvSpPr>
            <a:spLocks noChangeArrowheads="1"/>
          </p:cNvSpPr>
          <p:nvPr/>
        </p:nvSpPr>
        <p:spPr bwMode="auto">
          <a:xfrm>
            <a:off x="3810859" y="1778000"/>
            <a:ext cx="971420" cy="277641"/>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200" b="1">
                <a:latin typeface="+mj-lt"/>
              </a:rPr>
              <a:t>Secondary</a:t>
            </a:r>
          </a:p>
        </p:txBody>
      </p:sp>
      <p:sp>
        <p:nvSpPr>
          <p:cNvPr id="185" name="Rectangle 184">
            <a:extLst>
              <a:ext uri="{FF2B5EF4-FFF2-40B4-BE49-F238E27FC236}">
                <a16:creationId xmlns:a16="http://schemas.microsoft.com/office/drawing/2014/main" id="{02FD4D70-6A47-EABA-DEC3-BA6E4D05EB4F}"/>
              </a:ext>
            </a:extLst>
          </p:cNvPr>
          <p:cNvSpPr>
            <a:spLocks noChangeArrowheads="1"/>
          </p:cNvSpPr>
          <p:nvPr/>
        </p:nvSpPr>
        <p:spPr bwMode="auto">
          <a:xfrm>
            <a:off x="2589507" y="4673600"/>
            <a:ext cx="1088438" cy="53617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80000"/>
              </a:lnSpc>
            </a:pPr>
            <a:r>
              <a:rPr lang="en-US" altLang="en-US" sz="1200" b="1">
                <a:latin typeface="+mj-lt"/>
              </a:rPr>
              <a:t>Technical</a:t>
            </a:r>
          </a:p>
          <a:p>
            <a:pPr algn="ctr">
              <a:lnSpc>
                <a:spcPct val="80000"/>
              </a:lnSpc>
            </a:pPr>
            <a:r>
              <a:rPr lang="en-US" altLang="en-US" sz="1200" b="1">
                <a:latin typeface="+mj-lt"/>
              </a:rPr>
              <a:t>Competitive</a:t>
            </a:r>
          </a:p>
          <a:p>
            <a:pPr algn="ctr">
              <a:lnSpc>
                <a:spcPct val="80000"/>
              </a:lnSpc>
            </a:pPr>
            <a:r>
              <a:rPr lang="en-US" altLang="en-US" sz="1200" b="1">
                <a:latin typeface="+mj-lt"/>
              </a:rPr>
              <a:t>Assessment</a:t>
            </a:r>
          </a:p>
        </p:txBody>
      </p:sp>
      <p:sp>
        <p:nvSpPr>
          <p:cNvPr id="186" name="Rectangle 185">
            <a:extLst>
              <a:ext uri="{FF2B5EF4-FFF2-40B4-BE49-F238E27FC236}">
                <a16:creationId xmlns:a16="http://schemas.microsoft.com/office/drawing/2014/main" id="{5B984CDE-555A-35E2-6B58-16F071E89FF6}"/>
              </a:ext>
            </a:extLst>
          </p:cNvPr>
          <p:cNvSpPr>
            <a:spLocks noChangeArrowheads="1"/>
          </p:cNvSpPr>
          <p:nvPr/>
        </p:nvSpPr>
        <p:spPr bwMode="auto">
          <a:xfrm rot="16200000">
            <a:off x="6132807" y="5662814"/>
            <a:ext cx="1088438" cy="53617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80000"/>
              </a:lnSpc>
            </a:pPr>
            <a:r>
              <a:rPr lang="en-US" altLang="en-US" sz="1200" b="1" dirty="0">
                <a:latin typeface="+mj-lt"/>
              </a:rPr>
              <a:t>Customer</a:t>
            </a:r>
          </a:p>
          <a:p>
            <a:pPr algn="ctr">
              <a:lnSpc>
                <a:spcPct val="80000"/>
              </a:lnSpc>
            </a:pPr>
            <a:r>
              <a:rPr lang="en-US" altLang="en-US" sz="1200" b="1" dirty="0">
                <a:latin typeface="+mj-lt"/>
              </a:rPr>
              <a:t>Competitive</a:t>
            </a:r>
          </a:p>
          <a:p>
            <a:pPr algn="ctr">
              <a:lnSpc>
                <a:spcPct val="80000"/>
              </a:lnSpc>
            </a:pPr>
            <a:r>
              <a:rPr lang="en-US" altLang="en-US" sz="1200" b="1" dirty="0">
                <a:latin typeface="+mj-lt"/>
              </a:rPr>
              <a:t>Assessment</a:t>
            </a:r>
          </a:p>
        </p:txBody>
      </p:sp>
      <p:sp>
        <p:nvSpPr>
          <p:cNvPr id="187" name="Line 186">
            <a:extLst>
              <a:ext uri="{FF2B5EF4-FFF2-40B4-BE49-F238E27FC236}">
                <a16:creationId xmlns:a16="http://schemas.microsoft.com/office/drawing/2014/main" id="{CCBE99CA-9E53-E7B4-4BC7-C70BB477B8FF}"/>
              </a:ext>
            </a:extLst>
          </p:cNvPr>
          <p:cNvSpPr>
            <a:spLocks noChangeShapeType="1"/>
          </p:cNvSpPr>
          <p:nvPr/>
        </p:nvSpPr>
        <p:spPr bwMode="auto">
          <a:xfrm>
            <a:off x="6584950" y="4652963"/>
            <a:ext cx="0" cy="79375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88" name="Line 187">
            <a:extLst>
              <a:ext uri="{FF2B5EF4-FFF2-40B4-BE49-F238E27FC236}">
                <a16:creationId xmlns:a16="http://schemas.microsoft.com/office/drawing/2014/main" id="{9C381A3C-0747-52D2-7654-4909B3E3240E}"/>
              </a:ext>
            </a:extLst>
          </p:cNvPr>
          <p:cNvSpPr>
            <a:spLocks noChangeShapeType="1"/>
          </p:cNvSpPr>
          <p:nvPr/>
        </p:nvSpPr>
        <p:spPr bwMode="auto">
          <a:xfrm>
            <a:off x="6781800" y="4652963"/>
            <a:ext cx="0" cy="79375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89" name="Line 188">
            <a:extLst>
              <a:ext uri="{FF2B5EF4-FFF2-40B4-BE49-F238E27FC236}">
                <a16:creationId xmlns:a16="http://schemas.microsoft.com/office/drawing/2014/main" id="{0DE47A77-6A5D-68A7-CE27-577A54540152}"/>
              </a:ext>
            </a:extLst>
          </p:cNvPr>
          <p:cNvSpPr>
            <a:spLocks noChangeShapeType="1"/>
          </p:cNvSpPr>
          <p:nvPr/>
        </p:nvSpPr>
        <p:spPr bwMode="auto">
          <a:xfrm>
            <a:off x="6978650" y="4652963"/>
            <a:ext cx="0" cy="1787525"/>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90" name="Line 189">
            <a:extLst>
              <a:ext uri="{FF2B5EF4-FFF2-40B4-BE49-F238E27FC236}">
                <a16:creationId xmlns:a16="http://schemas.microsoft.com/office/drawing/2014/main" id="{7AC097A2-48B8-54AB-A95B-B5F472242BAB}"/>
              </a:ext>
            </a:extLst>
          </p:cNvPr>
          <p:cNvSpPr>
            <a:spLocks noChangeShapeType="1"/>
          </p:cNvSpPr>
          <p:nvPr/>
        </p:nvSpPr>
        <p:spPr bwMode="auto">
          <a:xfrm>
            <a:off x="6978650" y="6440488"/>
            <a:ext cx="59213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91" name="Line 190">
            <a:extLst>
              <a:ext uri="{FF2B5EF4-FFF2-40B4-BE49-F238E27FC236}">
                <a16:creationId xmlns:a16="http://schemas.microsoft.com/office/drawing/2014/main" id="{B47D99AC-BC35-6FDF-4083-1A1AE2D7C3CB}"/>
              </a:ext>
            </a:extLst>
          </p:cNvPr>
          <p:cNvSpPr>
            <a:spLocks noChangeShapeType="1"/>
          </p:cNvSpPr>
          <p:nvPr/>
        </p:nvSpPr>
        <p:spPr bwMode="auto">
          <a:xfrm>
            <a:off x="6386513" y="5446713"/>
            <a:ext cx="592137"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92" name="Rectangle 191">
            <a:extLst>
              <a:ext uri="{FF2B5EF4-FFF2-40B4-BE49-F238E27FC236}">
                <a16:creationId xmlns:a16="http://schemas.microsoft.com/office/drawing/2014/main" id="{0BA43C19-B60B-4B45-DE6F-ABC757A4B67C}"/>
              </a:ext>
            </a:extLst>
          </p:cNvPr>
          <p:cNvSpPr>
            <a:spLocks noChangeArrowheads="1"/>
          </p:cNvSpPr>
          <p:nvPr/>
        </p:nvSpPr>
        <p:spPr bwMode="auto">
          <a:xfrm>
            <a:off x="3603625" y="4629150"/>
            <a:ext cx="547688" cy="66833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105000"/>
              </a:lnSpc>
            </a:pPr>
            <a:r>
              <a:rPr lang="en-US" altLang="en-US" sz="1200" b="1">
                <a:latin typeface="+mj-lt"/>
              </a:rPr>
              <a:t>Our</a:t>
            </a:r>
          </a:p>
          <a:p>
            <a:pPr>
              <a:lnSpc>
                <a:spcPct val="105000"/>
              </a:lnSpc>
            </a:pPr>
            <a:r>
              <a:rPr lang="en-US" altLang="en-US" sz="1200" b="1">
                <a:latin typeface="+mj-lt"/>
              </a:rPr>
              <a:t>A’s</a:t>
            </a:r>
          </a:p>
          <a:p>
            <a:pPr>
              <a:lnSpc>
                <a:spcPct val="105000"/>
              </a:lnSpc>
            </a:pPr>
            <a:r>
              <a:rPr lang="en-US" altLang="en-US" sz="1200" b="1">
                <a:latin typeface="+mj-lt"/>
              </a:rPr>
              <a:t>B’s</a:t>
            </a:r>
          </a:p>
        </p:txBody>
      </p:sp>
      <p:sp>
        <p:nvSpPr>
          <p:cNvPr id="193" name="Line 192">
            <a:extLst>
              <a:ext uri="{FF2B5EF4-FFF2-40B4-BE49-F238E27FC236}">
                <a16:creationId xmlns:a16="http://schemas.microsoft.com/office/drawing/2014/main" id="{8A176E4B-716B-C0D1-A6E1-D3170C70C602}"/>
              </a:ext>
            </a:extLst>
          </p:cNvPr>
          <p:cNvSpPr>
            <a:spLocks noChangeShapeType="1"/>
          </p:cNvSpPr>
          <p:nvPr/>
        </p:nvSpPr>
        <p:spPr bwMode="auto">
          <a:xfrm>
            <a:off x="7964488" y="3063875"/>
            <a:ext cx="0" cy="1589088"/>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94" name="Line 193">
            <a:extLst>
              <a:ext uri="{FF2B5EF4-FFF2-40B4-BE49-F238E27FC236}">
                <a16:creationId xmlns:a16="http://schemas.microsoft.com/office/drawing/2014/main" id="{FF3F6DCA-534C-6916-DCB6-01EA4B9AF3A4}"/>
              </a:ext>
            </a:extLst>
          </p:cNvPr>
          <p:cNvSpPr>
            <a:spLocks noChangeShapeType="1"/>
          </p:cNvSpPr>
          <p:nvPr/>
        </p:nvSpPr>
        <p:spPr bwMode="auto">
          <a:xfrm>
            <a:off x="7964488" y="4652963"/>
            <a:ext cx="0" cy="1782762"/>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95" name="Line 194">
            <a:extLst>
              <a:ext uri="{FF2B5EF4-FFF2-40B4-BE49-F238E27FC236}">
                <a16:creationId xmlns:a16="http://schemas.microsoft.com/office/drawing/2014/main" id="{76384D5D-A910-29D5-0CA9-84C2FC5B00B3}"/>
              </a:ext>
            </a:extLst>
          </p:cNvPr>
          <p:cNvSpPr>
            <a:spLocks noChangeShapeType="1"/>
          </p:cNvSpPr>
          <p:nvPr/>
        </p:nvSpPr>
        <p:spPr bwMode="auto">
          <a:xfrm flipH="1">
            <a:off x="7569200" y="6440488"/>
            <a:ext cx="39528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96" name="Line 195">
            <a:extLst>
              <a:ext uri="{FF2B5EF4-FFF2-40B4-BE49-F238E27FC236}">
                <a16:creationId xmlns:a16="http://schemas.microsoft.com/office/drawing/2014/main" id="{E79329AB-145D-C6F9-7622-B77100A5D394}"/>
              </a:ext>
            </a:extLst>
          </p:cNvPr>
          <p:cNvSpPr>
            <a:spLocks noChangeShapeType="1"/>
          </p:cNvSpPr>
          <p:nvPr/>
        </p:nvSpPr>
        <p:spPr bwMode="auto">
          <a:xfrm flipV="1">
            <a:off x="7569200" y="3062288"/>
            <a:ext cx="941388" cy="1587"/>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97" name="Line 196">
            <a:extLst>
              <a:ext uri="{FF2B5EF4-FFF2-40B4-BE49-F238E27FC236}">
                <a16:creationId xmlns:a16="http://schemas.microsoft.com/office/drawing/2014/main" id="{D892DDA0-C51B-D896-C992-A6A7CF08E2D6}"/>
              </a:ext>
            </a:extLst>
          </p:cNvPr>
          <p:cNvSpPr>
            <a:spLocks noChangeShapeType="1"/>
          </p:cNvSpPr>
          <p:nvPr/>
        </p:nvSpPr>
        <p:spPr bwMode="auto">
          <a:xfrm>
            <a:off x="7569200" y="4652963"/>
            <a:ext cx="39528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98" name="Line 197">
            <a:extLst>
              <a:ext uri="{FF2B5EF4-FFF2-40B4-BE49-F238E27FC236}">
                <a16:creationId xmlns:a16="http://schemas.microsoft.com/office/drawing/2014/main" id="{118E63BE-FCA2-2D57-EEE4-0B17B81A5F33}"/>
              </a:ext>
            </a:extLst>
          </p:cNvPr>
          <p:cNvSpPr>
            <a:spLocks noChangeShapeType="1"/>
          </p:cNvSpPr>
          <p:nvPr/>
        </p:nvSpPr>
        <p:spPr bwMode="auto">
          <a:xfrm>
            <a:off x="7947025" y="4652963"/>
            <a:ext cx="563563"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199" name="Line 198">
            <a:extLst>
              <a:ext uri="{FF2B5EF4-FFF2-40B4-BE49-F238E27FC236}">
                <a16:creationId xmlns:a16="http://schemas.microsoft.com/office/drawing/2014/main" id="{6C913978-AAA2-6555-AFFD-1190912E7D18}"/>
              </a:ext>
            </a:extLst>
          </p:cNvPr>
          <p:cNvSpPr>
            <a:spLocks noChangeShapeType="1"/>
          </p:cNvSpPr>
          <p:nvPr/>
        </p:nvSpPr>
        <p:spPr bwMode="auto">
          <a:xfrm>
            <a:off x="6978650" y="3262313"/>
            <a:ext cx="98583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00" name="Line 199">
            <a:extLst>
              <a:ext uri="{FF2B5EF4-FFF2-40B4-BE49-F238E27FC236}">
                <a16:creationId xmlns:a16="http://schemas.microsoft.com/office/drawing/2014/main" id="{BF5292EA-27C0-051C-FAAD-A487F58ED5D8}"/>
              </a:ext>
            </a:extLst>
          </p:cNvPr>
          <p:cNvSpPr>
            <a:spLocks noChangeShapeType="1"/>
          </p:cNvSpPr>
          <p:nvPr/>
        </p:nvSpPr>
        <p:spPr bwMode="auto">
          <a:xfrm>
            <a:off x="6978650" y="3857625"/>
            <a:ext cx="98583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01" name="Line 200">
            <a:extLst>
              <a:ext uri="{FF2B5EF4-FFF2-40B4-BE49-F238E27FC236}">
                <a16:creationId xmlns:a16="http://schemas.microsoft.com/office/drawing/2014/main" id="{7A9308D0-09A1-D12B-AF29-BCCF5A676D07}"/>
              </a:ext>
            </a:extLst>
          </p:cNvPr>
          <p:cNvSpPr>
            <a:spLocks noChangeShapeType="1"/>
          </p:cNvSpPr>
          <p:nvPr/>
        </p:nvSpPr>
        <p:spPr bwMode="auto">
          <a:xfrm>
            <a:off x="6978650" y="4057650"/>
            <a:ext cx="98583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02" name="Line 201">
            <a:extLst>
              <a:ext uri="{FF2B5EF4-FFF2-40B4-BE49-F238E27FC236}">
                <a16:creationId xmlns:a16="http://schemas.microsoft.com/office/drawing/2014/main" id="{A9985AE7-720C-4258-54C1-5C22B9386794}"/>
              </a:ext>
            </a:extLst>
          </p:cNvPr>
          <p:cNvSpPr>
            <a:spLocks noChangeShapeType="1"/>
          </p:cNvSpPr>
          <p:nvPr/>
        </p:nvSpPr>
        <p:spPr bwMode="auto">
          <a:xfrm>
            <a:off x="6978650" y="4254500"/>
            <a:ext cx="98583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03" name="Line 202">
            <a:extLst>
              <a:ext uri="{FF2B5EF4-FFF2-40B4-BE49-F238E27FC236}">
                <a16:creationId xmlns:a16="http://schemas.microsoft.com/office/drawing/2014/main" id="{1B1DD388-98BD-42E2-2F1D-F115F104A7B2}"/>
              </a:ext>
            </a:extLst>
          </p:cNvPr>
          <p:cNvSpPr>
            <a:spLocks noChangeShapeType="1"/>
          </p:cNvSpPr>
          <p:nvPr/>
        </p:nvSpPr>
        <p:spPr bwMode="auto">
          <a:xfrm>
            <a:off x="6978650" y="4454525"/>
            <a:ext cx="98583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04" name="Line 203">
            <a:extLst>
              <a:ext uri="{FF2B5EF4-FFF2-40B4-BE49-F238E27FC236}">
                <a16:creationId xmlns:a16="http://schemas.microsoft.com/office/drawing/2014/main" id="{E20E6FBD-1132-BEA7-C889-CE8A30A3669C}"/>
              </a:ext>
            </a:extLst>
          </p:cNvPr>
          <p:cNvSpPr>
            <a:spLocks noChangeShapeType="1"/>
          </p:cNvSpPr>
          <p:nvPr/>
        </p:nvSpPr>
        <p:spPr bwMode="auto">
          <a:xfrm>
            <a:off x="6978650" y="3460750"/>
            <a:ext cx="98583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05" name="Line 204">
            <a:extLst>
              <a:ext uri="{FF2B5EF4-FFF2-40B4-BE49-F238E27FC236}">
                <a16:creationId xmlns:a16="http://schemas.microsoft.com/office/drawing/2014/main" id="{8C19F82C-FF27-5B77-C449-AA62DCE7DD4D}"/>
              </a:ext>
            </a:extLst>
          </p:cNvPr>
          <p:cNvSpPr>
            <a:spLocks noChangeShapeType="1"/>
          </p:cNvSpPr>
          <p:nvPr/>
        </p:nvSpPr>
        <p:spPr bwMode="auto">
          <a:xfrm>
            <a:off x="6978650" y="3660775"/>
            <a:ext cx="98583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06" name="Line 205">
            <a:extLst>
              <a:ext uri="{FF2B5EF4-FFF2-40B4-BE49-F238E27FC236}">
                <a16:creationId xmlns:a16="http://schemas.microsoft.com/office/drawing/2014/main" id="{4A79E3C6-4086-7104-9F4A-B01AAEE96F74}"/>
              </a:ext>
            </a:extLst>
          </p:cNvPr>
          <p:cNvSpPr>
            <a:spLocks noChangeShapeType="1"/>
          </p:cNvSpPr>
          <p:nvPr/>
        </p:nvSpPr>
        <p:spPr bwMode="auto">
          <a:xfrm>
            <a:off x="5203825" y="3063875"/>
            <a:ext cx="0" cy="1589088"/>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07" name="Rectangle 206">
            <a:extLst>
              <a:ext uri="{FF2B5EF4-FFF2-40B4-BE49-F238E27FC236}">
                <a16:creationId xmlns:a16="http://schemas.microsoft.com/office/drawing/2014/main" id="{574BAC86-DDD6-5AAA-1AEC-129A477B9964}"/>
              </a:ext>
            </a:extLst>
          </p:cNvPr>
          <p:cNvSpPr>
            <a:spLocks noChangeArrowheads="1"/>
          </p:cNvSpPr>
          <p:nvPr/>
        </p:nvSpPr>
        <p:spPr bwMode="auto">
          <a:xfrm rot="16200000">
            <a:off x="6546851" y="4982495"/>
            <a:ext cx="1858962" cy="105067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105000"/>
              </a:lnSpc>
            </a:pPr>
            <a:r>
              <a:rPr lang="en-US" altLang="en-US" sz="1200" b="1" dirty="0">
                <a:latin typeface="+mj-lt"/>
              </a:rPr>
              <a:t>Customer Importance</a:t>
            </a:r>
          </a:p>
          <a:p>
            <a:pPr>
              <a:lnSpc>
                <a:spcPct val="105000"/>
              </a:lnSpc>
            </a:pPr>
            <a:r>
              <a:rPr lang="en-US" altLang="en-US" sz="1200" b="1" dirty="0">
                <a:latin typeface="+mj-lt"/>
              </a:rPr>
              <a:t>Target Value</a:t>
            </a:r>
          </a:p>
          <a:p>
            <a:pPr>
              <a:lnSpc>
                <a:spcPct val="105000"/>
              </a:lnSpc>
            </a:pPr>
            <a:r>
              <a:rPr lang="en-US" altLang="en-US" sz="1200" b="1" dirty="0">
                <a:latin typeface="+mj-lt"/>
              </a:rPr>
              <a:t>Scale-up Factor</a:t>
            </a:r>
          </a:p>
          <a:p>
            <a:pPr>
              <a:lnSpc>
                <a:spcPct val="105000"/>
              </a:lnSpc>
            </a:pPr>
            <a:r>
              <a:rPr lang="en-US" altLang="en-US" sz="1200" b="1" dirty="0">
                <a:latin typeface="+mj-lt"/>
              </a:rPr>
              <a:t>Sales Point</a:t>
            </a:r>
          </a:p>
          <a:p>
            <a:pPr>
              <a:lnSpc>
                <a:spcPct val="105000"/>
              </a:lnSpc>
            </a:pPr>
            <a:r>
              <a:rPr lang="en-US" altLang="en-US" sz="1200" b="1" dirty="0">
                <a:latin typeface="+mj-lt"/>
              </a:rPr>
              <a:t>Absolute Weight</a:t>
            </a:r>
          </a:p>
        </p:txBody>
      </p:sp>
      <p:sp>
        <p:nvSpPr>
          <p:cNvPr id="208" name="Line 207">
            <a:extLst>
              <a:ext uri="{FF2B5EF4-FFF2-40B4-BE49-F238E27FC236}">
                <a16:creationId xmlns:a16="http://schemas.microsoft.com/office/drawing/2014/main" id="{30018D1E-293D-DE04-A0EC-363955DE97B1}"/>
              </a:ext>
            </a:extLst>
          </p:cNvPr>
          <p:cNvSpPr>
            <a:spLocks noChangeShapeType="1"/>
          </p:cNvSpPr>
          <p:nvPr/>
        </p:nvSpPr>
        <p:spPr bwMode="auto">
          <a:xfrm>
            <a:off x="7767638" y="3063875"/>
            <a:ext cx="0" cy="3368675"/>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09" name="Line 208">
            <a:extLst>
              <a:ext uri="{FF2B5EF4-FFF2-40B4-BE49-F238E27FC236}">
                <a16:creationId xmlns:a16="http://schemas.microsoft.com/office/drawing/2014/main" id="{20DDCDC7-9320-B441-7942-DB4327E6F8E0}"/>
              </a:ext>
            </a:extLst>
          </p:cNvPr>
          <p:cNvSpPr>
            <a:spLocks noChangeShapeType="1"/>
          </p:cNvSpPr>
          <p:nvPr/>
        </p:nvSpPr>
        <p:spPr bwMode="auto">
          <a:xfrm>
            <a:off x="2640013" y="5248275"/>
            <a:ext cx="3746500"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10" name="Line 209">
            <a:extLst>
              <a:ext uri="{FF2B5EF4-FFF2-40B4-BE49-F238E27FC236}">
                <a16:creationId xmlns:a16="http://schemas.microsoft.com/office/drawing/2014/main" id="{579F303F-11D0-4E53-D60D-AED395E72F03}"/>
              </a:ext>
            </a:extLst>
          </p:cNvPr>
          <p:cNvSpPr>
            <a:spLocks noChangeShapeType="1"/>
          </p:cNvSpPr>
          <p:nvPr/>
        </p:nvSpPr>
        <p:spPr bwMode="auto">
          <a:xfrm>
            <a:off x="8513763" y="3063875"/>
            <a:ext cx="0" cy="1589088"/>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11" name="Line 210">
            <a:extLst>
              <a:ext uri="{FF2B5EF4-FFF2-40B4-BE49-F238E27FC236}">
                <a16:creationId xmlns:a16="http://schemas.microsoft.com/office/drawing/2014/main" id="{5F9C9D69-AF13-23C6-354D-281274865A26}"/>
              </a:ext>
            </a:extLst>
          </p:cNvPr>
          <p:cNvSpPr>
            <a:spLocks noChangeShapeType="1"/>
          </p:cNvSpPr>
          <p:nvPr/>
        </p:nvSpPr>
        <p:spPr bwMode="auto">
          <a:xfrm>
            <a:off x="6386513" y="879475"/>
            <a:ext cx="0" cy="396875"/>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12" name="Line 211">
            <a:extLst>
              <a:ext uri="{FF2B5EF4-FFF2-40B4-BE49-F238E27FC236}">
                <a16:creationId xmlns:a16="http://schemas.microsoft.com/office/drawing/2014/main" id="{36CAAEEF-64EC-1757-261B-177F873DB61B}"/>
              </a:ext>
            </a:extLst>
          </p:cNvPr>
          <p:cNvSpPr>
            <a:spLocks noChangeShapeType="1"/>
          </p:cNvSpPr>
          <p:nvPr/>
        </p:nvSpPr>
        <p:spPr bwMode="auto">
          <a:xfrm>
            <a:off x="7175500" y="3063875"/>
            <a:ext cx="0" cy="337185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13" name="Line 212">
            <a:extLst>
              <a:ext uri="{FF2B5EF4-FFF2-40B4-BE49-F238E27FC236}">
                <a16:creationId xmlns:a16="http://schemas.microsoft.com/office/drawing/2014/main" id="{1C4A158D-9F1E-57C5-BE32-FCAE5F58159D}"/>
              </a:ext>
            </a:extLst>
          </p:cNvPr>
          <p:cNvSpPr>
            <a:spLocks noChangeShapeType="1"/>
          </p:cNvSpPr>
          <p:nvPr/>
        </p:nvSpPr>
        <p:spPr bwMode="auto">
          <a:xfrm>
            <a:off x="7372350" y="3063875"/>
            <a:ext cx="0" cy="3368675"/>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14" name="Line 213">
            <a:extLst>
              <a:ext uri="{FF2B5EF4-FFF2-40B4-BE49-F238E27FC236}">
                <a16:creationId xmlns:a16="http://schemas.microsoft.com/office/drawing/2014/main" id="{AF29E2F8-9EC6-4521-C204-6F330E38ABDC}"/>
              </a:ext>
            </a:extLst>
          </p:cNvPr>
          <p:cNvSpPr>
            <a:spLocks noChangeShapeType="1"/>
          </p:cNvSpPr>
          <p:nvPr/>
        </p:nvSpPr>
        <p:spPr bwMode="auto">
          <a:xfrm>
            <a:off x="7569200" y="3063875"/>
            <a:ext cx="0" cy="3368675"/>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grpSp>
        <p:nvGrpSpPr>
          <p:cNvPr id="215" name="Group 234">
            <a:extLst>
              <a:ext uri="{FF2B5EF4-FFF2-40B4-BE49-F238E27FC236}">
                <a16:creationId xmlns:a16="http://schemas.microsoft.com/office/drawing/2014/main" id="{31AA77D1-2B88-7AF0-1AC5-CD2365DD5272}"/>
              </a:ext>
            </a:extLst>
          </p:cNvPr>
          <p:cNvGrpSpPr>
            <a:grpSpLocks/>
          </p:cNvGrpSpPr>
          <p:nvPr/>
        </p:nvGrpSpPr>
        <p:grpSpPr bwMode="auto">
          <a:xfrm>
            <a:off x="4856163" y="3114675"/>
            <a:ext cx="1481137" cy="1285875"/>
            <a:chOff x="3059" y="1962"/>
            <a:chExt cx="933" cy="810"/>
          </a:xfrm>
        </p:grpSpPr>
        <p:sp>
          <p:nvSpPr>
            <p:cNvPr id="216" name="Oval 214">
              <a:extLst>
                <a:ext uri="{FF2B5EF4-FFF2-40B4-BE49-F238E27FC236}">
                  <a16:creationId xmlns:a16="http://schemas.microsoft.com/office/drawing/2014/main" id="{83A0BF06-3711-2DAA-86DF-3CF445467F24}"/>
                </a:ext>
              </a:extLst>
            </p:cNvPr>
            <p:cNvSpPr>
              <a:spLocks noChangeArrowheads="1"/>
            </p:cNvSpPr>
            <p:nvPr/>
          </p:nvSpPr>
          <p:spPr bwMode="auto">
            <a:xfrm>
              <a:off x="3064" y="2341"/>
              <a:ext cx="54" cy="54"/>
            </a:xfrm>
            <a:prstGeom prst="ellipse">
              <a:avLst/>
            </a:prstGeom>
            <a:noFill/>
            <a:ln w="127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217" name="Oval 215">
              <a:extLst>
                <a:ext uri="{FF2B5EF4-FFF2-40B4-BE49-F238E27FC236}">
                  <a16:creationId xmlns:a16="http://schemas.microsoft.com/office/drawing/2014/main" id="{A85E289A-CFD6-37DE-6244-51F8EF62ED89}"/>
                </a:ext>
              </a:extLst>
            </p:cNvPr>
            <p:cNvSpPr>
              <a:spLocks noChangeArrowheads="1"/>
            </p:cNvSpPr>
            <p:nvPr/>
          </p:nvSpPr>
          <p:spPr bwMode="auto">
            <a:xfrm>
              <a:off x="3080" y="2356"/>
              <a:ext cx="23" cy="24"/>
            </a:xfrm>
            <a:prstGeom prst="ellipse">
              <a:avLst/>
            </a:prstGeom>
            <a:noFill/>
            <a:ln w="127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218" name="Oval 216">
              <a:extLst>
                <a:ext uri="{FF2B5EF4-FFF2-40B4-BE49-F238E27FC236}">
                  <a16:creationId xmlns:a16="http://schemas.microsoft.com/office/drawing/2014/main" id="{4BA02D28-2A26-E9F8-8C5F-FDE896B11A72}"/>
                </a:ext>
              </a:extLst>
            </p:cNvPr>
            <p:cNvSpPr>
              <a:spLocks noChangeArrowheads="1"/>
            </p:cNvSpPr>
            <p:nvPr/>
          </p:nvSpPr>
          <p:spPr bwMode="auto">
            <a:xfrm>
              <a:off x="3193" y="2091"/>
              <a:ext cx="54" cy="55"/>
            </a:xfrm>
            <a:prstGeom prst="ellipse">
              <a:avLst/>
            </a:prstGeom>
            <a:noFill/>
            <a:ln w="127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219" name="AutoShape 217">
              <a:extLst>
                <a:ext uri="{FF2B5EF4-FFF2-40B4-BE49-F238E27FC236}">
                  <a16:creationId xmlns:a16="http://schemas.microsoft.com/office/drawing/2014/main" id="{4D987196-2F47-7670-8112-DA110538409A}"/>
                </a:ext>
              </a:extLst>
            </p:cNvPr>
            <p:cNvSpPr>
              <a:spLocks noChangeArrowheads="1"/>
            </p:cNvSpPr>
            <p:nvPr/>
          </p:nvSpPr>
          <p:spPr bwMode="auto">
            <a:xfrm>
              <a:off x="3680" y="2086"/>
              <a:ext cx="54" cy="55"/>
            </a:xfrm>
            <a:prstGeom prst="triangle">
              <a:avLst>
                <a:gd name="adj" fmla="val 49995"/>
              </a:avLst>
            </a:prstGeom>
            <a:noFill/>
            <a:ln w="12700">
              <a:solidFill>
                <a:srgbClr val="C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220" name="Oval 218">
              <a:extLst>
                <a:ext uri="{FF2B5EF4-FFF2-40B4-BE49-F238E27FC236}">
                  <a16:creationId xmlns:a16="http://schemas.microsoft.com/office/drawing/2014/main" id="{3B5AB2F0-A3E4-2C0A-BADD-0D73E65B4A71}"/>
                </a:ext>
              </a:extLst>
            </p:cNvPr>
            <p:cNvSpPr>
              <a:spLocks noChangeArrowheads="1"/>
            </p:cNvSpPr>
            <p:nvPr/>
          </p:nvSpPr>
          <p:spPr bwMode="auto">
            <a:xfrm>
              <a:off x="3437" y="1965"/>
              <a:ext cx="54" cy="55"/>
            </a:xfrm>
            <a:prstGeom prst="ellipse">
              <a:avLst/>
            </a:prstGeom>
            <a:noFill/>
            <a:ln w="127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221" name="Oval 219">
              <a:extLst>
                <a:ext uri="{FF2B5EF4-FFF2-40B4-BE49-F238E27FC236}">
                  <a16:creationId xmlns:a16="http://schemas.microsoft.com/office/drawing/2014/main" id="{D557DEAB-FE78-ACFD-BE5C-FA85413DBCA5}"/>
                </a:ext>
              </a:extLst>
            </p:cNvPr>
            <p:cNvSpPr>
              <a:spLocks noChangeArrowheads="1"/>
            </p:cNvSpPr>
            <p:nvPr/>
          </p:nvSpPr>
          <p:spPr bwMode="auto">
            <a:xfrm>
              <a:off x="3452" y="1980"/>
              <a:ext cx="23" cy="26"/>
            </a:xfrm>
            <a:prstGeom prst="ellipse">
              <a:avLst/>
            </a:prstGeom>
            <a:noFill/>
            <a:ln w="127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222" name="Oval 220">
              <a:extLst>
                <a:ext uri="{FF2B5EF4-FFF2-40B4-BE49-F238E27FC236}">
                  <a16:creationId xmlns:a16="http://schemas.microsoft.com/office/drawing/2014/main" id="{19965E60-32CB-567B-FFCC-F1D87EC6F4E6}"/>
                </a:ext>
              </a:extLst>
            </p:cNvPr>
            <p:cNvSpPr>
              <a:spLocks noChangeArrowheads="1"/>
            </p:cNvSpPr>
            <p:nvPr/>
          </p:nvSpPr>
          <p:spPr bwMode="auto">
            <a:xfrm>
              <a:off x="3561" y="2341"/>
              <a:ext cx="54" cy="54"/>
            </a:xfrm>
            <a:prstGeom prst="ellipse">
              <a:avLst/>
            </a:prstGeom>
            <a:noFill/>
            <a:ln w="127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223" name="Oval 221">
              <a:extLst>
                <a:ext uri="{FF2B5EF4-FFF2-40B4-BE49-F238E27FC236}">
                  <a16:creationId xmlns:a16="http://schemas.microsoft.com/office/drawing/2014/main" id="{FCE96484-669E-B433-FABD-F11D80DBFF26}"/>
                </a:ext>
              </a:extLst>
            </p:cNvPr>
            <p:cNvSpPr>
              <a:spLocks noChangeArrowheads="1"/>
            </p:cNvSpPr>
            <p:nvPr/>
          </p:nvSpPr>
          <p:spPr bwMode="auto">
            <a:xfrm>
              <a:off x="3576" y="2356"/>
              <a:ext cx="24" cy="24"/>
            </a:xfrm>
            <a:prstGeom prst="ellipse">
              <a:avLst/>
            </a:prstGeom>
            <a:noFill/>
            <a:ln w="127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224" name="Oval 222">
              <a:extLst>
                <a:ext uri="{FF2B5EF4-FFF2-40B4-BE49-F238E27FC236}">
                  <a16:creationId xmlns:a16="http://schemas.microsoft.com/office/drawing/2014/main" id="{960C4E53-C9EE-8551-5A16-2C97EB10177B}"/>
                </a:ext>
              </a:extLst>
            </p:cNvPr>
            <p:cNvSpPr>
              <a:spLocks noChangeArrowheads="1"/>
            </p:cNvSpPr>
            <p:nvPr/>
          </p:nvSpPr>
          <p:spPr bwMode="auto">
            <a:xfrm>
              <a:off x="3313" y="2465"/>
              <a:ext cx="54" cy="56"/>
            </a:xfrm>
            <a:prstGeom prst="ellipse">
              <a:avLst/>
            </a:prstGeom>
            <a:noFill/>
            <a:ln w="127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225" name="Oval 223">
              <a:extLst>
                <a:ext uri="{FF2B5EF4-FFF2-40B4-BE49-F238E27FC236}">
                  <a16:creationId xmlns:a16="http://schemas.microsoft.com/office/drawing/2014/main" id="{D8CDE822-E799-E194-DEF3-3D565C82A30B}"/>
                </a:ext>
              </a:extLst>
            </p:cNvPr>
            <p:cNvSpPr>
              <a:spLocks noChangeArrowheads="1"/>
            </p:cNvSpPr>
            <p:nvPr/>
          </p:nvSpPr>
          <p:spPr bwMode="auto">
            <a:xfrm>
              <a:off x="3328" y="2481"/>
              <a:ext cx="23" cy="25"/>
            </a:xfrm>
            <a:prstGeom prst="ellipse">
              <a:avLst/>
            </a:prstGeom>
            <a:noFill/>
            <a:ln w="127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226" name="Oval 224">
              <a:extLst>
                <a:ext uri="{FF2B5EF4-FFF2-40B4-BE49-F238E27FC236}">
                  <a16:creationId xmlns:a16="http://schemas.microsoft.com/office/drawing/2014/main" id="{EA0D38F5-B115-697B-26CA-D9BC02BB016F}"/>
                </a:ext>
              </a:extLst>
            </p:cNvPr>
            <p:cNvSpPr>
              <a:spLocks noChangeArrowheads="1"/>
            </p:cNvSpPr>
            <p:nvPr/>
          </p:nvSpPr>
          <p:spPr bwMode="auto">
            <a:xfrm>
              <a:off x="3933" y="2715"/>
              <a:ext cx="54" cy="56"/>
            </a:xfrm>
            <a:prstGeom prst="ellipse">
              <a:avLst/>
            </a:prstGeom>
            <a:noFill/>
            <a:ln w="127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227" name="Oval 225">
              <a:extLst>
                <a:ext uri="{FF2B5EF4-FFF2-40B4-BE49-F238E27FC236}">
                  <a16:creationId xmlns:a16="http://schemas.microsoft.com/office/drawing/2014/main" id="{7F9103E4-5BA2-3C47-7AA9-DEF775ABCAE6}"/>
                </a:ext>
              </a:extLst>
            </p:cNvPr>
            <p:cNvSpPr>
              <a:spLocks noChangeArrowheads="1"/>
            </p:cNvSpPr>
            <p:nvPr/>
          </p:nvSpPr>
          <p:spPr bwMode="auto">
            <a:xfrm>
              <a:off x="3949" y="2732"/>
              <a:ext cx="23" cy="24"/>
            </a:xfrm>
            <a:prstGeom prst="ellipse">
              <a:avLst/>
            </a:prstGeom>
            <a:noFill/>
            <a:ln w="127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228" name="Oval 226">
              <a:extLst>
                <a:ext uri="{FF2B5EF4-FFF2-40B4-BE49-F238E27FC236}">
                  <a16:creationId xmlns:a16="http://schemas.microsoft.com/office/drawing/2014/main" id="{23F6ACAB-F228-37D2-3E59-ADDC49649BAB}"/>
                </a:ext>
              </a:extLst>
            </p:cNvPr>
            <p:cNvSpPr>
              <a:spLocks noChangeArrowheads="1"/>
            </p:cNvSpPr>
            <p:nvPr/>
          </p:nvSpPr>
          <p:spPr bwMode="auto">
            <a:xfrm>
              <a:off x="3441" y="2342"/>
              <a:ext cx="54" cy="54"/>
            </a:xfrm>
            <a:prstGeom prst="ellipse">
              <a:avLst/>
            </a:prstGeom>
            <a:noFill/>
            <a:ln w="127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229" name="Oval 227">
              <a:extLst>
                <a:ext uri="{FF2B5EF4-FFF2-40B4-BE49-F238E27FC236}">
                  <a16:creationId xmlns:a16="http://schemas.microsoft.com/office/drawing/2014/main" id="{69BE30CB-7CF0-8A1B-6C3F-93CF9F107008}"/>
                </a:ext>
              </a:extLst>
            </p:cNvPr>
            <p:cNvSpPr>
              <a:spLocks noChangeArrowheads="1"/>
            </p:cNvSpPr>
            <p:nvPr/>
          </p:nvSpPr>
          <p:spPr bwMode="auto">
            <a:xfrm>
              <a:off x="3938" y="2467"/>
              <a:ext cx="54" cy="55"/>
            </a:xfrm>
            <a:prstGeom prst="ellipse">
              <a:avLst/>
            </a:prstGeom>
            <a:noFill/>
            <a:ln w="127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230" name="Oval 228">
              <a:extLst>
                <a:ext uri="{FF2B5EF4-FFF2-40B4-BE49-F238E27FC236}">
                  <a16:creationId xmlns:a16="http://schemas.microsoft.com/office/drawing/2014/main" id="{82153430-40A7-80AB-8451-ED65B1CAD5F9}"/>
                </a:ext>
              </a:extLst>
            </p:cNvPr>
            <p:cNvSpPr>
              <a:spLocks noChangeArrowheads="1"/>
            </p:cNvSpPr>
            <p:nvPr/>
          </p:nvSpPr>
          <p:spPr bwMode="auto">
            <a:xfrm>
              <a:off x="3317" y="2718"/>
              <a:ext cx="54" cy="54"/>
            </a:xfrm>
            <a:prstGeom prst="ellipse">
              <a:avLst/>
            </a:prstGeom>
            <a:noFill/>
            <a:ln w="127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231" name="Oval 229">
              <a:extLst>
                <a:ext uri="{FF2B5EF4-FFF2-40B4-BE49-F238E27FC236}">
                  <a16:creationId xmlns:a16="http://schemas.microsoft.com/office/drawing/2014/main" id="{93B23E07-44A2-5C04-2234-AB7A13AB4F6C}"/>
                </a:ext>
              </a:extLst>
            </p:cNvPr>
            <p:cNvSpPr>
              <a:spLocks noChangeArrowheads="1"/>
            </p:cNvSpPr>
            <p:nvPr/>
          </p:nvSpPr>
          <p:spPr bwMode="auto">
            <a:xfrm>
              <a:off x="3813" y="2718"/>
              <a:ext cx="54" cy="54"/>
            </a:xfrm>
            <a:prstGeom prst="ellipse">
              <a:avLst/>
            </a:prstGeom>
            <a:noFill/>
            <a:ln w="127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232" name="AutoShape 230">
              <a:extLst>
                <a:ext uri="{FF2B5EF4-FFF2-40B4-BE49-F238E27FC236}">
                  <a16:creationId xmlns:a16="http://schemas.microsoft.com/office/drawing/2014/main" id="{309DE2EA-CFE3-CCED-E5BC-FFE260AD68AA}"/>
                </a:ext>
              </a:extLst>
            </p:cNvPr>
            <p:cNvSpPr>
              <a:spLocks noChangeArrowheads="1"/>
            </p:cNvSpPr>
            <p:nvPr/>
          </p:nvSpPr>
          <p:spPr bwMode="auto">
            <a:xfrm>
              <a:off x="3059" y="1962"/>
              <a:ext cx="54" cy="54"/>
            </a:xfrm>
            <a:prstGeom prst="triangle">
              <a:avLst>
                <a:gd name="adj" fmla="val 49995"/>
              </a:avLst>
            </a:prstGeom>
            <a:noFill/>
            <a:ln w="12700">
              <a:solidFill>
                <a:srgbClr val="C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233" name="AutoShape 231">
              <a:extLst>
                <a:ext uri="{FF2B5EF4-FFF2-40B4-BE49-F238E27FC236}">
                  <a16:creationId xmlns:a16="http://schemas.microsoft.com/office/drawing/2014/main" id="{1FE102D0-213E-0257-4E08-0D9E4C23DA09}"/>
                </a:ext>
              </a:extLst>
            </p:cNvPr>
            <p:cNvSpPr>
              <a:spLocks noChangeArrowheads="1"/>
            </p:cNvSpPr>
            <p:nvPr/>
          </p:nvSpPr>
          <p:spPr bwMode="auto">
            <a:xfrm>
              <a:off x="3928" y="2336"/>
              <a:ext cx="54" cy="55"/>
            </a:xfrm>
            <a:prstGeom prst="triangle">
              <a:avLst>
                <a:gd name="adj" fmla="val 49995"/>
              </a:avLst>
            </a:prstGeom>
            <a:noFill/>
            <a:ln w="12700">
              <a:solidFill>
                <a:srgbClr val="C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234" name="AutoShape 232">
              <a:extLst>
                <a:ext uri="{FF2B5EF4-FFF2-40B4-BE49-F238E27FC236}">
                  <a16:creationId xmlns:a16="http://schemas.microsoft.com/office/drawing/2014/main" id="{24DC193E-1A99-7E55-B19C-8E2FF3B50E4B}"/>
                </a:ext>
              </a:extLst>
            </p:cNvPr>
            <p:cNvSpPr>
              <a:spLocks noChangeArrowheads="1"/>
            </p:cNvSpPr>
            <p:nvPr/>
          </p:nvSpPr>
          <p:spPr bwMode="auto">
            <a:xfrm>
              <a:off x="3804" y="2462"/>
              <a:ext cx="54" cy="54"/>
            </a:xfrm>
            <a:prstGeom prst="triangle">
              <a:avLst>
                <a:gd name="adj" fmla="val 49995"/>
              </a:avLst>
            </a:prstGeom>
            <a:noFill/>
            <a:ln w="12700">
              <a:solidFill>
                <a:srgbClr val="C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235" name="AutoShape 233">
              <a:extLst>
                <a:ext uri="{FF2B5EF4-FFF2-40B4-BE49-F238E27FC236}">
                  <a16:creationId xmlns:a16="http://schemas.microsoft.com/office/drawing/2014/main" id="{65509B7D-0DF6-7212-D191-0BE31A3464D2}"/>
                </a:ext>
              </a:extLst>
            </p:cNvPr>
            <p:cNvSpPr>
              <a:spLocks noChangeArrowheads="1"/>
            </p:cNvSpPr>
            <p:nvPr/>
          </p:nvSpPr>
          <p:spPr bwMode="auto">
            <a:xfrm>
              <a:off x="3183" y="2587"/>
              <a:ext cx="54" cy="54"/>
            </a:xfrm>
            <a:prstGeom prst="triangle">
              <a:avLst>
                <a:gd name="adj" fmla="val 49995"/>
              </a:avLst>
            </a:prstGeom>
            <a:noFill/>
            <a:ln w="12700">
              <a:solidFill>
                <a:srgbClr val="C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grpSp>
      <p:grpSp>
        <p:nvGrpSpPr>
          <p:cNvPr id="236" name="Group 237">
            <a:extLst>
              <a:ext uri="{FF2B5EF4-FFF2-40B4-BE49-F238E27FC236}">
                <a16:creationId xmlns:a16="http://schemas.microsoft.com/office/drawing/2014/main" id="{53AD5577-00C2-07C0-D4FA-C7E88C231611}"/>
              </a:ext>
            </a:extLst>
          </p:cNvPr>
          <p:cNvGrpSpPr>
            <a:grpSpLocks/>
          </p:cNvGrpSpPr>
          <p:nvPr/>
        </p:nvGrpSpPr>
        <p:grpSpPr bwMode="auto">
          <a:xfrm>
            <a:off x="4745039" y="4618038"/>
            <a:ext cx="1692276" cy="277812"/>
            <a:chOff x="2989" y="2909"/>
            <a:chExt cx="1066" cy="175"/>
          </a:xfrm>
        </p:grpSpPr>
        <p:sp>
          <p:nvSpPr>
            <p:cNvPr id="237" name="Rectangle 235">
              <a:extLst>
                <a:ext uri="{FF2B5EF4-FFF2-40B4-BE49-F238E27FC236}">
                  <a16:creationId xmlns:a16="http://schemas.microsoft.com/office/drawing/2014/main" id="{89A2E345-964A-A979-F31B-FF1997EA9DDE}"/>
                </a:ext>
              </a:extLst>
            </p:cNvPr>
            <p:cNvSpPr>
              <a:spLocks noChangeArrowheads="1"/>
            </p:cNvSpPr>
            <p:nvPr/>
          </p:nvSpPr>
          <p:spPr bwMode="auto">
            <a:xfrm>
              <a:off x="2989" y="2909"/>
              <a:ext cx="577" cy="17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200" b="1">
                  <a:latin typeface="+mj-lt"/>
                </a:rPr>
                <a:t>1   3   4   2</a:t>
              </a:r>
            </a:p>
          </p:txBody>
        </p:sp>
        <p:sp>
          <p:nvSpPr>
            <p:cNvPr id="238" name="Rectangle 236">
              <a:extLst>
                <a:ext uri="{FF2B5EF4-FFF2-40B4-BE49-F238E27FC236}">
                  <a16:creationId xmlns:a16="http://schemas.microsoft.com/office/drawing/2014/main" id="{74ECBEC9-9FEB-A880-98C4-98F3D2EFAD9F}"/>
                </a:ext>
              </a:extLst>
            </p:cNvPr>
            <p:cNvSpPr>
              <a:spLocks noChangeArrowheads="1"/>
            </p:cNvSpPr>
            <p:nvPr/>
          </p:nvSpPr>
          <p:spPr bwMode="auto">
            <a:xfrm>
              <a:off x="3478" y="2909"/>
              <a:ext cx="577" cy="17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200" b="1">
                  <a:latin typeface="+mj-lt"/>
                </a:rPr>
                <a:t>1   2   1   4</a:t>
              </a:r>
            </a:p>
          </p:txBody>
        </p:sp>
      </p:grpSp>
      <p:sp>
        <p:nvSpPr>
          <p:cNvPr id="239" name="Rectangle 238">
            <a:extLst>
              <a:ext uri="{FF2B5EF4-FFF2-40B4-BE49-F238E27FC236}">
                <a16:creationId xmlns:a16="http://schemas.microsoft.com/office/drawing/2014/main" id="{554E601B-5EA8-8822-ACAF-1BF425B33AF3}"/>
              </a:ext>
            </a:extLst>
          </p:cNvPr>
          <p:cNvSpPr>
            <a:spLocks noChangeArrowheads="1"/>
          </p:cNvSpPr>
          <p:nvPr/>
        </p:nvSpPr>
        <p:spPr bwMode="auto">
          <a:xfrm>
            <a:off x="6350278" y="3005138"/>
            <a:ext cx="270908" cy="170232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110000"/>
              </a:lnSpc>
            </a:pPr>
            <a:r>
              <a:rPr lang="en-US" altLang="en-US" sz="1200" b="1">
                <a:latin typeface="+mj-lt"/>
              </a:rPr>
              <a:t>5</a:t>
            </a:r>
          </a:p>
          <a:p>
            <a:pPr algn="ctr">
              <a:lnSpc>
                <a:spcPct val="110000"/>
              </a:lnSpc>
            </a:pPr>
            <a:r>
              <a:rPr lang="en-US" altLang="en-US" sz="1200" b="1">
                <a:latin typeface="+mj-lt"/>
              </a:rPr>
              <a:t>3</a:t>
            </a:r>
          </a:p>
          <a:p>
            <a:pPr algn="ctr">
              <a:lnSpc>
                <a:spcPct val="110000"/>
              </a:lnSpc>
            </a:pPr>
            <a:r>
              <a:rPr lang="en-US" altLang="en-US" sz="1200" b="1">
                <a:latin typeface="+mj-lt"/>
              </a:rPr>
              <a:t>1</a:t>
            </a:r>
          </a:p>
          <a:p>
            <a:pPr algn="ctr">
              <a:lnSpc>
                <a:spcPct val="110000"/>
              </a:lnSpc>
            </a:pPr>
            <a:r>
              <a:rPr lang="en-US" altLang="en-US" sz="1200" b="1">
                <a:latin typeface="+mj-lt"/>
              </a:rPr>
              <a:t>2</a:t>
            </a:r>
          </a:p>
          <a:p>
            <a:pPr algn="ctr">
              <a:lnSpc>
                <a:spcPct val="110000"/>
              </a:lnSpc>
            </a:pPr>
            <a:r>
              <a:rPr lang="en-US" altLang="en-US" sz="1200" b="1">
                <a:latin typeface="+mj-lt"/>
              </a:rPr>
              <a:t>5</a:t>
            </a:r>
          </a:p>
          <a:p>
            <a:pPr algn="ctr">
              <a:lnSpc>
                <a:spcPct val="110000"/>
              </a:lnSpc>
            </a:pPr>
            <a:r>
              <a:rPr lang="en-US" altLang="en-US" sz="1200" b="1">
                <a:latin typeface="+mj-lt"/>
              </a:rPr>
              <a:t>1</a:t>
            </a:r>
          </a:p>
          <a:p>
            <a:pPr algn="ctr">
              <a:lnSpc>
                <a:spcPct val="110000"/>
              </a:lnSpc>
            </a:pPr>
            <a:r>
              <a:rPr lang="en-US" altLang="en-US" sz="1200" b="1">
                <a:latin typeface="+mj-lt"/>
              </a:rPr>
              <a:t>4</a:t>
            </a:r>
          </a:p>
          <a:p>
            <a:pPr algn="ctr">
              <a:lnSpc>
                <a:spcPct val="110000"/>
              </a:lnSpc>
            </a:pPr>
            <a:r>
              <a:rPr lang="en-US" altLang="en-US" sz="1200" b="1">
                <a:latin typeface="+mj-lt"/>
              </a:rPr>
              <a:t>4</a:t>
            </a:r>
          </a:p>
        </p:txBody>
      </p:sp>
      <p:sp>
        <p:nvSpPr>
          <p:cNvPr id="240" name="Rectangle 239">
            <a:extLst>
              <a:ext uri="{FF2B5EF4-FFF2-40B4-BE49-F238E27FC236}">
                <a16:creationId xmlns:a16="http://schemas.microsoft.com/office/drawing/2014/main" id="{B3B3B7D8-4169-1D8F-3AA4-87E8B8C7BEA9}"/>
              </a:ext>
            </a:extLst>
          </p:cNvPr>
          <p:cNvSpPr>
            <a:spLocks noChangeArrowheads="1"/>
          </p:cNvSpPr>
          <p:nvPr/>
        </p:nvSpPr>
        <p:spPr bwMode="auto">
          <a:xfrm>
            <a:off x="7140575" y="3005138"/>
            <a:ext cx="268288" cy="170497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110000"/>
              </a:lnSpc>
            </a:pPr>
            <a:r>
              <a:rPr lang="en-US" altLang="en-US" sz="1200" b="1">
                <a:latin typeface="+mj-lt"/>
              </a:rPr>
              <a:t>5</a:t>
            </a:r>
          </a:p>
          <a:p>
            <a:pPr algn="ctr">
              <a:lnSpc>
                <a:spcPct val="110000"/>
              </a:lnSpc>
            </a:pPr>
            <a:r>
              <a:rPr lang="en-US" altLang="en-US" sz="1200" b="1">
                <a:latin typeface="+mj-lt"/>
              </a:rPr>
              <a:t>3</a:t>
            </a:r>
          </a:p>
          <a:p>
            <a:pPr algn="ctr">
              <a:lnSpc>
                <a:spcPct val="110000"/>
              </a:lnSpc>
            </a:pPr>
            <a:r>
              <a:rPr lang="en-US" altLang="en-US" sz="1200" b="1">
                <a:latin typeface="+mj-lt"/>
              </a:rPr>
              <a:t>2</a:t>
            </a:r>
          </a:p>
          <a:p>
            <a:pPr algn="ctr">
              <a:lnSpc>
                <a:spcPct val="110000"/>
              </a:lnSpc>
            </a:pPr>
            <a:r>
              <a:rPr lang="en-US" altLang="en-US" sz="1200" b="1">
                <a:latin typeface="+mj-lt"/>
              </a:rPr>
              <a:t>3</a:t>
            </a:r>
          </a:p>
          <a:p>
            <a:pPr algn="ctr">
              <a:lnSpc>
                <a:spcPct val="110000"/>
              </a:lnSpc>
            </a:pPr>
            <a:r>
              <a:rPr lang="en-US" altLang="en-US" sz="1200" b="1">
                <a:latin typeface="+mj-lt"/>
              </a:rPr>
              <a:t>5</a:t>
            </a:r>
          </a:p>
          <a:p>
            <a:pPr algn="ctr">
              <a:lnSpc>
                <a:spcPct val="110000"/>
              </a:lnSpc>
            </a:pPr>
            <a:r>
              <a:rPr lang="en-US" altLang="en-US" sz="1200" b="1">
                <a:latin typeface="+mj-lt"/>
              </a:rPr>
              <a:t>2</a:t>
            </a:r>
          </a:p>
          <a:p>
            <a:pPr algn="ctr">
              <a:lnSpc>
                <a:spcPct val="110000"/>
              </a:lnSpc>
            </a:pPr>
            <a:r>
              <a:rPr lang="en-US" altLang="en-US" sz="1200" b="1">
                <a:latin typeface="+mj-lt"/>
              </a:rPr>
              <a:t>4</a:t>
            </a:r>
          </a:p>
          <a:p>
            <a:pPr algn="ctr">
              <a:lnSpc>
                <a:spcPct val="110000"/>
              </a:lnSpc>
            </a:pPr>
            <a:r>
              <a:rPr lang="en-US" altLang="en-US" sz="1200" b="1">
                <a:latin typeface="+mj-lt"/>
              </a:rPr>
              <a:t>4</a:t>
            </a:r>
          </a:p>
        </p:txBody>
      </p:sp>
      <p:sp>
        <p:nvSpPr>
          <p:cNvPr id="241" name="Rectangle 240">
            <a:extLst>
              <a:ext uri="{FF2B5EF4-FFF2-40B4-BE49-F238E27FC236}">
                <a16:creationId xmlns:a16="http://schemas.microsoft.com/office/drawing/2014/main" id="{C833AD89-CA8A-A706-490C-3CAE346CC6A0}"/>
              </a:ext>
            </a:extLst>
          </p:cNvPr>
          <p:cNvSpPr>
            <a:spLocks noChangeArrowheads="1"/>
          </p:cNvSpPr>
          <p:nvPr/>
        </p:nvSpPr>
        <p:spPr bwMode="auto">
          <a:xfrm>
            <a:off x="7216775" y="3611563"/>
            <a:ext cx="493713" cy="47307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125000"/>
              </a:lnSpc>
            </a:pPr>
            <a:r>
              <a:rPr lang="en-US" altLang="en-US" sz="1000" b="1">
                <a:latin typeface="+mj-lt"/>
              </a:rPr>
              <a:t>1.5</a:t>
            </a:r>
          </a:p>
          <a:p>
            <a:pPr algn="ctr">
              <a:lnSpc>
                <a:spcPct val="125000"/>
              </a:lnSpc>
            </a:pPr>
            <a:r>
              <a:rPr lang="en-US" altLang="en-US" sz="1000" b="1">
                <a:latin typeface="+mj-lt"/>
              </a:rPr>
              <a:t>1</a:t>
            </a:r>
          </a:p>
        </p:txBody>
      </p:sp>
      <p:sp>
        <p:nvSpPr>
          <p:cNvPr id="242" name="Rectangle 241">
            <a:extLst>
              <a:ext uri="{FF2B5EF4-FFF2-40B4-BE49-F238E27FC236}">
                <a16:creationId xmlns:a16="http://schemas.microsoft.com/office/drawing/2014/main" id="{8CBF4481-872A-F599-A666-FE756AF627AA}"/>
              </a:ext>
            </a:extLst>
          </p:cNvPr>
          <p:cNvSpPr>
            <a:spLocks noChangeArrowheads="1"/>
          </p:cNvSpPr>
          <p:nvPr/>
        </p:nvSpPr>
        <p:spPr bwMode="auto">
          <a:xfrm>
            <a:off x="7391400" y="3038475"/>
            <a:ext cx="569913" cy="165417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128000"/>
              </a:lnSpc>
            </a:pPr>
            <a:r>
              <a:rPr lang="en-US" altLang="en-US" sz="1000" b="1">
                <a:latin typeface="+mj-lt"/>
              </a:rPr>
              <a:t>1.2</a:t>
            </a:r>
          </a:p>
          <a:p>
            <a:pPr algn="ctr">
              <a:lnSpc>
                <a:spcPct val="128000"/>
              </a:lnSpc>
            </a:pPr>
            <a:r>
              <a:rPr lang="en-US" altLang="en-US" sz="1000" b="1">
                <a:latin typeface="+mj-lt"/>
              </a:rPr>
              <a:t>1.5</a:t>
            </a:r>
          </a:p>
          <a:p>
            <a:pPr algn="ctr">
              <a:lnSpc>
                <a:spcPct val="128000"/>
              </a:lnSpc>
            </a:pPr>
            <a:r>
              <a:rPr lang="en-US" altLang="en-US" sz="1000" b="1">
                <a:latin typeface="+mj-lt"/>
              </a:rPr>
              <a:t>1</a:t>
            </a:r>
          </a:p>
          <a:p>
            <a:pPr algn="ctr">
              <a:lnSpc>
                <a:spcPct val="128000"/>
              </a:lnSpc>
            </a:pPr>
            <a:r>
              <a:rPr lang="en-US" altLang="en-US" sz="1000" b="1">
                <a:latin typeface="+mj-lt"/>
              </a:rPr>
              <a:t>1</a:t>
            </a:r>
          </a:p>
          <a:p>
            <a:pPr algn="ctr">
              <a:lnSpc>
                <a:spcPct val="128000"/>
              </a:lnSpc>
            </a:pPr>
            <a:r>
              <a:rPr lang="en-US" altLang="en-US" sz="1000" b="1">
                <a:latin typeface="+mj-lt"/>
              </a:rPr>
              <a:t>1.5</a:t>
            </a:r>
          </a:p>
          <a:p>
            <a:pPr algn="ctr">
              <a:lnSpc>
                <a:spcPct val="128000"/>
              </a:lnSpc>
            </a:pPr>
            <a:r>
              <a:rPr lang="en-US" altLang="en-US" sz="1000" b="1">
                <a:latin typeface="+mj-lt"/>
              </a:rPr>
              <a:t>1</a:t>
            </a:r>
          </a:p>
          <a:p>
            <a:pPr algn="ctr">
              <a:lnSpc>
                <a:spcPct val="128000"/>
              </a:lnSpc>
            </a:pPr>
            <a:r>
              <a:rPr lang="en-US" altLang="en-US" sz="1000" b="1">
                <a:latin typeface="+mj-lt"/>
              </a:rPr>
              <a:t>1.5</a:t>
            </a:r>
          </a:p>
          <a:p>
            <a:pPr algn="ctr">
              <a:lnSpc>
                <a:spcPct val="128000"/>
              </a:lnSpc>
            </a:pPr>
            <a:r>
              <a:rPr lang="en-US" altLang="en-US" sz="1000" b="1">
                <a:latin typeface="+mj-lt"/>
              </a:rPr>
              <a:t>1</a:t>
            </a:r>
          </a:p>
        </p:txBody>
      </p:sp>
      <p:sp>
        <p:nvSpPr>
          <p:cNvPr id="243" name="Rectangle 242">
            <a:extLst>
              <a:ext uri="{FF2B5EF4-FFF2-40B4-BE49-F238E27FC236}">
                <a16:creationId xmlns:a16="http://schemas.microsoft.com/office/drawing/2014/main" id="{18F1EEA1-5362-963D-C18E-DBBCCE2BB14C}"/>
              </a:ext>
            </a:extLst>
          </p:cNvPr>
          <p:cNvSpPr>
            <a:spLocks noChangeArrowheads="1"/>
          </p:cNvSpPr>
          <p:nvPr/>
        </p:nvSpPr>
        <p:spPr bwMode="auto">
          <a:xfrm>
            <a:off x="7580313" y="3579813"/>
            <a:ext cx="577850" cy="54927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125000"/>
              </a:lnSpc>
            </a:pPr>
            <a:r>
              <a:rPr lang="en-US" altLang="en-US" sz="1200" b="1">
                <a:latin typeface="+mj-lt"/>
              </a:rPr>
              <a:t>15</a:t>
            </a:r>
          </a:p>
          <a:p>
            <a:pPr algn="ctr">
              <a:lnSpc>
                <a:spcPct val="125000"/>
              </a:lnSpc>
            </a:pPr>
            <a:r>
              <a:rPr lang="en-US" altLang="en-US" sz="1200" b="1">
                <a:latin typeface="+mj-lt"/>
              </a:rPr>
              <a:t>3</a:t>
            </a:r>
          </a:p>
        </p:txBody>
      </p:sp>
      <p:sp>
        <p:nvSpPr>
          <p:cNvPr id="244" name="Line 243">
            <a:extLst>
              <a:ext uri="{FF2B5EF4-FFF2-40B4-BE49-F238E27FC236}">
                <a16:creationId xmlns:a16="http://schemas.microsoft.com/office/drawing/2014/main" id="{6FF35966-017F-C89D-7867-191ABE2D0B7F}"/>
              </a:ext>
            </a:extLst>
          </p:cNvPr>
          <p:cNvSpPr>
            <a:spLocks noChangeShapeType="1"/>
          </p:cNvSpPr>
          <p:nvPr/>
        </p:nvSpPr>
        <p:spPr bwMode="auto">
          <a:xfrm>
            <a:off x="6386513" y="4652963"/>
            <a:ext cx="592137"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45" name="Line 244">
            <a:extLst>
              <a:ext uri="{FF2B5EF4-FFF2-40B4-BE49-F238E27FC236}">
                <a16:creationId xmlns:a16="http://schemas.microsoft.com/office/drawing/2014/main" id="{3819735E-A1B3-4FD1-AB04-53EA0835CB15}"/>
              </a:ext>
            </a:extLst>
          </p:cNvPr>
          <p:cNvSpPr>
            <a:spLocks noChangeShapeType="1"/>
          </p:cNvSpPr>
          <p:nvPr/>
        </p:nvSpPr>
        <p:spPr bwMode="auto">
          <a:xfrm>
            <a:off x="4810125" y="879475"/>
            <a:ext cx="1573213"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46" name="Line 245">
            <a:extLst>
              <a:ext uri="{FF2B5EF4-FFF2-40B4-BE49-F238E27FC236}">
                <a16:creationId xmlns:a16="http://schemas.microsoft.com/office/drawing/2014/main" id="{CB0BDBB0-BFD6-5E4A-10C8-F8B6C13431F7}"/>
              </a:ext>
            </a:extLst>
          </p:cNvPr>
          <p:cNvSpPr>
            <a:spLocks noChangeShapeType="1"/>
          </p:cNvSpPr>
          <p:nvPr/>
        </p:nvSpPr>
        <p:spPr bwMode="auto">
          <a:xfrm>
            <a:off x="3033713" y="1276350"/>
            <a:ext cx="1771650"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47" name="Line 246">
            <a:extLst>
              <a:ext uri="{FF2B5EF4-FFF2-40B4-BE49-F238E27FC236}">
                <a16:creationId xmlns:a16="http://schemas.microsoft.com/office/drawing/2014/main" id="{1FFDA9B2-BBA1-E954-5254-7FAE609CA6EF}"/>
              </a:ext>
            </a:extLst>
          </p:cNvPr>
          <p:cNvSpPr>
            <a:spLocks noChangeShapeType="1"/>
          </p:cNvSpPr>
          <p:nvPr/>
        </p:nvSpPr>
        <p:spPr bwMode="auto">
          <a:xfrm flipV="1">
            <a:off x="4810125" y="879475"/>
            <a:ext cx="0" cy="396875"/>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48" name="Rectangle 247">
            <a:extLst>
              <a:ext uri="{FF2B5EF4-FFF2-40B4-BE49-F238E27FC236}">
                <a16:creationId xmlns:a16="http://schemas.microsoft.com/office/drawing/2014/main" id="{03277E70-8824-27F4-4C3C-727A1A3076D6}"/>
              </a:ext>
            </a:extLst>
          </p:cNvPr>
          <p:cNvSpPr>
            <a:spLocks noChangeArrowheads="1"/>
          </p:cNvSpPr>
          <p:nvPr/>
        </p:nvSpPr>
        <p:spPr bwMode="auto">
          <a:xfrm rot="16200000">
            <a:off x="6421438" y="4733925"/>
            <a:ext cx="547688" cy="66833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105000"/>
              </a:lnSpc>
            </a:pPr>
            <a:r>
              <a:rPr lang="en-US" altLang="en-US" sz="1200" b="1">
                <a:latin typeface="+mj-lt"/>
              </a:rPr>
              <a:t>Our</a:t>
            </a:r>
          </a:p>
          <a:p>
            <a:pPr>
              <a:lnSpc>
                <a:spcPct val="105000"/>
              </a:lnSpc>
            </a:pPr>
            <a:r>
              <a:rPr lang="en-US" altLang="en-US" sz="1200" b="1">
                <a:latin typeface="+mj-lt"/>
              </a:rPr>
              <a:t>A’s</a:t>
            </a:r>
          </a:p>
          <a:p>
            <a:pPr>
              <a:lnSpc>
                <a:spcPct val="105000"/>
              </a:lnSpc>
            </a:pPr>
            <a:r>
              <a:rPr lang="en-US" altLang="en-US" sz="1200" b="1">
                <a:latin typeface="+mj-lt"/>
              </a:rPr>
              <a:t>B’s</a:t>
            </a:r>
          </a:p>
        </p:txBody>
      </p:sp>
      <p:grpSp>
        <p:nvGrpSpPr>
          <p:cNvPr id="249" name="Group 261">
            <a:extLst>
              <a:ext uri="{FF2B5EF4-FFF2-40B4-BE49-F238E27FC236}">
                <a16:creationId xmlns:a16="http://schemas.microsoft.com/office/drawing/2014/main" id="{C6A027A5-991B-F6D3-526B-E56727E62FC1}"/>
              </a:ext>
            </a:extLst>
          </p:cNvPr>
          <p:cNvGrpSpPr>
            <a:grpSpLocks/>
          </p:cNvGrpSpPr>
          <p:nvPr/>
        </p:nvGrpSpPr>
        <p:grpSpPr bwMode="auto">
          <a:xfrm>
            <a:off x="6288088" y="676275"/>
            <a:ext cx="2801937" cy="2192338"/>
            <a:chOff x="3961" y="426"/>
            <a:chExt cx="1765" cy="1381"/>
          </a:xfrm>
        </p:grpSpPr>
        <p:sp>
          <p:nvSpPr>
            <p:cNvPr id="250" name="Rectangle 248">
              <a:extLst>
                <a:ext uri="{FF2B5EF4-FFF2-40B4-BE49-F238E27FC236}">
                  <a16:creationId xmlns:a16="http://schemas.microsoft.com/office/drawing/2014/main" id="{48BE2F2E-41EC-4FF6-D2A2-79114FBDC2F4}"/>
                </a:ext>
              </a:extLst>
            </p:cNvPr>
            <p:cNvSpPr>
              <a:spLocks noChangeArrowheads="1"/>
            </p:cNvSpPr>
            <p:nvPr/>
          </p:nvSpPr>
          <p:spPr bwMode="auto">
            <a:xfrm>
              <a:off x="3961" y="426"/>
              <a:ext cx="1765" cy="82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600" b="1">
                  <a:latin typeface="+mj-lt"/>
                </a:rPr>
                <a:t>Relationship between</a:t>
              </a:r>
            </a:p>
            <a:p>
              <a:pPr algn="ctr"/>
              <a:r>
                <a:rPr lang="en-US" altLang="en-US" sz="1600" b="1">
                  <a:latin typeface="+mj-lt"/>
                </a:rPr>
                <a:t>Customer Requirements and</a:t>
              </a:r>
            </a:p>
            <a:p>
              <a:pPr algn="ctr"/>
              <a:r>
                <a:rPr lang="en-US" altLang="en-US" sz="1600" b="1">
                  <a:latin typeface="+mj-lt"/>
                </a:rPr>
                <a:t>Technical Descriptors</a:t>
              </a:r>
            </a:p>
            <a:p>
              <a:pPr algn="ctr"/>
              <a:r>
                <a:rPr lang="en-US" altLang="en-US" sz="1600" b="1">
                  <a:latin typeface="+mj-lt"/>
                </a:rPr>
                <a:t>WHATs vs. HOWs</a:t>
              </a:r>
            </a:p>
          </p:txBody>
        </p:sp>
        <p:sp>
          <p:nvSpPr>
            <p:cNvPr id="251" name="Rectangle 249">
              <a:extLst>
                <a:ext uri="{FF2B5EF4-FFF2-40B4-BE49-F238E27FC236}">
                  <a16:creationId xmlns:a16="http://schemas.microsoft.com/office/drawing/2014/main" id="{96B4951E-EF5E-DD38-0710-948F552C3ED7}"/>
                </a:ext>
              </a:extLst>
            </p:cNvPr>
            <p:cNvSpPr>
              <a:spLocks noChangeArrowheads="1"/>
            </p:cNvSpPr>
            <p:nvPr/>
          </p:nvSpPr>
          <p:spPr bwMode="auto">
            <a:xfrm>
              <a:off x="4779" y="1321"/>
              <a:ext cx="481"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dirty="0">
                  <a:latin typeface="+mj-lt"/>
                </a:rPr>
                <a:t>Strong</a:t>
              </a:r>
            </a:p>
          </p:txBody>
        </p:sp>
        <p:sp>
          <p:nvSpPr>
            <p:cNvPr id="252" name="Rectangle 250">
              <a:extLst>
                <a:ext uri="{FF2B5EF4-FFF2-40B4-BE49-F238E27FC236}">
                  <a16:creationId xmlns:a16="http://schemas.microsoft.com/office/drawing/2014/main" id="{2B89A871-D6B3-EB49-080D-A16CE4B55CEF}"/>
                </a:ext>
              </a:extLst>
            </p:cNvPr>
            <p:cNvSpPr>
              <a:spLocks noChangeArrowheads="1"/>
            </p:cNvSpPr>
            <p:nvPr/>
          </p:nvSpPr>
          <p:spPr bwMode="auto">
            <a:xfrm>
              <a:off x="4777" y="1464"/>
              <a:ext cx="549"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dirty="0">
                  <a:latin typeface="+mj-lt"/>
                </a:rPr>
                <a:t>Medium</a:t>
              </a:r>
            </a:p>
          </p:txBody>
        </p:sp>
        <p:sp>
          <p:nvSpPr>
            <p:cNvPr id="253" name="Rectangle 251">
              <a:extLst>
                <a:ext uri="{FF2B5EF4-FFF2-40B4-BE49-F238E27FC236}">
                  <a16:creationId xmlns:a16="http://schemas.microsoft.com/office/drawing/2014/main" id="{F4FBEE1C-8334-D8DD-3BDA-936EEA7BE299}"/>
                </a:ext>
              </a:extLst>
            </p:cNvPr>
            <p:cNvSpPr>
              <a:spLocks noChangeArrowheads="1"/>
            </p:cNvSpPr>
            <p:nvPr/>
          </p:nvSpPr>
          <p:spPr bwMode="auto">
            <a:xfrm>
              <a:off x="4777" y="1616"/>
              <a:ext cx="424"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mj-lt"/>
                </a:rPr>
                <a:t>Weak</a:t>
              </a:r>
            </a:p>
          </p:txBody>
        </p:sp>
        <p:sp>
          <p:nvSpPr>
            <p:cNvPr id="254" name="Oval 252">
              <a:extLst>
                <a:ext uri="{FF2B5EF4-FFF2-40B4-BE49-F238E27FC236}">
                  <a16:creationId xmlns:a16="http://schemas.microsoft.com/office/drawing/2014/main" id="{4602F2D1-99EB-1D3A-4101-9C41DAD7E067}"/>
                </a:ext>
              </a:extLst>
            </p:cNvPr>
            <p:cNvSpPr>
              <a:spLocks noChangeArrowheads="1"/>
            </p:cNvSpPr>
            <p:nvPr/>
          </p:nvSpPr>
          <p:spPr bwMode="auto">
            <a:xfrm>
              <a:off x="4701" y="1482"/>
              <a:ext cx="60" cy="63"/>
            </a:xfrm>
            <a:prstGeom prst="ellipse">
              <a:avLst/>
            </a:prstGeom>
            <a:noFill/>
            <a:ln w="127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grpSp>
          <p:nvGrpSpPr>
            <p:cNvPr id="255" name="Group 255">
              <a:extLst>
                <a:ext uri="{FF2B5EF4-FFF2-40B4-BE49-F238E27FC236}">
                  <a16:creationId xmlns:a16="http://schemas.microsoft.com/office/drawing/2014/main" id="{C4E56EC7-5F7D-FD36-E44A-C53AE49BA955}"/>
                </a:ext>
              </a:extLst>
            </p:cNvPr>
            <p:cNvGrpSpPr>
              <a:grpSpLocks/>
            </p:cNvGrpSpPr>
            <p:nvPr/>
          </p:nvGrpSpPr>
          <p:grpSpPr bwMode="auto">
            <a:xfrm>
              <a:off x="4697" y="1337"/>
              <a:ext cx="60" cy="64"/>
              <a:chOff x="4697" y="1337"/>
              <a:chExt cx="60" cy="64"/>
            </a:xfrm>
          </p:grpSpPr>
          <p:sp>
            <p:nvSpPr>
              <p:cNvPr id="261" name="Oval 253">
                <a:extLst>
                  <a:ext uri="{FF2B5EF4-FFF2-40B4-BE49-F238E27FC236}">
                    <a16:creationId xmlns:a16="http://schemas.microsoft.com/office/drawing/2014/main" id="{66D54889-7AF8-CD40-CE8C-E4F28AD02CAD}"/>
                  </a:ext>
                </a:extLst>
              </p:cNvPr>
              <p:cNvSpPr>
                <a:spLocks noChangeArrowheads="1"/>
              </p:cNvSpPr>
              <p:nvPr/>
            </p:nvSpPr>
            <p:spPr bwMode="auto">
              <a:xfrm>
                <a:off x="4697" y="1337"/>
                <a:ext cx="60" cy="64"/>
              </a:xfrm>
              <a:prstGeom prst="ellipse">
                <a:avLst/>
              </a:prstGeom>
              <a:noFill/>
              <a:ln w="127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262" name="Oval 254">
                <a:extLst>
                  <a:ext uri="{FF2B5EF4-FFF2-40B4-BE49-F238E27FC236}">
                    <a16:creationId xmlns:a16="http://schemas.microsoft.com/office/drawing/2014/main" id="{B6504ADF-0D3C-9C6E-5D2A-06CA579CFAC1}"/>
                  </a:ext>
                </a:extLst>
              </p:cNvPr>
              <p:cNvSpPr>
                <a:spLocks noChangeArrowheads="1"/>
              </p:cNvSpPr>
              <p:nvPr/>
            </p:nvSpPr>
            <p:spPr bwMode="auto">
              <a:xfrm>
                <a:off x="4714" y="1355"/>
                <a:ext cx="26" cy="29"/>
              </a:xfrm>
              <a:prstGeom prst="ellipse">
                <a:avLst/>
              </a:prstGeom>
              <a:noFill/>
              <a:ln w="127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grpSp>
        <p:sp>
          <p:nvSpPr>
            <p:cNvPr id="256" name="Rectangle 256">
              <a:extLst>
                <a:ext uri="{FF2B5EF4-FFF2-40B4-BE49-F238E27FC236}">
                  <a16:creationId xmlns:a16="http://schemas.microsoft.com/office/drawing/2014/main" id="{E260FB1B-89F3-1944-F68B-391520AB9BA4}"/>
                </a:ext>
              </a:extLst>
            </p:cNvPr>
            <p:cNvSpPr>
              <a:spLocks noChangeArrowheads="1"/>
            </p:cNvSpPr>
            <p:nvPr/>
          </p:nvSpPr>
          <p:spPr bwMode="auto">
            <a:xfrm>
              <a:off x="4441" y="1321"/>
              <a:ext cx="245"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mj-lt"/>
                </a:rPr>
                <a:t>+9</a:t>
              </a:r>
            </a:p>
          </p:txBody>
        </p:sp>
        <p:sp>
          <p:nvSpPr>
            <p:cNvPr id="257" name="Rectangle 257">
              <a:extLst>
                <a:ext uri="{FF2B5EF4-FFF2-40B4-BE49-F238E27FC236}">
                  <a16:creationId xmlns:a16="http://schemas.microsoft.com/office/drawing/2014/main" id="{E496E939-5821-3DC3-54B2-190A1DD65CB0}"/>
                </a:ext>
              </a:extLst>
            </p:cNvPr>
            <p:cNvSpPr>
              <a:spLocks noChangeArrowheads="1"/>
            </p:cNvSpPr>
            <p:nvPr/>
          </p:nvSpPr>
          <p:spPr bwMode="auto">
            <a:xfrm>
              <a:off x="4441" y="1464"/>
              <a:ext cx="245"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mj-lt"/>
                </a:rPr>
                <a:t>+3</a:t>
              </a:r>
            </a:p>
          </p:txBody>
        </p:sp>
        <p:sp>
          <p:nvSpPr>
            <p:cNvPr id="258" name="Rectangle 258">
              <a:extLst>
                <a:ext uri="{FF2B5EF4-FFF2-40B4-BE49-F238E27FC236}">
                  <a16:creationId xmlns:a16="http://schemas.microsoft.com/office/drawing/2014/main" id="{D7B48378-0EAD-AD48-8A50-4E74F5D2FB64}"/>
                </a:ext>
              </a:extLst>
            </p:cNvPr>
            <p:cNvSpPr>
              <a:spLocks noChangeArrowheads="1"/>
            </p:cNvSpPr>
            <p:nvPr/>
          </p:nvSpPr>
          <p:spPr bwMode="auto">
            <a:xfrm>
              <a:off x="4435" y="1286"/>
              <a:ext cx="891" cy="521"/>
            </a:xfrm>
            <a:prstGeom prst="rect">
              <a:avLst/>
            </a:prstGeom>
            <a:noFill/>
            <a:ln w="12700">
              <a:solidFill>
                <a:srgbClr val="C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259" name="Rectangle 259">
              <a:extLst>
                <a:ext uri="{FF2B5EF4-FFF2-40B4-BE49-F238E27FC236}">
                  <a16:creationId xmlns:a16="http://schemas.microsoft.com/office/drawing/2014/main" id="{1AADB2CE-2DD7-1493-BBFA-B1FFFEC78C70}"/>
                </a:ext>
              </a:extLst>
            </p:cNvPr>
            <p:cNvSpPr>
              <a:spLocks noChangeArrowheads="1"/>
            </p:cNvSpPr>
            <p:nvPr/>
          </p:nvSpPr>
          <p:spPr bwMode="auto">
            <a:xfrm>
              <a:off x="4441" y="1616"/>
              <a:ext cx="245"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mj-lt"/>
                </a:rPr>
                <a:t>+1</a:t>
              </a:r>
            </a:p>
          </p:txBody>
        </p:sp>
        <p:sp>
          <p:nvSpPr>
            <p:cNvPr id="260" name="AutoShape 260">
              <a:extLst>
                <a:ext uri="{FF2B5EF4-FFF2-40B4-BE49-F238E27FC236}">
                  <a16:creationId xmlns:a16="http://schemas.microsoft.com/office/drawing/2014/main" id="{137D42E4-269D-1634-9CE4-CFFEFF98CFF0}"/>
                </a:ext>
              </a:extLst>
            </p:cNvPr>
            <p:cNvSpPr>
              <a:spLocks noChangeArrowheads="1"/>
            </p:cNvSpPr>
            <p:nvPr/>
          </p:nvSpPr>
          <p:spPr bwMode="auto">
            <a:xfrm>
              <a:off x="4704" y="1632"/>
              <a:ext cx="60" cy="64"/>
            </a:xfrm>
            <a:prstGeom prst="triangle">
              <a:avLst>
                <a:gd name="adj" fmla="val 49995"/>
              </a:avLst>
            </a:prstGeom>
            <a:noFill/>
            <a:ln w="12700">
              <a:solidFill>
                <a:srgbClr val="C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grpSp>
      <p:grpSp>
        <p:nvGrpSpPr>
          <p:cNvPr id="263" name="Group 283">
            <a:extLst>
              <a:ext uri="{FF2B5EF4-FFF2-40B4-BE49-F238E27FC236}">
                <a16:creationId xmlns:a16="http://schemas.microsoft.com/office/drawing/2014/main" id="{852C535B-B55B-2ACB-85F2-B9A6F4AAE5D3}"/>
              </a:ext>
            </a:extLst>
          </p:cNvPr>
          <p:cNvGrpSpPr>
            <a:grpSpLocks/>
          </p:cNvGrpSpPr>
          <p:nvPr/>
        </p:nvGrpSpPr>
        <p:grpSpPr bwMode="auto">
          <a:xfrm>
            <a:off x="295275" y="2728913"/>
            <a:ext cx="2116138" cy="1100137"/>
            <a:chOff x="186" y="1719"/>
            <a:chExt cx="1333" cy="693"/>
          </a:xfrm>
        </p:grpSpPr>
        <p:sp>
          <p:nvSpPr>
            <p:cNvPr id="264" name="Rectangle 262">
              <a:extLst>
                <a:ext uri="{FF2B5EF4-FFF2-40B4-BE49-F238E27FC236}">
                  <a16:creationId xmlns:a16="http://schemas.microsoft.com/office/drawing/2014/main" id="{45BD380F-CFA8-3356-4BC4-AA39AF7C292E}"/>
                </a:ext>
              </a:extLst>
            </p:cNvPr>
            <p:cNvSpPr>
              <a:spLocks noChangeArrowheads="1"/>
            </p:cNvSpPr>
            <p:nvPr/>
          </p:nvSpPr>
          <p:spPr bwMode="auto">
            <a:xfrm>
              <a:off x="529" y="1783"/>
              <a:ext cx="944"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mj-lt"/>
                </a:rPr>
                <a:t>Strong Positive</a:t>
              </a:r>
            </a:p>
          </p:txBody>
        </p:sp>
        <p:sp>
          <p:nvSpPr>
            <p:cNvPr id="265" name="Rectangle 263">
              <a:extLst>
                <a:ext uri="{FF2B5EF4-FFF2-40B4-BE49-F238E27FC236}">
                  <a16:creationId xmlns:a16="http://schemas.microsoft.com/office/drawing/2014/main" id="{1E9E7776-1FAA-03DB-C97F-A64F8273A81B}"/>
                </a:ext>
              </a:extLst>
            </p:cNvPr>
            <p:cNvSpPr>
              <a:spLocks noChangeArrowheads="1"/>
            </p:cNvSpPr>
            <p:nvPr/>
          </p:nvSpPr>
          <p:spPr bwMode="auto">
            <a:xfrm>
              <a:off x="528" y="1926"/>
              <a:ext cx="522"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mj-lt"/>
                </a:rPr>
                <a:t>Positive</a:t>
              </a:r>
            </a:p>
          </p:txBody>
        </p:sp>
        <p:sp>
          <p:nvSpPr>
            <p:cNvPr id="266" name="Rectangle 264">
              <a:extLst>
                <a:ext uri="{FF2B5EF4-FFF2-40B4-BE49-F238E27FC236}">
                  <a16:creationId xmlns:a16="http://schemas.microsoft.com/office/drawing/2014/main" id="{1AF0F43F-18BB-DAAE-2CE1-B2541D67531F}"/>
                </a:ext>
              </a:extLst>
            </p:cNvPr>
            <p:cNvSpPr>
              <a:spLocks noChangeArrowheads="1"/>
            </p:cNvSpPr>
            <p:nvPr/>
          </p:nvSpPr>
          <p:spPr bwMode="auto">
            <a:xfrm>
              <a:off x="528" y="2078"/>
              <a:ext cx="587"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mj-lt"/>
                </a:rPr>
                <a:t>Negative</a:t>
              </a:r>
            </a:p>
          </p:txBody>
        </p:sp>
        <p:sp>
          <p:nvSpPr>
            <p:cNvPr id="267" name="Oval 265">
              <a:extLst>
                <a:ext uri="{FF2B5EF4-FFF2-40B4-BE49-F238E27FC236}">
                  <a16:creationId xmlns:a16="http://schemas.microsoft.com/office/drawing/2014/main" id="{51334851-CFA9-9B62-6B71-0F54A52676C1}"/>
                </a:ext>
              </a:extLst>
            </p:cNvPr>
            <p:cNvSpPr>
              <a:spLocks noChangeArrowheads="1"/>
            </p:cNvSpPr>
            <p:nvPr/>
          </p:nvSpPr>
          <p:spPr bwMode="auto">
            <a:xfrm>
              <a:off x="452" y="1944"/>
              <a:ext cx="59" cy="64"/>
            </a:xfrm>
            <a:prstGeom prst="ellipse">
              <a:avLst/>
            </a:prstGeom>
            <a:noFill/>
            <a:ln w="127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grpSp>
          <p:nvGrpSpPr>
            <p:cNvPr id="268" name="Group 268">
              <a:extLst>
                <a:ext uri="{FF2B5EF4-FFF2-40B4-BE49-F238E27FC236}">
                  <a16:creationId xmlns:a16="http://schemas.microsoft.com/office/drawing/2014/main" id="{7FEFE4D6-9620-77EC-D7C5-E7F5DB7F0E38}"/>
                </a:ext>
              </a:extLst>
            </p:cNvPr>
            <p:cNvGrpSpPr>
              <a:grpSpLocks/>
            </p:cNvGrpSpPr>
            <p:nvPr/>
          </p:nvGrpSpPr>
          <p:grpSpPr bwMode="auto">
            <a:xfrm>
              <a:off x="448" y="1799"/>
              <a:ext cx="59" cy="64"/>
              <a:chOff x="448" y="1799"/>
              <a:chExt cx="59" cy="64"/>
            </a:xfrm>
          </p:grpSpPr>
          <p:sp>
            <p:nvSpPr>
              <p:cNvPr id="283" name="Oval 266">
                <a:extLst>
                  <a:ext uri="{FF2B5EF4-FFF2-40B4-BE49-F238E27FC236}">
                    <a16:creationId xmlns:a16="http://schemas.microsoft.com/office/drawing/2014/main" id="{67B5E7F6-8784-5708-6496-C6562711B466}"/>
                  </a:ext>
                </a:extLst>
              </p:cNvPr>
              <p:cNvSpPr>
                <a:spLocks noChangeArrowheads="1"/>
              </p:cNvSpPr>
              <p:nvPr/>
            </p:nvSpPr>
            <p:spPr bwMode="auto">
              <a:xfrm>
                <a:off x="448" y="1799"/>
                <a:ext cx="59" cy="64"/>
              </a:xfrm>
              <a:prstGeom prst="ellipse">
                <a:avLst/>
              </a:prstGeom>
              <a:noFill/>
              <a:ln w="127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sp>
            <p:nvSpPr>
              <p:cNvPr id="284" name="Oval 267">
                <a:extLst>
                  <a:ext uri="{FF2B5EF4-FFF2-40B4-BE49-F238E27FC236}">
                    <a16:creationId xmlns:a16="http://schemas.microsoft.com/office/drawing/2014/main" id="{273185F9-2BE0-27FF-4A02-92B05DB33F7C}"/>
                  </a:ext>
                </a:extLst>
              </p:cNvPr>
              <p:cNvSpPr>
                <a:spLocks noChangeArrowheads="1"/>
              </p:cNvSpPr>
              <p:nvPr/>
            </p:nvSpPr>
            <p:spPr bwMode="auto">
              <a:xfrm>
                <a:off x="465" y="1817"/>
                <a:ext cx="25" cy="30"/>
              </a:xfrm>
              <a:prstGeom prst="ellipse">
                <a:avLst/>
              </a:prstGeom>
              <a:noFill/>
              <a:ln w="127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grpSp>
        <p:grpSp>
          <p:nvGrpSpPr>
            <p:cNvPr id="269" name="Group 273">
              <a:extLst>
                <a:ext uri="{FF2B5EF4-FFF2-40B4-BE49-F238E27FC236}">
                  <a16:creationId xmlns:a16="http://schemas.microsoft.com/office/drawing/2014/main" id="{7C890B63-31E2-8398-199E-87CDF6C8BC30}"/>
                </a:ext>
              </a:extLst>
            </p:cNvPr>
            <p:cNvGrpSpPr>
              <a:grpSpLocks/>
            </p:cNvGrpSpPr>
            <p:nvPr/>
          </p:nvGrpSpPr>
          <p:grpSpPr bwMode="auto">
            <a:xfrm>
              <a:off x="452" y="2225"/>
              <a:ext cx="68" cy="71"/>
              <a:chOff x="452" y="2225"/>
              <a:chExt cx="68" cy="71"/>
            </a:xfrm>
          </p:grpSpPr>
          <p:sp>
            <p:nvSpPr>
              <p:cNvPr id="279" name="Line 269">
                <a:extLst>
                  <a:ext uri="{FF2B5EF4-FFF2-40B4-BE49-F238E27FC236}">
                    <a16:creationId xmlns:a16="http://schemas.microsoft.com/office/drawing/2014/main" id="{6523B3C6-B2C9-C3A4-CEF3-048EE5010CE4}"/>
                  </a:ext>
                </a:extLst>
              </p:cNvPr>
              <p:cNvSpPr>
                <a:spLocks noChangeShapeType="1"/>
              </p:cNvSpPr>
              <p:nvPr/>
            </p:nvSpPr>
            <p:spPr bwMode="auto">
              <a:xfrm>
                <a:off x="452" y="2260"/>
                <a:ext cx="68"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80" name="Line 270">
                <a:extLst>
                  <a:ext uri="{FF2B5EF4-FFF2-40B4-BE49-F238E27FC236}">
                    <a16:creationId xmlns:a16="http://schemas.microsoft.com/office/drawing/2014/main" id="{B722BD29-AB0D-F0FC-DAC6-08422AE6A279}"/>
                  </a:ext>
                </a:extLst>
              </p:cNvPr>
              <p:cNvSpPr>
                <a:spLocks noChangeShapeType="1"/>
              </p:cNvSpPr>
              <p:nvPr/>
            </p:nvSpPr>
            <p:spPr bwMode="auto">
              <a:xfrm>
                <a:off x="486" y="2225"/>
                <a:ext cx="0" cy="71"/>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81" name="Line 271">
                <a:extLst>
                  <a:ext uri="{FF2B5EF4-FFF2-40B4-BE49-F238E27FC236}">
                    <a16:creationId xmlns:a16="http://schemas.microsoft.com/office/drawing/2014/main" id="{DFC6ED0E-0BA1-B7A8-2B11-60F15AE57EDA}"/>
                  </a:ext>
                </a:extLst>
              </p:cNvPr>
              <p:cNvSpPr>
                <a:spLocks noChangeShapeType="1"/>
              </p:cNvSpPr>
              <p:nvPr/>
            </p:nvSpPr>
            <p:spPr bwMode="auto">
              <a:xfrm flipV="1">
                <a:off x="452" y="2225"/>
                <a:ext cx="68" cy="71"/>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82" name="Line 272">
                <a:extLst>
                  <a:ext uri="{FF2B5EF4-FFF2-40B4-BE49-F238E27FC236}">
                    <a16:creationId xmlns:a16="http://schemas.microsoft.com/office/drawing/2014/main" id="{93666E06-4AE8-3477-05C4-86A8CBEA0118}"/>
                  </a:ext>
                </a:extLst>
              </p:cNvPr>
              <p:cNvSpPr>
                <a:spLocks noChangeShapeType="1"/>
              </p:cNvSpPr>
              <p:nvPr/>
            </p:nvSpPr>
            <p:spPr bwMode="auto">
              <a:xfrm flipH="1" flipV="1">
                <a:off x="452" y="2225"/>
                <a:ext cx="68" cy="71"/>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grpSp>
        <p:grpSp>
          <p:nvGrpSpPr>
            <p:cNvPr id="270" name="Group 276">
              <a:extLst>
                <a:ext uri="{FF2B5EF4-FFF2-40B4-BE49-F238E27FC236}">
                  <a16:creationId xmlns:a16="http://schemas.microsoft.com/office/drawing/2014/main" id="{AD2C9A72-2772-F6D9-EDFD-01C8EC5E6B1E}"/>
                </a:ext>
              </a:extLst>
            </p:cNvPr>
            <p:cNvGrpSpPr>
              <a:grpSpLocks/>
            </p:cNvGrpSpPr>
            <p:nvPr/>
          </p:nvGrpSpPr>
          <p:grpSpPr bwMode="auto">
            <a:xfrm>
              <a:off x="452" y="2082"/>
              <a:ext cx="68" cy="71"/>
              <a:chOff x="452" y="2082"/>
              <a:chExt cx="68" cy="71"/>
            </a:xfrm>
          </p:grpSpPr>
          <p:sp>
            <p:nvSpPr>
              <p:cNvPr id="277" name="Line 274">
                <a:extLst>
                  <a:ext uri="{FF2B5EF4-FFF2-40B4-BE49-F238E27FC236}">
                    <a16:creationId xmlns:a16="http://schemas.microsoft.com/office/drawing/2014/main" id="{9CD0BF24-9B02-3571-FDA1-76A0D44CBC11}"/>
                  </a:ext>
                </a:extLst>
              </p:cNvPr>
              <p:cNvSpPr>
                <a:spLocks noChangeShapeType="1"/>
              </p:cNvSpPr>
              <p:nvPr/>
            </p:nvSpPr>
            <p:spPr bwMode="auto">
              <a:xfrm flipV="1">
                <a:off x="452" y="2082"/>
                <a:ext cx="68" cy="71"/>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sp>
            <p:nvSpPr>
              <p:cNvPr id="278" name="Line 275">
                <a:extLst>
                  <a:ext uri="{FF2B5EF4-FFF2-40B4-BE49-F238E27FC236}">
                    <a16:creationId xmlns:a16="http://schemas.microsoft.com/office/drawing/2014/main" id="{14E1DD17-91E3-119D-7598-051A51632232}"/>
                  </a:ext>
                </a:extLst>
              </p:cNvPr>
              <p:cNvSpPr>
                <a:spLocks noChangeShapeType="1"/>
              </p:cNvSpPr>
              <p:nvPr/>
            </p:nvSpPr>
            <p:spPr bwMode="auto">
              <a:xfrm flipH="1" flipV="1">
                <a:off x="452" y="2082"/>
                <a:ext cx="68" cy="71"/>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latin typeface="+mj-lt"/>
                </a:endParaRPr>
              </a:p>
            </p:txBody>
          </p:sp>
        </p:grpSp>
        <p:sp>
          <p:nvSpPr>
            <p:cNvPr id="271" name="Rectangle 277">
              <a:extLst>
                <a:ext uri="{FF2B5EF4-FFF2-40B4-BE49-F238E27FC236}">
                  <a16:creationId xmlns:a16="http://schemas.microsoft.com/office/drawing/2014/main" id="{92ED64A2-4194-3DE5-F4CB-EF06D2D96F57}"/>
                </a:ext>
              </a:extLst>
            </p:cNvPr>
            <p:cNvSpPr>
              <a:spLocks noChangeArrowheads="1"/>
            </p:cNvSpPr>
            <p:nvPr/>
          </p:nvSpPr>
          <p:spPr bwMode="auto">
            <a:xfrm>
              <a:off x="529" y="2212"/>
              <a:ext cx="981" cy="16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mj-lt"/>
                </a:rPr>
                <a:t>Strong Negative</a:t>
              </a:r>
            </a:p>
          </p:txBody>
        </p:sp>
        <p:sp>
          <p:nvSpPr>
            <p:cNvPr id="272" name="Rectangle 278">
              <a:extLst>
                <a:ext uri="{FF2B5EF4-FFF2-40B4-BE49-F238E27FC236}">
                  <a16:creationId xmlns:a16="http://schemas.microsoft.com/office/drawing/2014/main" id="{888385F5-14D3-AEEB-2C6C-D3B62026F6F7}"/>
                </a:ext>
              </a:extLst>
            </p:cNvPr>
            <p:cNvSpPr>
              <a:spLocks noChangeArrowheads="1"/>
            </p:cNvSpPr>
            <p:nvPr/>
          </p:nvSpPr>
          <p:spPr bwMode="auto">
            <a:xfrm>
              <a:off x="191" y="1783"/>
              <a:ext cx="245" cy="16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mj-lt"/>
                </a:rPr>
                <a:t>+9</a:t>
              </a:r>
            </a:p>
          </p:txBody>
        </p:sp>
        <p:sp>
          <p:nvSpPr>
            <p:cNvPr id="273" name="Rectangle 279">
              <a:extLst>
                <a:ext uri="{FF2B5EF4-FFF2-40B4-BE49-F238E27FC236}">
                  <a16:creationId xmlns:a16="http://schemas.microsoft.com/office/drawing/2014/main" id="{3854ED3A-21CD-57AC-9C10-1E109A3C73ED}"/>
                </a:ext>
              </a:extLst>
            </p:cNvPr>
            <p:cNvSpPr>
              <a:spLocks noChangeArrowheads="1"/>
            </p:cNvSpPr>
            <p:nvPr/>
          </p:nvSpPr>
          <p:spPr bwMode="auto">
            <a:xfrm>
              <a:off x="191" y="1926"/>
              <a:ext cx="245" cy="16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mj-lt"/>
                </a:rPr>
                <a:t>+3</a:t>
              </a:r>
            </a:p>
          </p:txBody>
        </p:sp>
        <p:sp>
          <p:nvSpPr>
            <p:cNvPr id="274" name="Rectangle 280">
              <a:extLst>
                <a:ext uri="{FF2B5EF4-FFF2-40B4-BE49-F238E27FC236}">
                  <a16:creationId xmlns:a16="http://schemas.microsoft.com/office/drawing/2014/main" id="{0B73F99B-849E-0E60-BC1B-9756C4ADC40D}"/>
                </a:ext>
              </a:extLst>
            </p:cNvPr>
            <p:cNvSpPr>
              <a:spLocks noChangeArrowheads="1"/>
            </p:cNvSpPr>
            <p:nvPr/>
          </p:nvSpPr>
          <p:spPr bwMode="auto">
            <a:xfrm>
              <a:off x="214" y="2069"/>
              <a:ext cx="217" cy="16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mj-lt"/>
                </a:rPr>
                <a:t>-3</a:t>
              </a:r>
            </a:p>
          </p:txBody>
        </p:sp>
        <p:sp>
          <p:nvSpPr>
            <p:cNvPr id="275" name="Rectangle 281">
              <a:extLst>
                <a:ext uri="{FF2B5EF4-FFF2-40B4-BE49-F238E27FC236}">
                  <a16:creationId xmlns:a16="http://schemas.microsoft.com/office/drawing/2014/main" id="{B884E78C-0ABF-ED48-85AE-696372CCDCB5}"/>
                </a:ext>
              </a:extLst>
            </p:cNvPr>
            <p:cNvSpPr>
              <a:spLocks noChangeArrowheads="1"/>
            </p:cNvSpPr>
            <p:nvPr/>
          </p:nvSpPr>
          <p:spPr bwMode="auto">
            <a:xfrm>
              <a:off x="214" y="2212"/>
              <a:ext cx="217" cy="16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pPr>
              <a:r>
                <a:rPr lang="en-US" altLang="en-US" sz="1400" b="1">
                  <a:latin typeface="+mj-lt"/>
                </a:rPr>
                <a:t>-9</a:t>
              </a:r>
            </a:p>
          </p:txBody>
        </p:sp>
        <p:sp>
          <p:nvSpPr>
            <p:cNvPr id="276" name="Rectangle 282">
              <a:extLst>
                <a:ext uri="{FF2B5EF4-FFF2-40B4-BE49-F238E27FC236}">
                  <a16:creationId xmlns:a16="http://schemas.microsoft.com/office/drawing/2014/main" id="{833E0F4F-21C7-82A8-04D7-5958DDE8E24F}"/>
                </a:ext>
              </a:extLst>
            </p:cNvPr>
            <p:cNvSpPr>
              <a:spLocks noChangeArrowheads="1"/>
            </p:cNvSpPr>
            <p:nvPr/>
          </p:nvSpPr>
          <p:spPr bwMode="auto">
            <a:xfrm>
              <a:off x="186" y="1719"/>
              <a:ext cx="1333" cy="693"/>
            </a:xfrm>
            <a:prstGeom prst="rect">
              <a:avLst/>
            </a:prstGeom>
            <a:noFill/>
            <a:ln w="12700">
              <a:solidFill>
                <a:srgbClr val="C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N" altLang="en-US">
                <a:latin typeface="+mj-lt"/>
              </a:endParaRPr>
            </a:p>
          </p:txBody>
        </p:sp>
      </p:grpSp>
      <p:sp>
        <p:nvSpPr>
          <p:cNvPr id="285" name="Rectangle 284">
            <a:extLst>
              <a:ext uri="{FF2B5EF4-FFF2-40B4-BE49-F238E27FC236}">
                <a16:creationId xmlns:a16="http://schemas.microsoft.com/office/drawing/2014/main" id="{459293B0-F51E-CCE5-FACD-2F54420FA30E}"/>
              </a:ext>
            </a:extLst>
          </p:cNvPr>
          <p:cNvSpPr>
            <a:spLocks noChangeArrowheads="1"/>
          </p:cNvSpPr>
          <p:nvPr/>
        </p:nvSpPr>
        <p:spPr bwMode="auto">
          <a:xfrm>
            <a:off x="5327" y="1539875"/>
            <a:ext cx="2673809" cy="107786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600" b="1">
                <a:latin typeface="+mj-lt"/>
              </a:rPr>
              <a:t>Interrelationship between</a:t>
            </a:r>
          </a:p>
          <a:p>
            <a:pPr algn="ctr"/>
            <a:r>
              <a:rPr lang="en-US" altLang="en-US" sz="1600" b="1">
                <a:latin typeface="+mj-lt"/>
              </a:rPr>
              <a:t>Technical Descriptors</a:t>
            </a:r>
          </a:p>
          <a:p>
            <a:pPr algn="ctr"/>
            <a:r>
              <a:rPr lang="en-US" altLang="en-US" sz="1600" b="1">
                <a:latin typeface="+mj-lt"/>
              </a:rPr>
              <a:t>(correlation matrix)</a:t>
            </a:r>
          </a:p>
          <a:p>
            <a:pPr algn="ctr"/>
            <a:r>
              <a:rPr lang="en-US" altLang="en-US" sz="1600" b="1">
                <a:latin typeface="+mj-lt"/>
              </a:rPr>
              <a:t>HOWs vs. HOWs</a:t>
            </a:r>
          </a:p>
        </p:txBody>
      </p:sp>
    </p:spTree>
    <p:extLst>
      <p:ext uri="{BB962C8B-B14F-4D97-AF65-F5344CB8AC3E}">
        <p14:creationId xmlns:p14="http://schemas.microsoft.com/office/powerpoint/2010/main" val="8447544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602" y="196170"/>
            <a:ext cx="4784346"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IN" dirty="0">
                <a:latin typeface="+mj-lt"/>
              </a:rPr>
              <a:t>QFD Summary</a:t>
            </a:r>
          </a:p>
        </p:txBody>
      </p:sp>
      <p:sp>
        <p:nvSpPr>
          <p:cNvPr id="4" name="Rectangle 3">
            <a:extLst>
              <a:ext uri="{FF2B5EF4-FFF2-40B4-BE49-F238E27FC236}">
                <a16:creationId xmlns:a16="http://schemas.microsoft.com/office/drawing/2014/main" id="{E4B2A806-BF0B-AD40-2226-D457DF532FDC}"/>
              </a:ext>
            </a:extLst>
          </p:cNvPr>
          <p:cNvSpPr txBox="1">
            <a:spLocks noChangeArrowheads="1"/>
          </p:cNvSpPr>
          <p:nvPr/>
        </p:nvSpPr>
        <p:spPr>
          <a:xfrm>
            <a:off x="929148" y="1189703"/>
            <a:ext cx="8610600" cy="4114800"/>
          </a:xfrm>
          <a:prstGeom prst="rect">
            <a:avLst/>
          </a:prstGeom>
          <a:no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800">
                <a:latin typeface="+mj-lt"/>
              </a:rPr>
              <a:t>Orderly Way Of Obtaining Information &amp; Presenting It</a:t>
            </a:r>
          </a:p>
          <a:p>
            <a:r>
              <a:rPr lang="en-US" altLang="en-US" sz="2800">
                <a:latin typeface="+mj-lt"/>
              </a:rPr>
              <a:t>Shorter Product Development Cycle</a:t>
            </a:r>
          </a:p>
          <a:p>
            <a:r>
              <a:rPr lang="en-US" altLang="en-US" sz="2800">
                <a:latin typeface="+mj-lt"/>
              </a:rPr>
              <a:t>Considerably Reduced Start-Up Costs</a:t>
            </a:r>
          </a:p>
          <a:p>
            <a:r>
              <a:rPr lang="en-US" altLang="en-US" sz="2800">
                <a:latin typeface="+mj-lt"/>
              </a:rPr>
              <a:t>Fewer Engineering Changes</a:t>
            </a:r>
          </a:p>
          <a:p>
            <a:r>
              <a:rPr lang="en-US" altLang="en-US" sz="2800">
                <a:latin typeface="+mj-lt"/>
              </a:rPr>
              <a:t>Reduced Chance Of Oversights During Design Process</a:t>
            </a:r>
          </a:p>
          <a:p>
            <a:r>
              <a:rPr lang="en-US" altLang="en-US" sz="2800">
                <a:latin typeface="+mj-lt"/>
              </a:rPr>
              <a:t>Environment Of Teamwork</a:t>
            </a:r>
          </a:p>
          <a:p>
            <a:r>
              <a:rPr lang="en-US" altLang="en-US" sz="2800">
                <a:latin typeface="+mj-lt"/>
              </a:rPr>
              <a:t>Consensus Decisions</a:t>
            </a:r>
          </a:p>
          <a:p>
            <a:r>
              <a:rPr lang="en-US" altLang="en-US" sz="2800">
                <a:latin typeface="+mj-lt"/>
              </a:rPr>
              <a:t>Preserves Everything In Writing</a:t>
            </a:r>
            <a:endParaRPr lang="en-US" altLang="en-US" sz="2800" dirty="0">
              <a:latin typeface="+mj-lt"/>
            </a:endParaRPr>
          </a:p>
        </p:txBody>
      </p:sp>
    </p:spTree>
    <p:extLst>
      <p:ext uri="{BB962C8B-B14F-4D97-AF65-F5344CB8AC3E}">
        <p14:creationId xmlns:p14="http://schemas.microsoft.com/office/powerpoint/2010/main" val="20558834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18BD9B-EA7E-2CCC-E01E-8956D2402061}"/>
              </a:ext>
            </a:extLst>
          </p:cNvPr>
          <p:cNvSpPr>
            <a:spLocks noGrp="1"/>
          </p:cNvSpPr>
          <p:nvPr>
            <p:ph type="title"/>
          </p:nvPr>
        </p:nvSpPr>
        <p:spPr/>
        <p:txBody>
          <a:bodyPr/>
          <a:lstStyle/>
          <a:p>
            <a:r>
              <a:rPr lang="en-IN" dirty="0"/>
              <a:t>QFD Example</a:t>
            </a:r>
          </a:p>
        </p:txBody>
      </p:sp>
      <p:pic>
        <p:nvPicPr>
          <p:cNvPr id="1026" name="Picture 2" descr="House of Quality for Helmet Company XYZ">
            <a:extLst>
              <a:ext uri="{FF2B5EF4-FFF2-40B4-BE49-F238E27FC236}">
                <a16:creationId xmlns:a16="http://schemas.microsoft.com/office/drawing/2014/main" id="{E59F35B7-7EED-3B32-41F7-D58D1F5C0D1D}"/>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978784" y="1433512"/>
            <a:ext cx="5136516" cy="44602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883403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9F519-6CEC-B22A-B959-618A3CD55F1F}"/>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EAEBD9B7-D1A7-0192-1A9C-8E9CE4E6E383}"/>
              </a:ext>
            </a:extLst>
          </p:cNvPr>
          <p:cNvSpPr>
            <a:spLocks noGrp="1"/>
          </p:cNvSpPr>
          <p:nvPr>
            <p:ph type="subTitle" idx="4"/>
          </p:nvPr>
        </p:nvSpPr>
        <p:spPr/>
        <p:txBody>
          <a:bodyPr/>
          <a:lstStyle/>
          <a:p>
            <a:endParaRPr lang="en-IN"/>
          </a:p>
        </p:txBody>
      </p:sp>
    </p:spTree>
    <p:extLst>
      <p:ext uri="{BB962C8B-B14F-4D97-AF65-F5344CB8AC3E}">
        <p14:creationId xmlns:p14="http://schemas.microsoft.com/office/powerpoint/2010/main" val="17044343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735346" y="2800623"/>
            <a:ext cx="8396795" cy="628377"/>
          </a:xfrm>
          <a:prstGeom prst="rect">
            <a:avLst/>
          </a:prstGeom>
          <a:solidFill>
            <a:srgbClr val="AF1D4A"/>
          </a:solidFill>
        </p:spPr>
        <p:txBody>
          <a:bodyPr vert="horz" wrap="square" lIns="0" tIns="12700" rIns="0" bIns="0" rtlCol="0" anchor="ctr">
            <a:spAutoFit/>
          </a:bodyPr>
          <a:lstStyle>
            <a:lvl1pPr marL="12700">
              <a:lnSpc>
                <a:spcPct val="100000"/>
              </a:lnSpc>
              <a:spcBef>
                <a:spcPts val="100"/>
              </a:spcBef>
              <a:buNone/>
              <a:defRPr sz="4000" b="1" spc="-5">
                <a:solidFill>
                  <a:schemeClr val="bg1"/>
                </a:solidFill>
                <a:latin typeface="Arial" panose="020B0604020202020204" pitchFamily="34" charset="0"/>
                <a:ea typeface="+mj-ea"/>
                <a:cs typeface="Arial" panose="020B0604020202020204" pitchFamily="34" charset="0"/>
              </a:defRPr>
            </a:lvl1pPr>
          </a:lstStyle>
          <a:p>
            <a:pPr algn="ctr"/>
            <a:r>
              <a:rPr lang="en-US" dirty="0"/>
              <a:t>THANK YOU!!!</a:t>
            </a:r>
          </a:p>
        </p:txBody>
      </p:sp>
    </p:spTree>
    <p:extLst>
      <p:ext uri="{BB962C8B-B14F-4D97-AF65-F5344CB8AC3E}">
        <p14:creationId xmlns:p14="http://schemas.microsoft.com/office/powerpoint/2010/main" val="3061991155"/>
      </p:ext>
    </p:extLst>
  </p:cSld>
  <p:clrMapOvr>
    <a:masterClrMapping/>
  </p:clrMapOvr>
</p:sld>
</file>

<file path=ppt/theme/theme1.xml><?xml version="1.0" encoding="utf-8"?>
<a:theme xmlns:a="http://schemas.openxmlformats.org/drawingml/2006/main" name="1_Office Theme">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ill Sans MT">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mrita Digital Campus V1.0" id="{58E84EBF-3C9A-46FA-AC67-01E514AB1B2B}" vid="{BF34DAB5-A2D4-47C4-AD4E-D8DB5419BE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2CA67C528DC284E8073580C98E8539C" ma:contentTypeVersion="10" ma:contentTypeDescription="Create a new document." ma:contentTypeScope="" ma:versionID="107b615047e9376b6c55e1e5aaead638">
  <xsd:schema xmlns:xsd="http://www.w3.org/2001/XMLSchema" xmlns:xs="http://www.w3.org/2001/XMLSchema" xmlns:p="http://schemas.microsoft.com/office/2006/metadata/properties" xmlns:ns2="0107a115-4623-4481-beee-bafad199008b" xmlns:ns3="7a2a247a-f6ec-4c8f-8314-d83500b08c54" targetNamespace="http://schemas.microsoft.com/office/2006/metadata/properties" ma:root="true" ma:fieldsID="508cbe6b2b3f672b12342e56415e841d" ns2:_="" ns3:_="">
    <xsd:import namespace="0107a115-4623-4481-beee-bafad199008b"/>
    <xsd:import namespace="7a2a247a-f6ec-4c8f-8314-d83500b08c54"/>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107a115-4623-4481-beee-bafad199008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a2a247a-f6ec-4c8f-8314-d83500b08c54"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32C674B-ACDE-455C-BA7E-ACC458E5BC04}">
  <ds:schemaRefs>
    <ds:schemaRef ds:uri="0107a115-4623-4481-beee-bafad199008b"/>
    <ds:schemaRef ds:uri="http://www.w3.org/XML/1998/namespace"/>
    <ds:schemaRef ds:uri="http://purl.org/dc/dcmitype/"/>
    <ds:schemaRef ds:uri="http://schemas.microsoft.com/office/2006/metadata/properties"/>
    <ds:schemaRef ds:uri="http://schemas.microsoft.com/office/2006/documentManagement/types"/>
    <ds:schemaRef ds:uri="http://purl.org/dc/terms/"/>
    <ds:schemaRef ds:uri="http://schemas.microsoft.com/office/infopath/2007/PartnerControls"/>
    <ds:schemaRef ds:uri="http://schemas.openxmlformats.org/package/2006/metadata/core-properties"/>
    <ds:schemaRef ds:uri="7a2a247a-f6ec-4c8f-8314-d83500b08c54"/>
    <ds:schemaRef ds:uri="http://purl.org/dc/elements/1.1/"/>
  </ds:schemaRefs>
</ds:datastoreItem>
</file>

<file path=customXml/itemProps2.xml><?xml version="1.0" encoding="utf-8"?>
<ds:datastoreItem xmlns:ds="http://schemas.openxmlformats.org/officeDocument/2006/customXml" ds:itemID="{B5309BE7-B587-43F4-8592-76B39C023D29}">
  <ds:schemaRefs>
    <ds:schemaRef ds:uri="http://schemas.microsoft.com/sharepoint/v3/contenttype/forms"/>
  </ds:schemaRefs>
</ds:datastoreItem>
</file>

<file path=customXml/itemProps3.xml><?xml version="1.0" encoding="utf-8"?>
<ds:datastoreItem xmlns:ds="http://schemas.openxmlformats.org/officeDocument/2006/customXml" ds:itemID="{AA29E35A-EF86-49DD-8023-556F66FCE6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107a115-4623-4481-beee-bafad199008b"/>
    <ds:schemaRef ds:uri="7a2a247a-f6ec-4c8f-8314-d83500b08c5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47053</TotalTime>
  <Words>1260</Words>
  <Application>Microsoft Office PowerPoint</Application>
  <PresentationFormat>Widescreen</PresentationFormat>
  <Paragraphs>508</Paragraphs>
  <Slides>30</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Gill Sans MT</vt:lpstr>
      <vt:lpstr>Times New Roman</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QFD Example</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Brief Introduction and Research Interest</dc:title>
  <dc:creator>AICTE</dc:creator>
  <cp:lastModifiedBy>Dr. Sunil Kumar - MEE - ASE, Chennai Campus</cp:lastModifiedBy>
  <cp:revision>1010</cp:revision>
  <dcterms:created xsi:type="dcterms:W3CDTF">2019-07-04T04:21:14Z</dcterms:created>
  <dcterms:modified xsi:type="dcterms:W3CDTF">2024-09-11T03:17:07Z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0x010100A2CA67C528DC284E8073580C98E8539C</vt:lpwstr>
  </property>
</Properties>
</file>