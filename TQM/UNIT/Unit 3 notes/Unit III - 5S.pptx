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64" r:id="rId5"/>
    <p:sldId id="687" r:id="rId6"/>
    <p:sldId id="1167" r:id="rId7"/>
    <p:sldId id="1168" r:id="rId8"/>
    <p:sldId id="1177" r:id="rId9"/>
    <p:sldId id="1169" r:id="rId10"/>
    <p:sldId id="1178" r:id="rId11"/>
    <p:sldId id="1170" r:id="rId12"/>
    <p:sldId id="1179" r:id="rId13"/>
    <p:sldId id="1171" r:id="rId14"/>
    <p:sldId id="1180" r:id="rId15"/>
    <p:sldId id="1172" r:id="rId16"/>
    <p:sldId id="1181" r:id="rId17"/>
    <p:sldId id="1173" r:id="rId18"/>
    <p:sldId id="1174" r:id="rId19"/>
    <p:sldId id="1176" r:id="rId20"/>
    <p:sldId id="1175" r:id="rId21"/>
    <p:sldId id="11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6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5S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Sunil Kumar</a:t>
            </a: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What is 5S - Overview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22787" y="1506793"/>
            <a:ext cx="10977716" cy="2843981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4000" dirty="0">
                <a:latin typeface="+mj-lt"/>
              </a:rPr>
              <a:t>5S is a workplace organization methodology that uses a list of five Japanese words which are </a:t>
            </a:r>
            <a:r>
              <a:rPr lang="en-US" altLang="en-US" sz="4000" b="1" i="1" dirty="0" err="1">
                <a:latin typeface="+mj-lt"/>
              </a:rPr>
              <a:t>Seiri</a:t>
            </a:r>
            <a:r>
              <a:rPr lang="en-US" altLang="en-US" sz="4000" b="1" i="1" dirty="0">
                <a:latin typeface="+mj-lt"/>
              </a:rPr>
              <a:t>, </a:t>
            </a:r>
            <a:r>
              <a:rPr lang="en-US" altLang="en-US" sz="4000" b="1" i="1" dirty="0" err="1">
                <a:latin typeface="+mj-lt"/>
              </a:rPr>
              <a:t>Seiton</a:t>
            </a:r>
            <a:r>
              <a:rPr lang="en-US" altLang="en-US" sz="4000" b="1" i="1" dirty="0">
                <a:latin typeface="+mj-lt"/>
              </a:rPr>
              <a:t>, </a:t>
            </a:r>
            <a:r>
              <a:rPr lang="en-US" altLang="en-US" sz="4000" b="1" i="1" dirty="0" err="1">
                <a:latin typeface="+mj-lt"/>
              </a:rPr>
              <a:t>Seiso</a:t>
            </a:r>
            <a:r>
              <a:rPr lang="en-US" altLang="en-US" sz="4000" b="1" i="1" dirty="0">
                <a:latin typeface="+mj-lt"/>
              </a:rPr>
              <a:t>, </a:t>
            </a:r>
            <a:r>
              <a:rPr lang="en-US" altLang="en-US" sz="4000" b="1" i="1" dirty="0" err="1">
                <a:latin typeface="+mj-lt"/>
              </a:rPr>
              <a:t>Seiketsu</a:t>
            </a:r>
            <a:r>
              <a:rPr lang="en-US" altLang="en-US" sz="4000" b="1" i="1" dirty="0">
                <a:latin typeface="+mj-lt"/>
              </a:rPr>
              <a:t> and </a:t>
            </a:r>
            <a:r>
              <a:rPr lang="en-US" altLang="en-US" sz="4000" b="1" i="1" dirty="0" err="1">
                <a:latin typeface="+mj-lt"/>
              </a:rPr>
              <a:t>Shitsuke</a:t>
            </a:r>
            <a:r>
              <a:rPr lang="en-US" altLang="en-US" sz="4000" dirty="0">
                <a:latin typeface="+mj-lt"/>
              </a:rPr>
              <a:t>.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Translated into English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A7DC6F-E103-892F-C06D-C31286240B19}"/>
              </a:ext>
            </a:extLst>
          </p:cNvPr>
          <p:cNvSpPr txBox="1">
            <a:spLocks/>
          </p:cNvSpPr>
          <p:nvPr/>
        </p:nvSpPr>
        <p:spPr>
          <a:xfrm>
            <a:off x="1317620" y="1020097"/>
            <a:ext cx="7498080" cy="45105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3200" dirty="0">
                <a:latin typeface="+mj-lt"/>
              </a:rPr>
              <a:t>Sorting</a:t>
            </a:r>
            <a:r>
              <a:rPr lang="en-IN" sz="3200" i="1" dirty="0">
                <a:latin typeface="+mj-lt"/>
              </a:rPr>
              <a:t> (</a:t>
            </a:r>
            <a:r>
              <a:rPr lang="en-IN" sz="3200" i="1" dirty="0" err="1">
                <a:latin typeface="+mj-lt"/>
              </a:rPr>
              <a:t>seiri</a:t>
            </a:r>
            <a:r>
              <a:rPr lang="en-IN" sz="3200" i="1" dirty="0">
                <a:latin typeface="+mj-lt"/>
              </a:rPr>
              <a:t>)</a:t>
            </a:r>
            <a:endParaRPr lang="en-IN" sz="3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+mj-lt"/>
              </a:rPr>
              <a:t>Straightening</a:t>
            </a:r>
            <a:r>
              <a:rPr lang="en-IN" sz="3200" i="1" dirty="0">
                <a:latin typeface="+mj-lt"/>
              </a:rPr>
              <a:t> (</a:t>
            </a:r>
            <a:r>
              <a:rPr lang="en-IN" sz="3200" i="1" dirty="0" err="1">
                <a:latin typeface="+mj-lt"/>
              </a:rPr>
              <a:t>seiton</a:t>
            </a:r>
            <a:r>
              <a:rPr lang="en-IN" sz="3200" i="1" dirty="0">
                <a:latin typeface="+mj-lt"/>
              </a:rPr>
              <a:t>)</a:t>
            </a:r>
            <a:endParaRPr lang="en-IN" sz="3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+mj-lt"/>
              </a:rPr>
              <a:t>Systematic cleaning</a:t>
            </a:r>
            <a:r>
              <a:rPr lang="en-IN" sz="3200" i="1" dirty="0">
                <a:latin typeface="+mj-lt"/>
              </a:rPr>
              <a:t> (</a:t>
            </a:r>
            <a:r>
              <a:rPr lang="en-IN" sz="3200" i="1" dirty="0" err="1">
                <a:latin typeface="+mj-lt"/>
              </a:rPr>
              <a:t>seiso</a:t>
            </a:r>
            <a:r>
              <a:rPr lang="en-IN" sz="3200" i="1" dirty="0">
                <a:latin typeface="+mj-lt"/>
              </a:rPr>
              <a:t>)</a:t>
            </a:r>
            <a:endParaRPr lang="en-IN" sz="3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+mj-lt"/>
              </a:rPr>
              <a:t>Standardizing</a:t>
            </a:r>
            <a:r>
              <a:rPr lang="en-IN" sz="3200" i="1" dirty="0">
                <a:latin typeface="+mj-lt"/>
              </a:rPr>
              <a:t> (</a:t>
            </a:r>
            <a:r>
              <a:rPr lang="en-IN" sz="3200" i="1" dirty="0" err="1">
                <a:latin typeface="+mj-lt"/>
              </a:rPr>
              <a:t>seiketsu</a:t>
            </a:r>
            <a:r>
              <a:rPr lang="en-IN" sz="3200" i="1" dirty="0">
                <a:latin typeface="+mj-lt"/>
              </a:rPr>
              <a:t>)</a:t>
            </a:r>
            <a:endParaRPr lang="en-IN" sz="3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+mj-lt"/>
              </a:rPr>
              <a:t>Sustaining</a:t>
            </a:r>
            <a:r>
              <a:rPr lang="en-IN" sz="3200" i="1" dirty="0">
                <a:latin typeface="+mj-lt"/>
              </a:rPr>
              <a:t> (</a:t>
            </a:r>
            <a:r>
              <a:rPr lang="en-IN" sz="3200" i="1" dirty="0" err="1">
                <a:latin typeface="+mj-lt"/>
              </a:rPr>
              <a:t>shitsuke</a:t>
            </a:r>
            <a:r>
              <a:rPr lang="en-IN" sz="3200" i="1" dirty="0">
                <a:latin typeface="+mj-lt"/>
              </a:rPr>
              <a:t>)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558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503506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Sorting (</a:t>
            </a:r>
            <a:r>
              <a:rPr lang="en-US" dirty="0" err="1"/>
              <a:t>Seiri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2ADB-AB4F-16AA-C3EA-B505766D83EA}"/>
              </a:ext>
            </a:extLst>
          </p:cNvPr>
          <p:cNvSpPr txBox="1">
            <a:spLocks/>
          </p:cNvSpPr>
          <p:nvPr/>
        </p:nvSpPr>
        <p:spPr>
          <a:xfrm>
            <a:off x="884952" y="1367913"/>
            <a:ext cx="10422095" cy="2923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400">
                <a:latin typeface="+mj-lt"/>
              </a:rPr>
              <a:t>Eliminate all unnecessary tools, parts, and instructions. </a:t>
            </a:r>
          </a:p>
          <a:p>
            <a:pPr>
              <a:lnSpc>
                <a:spcPct val="150000"/>
              </a:lnSpc>
            </a:pPr>
            <a:r>
              <a:rPr lang="en-IN" sz="2400">
                <a:latin typeface="+mj-lt"/>
              </a:rPr>
              <a:t>Keep only essential items and eliminate what is not required</a:t>
            </a:r>
          </a:p>
          <a:p>
            <a:pPr>
              <a:lnSpc>
                <a:spcPct val="150000"/>
              </a:lnSpc>
            </a:pPr>
            <a:r>
              <a:rPr lang="en-IN" sz="2400">
                <a:latin typeface="+mj-lt"/>
              </a:rPr>
              <a:t>Prioritizing things per requirements and keeping them in easily-accessible places. </a:t>
            </a:r>
          </a:p>
          <a:p>
            <a:pPr>
              <a:lnSpc>
                <a:spcPct val="150000"/>
              </a:lnSpc>
            </a:pPr>
            <a:r>
              <a:rPr lang="en-IN" sz="2400">
                <a:latin typeface="+mj-lt"/>
              </a:rPr>
              <a:t>Everything else is stored or discarded.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465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503506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Sorting (</a:t>
            </a:r>
            <a:r>
              <a:rPr lang="en-US" dirty="0" err="1"/>
              <a:t>Seiri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1026" name="Picture 2" descr="Posterkart Office Poster - Seiri 1s, 66 cm x 36 cm x 1 cm (VADPE270) :  Amazon.in: Office Products">
            <a:extLst>
              <a:ext uri="{FF2B5EF4-FFF2-40B4-BE49-F238E27FC236}">
                <a16:creationId xmlns:a16="http://schemas.microsoft.com/office/drawing/2014/main" id="{8CF41CEB-E5B4-F6ED-8449-539DD35C8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43" y="0"/>
            <a:ext cx="4106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59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858895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Setting in order / stabilize (</a:t>
            </a:r>
            <a:r>
              <a:rPr lang="en-US" dirty="0" err="1"/>
              <a:t>Seiton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32C9A2-24A8-DB9D-4342-9A25BABA9BE1}"/>
              </a:ext>
            </a:extLst>
          </p:cNvPr>
          <p:cNvSpPr txBox="1">
            <a:spLocks/>
          </p:cNvSpPr>
          <p:nvPr/>
        </p:nvSpPr>
        <p:spPr>
          <a:xfrm>
            <a:off x="889917" y="868792"/>
            <a:ext cx="10466341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2800">
                <a:latin typeface="+mj-lt"/>
              </a:rPr>
              <a:t>There should be a place for everything and everything should be in its place. </a:t>
            </a:r>
          </a:p>
          <a:p>
            <a:pPr algn="just">
              <a:lnSpc>
                <a:spcPct val="150000"/>
              </a:lnSpc>
            </a:pPr>
            <a:r>
              <a:rPr lang="en-IN" sz="2800">
                <a:latin typeface="+mj-lt"/>
              </a:rPr>
              <a:t>The place for each item should be clearly labelled</a:t>
            </a:r>
          </a:p>
          <a:p>
            <a:pPr algn="just">
              <a:lnSpc>
                <a:spcPct val="150000"/>
              </a:lnSpc>
            </a:pPr>
            <a:r>
              <a:rPr lang="en-IN" sz="2800">
                <a:latin typeface="+mj-lt"/>
              </a:rPr>
              <a:t>Items should be arranged in a manner that promotes efficient work flow, with equipment used most often being the most easily accessible. 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02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078" y="227606"/>
            <a:ext cx="6007985" cy="1243930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Setting in order / stabilize (</a:t>
            </a:r>
            <a:r>
              <a:rPr lang="en-US" dirty="0" err="1"/>
              <a:t>Seiton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2050" name="Picture 2" descr="Posterkart Office Poster - Seiton 2s, 66 cm x 36 cm x 1 cm : Amazon.in:  Office Products">
            <a:extLst>
              <a:ext uri="{FF2B5EF4-FFF2-40B4-BE49-F238E27FC236}">
                <a16:creationId xmlns:a16="http://schemas.microsoft.com/office/drawing/2014/main" id="{C780075C-F51B-8539-AA4C-B37081536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154" y="0"/>
            <a:ext cx="4119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57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10004798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Shining or systematic cleaning (</a:t>
            </a:r>
            <a:r>
              <a:rPr lang="en-US" dirty="0" err="1"/>
              <a:t>Seiso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EDF9-C6BE-1AC9-A6D6-B64F369C7880}"/>
              </a:ext>
            </a:extLst>
          </p:cNvPr>
          <p:cNvSpPr txBox="1">
            <a:spLocks/>
          </p:cNvSpPr>
          <p:nvPr/>
        </p:nvSpPr>
        <p:spPr>
          <a:xfrm>
            <a:off x="830923" y="1028700"/>
            <a:ext cx="10230367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Clean the workspace and all equipment, and keep it clean, tidy and organized. </a:t>
            </a:r>
          </a:p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At the end of each shift, clean the work area and be sure everything is restored to its place. </a:t>
            </a:r>
          </a:p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Maintaining cleanliness should be part of the daily work – not an occasional activity initiated when things get too messy.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832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827" y="332785"/>
            <a:ext cx="5078837" cy="1859483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Shining or systematic cleaning (</a:t>
            </a:r>
            <a:r>
              <a:rPr lang="en-US" dirty="0" err="1"/>
              <a:t>Seiso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3074" name="Picture 2" descr="Posterkart Office Poster - Seiso 3s, 66 cm x 36 cm x 1 cm : Amazon.in:  Office Products">
            <a:extLst>
              <a:ext uri="{FF2B5EF4-FFF2-40B4-BE49-F238E27FC236}">
                <a16:creationId xmlns:a16="http://schemas.microsoft.com/office/drawing/2014/main" id="{E7466AF3-7B72-BEC0-C931-429E172E5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4119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1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718785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Standardizing (</a:t>
            </a:r>
            <a:r>
              <a:rPr lang="en-US" dirty="0" err="1"/>
              <a:t>Seiketsu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72CCE-9116-4E29-B597-F2402A70DC57}"/>
              </a:ext>
            </a:extLst>
          </p:cNvPr>
          <p:cNvSpPr txBox="1">
            <a:spLocks/>
          </p:cNvSpPr>
          <p:nvPr/>
        </p:nvSpPr>
        <p:spPr>
          <a:xfrm>
            <a:off x="1076681" y="1028700"/>
            <a:ext cx="10038637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All work stations for a particular job should be identical. </a:t>
            </a:r>
          </a:p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All employees doing the same job should be able to work in any station with the same tools that are in the same location in every station. </a:t>
            </a:r>
          </a:p>
          <a:p>
            <a:pPr>
              <a:lnSpc>
                <a:spcPct val="150000"/>
              </a:lnSpc>
            </a:pPr>
            <a:r>
              <a:rPr lang="en-IN" sz="2800">
                <a:latin typeface="+mj-lt"/>
              </a:rPr>
              <a:t>Everyone should know exactly what his or her responsibilities are for adhering to the first 3 S's.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31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448832"/>
            <a:ext cx="5521289" cy="1243930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Standardizing (</a:t>
            </a:r>
            <a:r>
              <a:rPr lang="en-US" dirty="0" err="1"/>
              <a:t>Seiketsu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4098" name="Picture 2" descr="Posterkart Office Poster - Seiketsu 4s, 66 cm x 36 cm x 1 cm : Amazon.in:  Office Products">
            <a:extLst>
              <a:ext uri="{FF2B5EF4-FFF2-40B4-BE49-F238E27FC236}">
                <a16:creationId xmlns:a16="http://schemas.microsoft.com/office/drawing/2014/main" id="{E7B28F11-AA0D-FF2E-DDCD-ECFC4727A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859" y="0"/>
            <a:ext cx="4119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23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331" y="212858"/>
            <a:ext cx="11228914" cy="1243930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Sustaining the discipline or self-discipline (</a:t>
            </a:r>
            <a:r>
              <a:rPr lang="en-US" dirty="0" err="1"/>
              <a:t>Shitsuke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96860-2C6B-AC89-DFFC-841C199FCB3D}"/>
              </a:ext>
            </a:extLst>
          </p:cNvPr>
          <p:cNvSpPr txBox="1">
            <a:spLocks/>
          </p:cNvSpPr>
          <p:nvPr/>
        </p:nvSpPr>
        <p:spPr>
          <a:xfrm>
            <a:off x="717755" y="1742768"/>
            <a:ext cx="10756490" cy="36698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Maintain and review standards.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Maintain focus on this new way and do not allow a gradual decline back to the old ways.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While thinking about the new way, also be thinking about yet better ways. </a:t>
            </a:r>
          </a:p>
        </p:txBody>
      </p:sp>
    </p:spTree>
    <p:extLst>
      <p:ext uri="{BB962C8B-B14F-4D97-AF65-F5344CB8AC3E}">
        <p14:creationId xmlns:p14="http://schemas.microsoft.com/office/powerpoint/2010/main" val="225411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841" y="657250"/>
            <a:ext cx="5565533" cy="1859483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Sustaining the discipline or self-discipline (</a:t>
            </a:r>
            <a:r>
              <a:rPr lang="en-US" dirty="0" err="1"/>
              <a:t>Shitsuke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5122" name="Picture 2" descr="Posterkart Office Poster - Shitsuke 5s, 66 cm x 36 cm x 1 cm : Amazon.in:  Office Products">
            <a:extLst>
              <a:ext uri="{FF2B5EF4-FFF2-40B4-BE49-F238E27FC236}">
                <a16:creationId xmlns:a16="http://schemas.microsoft.com/office/drawing/2014/main" id="{220A5162-464D-BFA9-7FDC-50058A28A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3792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7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531481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BENEFITS OF 5S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63BCD-B85C-37EB-6AC2-E2F7A74FF656}"/>
              </a:ext>
            </a:extLst>
          </p:cNvPr>
          <p:cNvSpPr txBox="1">
            <a:spLocks/>
          </p:cNvSpPr>
          <p:nvPr/>
        </p:nvSpPr>
        <p:spPr>
          <a:xfrm>
            <a:off x="1066898" y="1138084"/>
            <a:ext cx="10141875" cy="42598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latin typeface="+mj-lt"/>
              </a:rPr>
              <a:t>Improves organizational efficiency</a:t>
            </a:r>
          </a:p>
          <a:p>
            <a:r>
              <a:rPr lang="en-IN" sz="2800" dirty="0">
                <a:latin typeface="+mj-lt"/>
              </a:rPr>
              <a:t>Reduces waste in all forms</a:t>
            </a:r>
          </a:p>
          <a:p>
            <a:r>
              <a:rPr lang="en-IN" sz="2800" dirty="0">
                <a:latin typeface="+mj-lt"/>
              </a:rPr>
              <a:t>Cuts down employee frustration when "the system doesn’t work"</a:t>
            </a:r>
          </a:p>
          <a:p>
            <a:r>
              <a:rPr lang="en-IN" sz="2800" dirty="0">
                <a:latin typeface="+mj-lt"/>
              </a:rPr>
              <a:t>Improves speed and quality of work performance</a:t>
            </a:r>
          </a:p>
          <a:p>
            <a:r>
              <a:rPr lang="en-IN" sz="2800" dirty="0">
                <a:latin typeface="+mj-lt"/>
              </a:rPr>
              <a:t>Improves safety</a:t>
            </a:r>
          </a:p>
          <a:p>
            <a:r>
              <a:rPr lang="en-IN" sz="2800" dirty="0">
                <a:latin typeface="+mj-lt"/>
              </a:rPr>
              <a:t>Creates a visually attractive environment</a:t>
            </a:r>
          </a:p>
          <a:p>
            <a:r>
              <a:rPr lang="en-IN" sz="2800" dirty="0">
                <a:latin typeface="+mj-lt"/>
              </a:rPr>
              <a:t>Reduce direct and hidden costs</a:t>
            </a:r>
          </a:p>
          <a:p>
            <a:r>
              <a:rPr lang="en-IN" sz="2800" dirty="0">
                <a:latin typeface="+mj-lt"/>
              </a:rPr>
              <a:t>Enhances employee motivation</a:t>
            </a:r>
          </a:p>
          <a:p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623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5757263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OBJECTIVES OF 5S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70E1-AF5C-7DFE-F733-45FE36E6901F}"/>
              </a:ext>
            </a:extLst>
          </p:cNvPr>
          <p:cNvSpPr txBox="1">
            <a:spLocks/>
          </p:cNvSpPr>
          <p:nvPr/>
        </p:nvSpPr>
        <p:spPr>
          <a:xfrm>
            <a:off x="1435608" y="1447800"/>
            <a:ext cx="7498080" cy="24162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>
                <a:latin typeface="+mj-lt"/>
              </a:rPr>
              <a:t>Productivity</a:t>
            </a:r>
          </a:p>
          <a:p>
            <a:r>
              <a:rPr lang="en-US" sz="2800">
                <a:latin typeface="+mj-lt"/>
              </a:rPr>
              <a:t>Safety</a:t>
            </a:r>
          </a:p>
          <a:p>
            <a:r>
              <a:rPr lang="en-US" sz="2800">
                <a:latin typeface="+mj-lt"/>
              </a:rPr>
              <a:t>Reduced Waste</a:t>
            </a:r>
          </a:p>
          <a:p>
            <a:r>
              <a:rPr lang="en-US" sz="2800">
                <a:latin typeface="+mj-lt"/>
              </a:rPr>
              <a:t>Worker Commitment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271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34" y="240415"/>
            <a:ext cx="472487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5S Flowchart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3C9E0-6A68-13D2-D17B-FD68AF602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969" y="868792"/>
            <a:ext cx="5692061" cy="5748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7327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ony\Desktop\5S_image_900_E-Crane.jpg">
            <a:extLst>
              <a:ext uri="{FF2B5EF4-FFF2-40B4-BE49-F238E27FC236}">
                <a16:creationId xmlns:a16="http://schemas.microsoft.com/office/drawing/2014/main" id="{A0E57C26-8D51-3392-3A30-496527523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0"/>
            <a:ext cx="914399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9292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46960</TotalTime>
  <Words>438</Words>
  <Application>Microsoft Office PowerPoint</Application>
  <PresentationFormat>Widescreen</PresentationFormat>
  <Paragraphs>58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Gill Sans MT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1118</cp:revision>
  <dcterms:created xsi:type="dcterms:W3CDTF">2019-07-04T04:21:14Z</dcterms:created>
  <dcterms:modified xsi:type="dcterms:W3CDTF">2024-09-19T04:44:43Z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