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64" r:id="rId5"/>
    <p:sldId id="687" r:id="rId6"/>
    <p:sldId id="1167" r:id="rId7"/>
    <p:sldId id="1168" r:id="rId8"/>
    <p:sldId id="1169" r:id="rId9"/>
    <p:sldId id="1170" r:id="rId10"/>
    <p:sldId id="1171" r:id="rId11"/>
    <p:sldId id="1172" r:id="rId12"/>
    <p:sldId id="1174" r:id="rId13"/>
    <p:sldId id="1173" r:id="rId14"/>
    <p:sldId id="1175" r:id="rId15"/>
    <p:sldId id="11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 M - [Mechanical], Amrita Vishwa Vidyapeetham." initials="SKM[AVV" lastIdx="1" clrIdx="0">
    <p:extLst>
      <p:ext uri="{19B8F6BF-5375-455C-9EA6-DF929625EA0E}">
        <p15:presenceInfo xmlns:p15="http://schemas.microsoft.com/office/powerpoint/2012/main" userId="Sathish Kumar M - [Mechanical], Amrita Vishwa Vidyapeetham.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87" y="5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7318B-7A8A-4299-AEA3-1411F41B9684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0EE7F-DECD-4B61-B42D-8BCEBAEC8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216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0EE7F-DECD-4B61-B42D-8BCEBAEC89F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18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86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024872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DAF3D3DE-4523-4272-BE59-8D2437F581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9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9243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066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7C636576-C435-4227-AE32-FBC777B3BD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39624" cy="65598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0076A84-695B-4D81-B65B-036D08E1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97440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910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314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8314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C9ECDAE0-0A74-4D72-8A95-D1CE68BB8C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733677" y="6002200"/>
            <a:ext cx="2120251" cy="65598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D40324-116D-46BF-A0D8-ACBB1FA5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15728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5338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D5A8173-029E-4575-B1BE-7D44B32D74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356520" y="6017547"/>
            <a:ext cx="2457784" cy="6559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2D2E05-3817-4F9D-BBEF-1D4FF77C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76104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98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5BF30093-AF1A-473D-8459-D65A198D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77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AE8CF87-0C27-479A-9FCC-F0FA64D1A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34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484F575-B956-41D8-9BD9-542DF1FD66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82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33505" y="1525371"/>
            <a:ext cx="7724987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58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0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grpSp>
        <p:nvGrpSpPr>
          <p:cNvPr id="32" name="Group 31"/>
          <p:cNvGrpSpPr/>
          <p:nvPr userDrawn="1"/>
        </p:nvGrpSpPr>
        <p:grpSpPr>
          <a:xfrm rot="5400000">
            <a:off x="10284402" y="4422774"/>
            <a:ext cx="2399145" cy="286385"/>
            <a:chOff x="838200" y="6096000"/>
            <a:chExt cx="2639060" cy="260350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23" name="Flowchart: Connector 22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4" name="Flowchart: Connector 23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5" name="Flowchart: Connector 24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6" name="Flowchart: Connector 25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7" name="Flowchart: Connector 26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8" name="Flowchart: Connector 27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9" name="Flowchart: Connector 28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0" name="Flowchart: Connector 29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1" name="Flowchart: Connector 30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  <p:grpSp>
        <p:nvGrpSpPr>
          <p:cNvPr id="33" name="Group 32"/>
          <p:cNvGrpSpPr/>
          <p:nvPr userDrawn="1"/>
        </p:nvGrpSpPr>
        <p:grpSpPr>
          <a:xfrm>
            <a:off x="838200" y="6082983"/>
            <a:ext cx="2639060" cy="286385"/>
            <a:chOff x="838200" y="6096000"/>
            <a:chExt cx="2639060" cy="260350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34" name="Flowchart: Connector 33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5" name="Flowchart: Connector 34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6" name="Flowchart: Connector 35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7" name="Flowchart: Connector 36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8" name="Flowchart: Connector 37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9" name="Flowchart: Connector 38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0" name="Flowchart: Connector 39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1" name="Flowchart: Connector 40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2" name="Flowchart: Connector 41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035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6937F8-66AD-4534-8544-87CB8628F672}"/>
              </a:ext>
            </a:extLst>
          </p:cNvPr>
          <p:cNvSpPr txBox="1"/>
          <p:nvPr/>
        </p:nvSpPr>
        <p:spPr>
          <a:xfrm>
            <a:off x="247305" y="248330"/>
            <a:ext cx="1128171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to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Quality Management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(19MEE347)</a:t>
            </a:r>
          </a:p>
          <a:p>
            <a:pPr algn="ctr"/>
            <a:endParaRPr lang="en-IN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3 – ISO 14000</a:t>
            </a:r>
          </a:p>
          <a:p>
            <a:pPr algn="ctr"/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55C8B-5034-404C-99D8-7F9D1F7AD815}"/>
              </a:ext>
            </a:extLst>
          </p:cNvPr>
          <p:cNvSpPr txBox="1"/>
          <p:nvPr/>
        </p:nvSpPr>
        <p:spPr>
          <a:xfrm>
            <a:off x="1225553" y="4464869"/>
            <a:ext cx="9740893" cy="1323439"/>
          </a:xfrm>
          <a:prstGeom prst="rect">
            <a:avLst/>
          </a:prstGeom>
          <a:solidFill>
            <a:srgbClr val="AE123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Dr. </a:t>
            </a:r>
            <a:r>
              <a:rPr lang="en-IN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Sunil Kumar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63338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56890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14000 - Introduction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467032" y="1049593"/>
            <a:ext cx="10977716" cy="4419600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ISO 14000 is concerned with environmental management.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World’s first series of internationally accepted standards of environmental management systems.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Guide to Environmental Management principles, Systems and Supporting techniques.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Voluntary standards that will lead to the common worldwide approach to environmental management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9459585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Environmental Management System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467032" y="1049592"/>
            <a:ext cx="10977716" cy="4982497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EMS is a method of going about your business while managing environmental risks. 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Provides order and consistency to the organization.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Involves incorporating environmentally responsible practices into everyday business processes. 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Recognizes and controls environmental risks while creating measurable improvements in performance. </a:t>
            </a:r>
          </a:p>
        </p:txBody>
      </p:sp>
    </p:spTree>
    <p:extLst>
      <p:ext uri="{BB962C8B-B14F-4D97-AF65-F5344CB8AC3E}">
        <p14:creationId xmlns:p14="http://schemas.microsoft.com/office/powerpoint/2010/main" val="604942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5536514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Why implement EMS?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467032" y="1049592"/>
            <a:ext cx="10977716" cy="4982497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Improved compliance with environmental laws.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Sustainable development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Credibility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Pressure from environmentalists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Worldwide focus to the </a:t>
            </a:r>
            <a:r>
              <a:rPr lang="en-US" altLang="en-US" sz="2800" dirty="0" err="1">
                <a:latin typeface="+mj-lt"/>
              </a:rPr>
              <a:t>enviroment</a:t>
            </a:r>
            <a:endParaRPr lang="en-US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4028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5536514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14000 standards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307259" y="1127571"/>
            <a:ext cx="10977716" cy="4602858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Series of international standards for environmental management.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ISO 14001 is the first in the 14000 series and specifies requirements of an EMS.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Overall aim of ISO 14001 and other standards in the 14000 series is to support environmental protection and the prevention of pollution in the harmony with socio-economic needs.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ISO 14001 applies to any organization that wishes to improve and demonstrate environmental performance to others through the presence of a certified EMS.</a:t>
            </a:r>
          </a:p>
        </p:txBody>
      </p:sp>
    </p:spTree>
    <p:extLst>
      <p:ext uri="{BB962C8B-B14F-4D97-AF65-F5344CB8AC3E}">
        <p14:creationId xmlns:p14="http://schemas.microsoft.com/office/powerpoint/2010/main" val="1089972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8412450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14000 certification process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307259" y="1127571"/>
            <a:ext cx="10977716" cy="4602858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Preliminary assessment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Document review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Initial assessment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Main Assessment 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Certification / registration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Surveillance</a:t>
            </a:r>
          </a:p>
        </p:txBody>
      </p:sp>
    </p:spTree>
    <p:extLst>
      <p:ext uri="{BB962C8B-B14F-4D97-AF65-F5344CB8AC3E}">
        <p14:creationId xmlns:p14="http://schemas.microsoft.com/office/powerpoint/2010/main" val="3330558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8412450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14000 standards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307259" y="1127571"/>
            <a:ext cx="10977716" cy="4602858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ISO 14001 is the EMS standard and it has a companion standard ISO 14004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14010 series of standards are about auditing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14020 is about environmental labeling.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14030 is a standard on environmental performance evaluation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14040 series standards are on environmental life cycle assessment (LCA) and they are the only part of ISO 14000 series that rely on competent engineering and environmental science.</a:t>
            </a:r>
          </a:p>
        </p:txBody>
      </p:sp>
    </p:spTree>
    <p:extLst>
      <p:ext uri="{BB962C8B-B14F-4D97-AF65-F5344CB8AC3E}">
        <p14:creationId xmlns:p14="http://schemas.microsoft.com/office/powerpoint/2010/main" val="1634235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8412450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ISO 14000 standards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307259" y="1127571"/>
            <a:ext cx="10977716" cy="4602858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ISO 14001 is the EMS standard and it has a companion standard ISO 14004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14010 series of standards are about auditing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14020 is about environmental labeling.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14030 is a standard on environmental performance evaluation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14040 series standards are on environmental life cycle assessment (LCA) and </a:t>
            </a:r>
            <a:r>
              <a:rPr lang="en-US" altLang="en-US" sz="2400" dirty="0" err="1">
                <a:latin typeface="+mj-lt"/>
              </a:rPr>
              <a:t>athey</a:t>
            </a:r>
            <a:r>
              <a:rPr lang="en-US" altLang="en-US" sz="2400" dirty="0">
                <a:latin typeface="+mj-lt"/>
              </a:rPr>
              <a:t> are the only part of ISO 14000 series that rely on competent engineering and environmental science.</a:t>
            </a:r>
          </a:p>
        </p:txBody>
      </p:sp>
    </p:spTree>
    <p:extLst>
      <p:ext uri="{BB962C8B-B14F-4D97-AF65-F5344CB8AC3E}">
        <p14:creationId xmlns:p14="http://schemas.microsoft.com/office/powerpoint/2010/main" val="3243344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1" y="196171"/>
            <a:ext cx="9548075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Environmental policies in companies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1" y="1127571"/>
            <a:ext cx="10977716" cy="3783642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L&amp;T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Ashok Leyland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 err="1">
                <a:latin typeface="+mj-lt"/>
              </a:rPr>
              <a:t>Bilt</a:t>
            </a:r>
            <a:endParaRPr lang="en-US" altLang="en-US" sz="2400" dirty="0">
              <a:latin typeface="+mj-lt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Toyota Kirloskar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Nippon Toyota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96821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1" y="196171"/>
            <a:ext cx="9548075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Environmental policies in companies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1" y="1063611"/>
            <a:ext cx="3928941" cy="74547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+mj-lt"/>
              </a:rPr>
              <a:t>Ashok Leyland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91DAE-74A9-0824-15C9-E0EDEEBA3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37" y="2048148"/>
            <a:ext cx="10639726" cy="285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34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1" y="196171"/>
            <a:ext cx="9548075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Environmental policies in companies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D600C9-AB84-512F-D7F8-D3CDCE1F4E02}"/>
              </a:ext>
            </a:extLst>
          </p:cNvPr>
          <p:cNvSpPr txBox="1">
            <a:spLocks noChangeArrowheads="1"/>
          </p:cNvSpPr>
          <p:nvPr/>
        </p:nvSpPr>
        <p:spPr>
          <a:xfrm>
            <a:off x="259601" y="1127571"/>
            <a:ext cx="3928941" cy="745474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+mj-lt"/>
              </a:rPr>
              <a:t>Toyota Kirloskar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41AEFD-C845-2DCB-7B16-4FDCFB501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035" y="2050027"/>
            <a:ext cx="7073312" cy="204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94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5346" y="2800623"/>
            <a:ext cx="8396795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0619911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rita Digital Campus V1.0" id="{58E84EBF-3C9A-46FA-AC67-01E514AB1B2B}" vid="{BF34DAB5-A2D4-47C4-AD4E-D8DB5419BE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CA67C528DC284E8073580C98E8539C" ma:contentTypeVersion="10" ma:contentTypeDescription="Create a new document." ma:contentTypeScope="" ma:versionID="107b615047e9376b6c55e1e5aaead638">
  <xsd:schema xmlns:xsd="http://www.w3.org/2001/XMLSchema" xmlns:xs="http://www.w3.org/2001/XMLSchema" xmlns:p="http://schemas.microsoft.com/office/2006/metadata/properties" xmlns:ns2="0107a115-4623-4481-beee-bafad199008b" xmlns:ns3="7a2a247a-f6ec-4c8f-8314-d83500b08c54" targetNamespace="http://schemas.microsoft.com/office/2006/metadata/properties" ma:root="true" ma:fieldsID="508cbe6b2b3f672b12342e56415e841d" ns2:_="" ns3:_="">
    <xsd:import namespace="0107a115-4623-4481-beee-bafad199008b"/>
    <xsd:import namespace="7a2a247a-f6ec-4c8f-8314-d83500b08c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07a115-4623-4481-beee-bafad19900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a247a-f6ec-4c8f-8314-d83500b08c5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309BE7-B587-43F4-8592-76B39C023D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2C674B-ACDE-455C-BA7E-ACC458E5BC04}">
  <ds:schemaRefs>
    <ds:schemaRef ds:uri="0107a115-4623-4481-beee-bafad199008b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a2a247a-f6ec-4c8f-8314-d83500b08c54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A29E35A-EF86-49DD-8023-556F66FCE6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07a115-4623-4481-beee-bafad199008b"/>
    <ds:schemaRef ds:uri="7a2a247a-f6ec-4c8f-8314-d83500b08c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46972</TotalTime>
  <Words>406</Words>
  <Application>Microsoft Office PowerPoint</Application>
  <PresentationFormat>Widescreen</PresentationFormat>
  <Paragraphs>59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Gill Sans MT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Introduction and Research Interest</dc:title>
  <dc:creator>AICTE</dc:creator>
  <cp:lastModifiedBy>Dr. Sunil Kumar - MEE - ASE, Chennai Campus</cp:lastModifiedBy>
  <cp:revision>1129</cp:revision>
  <dcterms:created xsi:type="dcterms:W3CDTF">2019-07-04T04:21:14Z</dcterms:created>
  <dcterms:modified xsi:type="dcterms:W3CDTF">2024-09-11T03:35:40Z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0x010100A2CA67C528DC284E8073580C98E8539C</vt:lpwstr>
  </property>
</Properties>
</file>