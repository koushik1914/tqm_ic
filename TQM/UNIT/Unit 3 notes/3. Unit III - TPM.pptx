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4"/>
  </p:notesMasterIdLst>
  <p:sldIdLst>
    <p:sldId id="264" r:id="rId5"/>
    <p:sldId id="1184" r:id="rId6"/>
    <p:sldId id="687" r:id="rId7"/>
    <p:sldId id="1167" r:id="rId8"/>
    <p:sldId id="1168" r:id="rId9"/>
    <p:sldId id="1169" r:id="rId10"/>
    <p:sldId id="1170" r:id="rId11"/>
    <p:sldId id="1171" r:id="rId12"/>
    <p:sldId id="1172" r:id="rId13"/>
    <p:sldId id="1173" r:id="rId14"/>
    <p:sldId id="1174" r:id="rId15"/>
    <p:sldId id="1176" r:id="rId16"/>
    <p:sldId id="1175" r:id="rId17"/>
    <p:sldId id="1177" r:id="rId18"/>
    <p:sldId id="1178" r:id="rId19"/>
    <p:sldId id="1179" r:id="rId20"/>
    <p:sldId id="1180" r:id="rId21"/>
    <p:sldId id="1181" r:id="rId22"/>
    <p:sldId id="1187" r:id="rId23"/>
    <p:sldId id="1188" r:id="rId24"/>
    <p:sldId id="1189" r:id="rId25"/>
    <p:sldId id="1190" r:id="rId26"/>
    <p:sldId id="1191" r:id="rId27"/>
    <p:sldId id="1192" r:id="rId28"/>
    <p:sldId id="1185" r:id="rId29"/>
    <p:sldId id="1186" r:id="rId30"/>
    <p:sldId id="1182" r:id="rId31"/>
    <p:sldId id="1183" r:id="rId32"/>
    <p:sldId id="116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thish Kumar M - [Mechanical], Amrita Vishwa Vidyapeetham." initials="SKM[AVV" lastIdx="1" clrIdx="0">
    <p:extLst>
      <p:ext uri="{19B8F6BF-5375-455C-9EA6-DF929625EA0E}">
        <p15:presenceInfo xmlns:p15="http://schemas.microsoft.com/office/powerpoint/2012/main" userId="Sathish Kumar M - [Mechanical], Amrita Vishwa Vidyapeetham.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061" autoAdjust="0"/>
  </p:normalViewPr>
  <p:slideViewPr>
    <p:cSldViewPr snapToGrid="0">
      <p:cViewPr varScale="1">
        <p:scale>
          <a:sx n="77" d="100"/>
          <a:sy n="77" d="100"/>
        </p:scale>
        <p:origin x="787" y="5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7318B-7A8A-4299-AEA3-1411F41B9684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B0EE7F-DECD-4B61-B42D-8BCEBAEC89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216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B0EE7F-DECD-4B61-B42D-8BCEBAEC89F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18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4866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024872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DAF3D3DE-4523-4272-BE59-8D2437F581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94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92436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0660" y="1825625"/>
            <a:ext cx="5039139" cy="39987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039139" cy="39987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7C636576-C435-4227-AE32-FBC777B3BD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39624" cy="65598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0076A84-695B-4D81-B65B-036D08E10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97440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19106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8314" y="1681163"/>
            <a:ext cx="501926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8314" y="2505075"/>
            <a:ext cx="5019261" cy="3329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01926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019261" cy="3329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C9ECDAE0-0A74-4D72-8A95-D1CE68BB8C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733677" y="6002200"/>
            <a:ext cx="2120251" cy="65598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2D40324-116D-46BF-A0D8-ACBB1FA58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15728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55338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1D5A8173-029E-4575-B1BE-7D44B32D74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356520" y="6017547"/>
            <a:ext cx="2457784" cy="6559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F2D2E05-3817-4F9D-BBEF-1D4FF77C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76104" cy="897144"/>
          </a:xfrm>
          <a:solidFill>
            <a:srgbClr val="AF1D4A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398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5BF30093-AF1A-473D-8459-D65A198D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6771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CAE8CF87-0C27-479A-9FCC-F0FA64D1A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347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0484F575-B956-41D8-9BD9-542DF1FD66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2" t="34695" r="4058" b="31278"/>
          <a:stretch/>
        </p:blipFill>
        <p:spPr>
          <a:xfrm>
            <a:off x="8896016" y="5953539"/>
            <a:ext cx="1967056" cy="6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1825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33505" y="1525371"/>
            <a:ext cx="7724987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0D847-6AFE-40E2-8C12-2E078A77A9C3}" type="datetime1">
              <a:rPr lang="en-US" smtClean="0"/>
              <a:t>9/11/2024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0589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90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grpSp>
        <p:nvGrpSpPr>
          <p:cNvPr id="32" name="Group 31"/>
          <p:cNvGrpSpPr/>
          <p:nvPr userDrawn="1"/>
        </p:nvGrpSpPr>
        <p:grpSpPr>
          <a:xfrm rot="5400000">
            <a:off x="10284402" y="4422774"/>
            <a:ext cx="2399145" cy="286385"/>
            <a:chOff x="838200" y="6096000"/>
            <a:chExt cx="2639060" cy="260350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23" name="Flowchart: Connector 22"/>
            <p:cNvSpPr/>
            <p:nvPr userDrawn="1"/>
          </p:nvSpPr>
          <p:spPr>
            <a:xfrm>
              <a:off x="838200" y="6096000"/>
              <a:ext cx="289560" cy="26035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4" name="Flowchart: Connector 23"/>
            <p:cNvSpPr/>
            <p:nvPr userDrawn="1"/>
          </p:nvSpPr>
          <p:spPr>
            <a:xfrm>
              <a:off x="1127760" y="6096000"/>
              <a:ext cx="289560" cy="26035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5" name="Flowchart: Connector 24"/>
            <p:cNvSpPr/>
            <p:nvPr userDrawn="1"/>
          </p:nvSpPr>
          <p:spPr>
            <a:xfrm>
              <a:off x="1430020" y="6096000"/>
              <a:ext cx="289560" cy="26035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6" name="Flowchart: Connector 25"/>
            <p:cNvSpPr/>
            <p:nvPr userDrawn="1"/>
          </p:nvSpPr>
          <p:spPr>
            <a:xfrm>
              <a:off x="1729740" y="6096000"/>
              <a:ext cx="289560" cy="26035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7" name="Flowchart: Connector 26"/>
            <p:cNvSpPr/>
            <p:nvPr userDrawn="1"/>
          </p:nvSpPr>
          <p:spPr>
            <a:xfrm>
              <a:off x="2019300" y="6096000"/>
              <a:ext cx="289560" cy="26035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8" name="Flowchart: Connector 27"/>
            <p:cNvSpPr/>
            <p:nvPr userDrawn="1"/>
          </p:nvSpPr>
          <p:spPr>
            <a:xfrm>
              <a:off x="2308860" y="6096000"/>
              <a:ext cx="289560" cy="26035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29" name="Flowchart: Connector 28"/>
            <p:cNvSpPr/>
            <p:nvPr userDrawn="1"/>
          </p:nvSpPr>
          <p:spPr>
            <a:xfrm>
              <a:off x="2600960" y="6096000"/>
              <a:ext cx="289560" cy="26035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0" name="Flowchart: Connector 29"/>
            <p:cNvSpPr/>
            <p:nvPr userDrawn="1"/>
          </p:nvSpPr>
          <p:spPr>
            <a:xfrm>
              <a:off x="2900680" y="6096000"/>
              <a:ext cx="289560" cy="26035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1" name="Flowchart: Connector 30"/>
            <p:cNvSpPr/>
            <p:nvPr userDrawn="1"/>
          </p:nvSpPr>
          <p:spPr>
            <a:xfrm>
              <a:off x="3187700" y="6096000"/>
              <a:ext cx="289560" cy="26035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</p:grpSp>
      <p:grpSp>
        <p:nvGrpSpPr>
          <p:cNvPr id="33" name="Group 32"/>
          <p:cNvGrpSpPr/>
          <p:nvPr userDrawn="1"/>
        </p:nvGrpSpPr>
        <p:grpSpPr>
          <a:xfrm>
            <a:off x="838200" y="6082983"/>
            <a:ext cx="2639060" cy="286385"/>
            <a:chOff x="838200" y="6096000"/>
            <a:chExt cx="2639060" cy="260350"/>
          </a:xfr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grpSpPr>
        <p:sp>
          <p:nvSpPr>
            <p:cNvPr id="34" name="Flowchart: Connector 33"/>
            <p:cNvSpPr/>
            <p:nvPr userDrawn="1"/>
          </p:nvSpPr>
          <p:spPr>
            <a:xfrm>
              <a:off x="838200" y="6096000"/>
              <a:ext cx="289560" cy="260350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5" name="Flowchart: Connector 34"/>
            <p:cNvSpPr/>
            <p:nvPr userDrawn="1"/>
          </p:nvSpPr>
          <p:spPr>
            <a:xfrm>
              <a:off x="1127760" y="6096000"/>
              <a:ext cx="289560" cy="260350"/>
            </a:xfrm>
            <a:prstGeom prst="flowChartConnector">
              <a:avLst/>
            </a:prstGeom>
            <a:solidFill>
              <a:srgbClr val="3333FF"/>
            </a:solidFill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6" name="Flowchart: Connector 35"/>
            <p:cNvSpPr/>
            <p:nvPr userDrawn="1"/>
          </p:nvSpPr>
          <p:spPr>
            <a:xfrm>
              <a:off x="1430020" y="6096000"/>
              <a:ext cx="289560" cy="260350"/>
            </a:xfrm>
            <a:prstGeom prst="flowChartConnector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7" name="Flowchart: Connector 36"/>
            <p:cNvSpPr/>
            <p:nvPr userDrawn="1"/>
          </p:nvSpPr>
          <p:spPr>
            <a:xfrm>
              <a:off x="1729740" y="6096000"/>
              <a:ext cx="289560" cy="26035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8" name="Flowchart: Connector 37"/>
            <p:cNvSpPr/>
            <p:nvPr userDrawn="1"/>
          </p:nvSpPr>
          <p:spPr>
            <a:xfrm>
              <a:off x="2019300" y="6096000"/>
              <a:ext cx="289560" cy="260350"/>
            </a:xfrm>
            <a:prstGeom prst="flowChartConnector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39" name="Flowchart: Connector 38"/>
            <p:cNvSpPr/>
            <p:nvPr userDrawn="1"/>
          </p:nvSpPr>
          <p:spPr>
            <a:xfrm>
              <a:off x="2308860" y="6096000"/>
              <a:ext cx="289560" cy="260350"/>
            </a:xfrm>
            <a:prstGeom prst="flowChartConnector">
              <a:avLst/>
            </a:prstGeom>
            <a:solidFill>
              <a:srgbClr val="FFFF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40" name="Flowchart: Connector 39"/>
            <p:cNvSpPr/>
            <p:nvPr userDrawn="1"/>
          </p:nvSpPr>
          <p:spPr>
            <a:xfrm>
              <a:off x="2600960" y="6096000"/>
              <a:ext cx="289560" cy="26035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41" name="Flowchart: Connector 40"/>
            <p:cNvSpPr/>
            <p:nvPr userDrawn="1"/>
          </p:nvSpPr>
          <p:spPr>
            <a:xfrm>
              <a:off x="2900680" y="6096000"/>
              <a:ext cx="289560" cy="260350"/>
            </a:xfrm>
            <a:prstGeom prst="flowChartConnector">
              <a:avLst/>
            </a:prstGeom>
            <a:solidFill>
              <a:srgbClr val="FF99FF"/>
            </a:solidFill>
            <a:ln>
              <a:solidFill>
                <a:srgbClr val="FF99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42" name="Flowchart: Connector 41"/>
            <p:cNvSpPr/>
            <p:nvPr userDrawn="1"/>
          </p:nvSpPr>
          <p:spPr>
            <a:xfrm>
              <a:off x="3187700" y="6096000"/>
              <a:ext cx="289560" cy="260350"/>
            </a:xfrm>
            <a:prstGeom prst="flowChartConnector">
              <a:avLst/>
            </a:prstGeom>
            <a:solidFill>
              <a:srgbClr val="00CCFF"/>
            </a:solidFill>
            <a:ln>
              <a:solidFill>
                <a:srgbClr val="00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035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1" r:id="rId10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6937F8-66AD-4534-8544-87CB8628F672}"/>
              </a:ext>
            </a:extLst>
          </p:cNvPr>
          <p:cNvSpPr txBox="1"/>
          <p:nvPr/>
        </p:nvSpPr>
        <p:spPr>
          <a:xfrm>
            <a:off x="247305" y="248330"/>
            <a:ext cx="1128171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 to </a:t>
            </a:r>
          </a:p>
          <a:p>
            <a:pPr algn="ctr"/>
            <a:r>
              <a:rPr lang="en-IN" sz="4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Quality Management </a:t>
            </a:r>
          </a:p>
          <a:p>
            <a:pPr algn="ctr"/>
            <a:r>
              <a:rPr lang="en-IN" sz="4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(19MEE347)</a:t>
            </a:r>
          </a:p>
          <a:p>
            <a:pPr algn="ctr"/>
            <a:endParaRPr lang="en-IN" sz="44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3 – Total Productive Maintenance</a:t>
            </a:r>
          </a:p>
          <a:p>
            <a:pPr algn="ctr"/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55C8B-5034-404C-99D8-7F9D1F7AD815}"/>
              </a:ext>
            </a:extLst>
          </p:cNvPr>
          <p:cNvSpPr txBox="1"/>
          <p:nvPr/>
        </p:nvSpPr>
        <p:spPr>
          <a:xfrm>
            <a:off x="1225553" y="4464869"/>
            <a:ext cx="9740893" cy="1323439"/>
          </a:xfrm>
          <a:prstGeom prst="rect">
            <a:avLst/>
          </a:prstGeom>
          <a:solidFill>
            <a:srgbClr val="AE123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Dr. </a:t>
            </a:r>
            <a:r>
              <a:rPr lang="en-IN" sz="4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Sunil Kumar</a:t>
            </a:r>
            <a:endParaRPr lang="en-IN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6633384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2ADBF42-804E-6413-C55A-199486157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Productive Maintenance (TPM)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6C5D63-4D66-451A-AFB3-B96B316FD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675"/>
            <a:ext cx="10515600" cy="4225663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TPM is a holistic approach to equipment maintenance that strives to achieve perfect production: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Breakdowns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Small Stops or Slow Running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Defects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Accident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-apple-system"/>
              </a:rPr>
              <a:t>s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Getting operators involved in maintaining their own equipment and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emphasising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proactive and preventive maintenance will lay a foundation for improved production (fewer breakdowns, stops, and defects).</a:t>
            </a:r>
            <a:endParaRPr lang="en-IN" sz="2400" b="0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5134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4902332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TPM - Overview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BBB580-81BD-5CAF-B6A0-60D6F52732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07" t="19785" r="6505" b="11183"/>
          <a:stretch/>
        </p:blipFill>
        <p:spPr>
          <a:xfrm>
            <a:off x="2370802" y="1131869"/>
            <a:ext cx="8259098" cy="48379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74FB8D-B1C5-F492-53A9-22ED17BE832E}"/>
              </a:ext>
            </a:extLst>
          </p:cNvPr>
          <p:cNvSpPr txBox="1"/>
          <p:nvPr/>
        </p:nvSpPr>
        <p:spPr>
          <a:xfrm>
            <a:off x="259603" y="1046144"/>
            <a:ext cx="29702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+mj-lt"/>
              </a:rPr>
              <a:t>Lean System</a:t>
            </a:r>
            <a:endParaRPr lang="en-IN" sz="2800" b="1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4902332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TPM - Overview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74FB8D-B1C5-F492-53A9-22ED17BE832E}"/>
              </a:ext>
            </a:extLst>
          </p:cNvPr>
          <p:cNvSpPr txBox="1"/>
          <p:nvPr/>
        </p:nvSpPr>
        <p:spPr>
          <a:xfrm>
            <a:off x="259602" y="1046144"/>
            <a:ext cx="36192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+mj-lt"/>
              </a:rPr>
              <a:t>Current Challenges</a:t>
            </a:r>
            <a:endParaRPr lang="en-IN" sz="2800" b="1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A854BB-AEA4-0AB9-A213-9D710520E8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570" b="11828"/>
          <a:stretch/>
        </p:blipFill>
        <p:spPr>
          <a:xfrm>
            <a:off x="2009774" y="1569364"/>
            <a:ext cx="8633637" cy="444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72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4902332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TPM - Overview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74FB8D-B1C5-F492-53A9-22ED17BE832E}"/>
              </a:ext>
            </a:extLst>
          </p:cNvPr>
          <p:cNvSpPr txBox="1"/>
          <p:nvPr/>
        </p:nvSpPr>
        <p:spPr>
          <a:xfrm>
            <a:off x="259602" y="1046144"/>
            <a:ext cx="36192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+mj-lt"/>
              </a:rPr>
              <a:t>TPM</a:t>
            </a:r>
            <a:endParaRPr lang="en-IN" sz="2800" b="1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AC26B8-E2C2-F3B7-658A-E944015F79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000" b="11613"/>
          <a:stretch/>
        </p:blipFill>
        <p:spPr>
          <a:xfrm>
            <a:off x="1512200" y="1227027"/>
            <a:ext cx="9149838" cy="469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76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4902332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TPM - What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290DE0-C3F8-D9C6-ECB2-A203898F80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215" b="11613"/>
          <a:stretch/>
        </p:blipFill>
        <p:spPr>
          <a:xfrm>
            <a:off x="1164252" y="990342"/>
            <a:ext cx="9863496" cy="504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097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4902332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TPM - Why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B3EEAC-4253-2740-6342-4923BF9AF4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000" b="11829"/>
          <a:stretch/>
        </p:blipFill>
        <p:spPr>
          <a:xfrm>
            <a:off x="1037304" y="1165124"/>
            <a:ext cx="983629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92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4902332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TPM </a:t>
            </a:r>
            <a:r>
              <a:rPr lang="en-US"/>
              <a:t>- Evolution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D5BA55-AF63-7348-4CEB-910B4E449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38" y="1005067"/>
            <a:ext cx="9115438" cy="48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624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4902332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TPM - Principles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EB86AB-B4AF-CAAA-3941-4E40272D8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961" y="950762"/>
            <a:ext cx="9198077" cy="495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19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4902332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TPM - Goal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4E3EE1-C1E6-76ED-DE4E-F2BAA7E48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681" y="824548"/>
            <a:ext cx="10106637" cy="537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107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4902332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TPM - Strategies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76C31C-0DAD-2843-2FEE-40FB6D2CC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127" y="967557"/>
            <a:ext cx="9301471" cy="492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146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4902332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TPM - Benefits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07DAB-9BEC-1C2B-0FB5-6E6C47241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836" y="1317302"/>
            <a:ext cx="8479739" cy="455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136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4902332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TPM - Measures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87D55F-D5EB-1E08-759A-886C5C771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578" y="1106743"/>
            <a:ext cx="9950843" cy="53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706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5728242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TPM, TQM Similarities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7790BC-95DB-2C2C-43AA-C28F0553EC6B}"/>
              </a:ext>
            </a:extLst>
          </p:cNvPr>
          <p:cNvSpPr txBox="1"/>
          <p:nvPr/>
        </p:nvSpPr>
        <p:spPr>
          <a:xfrm>
            <a:off x="766917" y="1297547"/>
            <a:ext cx="10087896" cy="2960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Employees empowered to initiate action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Ongoing, continuous process improvement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Both requires Senior Management commitment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Lon term outlook, TPM take time to implement &amp; sustain</a:t>
            </a:r>
          </a:p>
        </p:txBody>
      </p:sp>
    </p:spTree>
    <p:extLst>
      <p:ext uri="{BB962C8B-B14F-4D97-AF65-F5344CB8AC3E}">
        <p14:creationId xmlns:p14="http://schemas.microsoft.com/office/powerpoint/2010/main" val="3680429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6288681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TPM &amp; TQM Differences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49F83B-53E5-5521-F90C-46DB0BB23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859" y="1214130"/>
            <a:ext cx="9960281" cy="442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6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4902332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TPM &amp; 6S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D6D937-AC15-80A4-C5CB-2FFD76B4A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5" y="945893"/>
            <a:ext cx="9022077" cy="495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204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96171"/>
            <a:ext cx="4902332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TPM - Pillars</a:t>
            </a:r>
            <a:endParaRPr dirty="0"/>
          </a:p>
        </p:txBody>
      </p:sp>
      <p:pic>
        <p:nvPicPr>
          <p:cNvPr id="1026" name="Picture 2" descr="TPM Pillars | TPM full form | Meaning and Benefits">
            <a:extLst>
              <a:ext uri="{FF2B5EF4-FFF2-40B4-BE49-F238E27FC236}">
                <a16:creationId xmlns:a16="http://schemas.microsoft.com/office/drawing/2014/main" id="{9993D0E9-377D-90E1-17D3-5972513EF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976" y="589359"/>
            <a:ext cx="7627374" cy="5390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4128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8515687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Aim – Each TPM Activity Pillar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7A1843-DC09-4D79-AD68-8C9B29D35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6" y="824548"/>
            <a:ext cx="11191874" cy="602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758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24F9A-1EDB-DE4B-F7EF-56F7A77DC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-apple-system"/>
              </a:rPr>
              <a:t>OEE (Overall Equipment Effectiveness)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98446-86EE-0847-7FFC-DE299E44E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225"/>
            <a:ext cx="10515600" cy="399071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0" i="0" dirty="0">
                <a:effectLst/>
                <a:latin typeface="-apple-system"/>
              </a:rPr>
              <a:t>OEE (Overall Equipment Effectiveness) is a metric that identifies the percentage of planned production time that is truly productive. 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effectLst/>
                <a:latin typeface="-apple-system"/>
              </a:rPr>
              <a:t>It was developed to support TPM initiatives by accurately tracking progress towards achieving “perfect production”.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An OEE score of 100% is perfect production.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An OEE score of 85% is world class for discrete manufacturers.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An OEE score of 60% is fairly typical for discrete manufacturers.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An OEE score of 40% is not uncommon for manufacturers without TPM and/or lean programs.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90871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E6B8C-2200-A6F2-AC97-13D3373D7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-apple-system"/>
              </a:rPr>
              <a:t>OEE (Overall Equipment Effectiveness)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E72BB-547E-1543-7538-1A5019C24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8263E3-5D8B-F465-B8EF-F39EBD1D2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81320"/>
            <a:ext cx="9661836" cy="462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1504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C2E36-D2CA-4D3C-8766-918EBF043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8 pillars of TPM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AF99D-84A3-63BC-CFDB-6F9A60515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7FD68D-F7F3-9F3E-2748-CEB357A8B4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3151"/>
          <a:stretch/>
        </p:blipFill>
        <p:spPr>
          <a:xfrm>
            <a:off x="1025562" y="1509920"/>
            <a:ext cx="9837510" cy="412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099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27C21-5432-8CC8-4DCE-AB65C3541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8 pillars of TPM (cont..)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FDFE1-310A-4CA5-9E1B-550AF971E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DB63A8-9D51-3EE3-4DAF-C13C20127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273" y="1825625"/>
            <a:ext cx="9659052" cy="39907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541499-EA36-A04C-B9F3-1378180012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369"/>
          <a:stretch/>
        </p:blipFill>
        <p:spPr>
          <a:xfrm>
            <a:off x="931881" y="1308307"/>
            <a:ext cx="9837510" cy="47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0384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2B07E-0E0C-F366-8020-CD1A1F761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8 pillars of TPM (cont..)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B0AF2-5849-14B6-0492-0E127100F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6575"/>
            <a:ext cx="10515600" cy="399071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E70BC-6551-1346-597A-62B8E0F21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887" y="1720301"/>
            <a:ext cx="9076226" cy="41632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B2936E-BCA7-D0F5-D3A5-CEFE96BEDD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369"/>
          <a:stretch/>
        </p:blipFill>
        <p:spPr>
          <a:xfrm>
            <a:off x="1543050" y="1263166"/>
            <a:ext cx="9076226" cy="45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29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48D96-F586-54B7-8AB6-A5970478B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8 pillars of TPM (cont..)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6F01F-374C-82D4-5EA9-236A5F500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7C2352-1122-668B-969B-071D4D165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65" y="2049665"/>
            <a:ext cx="9847876" cy="30081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D9EB22-5AC7-BCB4-6657-5381E22208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369"/>
          <a:stretch/>
        </p:blipFill>
        <p:spPr>
          <a:xfrm>
            <a:off x="921515" y="1557802"/>
            <a:ext cx="9837510" cy="47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5893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80BBB9-2589-4295-FF69-EBF782736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 Major losses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E9AE44-3CDF-2040-6832-863F31834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50323D-6346-46D9-09A4-27D5EC967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479" y="1344782"/>
            <a:ext cx="9485371" cy="447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414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57814-7430-FADF-FBB2-B325CDC8B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 Major losses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6EC04-9FF9-8C73-DA9D-F284DE898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0DFB4A-7330-5844-30A8-CF01FDE8A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33" y="2841287"/>
            <a:ext cx="10933818" cy="26637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346BAC-B8F1-DC28-9704-14448E3FDD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4063"/>
          <a:stretch/>
        </p:blipFill>
        <p:spPr>
          <a:xfrm>
            <a:off x="286633" y="2024859"/>
            <a:ext cx="10867142" cy="81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7673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2" y="196171"/>
            <a:ext cx="8515687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Losses / Waste – 6 Major Losses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B9AEB9-4FCA-68AD-9A4C-F7F40D7AF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5" y="1052512"/>
            <a:ext cx="8885924" cy="495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369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603" y="122429"/>
            <a:ext cx="4902332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Three Zeros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CB66C5-AA72-5688-E7BE-60A00CE25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5" y="857403"/>
            <a:ext cx="9541926" cy="519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603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5346" y="2800623"/>
            <a:ext cx="8396795" cy="628377"/>
          </a:xfrm>
          <a:prstGeom prst="rect">
            <a:avLst/>
          </a:prstGeom>
          <a:solidFill>
            <a:srgbClr val="AF1D4A"/>
          </a:solidFill>
        </p:spPr>
        <p:txBody>
          <a:bodyPr vert="horz" wrap="square" lIns="0" tIns="12700" rIns="0" bIns="0" rtlCol="0" anchor="ctr">
            <a:spAutoFit/>
          </a:bodyPr>
          <a:lstStyle>
            <a:lvl1pPr marL="12700">
              <a:lnSpc>
                <a:spcPct val="100000"/>
              </a:lnSpc>
              <a:spcBef>
                <a:spcPts val="100"/>
              </a:spcBef>
              <a:buNone/>
              <a:defRPr sz="4000" b="1" spc="-5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dirty="0"/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306199115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rita Digital Campus V1.0" id="{58E84EBF-3C9A-46FA-AC67-01E514AB1B2B}" vid="{BF34DAB5-A2D4-47C4-AD4E-D8DB5419BE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CA67C528DC284E8073580C98E8539C" ma:contentTypeVersion="10" ma:contentTypeDescription="Create a new document." ma:contentTypeScope="" ma:versionID="107b615047e9376b6c55e1e5aaead638">
  <xsd:schema xmlns:xsd="http://www.w3.org/2001/XMLSchema" xmlns:xs="http://www.w3.org/2001/XMLSchema" xmlns:p="http://schemas.microsoft.com/office/2006/metadata/properties" xmlns:ns2="0107a115-4623-4481-beee-bafad199008b" xmlns:ns3="7a2a247a-f6ec-4c8f-8314-d83500b08c54" targetNamespace="http://schemas.microsoft.com/office/2006/metadata/properties" ma:root="true" ma:fieldsID="508cbe6b2b3f672b12342e56415e841d" ns2:_="" ns3:_="">
    <xsd:import namespace="0107a115-4623-4481-beee-bafad199008b"/>
    <xsd:import namespace="7a2a247a-f6ec-4c8f-8314-d83500b08c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07a115-4623-4481-beee-bafad19900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a247a-f6ec-4c8f-8314-d83500b08c54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29E35A-EF86-49DD-8023-556F66FCE6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07a115-4623-4481-beee-bafad199008b"/>
    <ds:schemaRef ds:uri="7a2a247a-f6ec-4c8f-8314-d83500b08c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2C674B-ACDE-455C-BA7E-ACC458E5BC04}">
  <ds:schemaRefs>
    <ds:schemaRef ds:uri="0107a115-4623-4481-beee-bafad199008b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a2a247a-f6ec-4c8f-8314-d83500b08c54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B5309BE7-B587-43F4-8592-76B39C023D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47059</TotalTime>
  <Words>328</Words>
  <Application>Microsoft Office PowerPoint</Application>
  <PresentationFormat>Widescreen</PresentationFormat>
  <Paragraphs>62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-apple-system</vt:lpstr>
      <vt:lpstr>Arial</vt:lpstr>
      <vt:lpstr>Calibri</vt:lpstr>
      <vt:lpstr>Gill Sans MT</vt:lpstr>
      <vt:lpstr>Times New Roman</vt:lpstr>
      <vt:lpstr>Wingdings</vt:lpstr>
      <vt:lpstr>1_Office Theme</vt:lpstr>
      <vt:lpstr>PowerPoint Presentation</vt:lpstr>
      <vt:lpstr>Total Productive Maintenance (TPM)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OEE (Overall Equipment Effectiveness)</vt:lpstr>
      <vt:lpstr>OEE (Overall Equipment Effectiveness)</vt:lpstr>
      <vt:lpstr>8 pillars of TPM</vt:lpstr>
      <vt:lpstr>8 pillars of TPM (cont..)</vt:lpstr>
      <vt:lpstr>8 pillars of TPM (cont..)</vt:lpstr>
      <vt:lpstr>8 pillars of TPM (cont..)</vt:lpstr>
      <vt:lpstr>6 Major losses</vt:lpstr>
      <vt:lpstr>6 Major losses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 Introduction and Research Interest</dc:title>
  <dc:creator>AICTE</dc:creator>
  <cp:lastModifiedBy>Dr. Sunil Kumar - MEE - ASE, Chennai Campus</cp:lastModifiedBy>
  <cp:revision>1107</cp:revision>
  <dcterms:created xsi:type="dcterms:W3CDTF">2019-07-04T04:21:14Z</dcterms:created>
  <dcterms:modified xsi:type="dcterms:W3CDTF">2024-09-11T03:31:50Z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0x010100A2CA67C528DC284E8073580C98E8539C</vt:lpwstr>
  </property>
</Properties>
</file>