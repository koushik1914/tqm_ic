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64" r:id="rId5"/>
    <p:sldId id="687" r:id="rId6"/>
    <p:sldId id="1167" r:id="rId7"/>
    <p:sldId id="1168" r:id="rId8"/>
    <p:sldId id="1171" r:id="rId9"/>
    <p:sldId id="1169" r:id="rId10"/>
    <p:sldId id="1173" r:id="rId11"/>
    <p:sldId id="1170" r:id="rId12"/>
    <p:sldId id="1172" r:id="rId13"/>
    <p:sldId id="1174" r:id="rId14"/>
    <p:sldId id="1175" r:id="rId15"/>
    <p:sldId id="1176" r:id="rId16"/>
    <p:sldId id="1177" r:id="rId17"/>
    <p:sldId id="1180" r:id="rId18"/>
    <p:sldId id="1181" r:id="rId19"/>
    <p:sldId id="1182" r:id="rId20"/>
    <p:sldId id="1178" r:id="rId21"/>
    <p:sldId id="1179" r:id="rId22"/>
    <p:sldId id="116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M - [Mechanical], Amrita Vishwa Vidyapeetham." initials="SKM[AVV" lastIdx="1" clrIdx="0">
    <p:extLst>
      <p:ext uri="{19B8F6BF-5375-455C-9EA6-DF929625EA0E}">
        <p15:presenceInfo xmlns:p15="http://schemas.microsoft.com/office/powerpoint/2012/main" userId="Sathish Kumar M - [Mechanical], Amrita Vishwa Vidyapeetha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061" autoAdjust="0"/>
  </p:normalViewPr>
  <p:slideViewPr>
    <p:cSldViewPr snapToGrid="0">
      <p:cViewPr varScale="1">
        <p:scale>
          <a:sx n="77" d="100"/>
          <a:sy n="77" d="100"/>
        </p:scale>
        <p:origin x="787" y="58"/>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57318B-7A8A-4299-AEA3-1411F41B9684}" type="datetimeFigureOut">
              <a:rPr lang="en-GB" smtClean="0"/>
              <a:t>11/09/2024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0EE7F-DECD-4B61-B42D-8BCEBAEC89FD}" type="slidenum">
              <a:rPr lang="en-GB" smtClean="0"/>
              <a:t>‹#›</a:t>
            </a:fld>
            <a:endParaRPr lang="en-GB"/>
          </a:p>
        </p:txBody>
      </p:sp>
    </p:spTree>
    <p:extLst>
      <p:ext uri="{BB962C8B-B14F-4D97-AF65-F5344CB8AC3E}">
        <p14:creationId xmlns:p14="http://schemas.microsoft.com/office/powerpoint/2010/main" val="4257216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BB0EE7F-DECD-4B61-B42D-8BCEBAEC89FD}" type="slidenum">
              <a:rPr lang="en-GB" smtClean="0"/>
              <a:t>1</a:t>
            </a:fld>
            <a:endParaRPr lang="en-GB"/>
          </a:p>
        </p:txBody>
      </p:sp>
    </p:spTree>
    <p:extLst>
      <p:ext uri="{BB962C8B-B14F-4D97-AF65-F5344CB8AC3E}">
        <p14:creationId xmlns:p14="http://schemas.microsoft.com/office/powerpoint/2010/main" val="129918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4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325486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024872"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5" name="Picture 4" descr="A close up of a logo&#10;&#10;Description automatically generated">
            <a:extLst>
              <a:ext uri="{FF2B5EF4-FFF2-40B4-BE49-F238E27FC236}">
                <a16:creationId xmlns:a16="http://schemas.microsoft.com/office/drawing/2014/main" id="{DAF3D3DE-4523-4272-BE59-8D2437F581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166879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092436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8066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5" descr="A close up of a logo&#10;&#10;Description automatically generated">
            <a:extLst>
              <a:ext uri="{FF2B5EF4-FFF2-40B4-BE49-F238E27FC236}">
                <a16:creationId xmlns:a16="http://schemas.microsoft.com/office/drawing/2014/main" id="{7C636576-C435-4227-AE32-FBC777B3BDE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39624" cy="655982"/>
          </a:xfrm>
          <a:prstGeom prst="rect">
            <a:avLst/>
          </a:prstGeom>
        </p:spPr>
      </p:pic>
      <p:sp>
        <p:nvSpPr>
          <p:cNvPr id="8" name="Title 1">
            <a:extLst>
              <a:ext uri="{FF2B5EF4-FFF2-40B4-BE49-F238E27FC236}">
                <a16:creationId xmlns:a16="http://schemas.microsoft.com/office/drawing/2014/main" id="{80076A84-695B-4D81-B65B-036D08E10D12}"/>
              </a:ext>
            </a:extLst>
          </p:cNvPr>
          <p:cNvSpPr>
            <a:spLocks noGrp="1"/>
          </p:cNvSpPr>
          <p:nvPr>
            <p:ph type="title"/>
          </p:nvPr>
        </p:nvSpPr>
        <p:spPr>
          <a:xfrm>
            <a:off x="838200" y="365126"/>
            <a:ext cx="9997440"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22719106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8314"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78314"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8" name="Picture 7" descr="A close up of a logo&#10;&#10;Description automatically generated">
            <a:extLst>
              <a:ext uri="{FF2B5EF4-FFF2-40B4-BE49-F238E27FC236}">
                <a16:creationId xmlns:a16="http://schemas.microsoft.com/office/drawing/2014/main" id="{C9ECDAE0-0A74-4D72-8A95-D1CE68BB8C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733677" y="6002200"/>
            <a:ext cx="2120251" cy="655982"/>
          </a:xfrm>
          <a:prstGeom prst="rect">
            <a:avLst/>
          </a:prstGeom>
        </p:spPr>
      </p:pic>
      <p:sp>
        <p:nvSpPr>
          <p:cNvPr id="10" name="Title 1">
            <a:extLst>
              <a:ext uri="{FF2B5EF4-FFF2-40B4-BE49-F238E27FC236}">
                <a16:creationId xmlns:a16="http://schemas.microsoft.com/office/drawing/2014/main" id="{92D40324-116D-46BF-A0D8-ACBB1FA58BAE}"/>
              </a:ext>
            </a:extLst>
          </p:cNvPr>
          <p:cNvSpPr>
            <a:spLocks noGrp="1"/>
          </p:cNvSpPr>
          <p:nvPr>
            <p:ph type="title"/>
          </p:nvPr>
        </p:nvSpPr>
        <p:spPr>
          <a:xfrm>
            <a:off x="838200" y="365126"/>
            <a:ext cx="10015728"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2305533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1D5A8173-029E-4575-B1BE-7D44B32D742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356520" y="6017547"/>
            <a:ext cx="2457784" cy="655982"/>
          </a:xfrm>
          <a:prstGeom prst="rect">
            <a:avLst/>
          </a:prstGeom>
        </p:spPr>
      </p:pic>
      <p:sp>
        <p:nvSpPr>
          <p:cNvPr id="6" name="Title 1">
            <a:extLst>
              <a:ext uri="{FF2B5EF4-FFF2-40B4-BE49-F238E27FC236}">
                <a16:creationId xmlns:a16="http://schemas.microsoft.com/office/drawing/2014/main" id="{FF2D2E05-3817-4F9D-BBEF-1D4FF77C6B84}"/>
              </a:ext>
            </a:extLst>
          </p:cNvPr>
          <p:cNvSpPr>
            <a:spLocks noGrp="1"/>
          </p:cNvSpPr>
          <p:nvPr>
            <p:ph type="title"/>
          </p:nvPr>
        </p:nvSpPr>
        <p:spPr>
          <a:xfrm>
            <a:off x="838200" y="365126"/>
            <a:ext cx="9976104"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19639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A close up of a logo&#10;&#10;Description automatically generated">
            <a:extLst>
              <a:ext uri="{FF2B5EF4-FFF2-40B4-BE49-F238E27FC236}">
                <a16:creationId xmlns:a16="http://schemas.microsoft.com/office/drawing/2014/main" id="{5BF30093-AF1A-473D-8459-D65A198D7E3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2813677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p:cNvSpPr>
            <a:spLocks noGrp="1"/>
          </p:cNvSpPr>
          <p:nvPr>
            <p:ph idx="1"/>
          </p:nvPr>
        </p:nvSpPr>
        <p:spPr>
          <a:xfrm>
            <a:off x="5183188" y="987425"/>
            <a:ext cx="6172200" cy="4873625"/>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CAE8CF87-0C27-479A-9FCC-F0FA64D1A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9108347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0484F575-B956-41D8-9BD9-542DF1FD66F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3021825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33505" y="1525371"/>
            <a:ext cx="7724987"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70589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p:cNvSpPr>
            <a:spLocks noGrp="1"/>
          </p:cNvSpPr>
          <p:nvPr>
            <p:ph type="body" idx="1"/>
          </p:nvPr>
        </p:nvSpPr>
        <p:spPr>
          <a:xfrm>
            <a:off x="838200" y="1825625"/>
            <a:ext cx="10515600" cy="3990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32" name="Group 31"/>
          <p:cNvGrpSpPr/>
          <p:nvPr userDrawn="1"/>
        </p:nvGrpSpPr>
        <p:grpSpPr>
          <a:xfrm rot="5400000">
            <a:off x="10284402" y="4422774"/>
            <a:ext cx="2399145" cy="286385"/>
            <a:chOff x="838200" y="6096000"/>
            <a:chExt cx="2639060" cy="260350"/>
          </a:xfrm>
          <a:effectLst>
            <a:outerShdw blurRad="50800" dist="38100" dir="13500000" algn="br" rotWithShape="0">
              <a:prstClr val="black">
                <a:alpha val="40000"/>
              </a:prstClr>
            </a:outerShdw>
          </a:effectLst>
        </p:grpSpPr>
        <p:sp>
          <p:nvSpPr>
            <p:cNvPr id="23" name="Flowchart: Connector 22"/>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4" name="Flowchart: Connector 23"/>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5" name="Flowchart: Connector 24"/>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6" name="Flowchart: Connector 25"/>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7" name="Flowchart: Connector 26"/>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8" name="Flowchart: Connector 27"/>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9" name="Flowchart: Connector 28"/>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0" name="Flowchart: Connector 29"/>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1" name="Flowchart: Connector 30"/>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33" name="Group 32"/>
          <p:cNvGrpSpPr/>
          <p:nvPr userDrawn="1"/>
        </p:nvGrpSpPr>
        <p:grpSpPr>
          <a:xfrm>
            <a:off x="838200" y="6082983"/>
            <a:ext cx="2639060" cy="286385"/>
            <a:chOff x="838200" y="6096000"/>
            <a:chExt cx="2639060" cy="260350"/>
          </a:xfrm>
          <a:effectLst>
            <a:outerShdw blurRad="50800" dist="38100" dir="16200000" rotWithShape="0">
              <a:prstClr val="black">
                <a:alpha val="40000"/>
              </a:prstClr>
            </a:outerShdw>
          </a:effectLst>
        </p:grpSpPr>
        <p:sp>
          <p:nvSpPr>
            <p:cNvPr id="34" name="Flowchart: Connector 33"/>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5" name="Flowchart: Connector 34"/>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6" name="Flowchart: Connector 35"/>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7" name="Flowchart: Connector 36"/>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8" name="Flowchart: Connector 37"/>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9" name="Flowchart: Connector 38"/>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0" name="Flowchart: Connector 39"/>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1" name="Flowchart: Connector 40"/>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2" name="Flowchart: Connector 41"/>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Tree>
    <p:extLst>
      <p:ext uri="{BB962C8B-B14F-4D97-AF65-F5344CB8AC3E}">
        <p14:creationId xmlns:p14="http://schemas.microsoft.com/office/powerpoint/2010/main" val="4250354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6937F8-66AD-4534-8544-87CB8628F672}"/>
              </a:ext>
            </a:extLst>
          </p:cNvPr>
          <p:cNvSpPr txBox="1"/>
          <p:nvPr/>
        </p:nvSpPr>
        <p:spPr>
          <a:xfrm>
            <a:off x="247305" y="248330"/>
            <a:ext cx="11281718" cy="4216539"/>
          </a:xfrm>
          <a:prstGeom prst="rect">
            <a:avLst/>
          </a:prstGeom>
          <a:noFill/>
        </p:spPr>
        <p:txBody>
          <a:bodyPr wrap="square" rtlCol="0">
            <a:spAutoFit/>
          </a:bodyPr>
          <a:lstStyle/>
          <a:p>
            <a:pPr algn="ctr"/>
            <a:r>
              <a:rPr lang="en-IN" sz="4800" b="1" dirty="0">
                <a:solidFill>
                  <a:srgbClr val="800000"/>
                </a:solidFill>
                <a:latin typeface="Times New Roman" panose="02020603050405020304" pitchFamily="18" charset="0"/>
                <a:cs typeface="Times New Roman" panose="02020603050405020304" pitchFamily="18" charset="0"/>
              </a:rPr>
              <a:t>Welcome to </a:t>
            </a:r>
          </a:p>
          <a:p>
            <a:pPr algn="ctr"/>
            <a:r>
              <a:rPr lang="en-IN" sz="4800" b="1" dirty="0">
                <a:solidFill>
                  <a:srgbClr val="800000"/>
                </a:solidFill>
                <a:latin typeface="Times New Roman" panose="02020603050405020304" pitchFamily="18" charset="0"/>
                <a:cs typeface="Times New Roman" panose="02020603050405020304" pitchFamily="18" charset="0"/>
              </a:rPr>
              <a:t>Total Quality Management </a:t>
            </a:r>
          </a:p>
          <a:p>
            <a:pPr algn="ctr"/>
            <a:r>
              <a:rPr lang="en-IN" sz="4800" b="1" dirty="0">
                <a:solidFill>
                  <a:srgbClr val="800000"/>
                </a:solidFill>
                <a:latin typeface="Times New Roman" panose="02020603050405020304" pitchFamily="18" charset="0"/>
                <a:cs typeface="Times New Roman" panose="02020603050405020304" pitchFamily="18" charset="0"/>
              </a:rPr>
              <a:t>(19MEE347)</a:t>
            </a:r>
          </a:p>
          <a:p>
            <a:pPr algn="ctr"/>
            <a:endParaRPr lang="en-IN" sz="4400" b="1" dirty="0">
              <a:solidFill>
                <a:srgbClr val="FFC000"/>
              </a:solidFill>
              <a:latin typeface="Times New Roman" panose="02020603050405020304" pitchFamily="18" charset="0"/>
              <a:cs typeface="Times New Roman" panose="02020603050405020304" pitchFamily="18" charset="0"/>
            </a:endParaRPr>
          </a:p>
          <a:p>
            <a:pPr algn="ctr"/>
            <a:r>
              <a:rPr lang="en-IN" sz="4400" b="1" dirty="0">
                <a:solidFill>
                  <a:srgbClr val="FFC000"/>
                </a:solidFill>
                <a:latin typeface="Times New Roman" panose="02020603050405020304" pitchFamily="18" charset="0"/>
                <a:cs typeface="Times New Roman" panose="02020603050405020304" pitchFamily="18" charset="0"/>
              </a:rPr>
              <a:t>Unit 3 – Quality Loss Function</a:t>
            </a:r>
          </a:p>
          <a:p>
            <a:pPr algn="ct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655C8B-5034-404C-99D8-7F9D1F7AD815}"/>
              </a:ext>
            </a:extLst>
          </p:cNvPr>
          <p:cNvSpPr txBox="1"/>
          <p:nvPr/>
        </p:nvSpPr>
        <p:spPr>
          <a:xfrm>
            <a:off x="1225553" y="4464869"/>
            <a:ext cx="9740893" cy="1323439"/>
          </a:xfrm>
          <a:prstGeom prst="rect">
            <a:avLst/>
          </a:prstGeom>
          <a:solidFill>
            <a:srgbClr val="AE1237"/>
          </a:solidFill>
        </p:spPr>
        <p:txBody>
          <a:bodyPr wrap="square" rtlCol="0">
            <a:spAutoFit/>
          </a:bodyPr>
          <a:lstStyle/>
          <a:p>
            <a:pPr algn="ctr"/>
            <a:r>
              <a:rPr lang="en-IN" sz="4000" b="1" dirty="0">
                <a:solidFill>
                  <a:schemeClr val="bg1"/>
                </a:solidFill>
                <a:latin typeface="Times New Roman" panose="02020603050405020304" pitchFamily="18" charset="0"/>
                <a:cs typeface="Times New Roman" panose="02020603050405020304" pitchFamily="18" charset="0"/>
              </a:rPr>
              <a:t>Name: Dr. </a:t>
            </a:r>
            <a:r>
              <a:rPr lang="en-IN" sz="4000" b="1">
                <a:solidFill>
                  <a:schemeClr val="bg1"/>
                </a:solidFill>
                <a:latin typeface="Times New Roman" panose="02020603050405020304" pitchFamily="18" charset="0"/>
                <a:cs typeface="Times New Roman" panose="02020603050405020304" pitchFamily="18" charset="0"/>
              </a:rPr>
              <a:t>Sunil Kumar</a:t>
            </a:r>
            <a:endParaRPr lang="en-IN" sz="4000" b="1" dirty="0">
              <a:solidFill>
                <a:schemeClr val="bg1"/>
              </a:solidFill>
              <a:latin typeface="Times New Roman" panose="02020603050405020304" pitchFamily="18" charset="0"/>
              <a:cs typeface="Times New Roman" panose="02020603050405020304" pitchFamily="18" charset="0"/>
            </a:endParaRPr>
          </a:p>
          <a:p>
            <a:pPr algn="ctr"/>
            <a:r>
              <a:rPr lang="en-IN" sz="4000" b="1" dirty="0">
                <a:solidFill>
                  <a:schemeClr val="bg1"/>
                </a:solidFill>
                <a:latin typeface="Times New Roman" panose="02020603050405020304" pitchFamily="18" charset="0"/>
                <a:cs typeface="Times New Roman" panose="02020603050405020304" pitchFamily="18" charset="0"/>
              </a:rPr>
              <a:t>Department of Mechanical Engineering</a:t>
            </a:r>
          </a:p>
        </p:txBody>
      </p:sp>
    </p:spTree>
    <p:extLst>
      <p:ext uri="{BB962C8B-B14F-4D97-AF65-F5344CB8AC3E}">
        <p14:creationId xmlns:p14="http://schemas.microsoft.com/office/powerpoint/2010/main" val="36633384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884015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Background of the Taguchi Method</a:t>
            </a:r>
            <a:endParaRPr dirty="0"/>
          </a:p>
        </p:txBody>
      </p:sp>
      <p:sp>
        <p:nvSpPr>
          <p:cNvPr id="3" name="Rectangle 2">
            <a:extLst>
              <a:ext uri="{FF2B5EF4-FFF2-40B4-BE49-F238E27FC236}">
                <a16:creationId xmlns:a16="http://schemas.microsoft.com/office/drawing/2014/main" id="{AFEF85DA-3D46-C41E-3F83-CAE0F75A9548}"/>
              </a:ext>
            </a:extLst>
          </p:cNvPr>
          <p:cNvSpPr txBox="1">
            <a:spLocks noChangeArrowheads="1"/>
          </p:cNvSpPr>
          <p:nvPr/>
        </p:nvSpPr>
        <p:spPr>
          <a:xfrm>
            <a:off x="495300" y="1405573"/>
            <a:ext cx="10715625" cy="42522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ltLang="en-US" sz="2400" dirty="0">
                <a:latin typeface="+mj-lt"/>
              </a:rPr>
              <a:t>Introduced by Dr. Genichi Taguchi (1980)</a:t>
            </a:r>
          </a:p>
          <a:p>
            <a:pPr marL="0" indent="0" algn="just">
              <a:lnSpc>
                <a:spcPct val="100000"/>
              </a:lnSpc>
              <a:buNone/>
            </a:pPr>
            <a:r>
              <a:rPr lang="en-US" altLang="en-US" sz="2400" dirty="0">
                <a:latin typeface="+mj-lt"/>
              </a:rPr>
              <a:t>• Unique aspects of the Taguchi method</a:t>
            </a:r>
          </a:p>
          <a:p>
            <a:pPr marL="0" indent="0" algn="just">
              <a:lnSpc>
                <a:spcPct val="100000"/>
              </a:lnSpc>
              <a:buNone/>
            </a:pPr>
            <a:r>
              <a:rPr lang="en-US" altLang="en-US" sz="2400" dirty="0">
                <a:latin typeface="+mj-lt"/>
              </a:rPr>
              <a:t>	– The Taguchi definition of quality</a:t>
            </a:r>
          </a:p>
          <a:p>
            <a:pPr marL="0" indent="0" algn="just">
              <a:lnSpc>
                <a:spcPct val="100000"/>
              </a:lnSpc>
              <a:buNone/>
            </a:pPr>
            <a:r>
              <a:rPr lang="en-US" altLang="en-US" sz="2400" dirty="0">
                <a:latin typeface="+mj-lt"/>
              </a:rPr>
              <a:t>	– The Taguchi Quality Loss Function (QLF)</a:t>
            </a:r>
          </a:p>
          <a:p>
            <a:pPr marL="457200" lvl="1" indent="0" algn="just">
              <a:lnSpc>
                <a:spcPct val="100000"/>
              </a:lnSpc>
              <a:buNone/>
            </a:pPr>
            <a:r>
              <a:rPr lang="en-US" altLang="en-US" sz="2400" dirty="0">
                <a:latin typeface="+mj-lt"/>
              </a:rPr>
              <a:t>	– The concept of Robust Design</a:t>
            </a:r>
          </a:p>
          <a:p>
            <a:pPr marL="0" indent="0" algn="just">
              <a:lnSpc>
                <a:spcPct val="100000"/>
              </a:lnSpc>
              <a:buNone/>
            </a:pPr>
            <a:r>
              <a:rPr lang="en-US" altLang="en-US" sz="2400" dirty="0">
                <a:latin typeface="+mj-lt"/>
              </a:rPr>
              <a:t>• Combines cost, target and variation</a:t>
            </a:r>
          </a:p>
          <a:p>
            <a:pPr marL="0" indent="0" algn="just">
              <a:lnSpc>
                <a:spcPct val="100000"/>
              </a:lnSpc>
              <a:buNone/>
            </a:pPr>
            <a:r>
              <a:rPr lang="en-US" altLang="en-US" sz="2400" dirty="0">
                <a:latin typeface="+mj-lt"/>
              </a:rPr>
              <a:t>• Specification is of secondary importance</a:t>
            </a:r>
          </a:p>
          <a:p>
            <a:pPr marL="0" indent="0" algn="just">
              <a:lnSpc>
                <a:spcPct val="100000"/>
              </a:lnSpc>
              <a:buNone/>
            </a:pPr>
            <a:r>
              <a:rPr lang="en-US" altLang="en-US" sz="2400" dirty="0">
                <a:latin typeface="+mj-lt"/>
              </a:rPr>
              <a:t>• Noise factors – uncontrollable variables that can cause significant variability in the process or the product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Quality Definition</a:t>
            </a:r>
            <a:endParaRPr dirty="0"/>
          </a:p>
        </p:txBody>
      </p:sp>
      <p:sp>
        <p:nvSpPr>
          <p:cNvPr id="5" name="TextBox 4">
            <a:extLst>
              <a:ext uri="{FF2B5EF4-FFF2-40B4-BE49-F238E27FC236}">
                <a16:creationId xmlns:a16="http://schemas.microsoft.com/office/drawing/2014/main" id="{B36AFCAE-C615-BF58-B619-793CC2F8EA9A}"/>
              </a:ext>
            </a:extLst>
          </p:cNvPr>
          <p:cNvSpPr txBox="1"/>
          <p:nvPr/>
        </p:nvSpPr>
        <p:spPr>
          <a:xfrm>
            <a:off x="259603" y="1000713"/>
            <a:ext cx="11612849" cy="4540730"/>
          </a:xfrm>
          <a:prstGeom prst="rect">
            <a:avLst/>
          </a:prstGeom>
          <a:noFill/>
        </p:spPr>
        <p:txBody>
          <a:bodyPr wrap="square">
            <a:spAutoFit/>
          </a:bodyPr>
          <a:lstStyle/>
          <a:p>
            <a:pPr algn="l">
              <a:lnSpc>
                <a:spcPct val="150000"/>
              </a:lnSpc>
            </a:pPr>
            <a:r>
              <a:rPr lang="en-US" sz="2800" b="1" i="0" u="none" strike="noStrike" baseline="0" dirty="0">
                <a:solidFill>
                  <a:srgbClr val="001932"/>
                </a:solidFill>
                <a:latin typeface="+mj-lt"/>
              </a:rPr>
              <a:t>Quality </a:t>
            </a:r>
            <a:r>
              <a:rPr lang="en-US" sz="2800" b="0" i="0" u="none" strike="noStrike" baseline="0" dirty="0">
                <a:solidFill>
                  <a:srgbClr val="001932"/>
                </a:solidFill>
                <a:latin typeface="+mj-lt"/>
              </a:rPr>
              <a:t>– loss imparted to the society from the time the product is </a:t>
            </a:r>
            <a:r>
              <a:rPr lang="en-IN" sz="2800" b="0" i="0" u="none" strike="noStrike" baseline="0" dirty="0">
                <a:solidFill>
                  <a:srgbClr val="001932"/>
                </a:solidFill>
                <a:latin typeface="+mj-lt"/>
              </a:rPr>
              <a:t>shipped</a:t>
            </a:r>
          </a:p>
          <a:p>
            <a:pPr algn="l">
              <a:lnSpc>
                <a:spcPct val="150000"/>
              </a:lnSpc>
            </a:pPr>
            <a:r>
              <a:rPr lang="en-IN" sz="2800" b="1" i="0" u="none" strike="noStrike" baseline="0" dirty="0">
                <a:solidFill>
                  <a:srgbClr val="001932"/>
                </a:solidFill>
                <a:latin typeface="+mj-lt"/>
              </a:rPr>
              <a:t>Societal loss</a:t>
            </a:r>
          </a:p>
          <a:p>
            <a:pPr lvl="1">
              <a:lnSpc>
                <a:spcPct val="150000"/>
              </a:lnSpc>
            </a:pPr>
            <a:r>
              <a:rPr lang="en-US" sz="2800" b="0" i="0" u="none" strike="noStrike" baseline="0" dirty="0">
                <a:solidFill>
                  <a:srgbClr val="001932"/>
                </a:solidFill>
                <a:latin typeface="+mj-lt"/>
              </a:rPr>
              <a:t>• Failure to meet customers requirements</a:t>
            </a:r>
          </a:p>
          <a:p>
            <a:pPr lvl="1">
              <a:lnSpc>
                <a:spcPct val="150000"/>
              </a:lnSpc>
            </a:pPr>
            <a:r>
              <a:rPr lang="en-US" sz="2800" b="0" i="0" u="none" strike="noStrike" baseline="0" dirty="0">
                <a:solidFill>
                  <a:srgbClr val="001932"/>
                </a:solidFill>
                <a:latin typeface="+mj-lt"/>
              </a:rPr>
              <a:t>• Failure to meet ideal performances</a:t>
            </a:r>
          </a:p>
          <a:p>
            <a:pPr lvl="1">
              <a:lnSpc>
                <a:spcPct val="150000"/>
              </a:lnSpc>
            </a:pPr>
            <a:r>
              <a:rPr lang="en-IN" sz="2800" b="0" i="0" u="none" strike="noStrike" baseline="0" dirty="0">
                <a:solidFill>
                  <a:srgbClr val="001932"/>
                </a:solidFill>
                <a:latin typeface="+mj-lt"/>
              </a:rPr>
              <a:t>• Harmful side effects</a:t>
            </a:r>
          </a:p>
          <a:p>
            <a:pPr lvl="1">
              <a:lnSpc>
                <a:spcPct val="150000"/>
              </a:lnSpc>
            </a:pPr>
            <a:r>
              <a:rPr lang="en-US" sz="2800" b="0" i="0" u="none" strike="noStrike" baseline="0" dirty="0">
                <a:solidFill>
                  <a:srgbClr val="001932"/>
                </a:solidFill>
                <a:latin typeface="+mj-lt"/>
              </a:rPr>
              <a:t>• Losses due to production (raw material, energy, labor) of unusable products or toxic by-products</a:t>
            </a:r>
            <a:endParaRPr lang="en-IN" sz="2800" dirty="0">
              <a:latin typeface="+mj-lt"/>
            </a:endParaRPr>
          </a:p>
        </p:txBody>
      </p:sp>
    </p:spTree>
    <p:extLst>
      <p:ext uri="{BB962C8B-B14F-4D97-AF65-F5344CB8AC3E}">
        <p14:creationId xmlns:p14="http://schemas.microsoft.com/office/powerpoint/2010/main" val="303593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330036"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Sony USA &amp; JAPAN</a:t>
            </a:r>
            <a:endParaRPr dirty="0"/>
          </a:p>
        </p:txBody>
      </p:sp>
      <p:sp>
        <p:nvSpPr>
          <p:cNvPr id="4" name="TextBox 3">
            <a:extLst>
              <a:ext uri="{FF2B5EF4-FFF2-40B4-BE49-F238E27FC236}">
                <a16:creationId xmlns:a16="http://schemas.microsoft.com/office/drawing/2014/main" id="{56481FE5-713F-DC8A-B426-3E1D85D23B0D}"/>
              </a:ext>
            </a:extLst>
          </p:cNvPr>
          <p:cNvSpPr txBox="1"/>
          <p:nvPr/>
        </p:nvSpPr>
        <p:spPr>
          <a:xfrm>
            <a:off x="259603" y="1031563"/>
            <a:ext cx="11450616" cy="5013232"/>
          </a:xfrm>
          <a:prstGeom prst="rect">
            <a:avLst/>
          </a:prstGeom>
          <a:noFill/>
        </p:spPr>
        <p:txBody>
          <a:bodyPr wrap="square">
            <a:spAutoFit/>
          </a:bodyPr>
          <a:lstStyle/>
          <a:p>
            <a:pPr algn="just">
              <a:lnSpc>
                <a:spcPct val="150000"/>
              </a:lnSpc>
            </a:pPr>
            <a:r>
              <a:rPr lang="en-US" sz="2400" b="0" i="0" u="none" strike="noStrike" baseline="0" dirty="0">
                <a:solidFill>
                  <a:srgbClr val="001932"/>
                </a:solidFill>
                <a:latin typeface="+mj-lt"/>
              </a:rPr>
              <a:t>*  Customers preferred the televisions sets produced by Sony-Japan over </a:t>
            </a:r>
            <a:r>
              <a:rPr lang="en-IN" sz="2400" b="0" i="0" u="none" strike="noStrike" baseline="0" dirty="0">
                <a:solidFill>
                  <a:srgbClr val="001932"/>
                </a:solidFill>
                <a:latin typeface="+mj-lt"/>
              </a:rPr>
              <a:t>those produced by Sony-USA.</a:t>
            </a:r>
          </a:p>
          <a:p>
            <a:pPr algn="just">
              <a:lnSpc>
                <a:spcPct val="150000"/>
              </a:lnSpc>
            </a:pPr>
            <a:r>
              <a:rPr lang="en-US" sz="2400" b="0" i="0" u="none" strike="noStrike" baseline="0" dirty="0">
                <a:solidFill>
                  <a:srgbClr val="001932"/>
                </a:solidFill>
                <a:latin typeface="+mj-lt"/>
              </a:rPr>
              <a:t>* The color density of the televisions manufactured by Sony-USA were uniformly distributed and fell within the tolerance limits, </a:t>
            </a:r>
            <a:r>
              <a:rPr lang="en-US" sz="2400" b="0" i="1" u="none" strike="noStrike" baseline="0" dirty="0">
                <a:solidFill>
                  <a:srgbClr val="001932"/>
                </a:solidFill>
                <a:latin typeface="+mj-lt"/>
              </a:rPr>
              <a:t>m </a:t>
            </a:r>
            <a:r>
              <a:rPr lang="en-US" sz="2400" b="0" i="0" u="none" strike="noStrike" baseline="0" dirty="0">
                <a:solidFill>
                  <a:srgbClr val="001932"/>
                </a:solidFill>
                <a:latin typeface="+mj-lt"/>
              </a:rPr>
              <a:t>± 5</a:t>
            </a:r>
          </a:p>
          <a:p>
            <a:pPr algn="just">
              <a:lnSpc>
                <a:spcPct val="150000"/>
              </a:lnSpc>
            </a:pPr>
            <a:r>
              <a:rPr lang="en-US" sz="2400" b="0" i="0" u="none" strike="noStrike" baseline="0" dirty="0">
                <a:solidFill>
                  <a:srgbClr val="001932"/>
                </a:solidFill>
                <a:latin typeface="+mj-lt"/>
              </a:rPr>
              <a:t>• The televisions from Sony-Japan followed a normal distribution, more televisions were on target but about 0.3% fell outside of the tolerance </a:t>
            </a:r>
            <a:r>
              <a:rPr lang="en-IN" sz="2400" b="0" i="0" u="none" strike="noStrike" baseline="0" dirty="0">
                <a:solidFill>
                  <a:srgbClr val="001932"/>
                </a:solidFill>
                <a:latin typeface="+mj-lt"/>
              </a:rPr>
              <a:t>limits.</a:t>
            </a:r>
          </a:p>
          <a:p>
            <a:pPr algn="just">
              <a:lnSpc>
                <a:spcPct val="150000"/>
              </a:lnSpc>
            </a:pPr>
            <a:r>
              <a:rPr lang="en-US" sz="2400" b="0" i="0" u="none" strike="noStrike" baseline="0" dirty="0">
                <a:solidFill>
                  <a:srgbClr val="001932"/>
                </a:solidFill>
                <a:latin typeface="+mj-lt"/>
              </a:rPr>
              <a:t>• The differences in customer perceptions of quality resulted from Sony-USA paying attention only to meeting the tolerances whereas in Sony-Japan, the focus was on meeting the target and minimizing the variance </a:t>
            </a:r>
            <a:r>
              <a:rPr lang="en-IN" sz="2400" b="0" i="0" u="none" strike="noStrike" baseline="0" dirty="0">
                <a:solidFill>
                  <a:srgbClr val="001932"/>
                </a:solidFill>
                <a:latin typeface="+mj-lt"/>
              </a:rPr>
              <a:t>around that target.</a:t>
            </a:r>
            <a:endParaRPr lang="en-IN" sz="2400" dirty="0">
              <a:latin typeface="+mj-lt"/>
            </a:endParaRPr>
          </a:p>
        </p:txBody>
      </p:sp>
    </p:spTree>
    <p:extLst>
      <p:ext uri="{BB962C8B-B14F-4D97-AF65-F5344CB8AC3E}">
        <p14:creationId xmlns:p14="http://schemas.microsoft.com/office/powerpoint/2010/main" val="684049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330036"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Sony USA &amp; JAPAN</a:t>
            </a:r>
            <a:endParaRPr dirty="0"/>
          </a:p>
        </p:txBody>
      </p:sp>
      <p:pic>
        <p:nvPicPr>
          <p:cNvPr id="5" name="Picture 4">
            <a:extLst>
              <a:ext uri="{FF2B5EF4-FFF2-40B4-BE49-F238E27FC236}">
                <a16:creationId xmlns:a16="http://schemas.microsoft.com/office/drawing/2014/main" id="{08547E12-533B-5272-2750-FA239A3697C1}"/>
              </a:ext>
            </a:extLst>
          </p:cNvPr>
          <p:cNvPicPr>
            <a:picLocks noChangeAspect="1"/>
          </p:cNvPicPr>
          <p:nvPr/>
        </p:nvPicPr>
        <p:blipFill>
          <a:blip r:embed="rId2"/>
          <a:stretch>
            <a:fillRect/>
          </a:stretch>
        </p:blipFill>
        <p:spPr>
          <a:xfrm>
            <a:off x="1755058" y="1001646"/>
            <a:ext cx="9253847" cy="5660183"/>
          </a:xfrm>
          <a:prstGeom prst="rect">
            <a:avLst/>
          </a:prstGeom>
        </p:spPr>
      </p:pic>
    </p:spTree>
    <p:extLst>
      <p:ext uri="{BB962C8B-B14F-4D97-AF65-F5344CB8AC3E}">
        <p14:creationId xmlns:p14="http://schemas.microsoft.com/office/powerpoint/2010/main" val="2347769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226949"/>
            <a:ext cx="11244139" cy="566822"/>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sz="3600" dirty="0"/>
              <a:t>Taguchi Loss Function (TLF) – Nominal-the-best</a:t>
            </a:r>
            <a:endParaRPr sz="3600" dirty="0"/>
          </a:p>
        </p:txBody>
      </p:sp>
      <p:sp>
        <p:nvSpPr>
          <p:cNvPr id="4" name="TextBox 3">
            <a:extLst>
              <a:ext uri="{FF2B5EF4-FFF2-40B4-BE49-F238E27FC236}">
                <a16:creationId xmlns:a16="http://schemas.microsoft.com/office/drawing/2014/main" id="{B1822158-B5CB-274D-D865-46AC23539F8F}"/>
              </a:ext>
            </a:extLst>
          </p:cNvPr>
          <p:cNvSpPr txBox="1"/>
          <p:nvPr/>
        </p:nvSpPr>
        <p:spPr>
          <a:xfrm>
            <a:off x="392339" y="1091248"/>
            <a:ext cx="11111403" cy="2704908"/>
          </a:xfrm>
          <a:prstGeom prst="rect">
            <a:avLst/>
          </a:prstGeom>
          <a:noFill/>
        </p:spPr>
        <p:txBody>
          <a:bodyPr wrap="square">
            <a:spAutoFit/>
          </a:bodyPr>
          <a:lstStyle/>
          <a:p>
            <a:pPr algn="ctr">
              <a:lnSpc>
                <a:spcPct val="150000"/>
              </a:lnSpc>
            </a:pPr>
            <a:r>
              <a:rPr lang="en-US" sz="2400" b="1" i="0" dirty="0">
                <a:solidFill>
                  <a:srgbClr val="FF0000"/>
                </a:solidFill>
                <a:effectLst/>
                <a:latin typeface="Roboto" panose="02000000000000000000" pitchFamily="2" charset="0"/>
              </a:rPr>
              <a:t>“TLF is a graphical representation of how an increase in variation within specification limits leads to an exponential increase in customer dissatisfaction.”</a:t>
            </a:r>
            <a:endParaRPr lang="en-US" sz="2400" b="0" i="0" u="none" strike="noStrike" baseline="0" dirty="0">
              <a:solidFill>
                <a:srgbClr val="001932"/>
              </a:solidFill>
              <a:latin typeface="+mj-lt"/>
            </a:endParaRPr>
          </a:p>
          <a:p>
            <a:pPr algn="l">
              <a:lnSpc>
                <a:spcPct val="150000"/>
              </a:lnSpc>
            </a:pPr>
            <a:r>
              <a:rPr lang="en-US" sz="2000" b="0" i="0" u="none" strike="noStrike" baseline="0" dirty="0">
                <a:solidFill>
                  <a:srgbClr val="001932"/>
                </a:solidFill>
                <a:latin typeface="+mj-lt"/>
              </a:rPr>
              <a:t>Taguchi’s loss function explains the economic value of reducing </a:t>
            </a:r>
            <a:r>
              <a:rPr lang="en-IN" sz="2000" b="0" i="0" u="none" strike="noStrike" baseline="0" dirty="0">
                <a:solidFill>
                  <a:srgbClr val="001932"/>
                </a:solidFill>
                <a:latin typeface="+mj-lt"/>
              </a:rPr>
              <a:t>variation in manufacturing.</a:t>
            </a:r>
          </a:p>
          <a:p>
            <a:pPr algn="ctr">
              <a:lnSpc>
                <a:spcPct val="150000"/>
              </a:lnSpc>
            </a:pPr>
            <a:r>
              <a:rPr lang="en-IN" sz="2400" b="1" i="1" u="none" strike="noStrike" baseline="0" dirty="0">
                <a:solidFill>
                  <a:srgbClr val="001932"/>
                </a:solidFill>
                <a:latin typeface="+mj-lt"/>
              </a:rPr>
              <a:t>L</a:t>
            </a:r>
            <a:r>
              <a:rPr lang="en-IN" sz="2400" b="1" i="0" u="none" strike="noStrike" baseline="0" dirty="0">
                <a:solidFill>
                  <a:srgbClr val="001932"/>
                </a:solidFill>
                <a:latin typeface="+mj-lt"/>
              </a:rPr>
              <a:t>(</a:t>
            </a:r>
            <a:r>
              <a:rPr lang="en-IN" sz="2400" b="1" i="1" u="none" strike="noStrike" baseline="0" dirty="0">
                <a:solidFill>
                  <a:srgbClr val="001932"/>
                </a:solidFill>
                <a:latin typeface="+mj-lt"/>
              </a:rPr>
              <a:t>y</a:t>
            </a:r>
            <a:r>
              <a:rPr lang="en-IN" sz="2400" b="1" i="0" u="none" strike="noStrike" baseline="0" dirty="0">
                <a:solidFill>
                  <a:srgbClr val="001932"/>
                </a:solidFill>
                <a:latin typeface="+mj-lt"/>
              </a:rPr>
              <a:t>) = </a:t>
            </a:r>
            <a:r>
              <a:rPr lang="en-IN" sz="2400" b="1" i="1" u="none" strike="noStrike" baseline="0" dirty="0">
                <a:solidFill>
                  <a:srgbClr val="001932"/>
                </a:solidFill>
                <a:latin typeface="+mj-lt"/>
              </a:rPr>
              <a:t>k</a:t>
            </a:r>
            <a:r>
              <a:rPr lang="en-IN" sz="2400" b="1" i="0" u="none" strike="noStrike" baseline="0" dirty="0">
                <a:solidFill>
                  <a:srgbClr val="001932"/>
                </a:solidFill>
                <a:latin typeface="+mj-lt"/>
              </a:rPr>
              <a:t>(</a:t>
            </a:r>
            <a:r>
              <a:rPr lang="en-IN" sz="2400" b="1" i="1" u="none" strike="noStrike" baseline="0" dirty="0">
                <a:solidFill>
                  <a:srgbClr val="001932"/>
                </a:solidFill>
                <a:latin typeface="+mj-lt"/>
              </a:rPr>
              <a:t>y </a:t>
            </a:r>
            <a:r>
              <a:rPr lang="en-IN" sz="2400" b="1" i="0" u="none" strike="noStrike" baseline="0" dirty="0">
                <a:solidFill>
                  <a:srgbClr val="001932"/>
                </a:solidFill>
                <a:latin typeface="+mj-lt"/>
              </a:rPr>
              <a:t>– </a:t>
            </a:r>
            <a:r>
              <a:rPr lang="en-IN" sz="2400" b="1" i="1" u="none" strike="noStrike" baseline="0" dirty="0">
                <a:solidFill>
                  <a:srgbClr val="001932"/>
                </a:solidFill>
                <a:latin typeface="+mj-lt"/>
              </a:rPr>
              <a:t>T</a:t>
            </a:r>
            <a:r>
              <a:rPr lang="en-IN" sz="2400" b="1" i="0" u="none" strike="noStrike" baseline="0" dirty="0">
                <a:solidFill>
                  <a:srgbClr val="001932"/>
                </a:solidFill>
                <a:latin typeface="+mj-lt"/>
              </a:rPr>
              <a:t>)</a:t>
            </a:r>
            <a:r>
              <a:rPr lang="en-IN" sz="2400" b="1" i="0" u="none" strike="noStrike" baseline="30000" dirty="0">
                <a:solidFill>
                  <a:srgbClr val="001932"/>
                </a:solidFill>
                <a:latin typeface="+mj-lt"/>
              </a:rPr>
              <a:t>2</a:t>
            </a:r>
            <a:endParaRPr lang="en-IN" sz="2400" b="1" i="0" u="none" strike="noStrike" baseline="0" dirty="0">
              <a:solidFill>
                <a:srgbClr val="001932"/>
              </a:solidFill>
              <a:latin typeface="+mj-lt"/>
            </a:endParaRPr>
          </a:p>
        </p:txBody>
      </p:sp>
      <p:pic>
        <p:nvPicPr>
          <p:cNvPr id="1026" name="Picture 2">
            <a:extLst>
              <a:ext uri="{FF2B5EF4-FFF2-40B4-BE49-F238E27FC236}">
                <a16:creationId xmlns:a16="http://schemas.microsoft.com/office/drawing/2014/main" id="{0776E768-37EE-2242-DFBF-DC74D453A8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9924" y="3283013"/>
            <a:ext cx="5167823" cy="3262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B3D7C5-1527-DC39-619F-93BFBF63E77D}"/>
              </a:ext>
            </a:extLst>
          </p:cNvPr>
          <p:cNvSpPr txBox="1"/>
          <p:nvPr/>
        </p:nvSpPr>
        <p:spPr>
          <a:xfrm>
            <a:off x="677182" y="3746498"/>
            <a:ext cx="6096000" cy="2121030"/>
          </a:xfrm>
          <a:prstGeom prst="rect">
            <a:avLst/>
          </a:prstGeom>
          <a:noFill/>
        </p:spPr>
        <p:txBody>
          <a:bodyPr wrap="square">
            <a:spAutoFit/>
          </a:bodyPr>
          <a:lstStyle/>
          <a:p>
            <a:pPr algn="l">
              <a:lnSpc>
                <a:spcPct val="150000"/>
              </a:lnSpc>
            </a:pPr>
            <a:r>
              <a:rPr lang="en-IN" sz="1800" b="0" i="0" u="none" strike="noStrike" baseline="0" dirty="0">
                <a:solidFill>
                  <a:srgbClr val="001932"/>
                </a:solidFill>
                <a:latin typeface="+mj-lt"/>
              </a:rPr>
              <a:t>where:</a:t>
            </a:r>
          </a:p>
          <a:p>
            <a:pPr algn="l">
              <a:lnSpc>
                <a:spcPct val="150000"/>
              </a:lnSpc>
            </a:pPr>
            <a:r>
              <a:rPr lang="en-US" sz="1800" b="0" i="1" u="none" strike="noStrike" baseline="0" dirty="0">
                <a:solidFill>
                  <a:srgbClr val="001932"/>
                </a:solidFill>
                <a:latin typeface="+mj-lt"/>
              </a:rPr>
              <a:t>L</a:t>
            </a:r>
            <a:r>
              <a:rPr lang="en-US" sz="1800" b="0" i="0" u="none" strike="noStrike" baseline="0" dirty="0">
                <a:solidFill>
                  <a:srgbClr val="001932"/>
                </a:solidFill>
                <a:latin typeface="+mj-lt"/>
              </a:rPr>
              <a:t>(</a:t>
            </a:r>
            <a:r>
              <a:rPr lang="en-US" sz="1800" b="0" i="1" u="none" strike="noStrike" baseline="0" dirty="0">
                <a:solidFill>
                  <a:srgbClr val="001932"/>
                </a:solidFill>
                <a:latin typeface="+mj-lt"/>
              </a:rPr>
              <a:t>y</a:t>
            </a:r>
            <a:r>
              <a:rPr lang="en-US" sz="1800" b="0" i="0" u="none" strike="noStrike" baseline="0" dirty="0">
                <a:solidFill>
                  <a:srgbClr val="001932"/>
                </a:solidFill>
                <a:latin typeface="+mj-lt"/>
              </a:rPr>
              <a:t>) is the cost involved as quality deviates from the target, </a:t>
            </a:r>
            <a:r>
              <a:rPr lang="en-US" sz="1800" b="0" i="1" u="none" strike="noStrike" baseline="0" dirty="0">
                <a:solidFill>
                  <a:srgbClr val="001932"/>
                </a:solidFill>
                <a:latin typeface="+mj-lt"/>
              </a:rPr>
              <a:t>T</a:t>
            </a:r>
            <a:r>
              <a:rPr lang="en-US" sz="1800" b="0" i="0" u="none" strike="noStrike" baseline="0" dirty="0">
                <a:solidFill>
                  <a:srgbClr val="001932"/>
                </a:solidFill>
                <a:latin typeface="+mj-lt"/>
              </a:rPr>
              <a:t>;</a:t>
            </a:r>
          </a:p>
          <a:p>
            <a:pPr algn="l">
              <a:lnSpc>
                <a:spcPct val="150000"/>
              </a:lnSpc>
            </a:pPr>
            <a:r>
              <a:rPr lang="en-US" sz="1800" b="0" i="1" u="none" strike="noStrike" baseline="0" dirty="0">
                <a:solidFill>
                  <a:srgbClr val="001932"/>
                </a:solidFill>
                <a:latin typeface="+mj-lt"/>
              </a:rPr>
              <a:t>y </a:t>
            </a:r>
            <a:r>
              <a:rPr lang="en-US" sz="1800" b="0" i="0" u="none" strike="noStrike" baseline="0" dirty="0">
                <a:solidFill>
                  <a:srgbClr val="001932"/>
                </a:solidFill>
                <a:latin typeface="+mj-lt"/>
              </a:rPr>
              <a:t>is the performance characteristic;</a:t>
            </a:r>
          </a:p>
          <a:p>
            <a:pPr algn="l">
              <a:lnSpc>
                <a:spcPct val="150000"/>
              </a:lnSpc>
            </a:pPr>
            <a:r>
              <a:rPr lang="en-US" sz="1800" b="0" i="1" u="none" strike="noStrike" baseline="0" dirty="0">
                <a:solidFill>
                  <a:srgbClr val="001932"/>
                </a:solidFill>
                <a:latin typeface="+mj-lt"/>
              </a:rPr>
              <a:t>k </a:t>
            </a:r>
            <a:r>
              <a:rPr lang="en-US" sz="1800" b="0" i="0" u="none" strike="noStrike" baseline="0" dirty="0">
                <a:solidFill>
                  <a:srgbClr val="001932"/>
                </a:solidFill>
                <a:latin typeface="+mj-lt"/>
              </a:rPr>
              <a:t>is a constant that translates the deviation into </a:t>
            </a:r>
            <a:r>
              <a:rPr lang="en-US" dirty="0">
                <a:solidFill>
                  <a:srgbClr val="001932"/>
                </a:solidFill>
                <a:latin typeface="+mj-lt"/>
              </a:rPr>
              <a:t>cost</a:t>
            </a:r>
            <a:r>
              <a:rPr lang="en-US" sz="1800" b="0" i="0" u="none" strike="noStrike" baseline="0" dirty="0">
                <a:solidFill>
                  <a:srgbClr val="001932"/>
                </a:solidFill>
                <a:latin typeface="+mj-lt"/>
              </a:rPr>
              <a:t> (quality loss </a:t>
            </a:r>
            <a:r>
              <a:rPr lang="en-IN" sz="1800" b="0" i="0" u="none" strike="noStrike" baseline="0" dirty="0">
                <a:solidFill>
                  <a:srgbClr val="001932"/>
                </a:solidFill>
                <a:latin typeface="+mj-lt"/>
              </a:rPr>
              <a:t>coefficient)</a:t>
            </a:r>
            <a:endParaRPr lang="en-IN" sz="1800" dirty="0">
              <a:latin typeface="+mj-lt"/>
            </a:endParaRPr>
          </a:p>
        </p:txBody>
      </p:sp>
    </p:spTree>
    <p:extLst>
      <p:ext uri="{BB962C8B-B14F-4D97-AF65-F5344CB8AC3E}">
        <p14:creationId xmlns:p14="http://schemas.microsoft.com/office/powerpoint/2010/main" val="462754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69671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Taguchi Loss Function</a:t>
            </a:r>
            <a:endParaRPr dirty="0"/>
          </a:p>
        </p:txBody>
      </p:sp>
      <p:pic>
        <p:nvPicPr>
          <p:cNvPr id="2050" name="Picture 2" descr="animation from The Red Road showing reduction in loss as variation decreases">
            <a:extLst>
              <a:ext uri="{FF2B5EF4-FFF2-40B4-BE49-F238E27FC236}">
                <a16:creationId xmlns:a16="http://schemas.microsoft.com/office/drawing/2014/main" id="{81B2009F-6C9E-441C-B852-B933DF719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224" y="980209"/>
            <a:ext cx="6734175" cy="4897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953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Average Loss</a:t>
            </a:r>
            <a:endParaRPr dirty="0"/>
          </a:p>
        </p:txBody>
      </p:sp>
      <p:sp>
        <p:nvSpPr>
          <p:cNvPr id="4" name="TextBox 3">
            <a:extLst>
              <a:ext uri="{FF2B5EF4-FFF2-40B4-BE49-F238E27FC236}">
                <a16:creationId xmlns:a16="http://schemas.microsoft.com/office/drawing/2014/main" id="{08C0C5C7-7BFB-882D-7529-E7734AC58A84}"/>
              </a:ext>
            </a:extLst>
          </p:cNvPr>
          <p:cNvSpPr txBox="1"/>
          <p:nvPr/>
        </p:nvSpPr>
        <p:spPr>
          <a:xfrm>
            <a:off x="486698" y="1539963"/>
            <a:ext cx="10559846" cy="2608856"/>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800" b="0" i="0" u="none" strike="noStrike" baseline="0" dirty="0">
                <a:solidFill>
                  <a:srgbClr val="001932"/>
                </a:solidFill>
                <a:latin typeface="+mj-lt"/>
              </a:rPr>
              <a:t>Loss function must reflect the variation of many pieces rather </a:t>
            </a:r>
            <a:r>
              <a:rPr lang="en-IN" sz="2800" b="0" i="0" u="none" strike="noStrike" baseline="0" dirty="0">
                <a:solidFill>
                  <a:srgbClr val="001932"/>
                </a:solidFill>
                <a:latin typeface="+mj-lt"/>
              </a:rPr>
              <a:t>than just one piece</a:t>
            </a:r>
          </a:p>
          <a:p>
            <a:pPr marL="342900" indent="-342900" algn="l">
              <a:lnSpc>
                <a:spcPct val="150000"/>
              </a:lnSpc>
              <a:buFont typeface="Arial" panose="020B0604020202020204" pitchFamily="34" charset="0"/>
              <a:buChar char="•"/>
            </a:pPr>
            <a:r>
              <a:rPr lang="fr-FR" sz="2800" b="0" i="0" u="none" strike="noStrike" baseline="0" dirty="0">
                <a:solidFill>
                  <a:srgbClr val="001932"/>
                </a:solidFill>
                <a:latin typeface="+mj-lt"/>
              </a:rPr>
              <a:t>L1 = k[σ</a:t>
            </a:r>
            <a:r>
              <a:rPr lang="fr-FR" sz="2800" b="0" i="0" u="none" strike="noStrike" baseline="30000" dirty="0">
                <a:solidFill>
                  <a:srgbClr val="001932"/>
                </a:solidFill>
                <a:latin typeface="+mj-lt"/>
              </a:rPr>
              <a:t>2</a:t>
            </a:r>
            <a:r>
              <a:rPr lang="fr-FR" sz="2800" b="0" i="0" u="none" strike="noStrike" baseline="0" dirty="0">
                <a:solidFill>
                  <a:srgbClr val="001932"/>
                </a:solidFill>
                <a:latin typeface="+mj-lt"/>
              </a:rPr>
              <a:t> + (y1 - </a:t>
            </a:r>
            <a:r>
              <a:rPr lang="fr-FR" sz="2800" b="0" i="1" u="none" strike="noStrike" baseline="0" dirty="0">
                <a:solidFill>
                  <a:srgbClr val="001932"/>
                </a:solidFill>
                <a:latin typeface="+mj-lt"/>
              </a:rPr>
              <a:t>T</a:t>
            </a:r>
            <a:r>
              <a:rPr lang="fr-FR" sz="2800" b="0" i="0" u="none" strike="noStrike" baseline="0" dirty="0">
                <a:solidFill>
                  <a:srgbClr val="001932"/>
                </a:solidFill>
                <a:latin typeface="+mj-lt"/>
              </a:rPr>
              <a:t>)</a:t>
            </a:r>
            <a:r>
              <a:rPr lang="fr-FR" sz="2800" b="0" i="0" u="none" strike="noStrike" baseline="30000" dirty="0">
                <a:solidFill>
                  <a:srgbClr val="001932"/>
                </a:solidFill>
                <a:latin typeface="+mj-lt"/>
              </a:rPr>
              <a:t>2</a:t>
            </a:r>
            <a:r>
              <a:rPr lang="fr-FR" sz="2800" b="0" i="0" u="none" strike="noStrike" baseline="0" dirty="0">
                <a:solidFill>
                  <a:srgbClr val="001932"/>
                </a:solidFill>
                <a:latin typeface="+mj-lt"/>
              </a:rPr>
              <a:t>]</a:t>
            </a:r>
          </a:p>
          <a:p>
            <a:pPr marL="342900" indent="-342900" algn="l">
              <a:lnSpc>
                <a:spcPct val="150000"/>
              </a:lnSpc>
              <a:buFont typeface="Arial" panose="020B0604020202020204" pitchFamily="34" charset="0"/>
              <a:buChar char="•"/>
            </a:pPr>
            <a:r>
              <a:rPr lang="en-US" sz="2800" b="0" i="0" u="none" strike="noStrike" baseline="0" dirty="0">
                <a:solidFill>
                  <a:srgbClr val="001932"/>
                </a:solidFill>
                <a:latin typeface="+mj-lt"/>
              </a:rPr>
              <a:t>σ is the population standard deviation</a:t>
            </a:r>
            <a:endParaRPr lang="en-IN" sz="2800" dirty="0">
              <a:latin typeface="+mj-lt"/>
            </a:endParaRPr>
          </a:p>
        </p:txBody>
      </p:sp>
    </p:spTree>
    <p:extLst>
      <p:ext uri="{BB962C8B-B14F-4D97-AF65-F5344CB8AC3E}">
        <p14:creationId xmlns:p14="http://schemas.microsoft.com/office/powerpoint/2010/main" val="330755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630342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Taguchi Robust Design</a:t>
            </a:r>
            <a:endParaRPr dirty="0"/>
          </a:p>
        </p:txBody>
      </p:sp>
      <p:sp>
        <p:nvSpPr>
          <p:cNvPr id="4" name="TextBox 3">
            <a:extLst>
              <a:ext uri="{FF2B5EF4-FFF2-40B4-BE49-F238E27FC236}">
                <a16:creationId xmlns:a16="http://schemas.microsoft.com/office/drawing/2014/main" id="{F6C067BC-7F0A-85BA-C590-01C361DCCCEB}"/>
              </a:ext>
            </a:extLst>
          </p:cNvPr>
          <p:cNvSpPr txBox="1"/>
          <p:nvPr/>
        </p:nvSpPr>
        <p:spPr>
          <a:xfrm>
            <a:off x="556750" y="824548"/>
            <a:ext cx="10504539" cy="5567230"/>
          </a:xfrm>
          <a:prstGeom prst="rect">
            <a:avLst/>
          </a:prstGeom>
          <a:noFill/>
        </p:spPr>
        <p:txBody>
          <a:bodyPr wrap="square">
            <a:spAutoFit/>
          </a:bodyPr>
          <a:lstStyle/>
          <a:p>
            <a:pPr algn="l">
              <a:lnSpc>
                <a:spcPct val="150000"/>
              </a:lnSpc>
            </a:pPr>
            <a:r>
              <a:rPr lang="en-US" sz="2400" b="0" i="0" u="none" strike="noStrike" baseline="0" dirty="0">
                <a:solidFill>
                  <a:srgbClr val="001932"/>
                </a:solidFill>
                <a:latin typeface="+mj-lt"/>
              </a:rPr>
              <a:t>• A process has “several” quality characteristics</a:t>
            </a:r>
          </a:p>
          <a:p>
            <a:pPr lvl="1">
              <a:lnSpc>
                <a:spcPct val="150000"/>
              </a:lnSpc>
            </a:pPr>
            <a:r>
              <a:rPr lang="en-IN" sz="2400" b="0" i="0" u="none" strike="noStrike" baseline="0" dirty="0">
                <a:solidFill>
                  <a:srgbClr val="001932"/>
                </a:solidFill>
                <a:latin typeface="+mj-lt"/>
              </a:rPr>
              <a:t>– </a:t>
            </a:r>
            <a:r>
              <a:rPr lang="en-IN" sz="2400" b="1" i="1" u="none" strike="noStrike" baseline="0" dirty="0">
                <a:solidFill>
                  <a:srgbClr val="001932"/>
                </a:solidFill>
                <a:latin typeface="+mj-lt"/>
              </a:rPr>
              <a:t>Desirable Qualities</a:t>
            </a:r>
          </a:p>
          <a:p>
            <a:pPr lvl="1">
              <a:lnSpc>
                <a:spcPct val="150000"/>
              </a:lnSpc>
            </a:pPr>
            <a:r>
              <a:rPr lang="en-IN" sz="2400" b="0" i="0" u="none" strike="noStrike" baseline="0" dirty="0">
                <a:solidFill>
                  <a:srgbClr val="001932"/>
                </a:solidFill>
                <a:latin typeface="+mj-lt"/>
              </a:rPr>
              <a:t>Larger-the-Better (strength, mileage etc)</a:t>
            </a:r>
          </a:p>
          <a:p>
            <a:pPr lvl="1">
              <a:lnSpc>
                <a:spcPct val="150000"/>
              </a:lnSpc>
            </a:pPr>
            <a:r>
              <a:rPr lang="en-IN" sz="2400" b="0" i="0" u="none" strike="noStrike" baseline="0" dirty="0">
                <a:solidFill>
                  <a:srgbClr val="001932"/>
                </a:solidFill>
                <a:latin typeface="+mj-lt"/>
              </a:rPr>
              <a:t>Nominal-the-Best (specified dimensions, uniformity)</a:t>
            </a:r>
          </a:p>
          <a:p>
            <a:pPr lvl="1">
              <a:lnSpc>
                <a:spcPct val="150000"/>
              </a:lnSpc>
            </a:pPr>
            <a:r>
              <a:rPr lang="en-IN" sz="2400" b="0" i="0" u="none" strike="noStrike" baseline="0" dirty="0">
                <a:solidFill>
                  <a:srgbClr val="001932"/>
                </a:solidFill>
                <a:latin typeface="+mj-lt"/>
              </a:rPr>
              <a:t>– </a:t>
            </a:r>
            <a:r>
              <a:rPr lang="en-IN" sz="2400" b="1" i="1" u="none" strike="noStrike" baseline="0" dirty="0">
                <a:solidFill>
                  <a:srgbClr val="001932"/>
                </a:solidFill>
                <a:latin typeface="+mj-lt"/>
              </a:rPr>
              <a:t>Undesirable properties</a:t>
            </a:r>
          </a:p>
          <a:p>
            <a:pPr lvl="1">
              <a:lnSpc>
                <a:spcPct val="150000"/>
              </a:lnSpc>
            </a:pPr>
            <a:r>
              <a:rPr lang="en-US" sz="2400" b="0" i="0" u="none" strike="noStrike" baseline="0" dirty="0">
                <a:solidFill>
                  <a:srgbClr val="001932"/>
                </a:solidFill>
                <a:latin typeface="+mj-lt"/>
              </a:rPr>
              <a:t>Smaller-the-better (defects, resources - material/time, cost)</a:t>
            </a:r>
          </a:p>
          <a:p>
            <a:pPr algn="l">
              <a:lnSpc>
                <a:spcPct val="150000"/>
              </a:lnSpc>
            </a:pPr>
            <a:r>
              <a:rPr lang="en-US" sz="2400" b="0" i="0" u="none" strike="noStrike" baseline="0" dirty="0">
                <a:solidFill>
                  <a:srgbClr val="001932"/>
                </a:solidFill>
                <a:latin typeface="+mj-lt"/>
              </a:rPr>
              <a:t>• Determine the best settings such that</a:t>
            </a:r>
          </a:p>
          <a:p>
            <a:pPr lvl="1">
              <a:lnSpc>
                <a:spcPct val="150000"/>
              </a:lnSpc>
            </a:pPr>
            <a:r>
              <a:rPr lang="en-IN" sz="2400" b="0" i="0" u="none" strike="noStrike" baseline="0" dirty="0">
                <a:solidFill>
                  <a:srgbClr val="001932"/>
                </a:solidFill>
                <a:latin typeface="+mj-lt"/>
              </a:rPr>
              <a:t>– Desirable qualities are enhanced</a:t>
            </a:r>
          </a:p>
          <a:p>
            <a:pPr lvl="1">
              <a:lnSpc>
                <a:spcPct val="150000"/>
              </a:lnSpc>
            </a:pPr>
            <a:r>
              <a:rPr lang="en-US" sz="2400" b="0" i="0" u="none" strike="noStrike" baseline="0" dirty="0">
                <a:solidFill>
                  <a:srgbClr val="001932"/>
                </a:solidFill>
                <a:latin typeface="+mj-lt"/>
              </a:rPr>
              <a:t>– Undesirable properties are minimized/eliminated</a:t>
            </a:r>
          </a:p>
          <a:p>
            <a:pPr marL="1714500" lvl="3" indent="-342900">
              <a:lnSpc>
                <a:spcPct val="150000"/>
              </a:lnSpc>
              <a:buFont typeface="Wingdings" panose="05000000000000000000" pitchFamily="2" charset="2"/>
              <a:buChar char="Ø"/>
            </a:pPr>
            <a:r>
              <a:rPr lang="en-US" sz="2400" b="0" i="0" u="none" strike="noStrike" baseline="0" dirty="0">
                <a:solidFill>
                  <a:srgbClr val="001932"/>
                </a:solidFill>
                <a:latin typeface="+mj-lt"/>
              </a:rPr>
              <a:t>Process becomes ROBUST i.e. insensitive to Noise</a:t>
            </a:r>
            <a:endParaRPr lang="en-IN" sz="2400" dirty="0">
              <a:latin typeface="+mj-lt"/>
            </a:endParaRPr>
          </a:p>
        </p:txBody>
      </p:sp>
    </p:spTree>
    <p:extLst>
      <p:ext uri="{BB962C8B-B14F-4D97-AF65-F5344CB8AC3E}">
        <p14:creationId xmlns:p14="http://schemas.microsoft.com/office/powerpoint/2010/main" val="548644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7940500"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Taguchi Design of Experiments</a:t>
            </a:r>
            <a:endParaRPr dirty="0"/>
          </a:p>
        </p:txBody>
      </p:sp>
      <p:sp>
        <p:nvSpPr>
          <p:cNvPr id="4" name="TextBox 3">
            <a:extLst>
              <a:ext uri="{FF2B5EF4-FFF2-40B4-BE49-F238E27FC236}">
                <a16:creationId xmlns:a16="http://schemas.microsoft.com/office/drawing/2014/main" id="{82C33084-7EAB-5583-F69E-C0775AB56C17}"/>
              </a:ext>
            </a:extLst>
          </p:cNvPr>
          <p:cNvSpPr txBox="1"/>
          <p:nvPr/>
        </p:nvSpPr>
        <p:spPr>
          <a:xfrm>
            <a:off x="552449" y="1603457"/>
            <a:ext cx="10620375" cy="3022622"/>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600" b="0" i="0" u="none" strike="noStrike" baseline="0" dirty="0">
                <a:solidFill>
                  <a:srgbClr val="001932"/>
                </a:solidFill>
                <a:latin typeface="+mj-lt"/>
              </a:rPr>
              <a:t>The Taguchi method is a structured approach for determining the ”best” combination of inputs to produce </a:t>
            </a:r>
            <a:r>
              <a:rPr lang="en-IN" sz="2600" b="0" i="0" u="none" strike="noStrike" baseline="0" dirty="0">
                <a:solidFill>
                  <a:srgbClr val="001932"/>
                </a:solidFill>
                <a:latin typeface="+mj-lt"/>
              </a:rPr>
              <a:t>a product or service</a:t>
            </a:r>
          </a:p>
          <a:p>
            <a:pPr marL="457200" indent="-457200" algn="just">
              <a:lnSpc>
                <a:spcPct val="150000"/>
              </a:lnSpc>
              <a:buFont typeface="Arial" panose="020B0604020202020204" pitchFamily="34" charset="0"/>
              <a:buChar char="•"/>
            </a:pPr>
            <a:r>
              <a:rPr lang="en-US" sz="2600" b="0" i="0" u="none" strike="noStrike" baseline="0" dirty="0">
                <a:solidFill>
                  <a:srgbClr val="001932"/>
                </a:solidFill>
                <a:latin typeface="+mj-lt"/>
              </a:rPr>
              <a:t>DOE is an important tool for designing processes and </a:t>
            </a:r>
            <a:r>
              <a:rPr lang="en-IN" sz="2600" b="0" i="0" u="none" strike="noStrike" baseline="0" dirty="0">
                <a:solidFill>
                  <a:srgbClr val="001932"/>
                </a:solidFill>
                <a:latin typeface="+mj-lt"/>
              </a:rPr>
              <a:t>products</a:t>
            </a:r>
          </a:p>
          <a:p>
            <a:pPr algn="just">
              <a:lnSpc>
                <a:spcPct val="150000"/>
              </a:lnSpc>
            </a:pPr>
            <a:r>
              <a:rPr lang="en-US" sz="2600" b="0" i="0" u="none" strike="noStrike" baseline="0" dirty="0">
                <a:solidFill>
                  <a:srgbClr val="001932"/>
                </a:solidFill>
                <a:latin typeface="+mj-lt"/>
              </a:rPr>
              <a:t>	– A method for quantitatively identifying the right inputs and parameter levels for making a high quality product or service</a:t>
            </a:r>
            <a:endParaRPr lang="en-IN" sz="2600" dirty="0">
              <a:latin typeface="+mj-lt"/>
            </a:endParaRPr>
          </a:p>
        </p:txBody>
      </p:sp>
    </p:spTree>
    <p:extLst>
      <p:ext uri="{BB962C8B-B14F-4D97-AF65-F5344CB8AC3E}">
        <p14:creationId xmlns:p14="http://schemas.microsoft.com/office/powerpoint/2010/main" val="312427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Robust Design</a:t>
            </a:r>
            <a:endParaRPr dirty="0"/>
          </a:p>
        </p:txBody>
      </p:sp>
      <p:sp>
        <p:nvSpPr>
          <p:cNvPr id="4" name="TextBox 3">
            <a:extLst>
              <a:ext uri="{FF2B5EF4-FFF2-40B4-BE49-F238E27FC236}">
                <a16:creationId xmlns:a16="http://schemas.microsoft.com/office/drawing/2014/main" id="{5F29E5B2-12EA-0DC7-E983-1CBD65564EC6}"/>
              </a:ext>
            </a:extLst>
          </p:cNvPr>
          <p:cNvSpPr txBox="1"/>
          <p:nvPr/>
        </p:nvSpPr>
        <p:spPr>
          <a:xfrm>
            <a:off x="486697" y="1130887"/>
            <a:ext cx="10928555" cy="4540730"/>
          </a:xfrm>
          <a:prstGeom prst="rect">
            <a:avLst/>
          </a:prstGeom>
          <a:noFill/>
        </p:spPr>
        <p:txBody>
          <a:bodyPr wrap="square">
            <a:spAutoFit/>
          </a:bodyPr>
          <a:lstStyle/>
          <a:p>
            <a:pPr algn="just">
              <a:lnSpc>
                <a:spcPct val="150000"/>
              </a:lnSpc>
            </a:pPr>
            <a:r>
              <a:rPr lang="en-US" sz="2800" b="0" i="0" u="none" strike="noStrike" baseline="0" dirty="0">
                <a:solidFill>
                  <a:srgbClr val="001932"/>
                </a:solidFill>
                <a:latin typeface="+mj-lt"/>
              </a:rPr>
              <a:t>• NOISE - events that cause the design performance to deviate from its target values</a:t>
            </a:r>
          </a:p>
          <a:p>
            <a:pPr algn="just">
              <a:lnSpc>
                <a:spcPct val="150000"/>
              </a:lnSpc>
            </a:pPr>
            <a:r>
              <a:rPr lang="en-IN" sz="2800" b="0" i="0" u="none" strike="noStrike" baseline="0" dirty="0">
                <a:solidFill>
                  <a:srgbClr val="001932"/>
                </a:solidFill>
                <a:latin typeface="+mj-lt"/>
              </a:rPr>
              <a:t>• Taguchi divide NOISE into three categories</a:t>
            </a:r>
          </a:p>
          <a:p>
            <a:pPr lvl="1" algn="just">
              <a:lnSpc>
                <a:spcPct val="150000"/>
              </a:lnSpc>
            </a:pPr>
            <a:r>
              <a:rPr lang="en-US" sz="2800" b="0" i="0" u="none" strike="noStrike" baseline="0" dirty="0">
                <a:solidFill>
                  <a:srgbClr val="001932"/>
                </a:solidFill>
                <a:latin typeface="+mj-lt"/>
              </a:rPr>
              <a:t>– </a:t>
            </a:r>
            <a:r>
              <a:rPr lang="en-US" sz="2800" b="1" i="0" u="none" strike="noStrike" baseline="0" dirty="0">
                <a:solidFill>
                  <a:srgbClr val="001932"/>
                </a:solidFill>
                <a:latin typeface="+mj-lt"/>
              </a:rPr>
              <a:t>External Noise</a:t>
            </a:r>
            <a:r>
              <a:rPr lang="en-US" sz="2800" b="0" i="0" u="none" strike="noStrike" baseline="0" dirty="0">
                <a:solidFill>
                  <a:srgbClr val="001932"/>
                </a:solidFill>
                <a:latin typeface="+mj-lt"/>
              </a:rPr>
              <a:t>: variations in the environment where the product </a:t>
            </a:r>
            <a:r>
              <a:rPr lang="en-IN" sz="2800" b="0" i="0" u="none" strike="noStrike" baseline="0" dirty="0">
                <a:solidFill>
                  <a:srgbClr val="001932"/>
                </a:solidFill>
                <a:latin typeface="+mj-lt"/>
              </a:rPr>
              <a:t>is used</a:t>
            </a:r>
          </a:p>
          <a:p>
            <a:pPr lvl="1" algn="just">
              <a:lnSpc>
                <a:spcPct val="150000"/>
              </a:lnSpc>
            </a:pPr>
            <a:r>
              <a:rPr lang="en-US" sz="2800" b="0" i="0" u="none" strike="noStrike" baseline="0" dirty="0">
                <a:solidFill>
                  <a:srgbClr val="001932"/>
                </a:solidFill>
                <a:latin typeface="+mj-lt"/>
              </a:rPr>
              <a:t>– </a:t>
            </a:r>
            <a:r>
              <a:rPr lang="en-US" sz="2800" b="1" i="0" u="none" strike="noStrike" baseline="0" dirty="0">
                <a:solidFill>
                  <a:srgbClr val="001932"/>
                </a:solidFill>
                <a:latin typeface="+mj-lt"/>
              </a:rPr>
              <a:t>Deterioration Noise</a:t>
            </a:r>
            <a:r>
              <a:rPr lang="en-US" sz="2800" b="0" i="0" u="none" strike="noStrike" baseline="0" dirty="0">
                <a:solidFill>
                  <a:srgbClr val="001932"/>
                </a:solidFill>
                <a:latin typeface="+mj-lt"/>
              </a:rPr>
              <a:t>: wear and tear inside a specific unit</a:t>
            </a:r>
          </a:p>
          <a:p>
            <a:pPr lvl="1" algn="just">
              <a:lnSpc>
                <a:spcPct val="150000"/>
              </a:lnSpc>
            </a:pPr>
            <a:r>
              <a:rPr lang="en-IN" sz="2800" b="0" i="0" u="none" strike="noStrike" baseline="0" dirty="0">
                <a:solidFill>
                  <a:srgbClr val="001932"/>
                </a:solidFill>
                <a:latin typeface="+mj-lt"/>
              </a:rPr>
              <a:t>– </a:t>
            </a:r>
            <a:r>
              <a:rPr lang="en-IN" sz="2800" b="1" i="0" u="none" strike="noStrike" baseline="0" dirty="0">
                <a:solidFill>
                  <a:srgbClr val="001932"/>
                </a:solidFill>
                <a:latin typeface="+mj-lt"/>
              </a:rPr>
              <a:t>Internal Noise</a:t>
            </a:r>
            <a:r>
              <a:rPr lang="en-IN" sz="2800" b="0" i="0" u="none" strike="noStrike" baseline="0" dirty="0">
                <a:solidFill>
                  <a:srgbClr val="001932"/>
                </a:solidFill>
                <a:latin typeface="+mj-lt"/>
              </a:rPr>
              <a:t>: deviation from target values</a:t>
            </a:r>
            <a:endParaRPr lang="en-IN" sz="2800" dirty="0">
              <a:latin typeface="+mj-lt"/>
            </a:endParaRPr>
          </a:p>
        </p:txBody>
      </p:sp>
    </p:spTree>
    <p:extLst>
      <p:ext uri="{BB962C8B-B14F-4D97-AF65-F5344CB8AC3E}">
        <p14:creationId xmlns:p14="http://schemas.microsoft.com/office/powerpoint/2010/main" val="3378989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NOISE</a:t>
            </a:r>
            <a:endParaRPr dirty="0"/>
          </a:p>
        </p:txBody>
      </p:sp>
      <p:graphicFrame>
        <p:nvGraphicFramePr>
          <p:cNvPr id="5" name="Table 5">
            <a:extLst>
              <a:ext uri="{FF2B5EF4-FFF2-40B4-BE49-F238E27FC236}">
                <a16:creationId xmlns:a16="http://schemas.microsoft.com/office/drawing/2014/main" id="{18D57EC3-10F0-32AF-2FAB-43F629227FE0}"/>
              </a:ext>
            </a:extLst>
          </p:cNvPr>
          <p:cNvGraphicFramePr>
            <a:graphicFrameLocks noGrp="1"/>
          </p:cNvGraphicFramePr>
          <p:nvPr>
            <p:extLst>
              <p:ext uri="{D42A27DB-BD31-4B8C-83A1-F6EECF244321}">
                <p14:modId xmlns:p14="http://schemas.microsoft.com/office/powerpoint/2010/main" val="3569958231"/>
              </p:ext>
            </p:extLst>
          </p:nvPr>
        </p:nvGraphicFramePr>
        <p:xfrm>
          <a:off x="1717675" y="1828800"/>
          <a:ext cx="8128000" cy="32004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124875060"/>
                    </a:ext>
                  </a:extLst>
                </a:gridCol>
                <a:gridCol w="4064000">
                  <a:extLst>
                    <a:ext uri="{9D8B030D-6E8A-4147-A177-3AD203B41FA5}">
                      <a16:colId xmlns:a16="http://schemas.microsoft.com/office/drawing/2014/main" val="1806980041"/>
                    </a:ext>
                  </a:extLst>
                </a:gridCol>
              </a:tblGrid>
              <a:tr h="370840">
                <a:tc>
                  <a:txBody>
                    <a:bodyPr/>
                    <a:lstStyle/>
                    <a:p>
                      <a:r>
                        <a:rPr lang="en-US" sz="2400" dirty="0"/>
                        <a:t>External Noise</a:t>
                      </a:r>
                      <a:endParaRPr lang="en-IN" sz="2400" dirty="0"/>
                    </a:p>
                  </a:txBody>
                  <a:tcPr/>
                </a:tc>
                <a:tc>
                  <a:txBody>
                    <a:bodyPr/>
                    <a:lstStyle/>
                    <a:p>
                      <a:r>
                        <a:rPr lang="en-US" sz="2400" dirty="0"/>
                        <a:t>Consumer’s Usage condition</a:t>
                      </a:r>
                    </a:p>
                    <a:p>
                      <a:r>
                        <a:rPr lang="en-IN" sz="2400" dirty="0"/>
                        <a:t>Temperature Change</a:t>
                      </a:r>
                    </a:p>
                    <a:p>
                      <a:r>
                        <a:rPr lang="en-IN" sz="2400" dirty="0"/>
                        <a:t>Vibration</a:t>
                      </a:r>
                    </a:p>
                    <a:p>
                      <a:r>
                        <a:rPr lang="en-IN" sz="2400" dirty="0"/>
                        <a:t>Humidity</a:t>
                      </a:r>
                    </a:p>
                  </a:txBody>
                  <a:tcPr/>
                </a:tc>
                <a:extLst>
                  <a:ext uri="{0D108BD9-81ED-4DB2-BD59-A6C34878D82A}">
                    <a16:rowId xmlns:a16="http://schemas.microsoft.com/office/drawing/2014/main" val="2363025955"/>
                  </a:ext>
                </a:extLst>
              </a:tr>
              <a:tr h="370840">
                <a:tc>
                  <a:txBody>
                    <a:bodyPr/>
                    <a:lstStyle/>
                    <a:p>
                      <a:r>
                        <a:rPr lang="en-US" sz="2400" dirty="0"/>
                        <a:t>Deterioration Noise</a:t>
                      </a:r>
                      <a:endParaRPr lang="en-IN" sz="2400" dirty="0"/>
                    </a:p>
                  </a:txBody>
                  <a:tcPr/>
                </a:tc>
                <a:tc>
                  <a:txBody>
                    <a:bodyPr/>
                    <a:lstStyle/>
                    <a:p>
                      <a:r>
                        <a:rPr lang="en-US" sz="2400" dirty="0"/>
                        <a:t>Deterioration of parts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Deterioration of material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Oxidation (rust)</a:t>
                      </a:r>
                    </a:p>
                  </a:txBody>
                  <a:tcPr/>
                </a:tc>
                <a:extLst>
                  <a:ext uri="{0D108BD9-81ED-4DB2-BD59-A6C34878D82A}">
                    <a16:rowId xmlns:a16="http://schemas.microsoft.com/office/drawing/2014/main" val="3679462454"/>
                  </a:ext>
                </a:extLst>
              </a:tr>
              <a:tr h="370840">
                <a:tc>
                  <a:txBody>
                    <a:bodyPr/>
                    <a:lstStyle/>
                    <a:p>
                      <a:r>
                        <a:rPr lang="en-US" sz="2400" dirty="0"/>
                        <a:t>Unit to unit Internal Noise</a:t>
                      </a:r>
                      <a:endParaRPr lang="en-IN" sz="2400" dirty="0"/>
                    </a:p>
                  </a:txBody>
                  <a:tcPr/>
                </a:tc>
                <a:tc>
                  <a:txBody>
                    <a:bodyPr/>
                    <a:lstStyle/>
                    <a:p>
                      <a:r>
                        <a:rPr lang="en-US" sz="2400" dirty="0"/>
                        <a:t>Piece to piece vibration</a:t>
                      </a:r>
                      <a:endParaRPr lang="en-IN" sz="2400" dirty="0"/>
                    </a:p>
                  </a:txBody>
                  <a:tcPr/>
                </a:tc>
                <a:extLst>
                  <a:ext uri="{0D108BD9-81ED-4DB2-BD59-A6C34878D82A}">
                    <a16:rowId xmlns:a16="http://schemas.microsoft.com/office/drawing/2014/main" val="1211440165"/>
                  </a:ext>
                </a:extLst>
              </a:tr>
            </a:tbl>
          </a:graphicData>
        </a:graphic>
      </p:graphicFrame>
    </p:spTree>
    <p:extLst>
      <p:ext uri="{BB962C8B-B14F-4D97-AF65-F5344CB8AC3E}">
        <p14:creationId xmlns:p14="http://schemas.microsoft.com/office/powerpoint/2010/main" val="1821359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Robust Design</a:t>
            </a:r>
            <a:endParaRPr dirty="0"/>
          </a:p>
        </p:txBody>
      </p:sp>
      <p:sp>
        <p:nvSpPr>
          <p:cNvPr id="4" name="TextBox 3">
            <a:extLst>
              <a:ext uri="{FF2B5EF4-FFF2-40B4-BE49-F238E27FC236}">
                <a16:creationId xmlns:a16="http://schemas.microsoft.com/office/drawing/2014/main" id="{E8018528-D3B2-E842-3979-0B8511629699}"/>
              </a:ext>
            </a:extLst>
          </p:cNvPr>
          <p:cNvSpPr txBox="1"/>
          <p:nvPr/>
        </p:nvSpPr>
        <p:spPr>
          <a:xfrm>
            <a:off x="1300931" y="1432881"/>
            <a:ext cx="9590138" cy="3028521"/>
          </a:xfrm>
          <a:prstGeom prst="rect">
            <a:avLst/>
          </a:prstGeom>
          <a:noFill/>
        </p:spPr>
        <p:txBody>
          <a:bodyPr wrap="square">
            <a:spAutoFit/>
          </a:bodyPr>
          <a:lstStyle/>
          <a:p>
            <a:pPr algn="l">
              <a:lnSpc>
                <a:spcPct val="150000"/>
              </a:lnSpc>
            </a:pPr>
            <a:r>
              <a:rPr lang="en-US" sz="2600" b="0" i="0" u="none" strike="noStrike" baseline="0" dirty="0">
                <a:latin typeface="OpenSymbol"/>
              </a:rPr>
              <a:t>• </a:t>
            </a:r>
            <a:r>
              <a:rPr lang="en-US" sz="2600" b="0" i="0" u="none" strike="noStrike" baseline="0" dirty="0">
                <a:latin typeface="ArialMT"/>
              </a:rPr>
              <a:t>A three step method for achieving robust design </a:t>
            </a:r>
            <a:r>
              <a:rPr lang="en-IN" sz="2600" b="0" i="0" u="none" strike="noStrike" baseline="0" dirty="0">
                <a:latin typeface="ArialMT"/>
              </a:rPr>
              <a:t>(Taguchi)</a:t>
            </a:r>
          </a:p>
          <a:p>
            <a:pPr lvl="1">
              <a:lnSpc>
                <a:spcPct val="150000"/>
              </a:lnSpc>
            </a:pPr>
            <a:r>
              <a:rPr lang="en-IN" sz="2600" b="0" i="0" u="none" strike="noStrike" baseline="0" dirty="0">
                <a:latin typeface="ArialMT"/>
              </a:rPr>
              <a:t>1. Concept design</a:t>
            </a:r>
          </a:p>
          <a:p>
            <a:pPr lvl="1">
              <a:lnSpc>
                <a:spcPct val="150000"/>
              </a:lnSpc>
            </a:pPr>
            <a:r>
              <a:rPr lang="en-IN" sz="2600" b="0" i="0" u="none" strike="noStrike" baseline="0" dirty="0">
                <a:latin typeface="ArialMT"/>
              </a:rPr>
              <a:t>2. Parameter design</a:t>
            </a:r>
          </a:p>
          <a:p>
            <a:pPr lvl="1">
              <a:lnSpc>
                <a:spcPct val="150000"/>
              </a:lnSpc>
            </a:pPr>
            <a:r>
              <a:rPr lang="en-IN" sz="2600" b="0" i="0" u="none" strike="noStrike" baseline="0" dirty="0">
                <a:latin typeface="ArialMT"/>
              </a:rPr>
              <a:t>3. Tolerance design</a:t>
            </a:r>
          </a:p>
          <a:p>
            <a:pPr algn="l">
              <a:lnSpc>
                <a:spcPct val="150000"/>
              </a:lnSpc>
            </a:pPr>
            <a:r>
              <a:rPr lang="en-US" sz="2600" b="0" i="0" u="none" strike="noStrike" baseline="0" dirty="0">
                <a:latin typeface="OpenSymbol"/>
              </a:rPr>
              <a:t>• </a:t>
            </a:r>
            <a:r>
              <a:rPr lang="en-US" sz="2600" b="0" i="0" u="none" strike="noStrike" baseline="0" dirty="0">
                <a:latin typeface="ArialMT"/>
              </a:rPr>
              <a:t>The focus of Taguchi is on Parameter design</a:t>
            </a:r>
            <a:endParaRPr lang="en-IN" sz="2600" dirty="0"/>
          </a:p>
        </p:txBody>
      </p:sp>
    </p:spTree>
    <p:extLst>
      <p:ext uri="{BB962C8B-B14F-4D97-AF65-F5344CB8AC3E}">
        <p14:creationId xmlns:p14="http://schemas.microsoft.com/office/powerpoint/2010/main" val="1642103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Robust Design</a:t>
            </a:r>
            <a:endParaRPr dirty="0"/>
          </a:p>
        </p:txBody>
      </p:sp>
      <p:sp>
        <p:nvSpPr>
          <p:cNvPr id="5" name="TextBox 4">
            <a:extLst>
              <a:ext uri="{FF2B5EF4-FFF2-40B4-BE49-F238E27FC236}">
                <a16:creationId xmlns:a16="http://schemas.microsoft.com/office/drawing/2014/main" id="{BDEB9F52-E739-742A-0D61-41DEC9B0866F}"/>
              </a:ext>
            </a:extLst>
          </p:cNvPr>
          <p:cNvSpPr txBox="1"/>
          <p:nvPr/>
        </p:nvSpPr>
        <p:spPr>
          <a:xfrm>
            <a:off x="398208" y="1277712"/>
            <a:ext cx="11164528" cy="3022622"/>
          </a:xfrm>
          <a:prstGeom prst="rect">
            <a:avLst/>
          </a:prstGeom>
          <a:noFill/>
        </p:spPr>
        <p:txBody>
          <a:bodyPr wrap="square">
            <a:spAutoFit/>
          </a:bodyPr>
          <a:lstStyle/>
          <a:p>
            <a:pPr algn="just">
              <a:lnSpc>
                <a:spcPct val="150000"/>
              </a:lnSpc>
            </a:pPr>
            <a:r>
              <a:rPr lang="en-IN" sz="2600" b="1" i="0" u="none" strike="noStrike" baseline="0" dirty="0">
                <a:solidFill>
                  <a:srgbClr val="001932"/>
                </a:solidFill>
                <a:latin typeface="+mj-lt"/>
              </a:rPr>
              <a:t>1.Concept Design</a:t>
            </a:r>
          </a:p>
          <a:p>
            <a:pPr algn="just">
              <a:lnSpc>
                <a:spcPct val="150000"/>
              </a:lnSpc>
            </a:pPr>
            <a:r>
              <a:rPr lang="en-US" sz="2600" b="0" i="0" u="none" strike="noStrike" baseline="0" dirty="0">
                <a:solidFill>
                  <a:srgbClr val="001932"/>
                </a:solidFill>
                <a:latin typeface="+mj-lt"/>
              </a:rPr>
              <a:t>– The process of examining competing technologies for producing a product - Includes choices of technology </a:t>
            </a:r>
            <a:r>
              <a:rPr lang="en-IN" sz="2600" b="0" i="0" u="none" strike="noStrike" baseline="0" dirty="0">
                <a:solidFill>
                  <a:srgbClr val="001932"/>
                </a:solidFill>
                <a:latin typeface="+mj-lt"/>
              </a:rPr>
              <a:t>and process design</a:t>
            </a:r>
          </a:p>
          <a:p>
            <a:pPr algn="just">
              <a:lnSpc>
                <a:spcPct val="150000"/>
              </a:lnSpc>
            </a:pPr>
            <a:r>
              <a:rPr lang="en-US" sz="2600" b="0" i="0" u="none" strike="noStrike" baseline="0" dirty="0">
                <a:solidFill>
                  <a:srgbClr val="001932"/>
                </a:solidFill>
                <a:latin typeface="+mj-lt"/>
              </a:rPr>
              <a:t>– A prototype design that can be produced and meets customers’ needs under ideal conditions without </a:t>
            </a:r>
            <a:r>
              <a:rPr lang="en-IN" sz="2600" b="0" i="0" u="none" strike="noStrike" baseline="0" dirty="0">
                <a:solidFill>
                  <a:srgbClr val="001932"/>
                </a:solidFill>
                <a:latin typeface="+mj-lt"/>
              </a:rPr>
              <a:t>disturbances</a:t>
            </a:r>
            <a:endParaRPr lang="en-IN" sz="2600" dirty="0">
              <a:latin typeface="+mj-lt"/>
            </a:endParaRPr>
          </a:p>
        </p:txBody>
      </p:sp>
    </p:spTree>
    <p:extLst>
      <p:ext uri="{BB962C8B-B14F-4D97-AF65-F5344CB8AC3E}">
        <p14:creationId xmlns:p14="http://schemas.microsoft.com/office/powerpoint/2010/main" val="365317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Robust Design</a:t>
            </a:r>
            <a:endParaRPr dirty="0"/>
          </a:p>
        </p:txBody>
      </p:sp>
      <p:sp>
        <p:nvSpPr>
          <p:cNvPr id="4" name="TextBox 3">
            <a:extLst>
              <a:ext uri="{FF2B5EF4-FFF2-40B4-BE49-F238E27FC236}">
                <a16:creationId xmlns:a16="http://schemas.microsoft.com/office/drawing/2014/main" id="{F7853302-D703-25D7-6053-938CAAB877A9}"/>
              </a:ext>
            </a:extLst>
          </p:cNvPr>
          <p:cNvSpPr txBox="1"/>
          <p:nvPr/>
        </p:nvSpPr>
        <p:spPr>
          <a:xfrm>
            <a:off x="563511" y="1016120"/>
            <a:ext cx="11064978" cy="4823115"/>
          </a:xfrm>
          <a:prstGeom prst="rect">
            <a:avLst/>
          </a:prstGeom>
          <a:noFill/>
        </p:spPr>
        <p:txBody>
          <a:bodyPr wrap="square">
            <a:spAutoFit/>
          </a:bodyPr>
          <a:lstStyle/>
          <a:p>
            <a:pPr algn="just">
              <a:lnSpc>
                <a:spcPct val="150000"/>
              </a:lnSpc>
            </a:pPr>
            <a:r>
              <a:rPr lang="en-IN" sz="2600" b="1" i="0" u="none" strike="noStrike" baseline="0" dirty="0">
                <a:solidFill>
                  <a:srgbClr val="001932"/>
                </a:solidFill>
                <a:latin typeface="+mj-lt"/>
              </a:rPr>
              <a:t>2. Parameter Design</a:t>
            </a:r>
          </a:p>
          <a:p>
            <a:pPr algn="just">
              <a:lnSpc>
                <a:spcPct val="150000"/>
              </a:lnSpc>
            </a:pPr>
            <a:r>
              <a:rPr lang="en-US" sz="2600" b="0" i="0" u="none" strike="noStrike" baseline="0" dirty="0">
                <a:solidFill>
                  <a:srgbClr val="001932"/>
                </a:solidFill>
                <a:latin typeface="+mj-lt"/>
              </a:rPr>
              <a:t>– The selection of control factors (parameters) and </a:t>
            </a:r>
            <a:r>
              <a:rPr lang="en-IN" sz="2600" b="0" i="0" u="none" strike="noStrike" baseline="0" dirty="0">
                <a:solidFill>
                  <a:srgbClr val="001932"/>
                </a:solidFill>
                <a:latin typeface="+mj-lt"/>
              </a:rPr>
              <a:t>their “optimal” levels</a:t>
            </a:r>
          </a:p>
          <a:p>
            <a:pPr algn="just">
              <a:lnSpc>
                <a:spcPct val="150000"/>
              </a:lnSpc>
            </a:pPr>
            <a:r>
              <a:rPr lang="en-US" sz="2600" b="0" i="0" u="none" strike="noStrike" baseline="0" dirty="0">
                <a:solidFill>
                  <a:srgbClr val="001932"/>
                </a:solidFill>
                <a:latin typeface="+mj-lt"/>
              </a:rPr>
              <a:t>	 The objective is to make the design Robust! </a:t>
            </a:r>
          </a:p>
          <a:p>
            <a:pPr algn="just">
              <a:lnSpc>
                <a:spcPct val="150000"/>
              </a:lnSpc>
            </a:pPr>
            <a:r>
              <a:rPr lang="en-US" sz="2600" b="0" i="0" u="none" strike="noStrike" baseline="0" dirty="0">
                <a:solidFill>
                  <a:srgbClr val="001932"/>
                </a:solidFill>
                <a:latin typeface="+mj-lt"/>
              </a:rPr>
              <a:t>– Control factors are those process variables </a:t>
            </a:r>
            <a:r>
              <a:rPr lang="en-IN" sz="2600" b="0" i="0" u="none" strike="noStrike" baseline="0" dirty="0">
                <a:solidFill>
                  <a:srgbClr val="001932"/>
                </a:solidFill>
                <a:latin typeface="+mj-lt"/>
              </a:rPr>
              <a:t>management can influence.</a:t>
            </a:r>
          </a:p>
          <a:p>
            <a:pPr lvl="2" algn="just">
              <a:lnSpc>
                <a:spcPct val="150000"/>
              </a:lnSpc>
            </a:pPr>
            <a:r>
              <a:rPr lang="en-US" sz="2600" b="0" i="0" u="none" strike="noStrike" baseline="0" dirty="0">
                <a:solidFill>
                  <a:srgbClr val="001932"/>
                </a:solidFill>
                <a:latin typeface="+mj-lt"/>
              </a:rPr>
              <a:t> Ex. the procedures used and the type and amount of </a:t>
            </a:r>
            <a:r>
              <a:rPr lang="en-IN" sz="2600" b="0" i="0" u="none" strike="noStrike" baseline="0" dirty="0">
                <a:solidFill>
                  <a:srgbClr val="001932"/>
                </a:solidFill>
                <a:latin typeface="+mj-lt"/>
              </a:rPr>
              <a:t>training</a:t>
            </a:r>
          </a:p>
          <a:p>
            <a:pPr lvl="2" algn="just">
              <a:lnSpc>
                <a:spcPct val="150000"/>
              </a:lnSpc>
            </a:pPr>
            <a:r>
              <a:rPr lang="en-US" sz="2600" b="0" i="0" u="none" strike="noStrike" baseline="0" dirty="0">
                <a:solidFill>
                  <a:srgbClr val="001932"/>
                </a:solidFill>
                <a:latin typeface="+mj-lt"/>
              </a:rPr>
              <a:t> Often a complex (non-linear) relationship between the control factors and product/design performance</a:t>
            </a:r>
          </a:p>
          <a:p>
            <a:pPr algn="just">
              <a:lnSpc>
                <a:spcPct val="150000"/>
              </a:lnSpc>
            </a:pPr>
            <a:r>
              <a:rPr lang="en-US" sz="2600" b="0" i="0" u="none" strike="noStrike" baseline="0" dirty="0">
                <a:solidFill>
                  <a:srgbClr val="001932"/>
                </a:solidFill>
                <a:latin typeface="+mj-lt"/>
              </a:rPr>
              <a:t>– The ”optimal” parameter levels can be determined </a:t>
            </a:r>
            <a:r>
              <a:rPr lang="en-IN" sz="2600" b="0" i="0" u="none" strike="noStrike" baseline="0" dirty="0">
                <a:solidFill>
                  <a:srgbClr val="001932"/>
                </a:solidFill>
                <a:latin typeface="+mj-lt"/>
              </a:rPr>
              <a:t>through experimentation</a:t>
            </a:r>
            <a:endParaRPr lang="en-IN" sz="2600" dirty="0">
              <a:latin typeface="+mj-lt"/>
            </a:endParaRPr>
          </a:p>
        </p:txBody>
      </p:sp>
    </p:spTree>
    <p:extLst>
      <p:ext uri="{BB962C8B-B14F-4D97-AF65-F5344CB8AC3E}">
        <p14:creationId xmlns:p14="http://schemas.microsoft.com/office/powerpoint/2010/main" val="1694097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1383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Robust Design</a:t>
            </a:r>
            <a:endParaRPr dirty="0"/>
          </a:p>
        </p:txBody>
      </p:sp>
      <p:sp>
        <p:nvSpPr>
          <p:cNvPr id="5" name="TextBox 4">
            <a:extLst>
              <a:ext uri="{FF2B5EF4-FFF2-40B4-BE49-F238E27FC236}">
                <a16:creationId xmlns:a16="http://schemas.microsoft.com/office/drawing/2014/main" id="{21DCACE1-C33A-A540-7F0A-B3133A9517E3}"/>
              </a:ext>
            </a:extLst>
          </p:cNvPr>
          <p:cNvSpPr txBox="1"/>
          <p:nvPr/>
        </p:nvSpPr>
        <p:spPr>
          <a:xfrm>
            <a:off x="527254" y="922384"/>
            <a:ext cx="10917494" cy="5013232"/>
          </a:xfrm>
          <a:prstGeom prst="rect">
            <a:avLst/>
          </a:prstGeom>
          <a:noFill/>
        </p:spPr>
        <p:txBody>
          <a:bodyPr wrap="square">
            <a:spAutoFit/>
          </a:bodyPr>
          <a:lstStyle/>
          <a:p>
            <a:pPr algn="just">
              <a:lnSpc>
                <a:spcPct val="150000"/>
              </a:lnSpc>
            </a:pPr>
            <a:r>
              <a:rPr lang="en-IN" sz="2400" b="1" i="0" u="none" strike="noStrike" baseline="0" dirty="0">
                <a:solidFill>
                  <a:srgbClr val="001932"/>
                </a:solidFill>
                <a:latin typeface="+mj-lt"/>
              </a:rPr>
              <a:t>3. Tolerance Design</a:t>
            </a:r>
          </a:p>
          <a:p>
            <a:pPr algn="just">
              <a:lnSpc>
                <a:spcPct val="150000"/>
              </a:lnSpc>
            </a:pPr>
            <a:r>
              <a:rPr lang="en-IN" sz="2400" b="0" i="0" u="none" strike="noStrike" baseline="0" dirty="0">
                <a:solidFill>
                  <a:srgbClr val="001932"/>
                </a:solidFill>
                <a:latin typeface="+mj-lt"/>
              </a:rPr>
              <a:t>– Development of specification limits</a:t>
            </a:r>
          </a:p>
          <a:p>
            <a:pPr lvl="2" algn="just">
              <a:lnSpc>
                <a:spcPct val="150000"/>
              </a:lnSpc>
            </a:pPr>
            <a:r>
              <a:rPr lang="en-US" sz="2400" b="0" i="0" u="none" strike="noStrike" baseline="0" dirty="0">
                <a:solidFill>
                  <a:srgbClr val="001932"/>
                </a:solidFill>
                <a:latin typeface="+mj-lt"/>
              </a:rPr>
              <a:t> Necessary because there will always be some variation in </a:t>
            </a:r>
            <a:r>
              <a:rPr lang="en-IN" sz="2400" b="0" i="0" u="none" strike="noStrike" baseline="0" dirty="0">
                <a:solidFill>
                  <a:srgbClr val="001932"/>
                </a:solidFill>
                <a:latin typeface="+mj-lt"/>
              </a:rPr>
              <a:t>the production process</a:t>
            </a:r>
          </a:p>
          <a:p>
            <a:pPr lvl="2" algn="just">
              <a:lnSpc>
                <a:spcPct val="150000"/>
              </a:lnSpc>
            </a:pPr>
            <a:r>
              <a:rPr lang="en-US" sz="2400" b="0" i="0" u="none" strike="noStrike" baseline="0" dirty="0">
                <a:solidFill>
                  <a:srgbClr val="001932"/>
                </a:solidFill>
                <a:latin typeface="+mj-lt"/>
              </a:rPr>
              <a:t> Taguchi fiercely advocates aiming for the target value not just settle for “inside the specification limits”!</a:t>
            </a:r>
          </a:p>
          <a:p>
            <a:pPr algn="just">
              <a:lnSpc>
                <a:spcPct val="150000"/>
              </a:lnSpc>
            </a:pPr>
            <a:r>
              <a:rPr lang="en-US" sz="2400" b="0" i="0" u="none" strike="noStrike" baseline="0" dirty="0">
                <a:solidFill>
                  <a:srgbClr val="001932"/>
                </a:solidFill>
                <a:latin typeface="+mj-lt"/>
              </a:rPr>
              <a:t>– Occurs after the parameter design</a:t>
            </a:r>
          </a:p>
          <a:p>
            <a:pPr algn="just">
              <a:lnSpc>
                <a:spcPct val="150000"/>
              </a:lnSpc>
            </a:pPr>
            <a:r>
              <a:rPr lang="en-US" sz="2400" b="0" i="0" u="none" strike="noStrike" baseline="0" dirty="0">
                <a:solidFill>
                  <a:srgbClr val="001932"/>
                </a:solidFill>
                <a:latin typeface="+mj-lt"/>
              </a:rPr>
              <a:t>– Often results in increased production costs</a:t>
            </a:r>
          </a:p>
          <a:p>
            <a:pPr algn="just">
              <a:lnSpc>
                <a:spcPct val="150000"/>
              </a:lnSpc>
            </a:pPr>
            <a:r>
              <a:rPr lang="en-US" sz="2400" b="0" i="0" u="none" strike="noStrike" baseline="0" dirty="0">
                <a:solidFill>
                  <a:srgbClr val="001932"/>
                </a:solidFill>
                <a:latin typeface="+mj-lt"/>
              </a:rPr>
              <a:t>	 More expensive input material might have to be used to </a:t>
            </a:r>
            <a:r>
              <a:rPr lang="en-IN" sz="2400" b="0" i="0" u="none" strike="noStrike" baseline="0" dirty="0">
                <a:solidFill>
                  <a:srgbClr val="001932"/>
                </a:solidFill>
                <a:latin typeface="+mj-lt"/>
              </a:rPr>
              <a:t>meet specifications</a:t>
            </a:r>
            <a:endParaRPr lang="en-IN" sz="2400" dirty="0">
              <a:latin typeface="+mj-lt"/>
            </a:endParaRPr>
          </a:p>
        </p:txBody>
      </p:sp>
    </p:spTree>
    <p:extLst>
      <p:ext uri="{BB962C8B-B14F-4D97-AF65-F5344CB8AC3E}">
        <p14:creationId xmlns:p14="http://schemas.microsoft.com/office/powerpoint/2010/main" val="1734067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4" y="196171"/>
            <a:ext cx="3058784"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Problem</a:t>
            </a:r>
            <a:endParaRPr dirty="0"/>
          </a:p>
        </p:txBody>
      </p:sp>
      <p:sp>
        <p:nvSpPr>
          <p:cNvPr id="4" name="TextBox 3">
            <a:extLst>
              <a:ext uri="{FF2B5EF4-FFF2-40B4-BE49-F238E27FC236}">
                <a16:creationId xmlns:a16="http://schemas.microsoft.com/office/drawing/2014/main" id="{245739C4-2272-4DBC-780E-4C602CF353BA}"/>
              </a:ext>
            </a:extLst>
          </p:cNvPr>
          <p:cNvSpPr txBox="1"/>
          <p:nvPr/>
        </p:nvSpPr>
        <p:spPr>
          <a:xfrm>
            <a:off x="259604" y="890508"/>
            <a:ext cx="11480113" cy="1423082"/>
          </a:xfrm>
          <a:prstGeom prst="rect">
            <a:avLst/>
          </a:prstGeom>
          <a:noFill/>
        </p:spPr>
        <p:txBody>
          <a:bodyPr wrap="square">
            <a:spAutoFit/>
          </a:bodyPr>
          <a:lstStyle/>
          <a:p>
            <a:pPr algn="just">
              <a:lnSpc>
                <a:spcPct val="150000"/>
              </a:lnSpc>
            </a:pPr>
            <a:r>
              <a:rPr lang="en-US" sz="2000" b="0" i="0" u="none" strike="noStrike" baseline="0" dirty="0">
                <a:solidFill>
                  <a:srgbClr val="001932"/>
                </a:solidFill>
                <a:latin typeface="+mj-lt"/>
              </a:rPr>
              <a:t>Suppose that the specification on a part is 0.500 ± 0.020 cm. A detailed analysis of product returns and repairs has discovered that many failures occur when the actual dimension is near the extreme of the tolerance range (that is, when the dimensions are approximately 0.48 or 0.52) and costs $50 for repair.</a:t>
            </a:r>
            <a:endParaRPr lang="en-IN" sz="2000" dirty="0">
              <a:latin typeface="+mj-lt"/>
            </a:endParaRPr>
          </a:p>
        </p:txBody>
      </p:sp>
      <p:sp>
        <p:nvSpPr>
          <p:cNvPr id="6" name="TextBox 5">
            <a:extLst>
              <a:ext uri="{FF2B5EF4-FFF2-40B4-BE49-F238E27FC236}">
                <a16:creationId xmlns:a16="http://schemas.microsoft.com/office/drawing/2014/main" id="{8D25C02E-29B3-52AD-99F1-7261623CC822}"/>
              </a:ext>
            </a:extLst>
          </p:cNvPr>
          <p:cNvSpPr txBox="1"/>
          <p:nvPr/>
        </p:nvSpPr>
        <p:spPr>
          <a:xfrm>
            <a:off x="1224117" y="2379550"/>
            <a:ext cx="10335684" cy="3720570"/>
          </a:xfrm>
          <a:prstGeom prst="rect">
            <a:avLst/>
          </a:prstGeom>
          <a:noFill/>
        </p:spPr>
        <p:txBody>
          <a:bodyPr wrap="square">
            <a:spAutoFit/>
          </a:bodyPr>
          <a:lstStyle/>
          <a:p>
            <a:pPr algn="l"/>
            <a:r>
              <a:rPr lang="en-US" sz="2400" dirty="0">
                <a:solidFill>
                  <a:srgbClr val="001932"/>
                </a:solidFill>
                <a:latin typeface="+mj-lt"/>
              </a:rPr>
              <a:t>T</a:t>
            </a:r>
            <a:r>
              <a:rPr lang="en-US" sz="2400" b="0" i="0" u="none" strike="noStrike" baseline="0" dirty="0">
                <a:solidFill>
                  <a:srgbClr val="001932"/>
                </a:solidFill>
                <a:latin typeface="+mj-lt"/>
              </a:rPr>
              <a:t>he deviation from the target, </a:t>
            </a:r>
            <a:r>
              <a:rPr lang="en-US" sz="2400" b="0" i="1" u="none" strike="noStrike" baseline="0" dirty="0">
                <a:solidFill>
                  <a:srgbClr val="001932"/>
                </a:solidFill>
                <a:latin typeface="+mj-lt"/>
              </a:rPr>
              <a:t>y </a:t>
            </a:r>
            <a:r>
              <a:rPr lang="en-US" sz="2400" b="0" i="0" u="none" strike="noStrike" baseline="0" dirty="0">
                <a:solidFill>
                  <a:srgbClr val="001932"/>
                </a:solidFill>
                <a:latin typeface="+mj-lt"/>
              </a:rPr>
              <a:t>– </a:t>
            </a:r>
            <a:r>
              <a:rPr lang="en-US" sz="2400" b="0" i="1" u="none" strike="noStrike" baseline="0" dirty="0">
                <a:solidFill>
                  <a:srgbClr val="001932"/>
                </a:solidFill>
                <a:latin typeface="+mj-lt"/>
              </a:rPr>
              <a:t>T </a:t>
            </a:r>
            <a:r>
              <a:rPr lang="en-US" sz="2400" b="0" i="0" u="none" strike="noStrike" baseline="0" dirty="0">
                <a:solidFill>
                  <a:srgbClr val="001932"/>
                </a:solidFill>
                <a:latin typeface="+mj-lt"/>
              </a:rPr>
              <a:t>, is 0.02 and </a:t>
            </a:r>
            <a:r>
              <a:rPr lang="en-US" sz="2400" b="0" i="1" u="none" strike="noStrike" baseline="0" dirty="0">
                <a:solidFill>
                  <a:srgbClr val="001932"/>
                </a:solidFill>
                <a:latin typeface="+mj-lt"/>
              </a:rPr>
              <a:t>L</a:t>
            </a:r>
            <a:r>
              <a:rPr lang="en-US" sz="2400" b="0" i="0" u="none" strike="noStrike" baseline="0" dirty="0">
                <a:solidFill>
                  <a:srgbClr val="001932"/>
                </a:solidFill>
                <a:latin typeface="+mj-lt"/>
              </a:rPr>
              <a:t>(</a:t>
            </a:r>
            <a:r>
              <a:rPr lang="en-US" sz="2400" b="0" i="1" u="none" strike="noStrike" baseline="0" dirty="0">
                <a:solidFill>
                  <a:srgbClr val="001932"/>
                </a:solidFill>
                <a:latin typeface="+mj-lt"/>
              </a:rPr>
              <a:t>y</a:t>
            </a:r>
            <a:r>
              <a:rPr lang="en-US" sz="2400" b="0" i="0" u="none" strike="noStrike" baseline="0" dirty="0">
                <a:solidFill>
                  <a:srgbClr val="001932"/>
                </a:solidFill>
                <a:latin typeface="+mj-lt"/>
              </a:rPr>
              <a:t>) = $50.</a:t>
            </a:r>
          </a:p>
          <a:p>
            <a:pPr algn="l">
              <a:lnSpc>
                <a:spcPct val="150000"/>
              </a:lnSpc>
            </a:pPr>
            <a:r>
              <a:rPr lang="en-US" sz="2400" b="0" i="0" u="none" strike="noStrike" baseline="0" dirty="0">
                <a:solidFill>
                  <a:srgbClr val="001932"/>
                </a:solidFill>
                <a:latin typeface="+mj-lt"/>
              </a:rPr>
              <a:t>Substituting these values, we have:</a:t>
            </a:r>
          </a:p>
          <a:p>
            <a:pPr lvl="3"/>
            <a:r>
              <a:rPr lang="en-IN" sz="2400" b="0" i="0" u="none" strike="noStrike" baseline="0" dirty="0">
                <a:solidFill>
                  <a:srgbClr val="001932"/>
                </a:solidFill>
                <a:latin typeface="+mj-lt"/>
              </a:rPr>
              <a:t>50 = k(0.02)</a:t>
            </a:r>
            <a:r>
              <a:rPr lang="en-IN" sz="2400" b="0" i="0" u="none" strike="noStrike" baseline="30000" dirty="0">
                <a:solidFill>
                  <a:srgbClr val="001932"/>
                </a:solidFill>
                <a:latin typeface="+mj-lt"/>
              </a:rPr>
              <a:t>2</a:t>
            </a:r>
          </a:p>
          <a:p>
            <a:pPr lvl="3"/>
            <a:r>
              <a:rPr lang="en-IN" sz="2400" b="0" i="0" u="none" strike="noStrike" baseline="0" dirty="0">
                <a:solidFill>
                  <a:srgbClr val="001932"/>
                </a:solidFill>
                <a:latin typeface="+mj-lt"/>
              </a:rPr>
              <a:t>or</a:t>
            </a:r>
          </a:p>
          <a:p>
            <a:pPr lvl="3"/>
            <a:r>
              <a:rPr lang="en-IN" sz="2400" b="0" i="1" u="none" strike="noStrike" baseline="0" dirty="0">
                <a:solidFill>
                  <a:srgbClr val="001932"/>
                </a:solidFill>
                <a:latin typeface="+mj-lt"/>
              </a:rPr>
              <a:t>k </a:t>
            </a:r>
            <a:r>
              <a:rPr lang="en-IN" sz="2400" b="0" i="0" u="none" strike="noStrike" baseline="0" dirty="0">
                <a:solidFill>
                  <a:srgbClr val="001932"/>
                </a:solidFill>
                <a:latin typeface="+mj-lt"/>
              </a:rPr>
              <a:t>= 50/0.0004 = </a:t>
            </a:r>
            <a:r>
              <a:rPr lang="en-IN" sz="2400" b="1" i="0" u="none" strike="noStrike" baseline="0" dirty="0">
                <a:solidFill>
                  <a:srgbClr val="001932"/>
                </a:solidFill>
                <a:latin typeface="+mj-lt"/>
              </a:rPr>
              <a:t>125,000</a:t>
            </a:r>
          </a:p>
          <a:p>
            <a:pPr algn="l">
              <a:lnSpc>
                <a:spcPct val="150000"/>
              </a:lnSpc>
            </a:pPr>
            <a:r>
              <a:rPr lang="en-US" sz="2400" b="0" i="0" u="none" strike="noStrike" baseline="0" dirty="0">
                <a:solidFill>
                  <a:srgbClr val="001932"/>
                </a:solidFill>
                <a:latin typeface="+mj-lt"/>
              </a:rPr>
              <a:t>Therefore, the loss function for a single part is </a:t>
            </a:r>
            <a:r>
              <a:rPr lang="en-US" sz="2400" b="1" i="1" u="none" strike="noStrike" baseline="0" dirty="0">
                <a:solidFill>
                  <a:srgbClr val="001932"/>
                </a:solidFill>
                <a:latin typeface="+mj-lt"/>
              </a:rPr>
              <a:t>L</a:t>
            </a:r>
            <a:r>
              <a:rPr lang="en-US" sz="2400" b="1" i="0" u="none" strike="noStrike" baseline="0" dirty="0">
                <a:solidFill>
                  <a:srgbClr val="001932"/>
                </a:solidFill>
                <a:latin typeface="+mj-lt"/>
              </a:rPr>
              <a:t>(</a:t>
            </a:r>
            <a:r>
              <a:rPr lang="en-US" sz="2400" b="1" i="1" u="none" strike="noStrike" baseline="0" dirty="0">
                <a:solidFill>
                  <a:srgbClr val="001932"/>
                </a:solidFill>
                <a:latin typeface="+mj-lt"/>
              </a:rPr>
              <a:t>y</a:t>
            </a:r>
            <a:r>
              <a:rPr lang="en-US" sz="2400" b="1" i="0" u="none" strike="noStrike" baseline="0" dirty="0">
                <a:solidFill>
                  <a:srgbClr val="001932"/>
                </a:solidFill>
                <a:latin typeface="+mj-lt"/>
              </a:rPr>
              <a:t>) = 125000(</a:t>
            </a:r>
            <a:r>
              <a:rPr lang="en-US" sz="2400" b="1" i="1" u="none" strike="noStrike" baseline="0" dirty="0">
                <a:solidFill>
                  <a:srgbClr val="001932"/>
                </a:solidFill>
                <a:latin typeface="+mj-lt"/>
              </a:rPr>
              <a:t>y </a:t>
            </a:r>
            <a:r>
              <a:rPr lang="en-US" sz="2400" b="1" i="0" u="none" strike="noStrike" baseline="0" dirty="0">
                <a:solidFill>
                  <a:srgbClr val="001932"/>
                </a:solidFill>
                <a:latin typeface="+mj-lt"/>
              </a:rPr>
              <a:t>– </a:t>
            </a:r>
            <a:r>
              <a:rPr lang="en-US" sz="2400" b="1" i="1" u="none" strike="noStrike" baseline="0" dirty="0">
                <a:solidFill>
                  <a:srgbClr val="001932"/>
                </a:solidFill>
                <a:latin typeface="+mj-lt"/>
              </a:rPr>
              <a:t>T</a:t>
            </a:r>
            <a:r>
              <a:rPr lang="en-US" sz="2400" b="1" i="0" u="none" strike="noStrike" baseline="0" dirty="0">
                <a:solidFill>
                  <a:srgbClr val="001932"/>
                </a:solidFill>
                <a:latin typeface="+mj-lt"/>
              </a:rPr>
              <a:t>)</a:t>
            </a:r>
            <a:r>
              <a:rPr lang="en-US" sz="2400" b="1" i="0" u="none" strike="noStrike" baseline="30000" dirty="0">
                <a:solidFill>
                  <a:srgbClr val="001932"/>
                </a:solidFill>
                <a:latin typeface="+mj-lt"/>
              </a:rPr>
              <a:t>2</a:t>
            </a:r>
          </a:p>
          <a:p>
            <a:pPr algn="l">
              <a:lnSpc>
                <a:spcPct val="150000"/>
              </a:lnSpc>
            </a:pPr>
            <a:r>
              <a:rPr lang="en-US" sz="2400" b="0" i="0" u="none" strike="noStrike" baseline="0" dirty="0">
                <a:solidFill>
                  <a:srgbClr val="001932"/>
                </a:solidFill>
                <a:latin typeface="+mj-lt"/>
              </a:rPr>
              <a:t>when the deviation is 0.10, average loss per unit is:</a:t>
            </a:r>
          </a:p>
          <a:p>
            <a:pPr algn="l">
              <a:lnSpc>
                <a:spcPct val="150000"/>
              </a:lnSpc>
            </a:pPr>
            <a:r>
              <a:rPr lang="en-IN" sz="2400" b="0" i="1" u="none" strike="noStrike" baseline="0" dirty="0">
                <a:solidFill>
                  <a:srgbClr val="001932"/>
                </a:solidFill>
                <a:latin typeface="+mj-lt"/>
              </a:rPr>
              <a:t>L</a:t>
            </a:r>
            <a:r>
              <a:rPr lang="en-IN" sz="2400" b="0" i="0" u="none" strike="noStrike" baseline="0" dirty="0">
                <a:solidFill>
                  <a:srgbClr val="001932"/>
                </a:solidFill>
                <a:latin typeface="+mj-lt"/>
              </a:rPr>
              <a:t>(0.10) = 125,000(0.10)</a:t>
            </a:r>
            <a:r>
              <a:rPr lang="en-IN" sz="2400" b="0" i="0" u="none" strike="noStrike" baseline="30000" dirty="0">
                <a:solidFill>
                  <a:srgbClr val="001932"/>
                </a:solidFill>
                <a:latin typeface="+mj-lt"/>
              </a:rPr>
              <a:t>2</a:t>
            </a:r>
            <a:r>
              <a:rPr lang="en-IN" sz="2400" b="0" i="0" u="none" strike="noStrike" baseline="0" dirty="0">
                <a:solidFill>
                  <a:srgbClr val="001932"/>
                </a:solidFill>
                <a:latin typeface="+mj-lt"/>
              </a:rPr>
              <a:t> = </a:t>
            </a:r>
            <a:r>
              <a:rPr lang="en-IN" sz="2400" b="1" i="0" u="none" strike="noStrike" baseline="0" dirty="0">
                <a:solidFill>
                  <a:srgbClr val="001932"/>
                </a:solidFill>
                <a:latin typeface="+mj-lt"/>
              </a:rPr>
              <a:t>$12.50 per part</a:t>
            </a:r>
            <a:endParaRPr lang="en-IN" sz="2400" dirty="0">
              <a:latin typeface="+mj-lt"/>
            </a:endParaRPr>
          </a:p>
        </p:txBody>
      </p:sp>
    </p:spTree>
    <p:extLst>
      <p:ext uri="{BB962C8B-B14F-4D97-AF65-F5344CB8AC3E}">
        <p14:creationId xmlns:p14="http://schemas.microsoft.com/office/powerpoint/2010/main" val="3817267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310302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Problem</a:t>
            </a:r>
            <a:endParaRPr dirty="0"/>
          </a:p>
        </p:txBody>
      </p:sp>
      <p:sp>
        <p:nvSpPr>
          <p:cNvPr id="4" name="TextBox 3">
            <a:extLst>
              <a:ext uri="{FF2B5EF4-FFF2-40B4-BE49-F238E27FC236}">
                <a16:creationId xmlns:a16="http://schemas.microsoft.com/office/drawing/2014/main" id="{EB207E0F-E377-3196-D8E3-270EA814C4AD}"/>
              </a:ext>
            </a:extLst>
          </p:cNvPr>
          <p:cNvSpPr txBox="1"/>
          <p:nvPr/>
        </p:nvSpPr>
        <p:spPr>
          <a:xfrm>
            <a:off x="259603" y="736773"/>
            <a:ext cx="11288384" cy="5567230"/>
          </a:xfrm>
          <a:prstGeom prst="rect">
            <a:avLst/>
          </a:prstGeom>
          <a:noFill/>
        </p:spPr>
        <p:txBody>
          <a:bodyPr wrap="square">
            <a:spAutoFit/>
          </a:bodyPr>
          <a:lstStyle/>
          <a:p>
            <a:pPr algn="just">
              <a:lnSpc>
                <a:spcPct val="150000"/>
              </a:lnSpc>
            </a:pPr>
            <a:r>
              <a:rPr lang="en-US" sz="2400" b="0" i="0" u="none" strike="noStrike" baseline="0" dirty="0">
                <a:solidFill>
                  <a:srgbClr val="001932"/>
                </a:solidFill>
                <a:latin typeface="+mj-lt"/>
              </a:rPr>
              <a:t>Knowing the Taguchi loss function helps designers to determine appropriate tolerances economically. For example, suppose that a simple adjustment can be made at the factory for only $2 to get this dimension very close to the target.</a:t>
            </a:r>
          </a:p>
          <a:p>
            <a:pPr algn="l">
              <a:lnSpc>
                <a:spcPct val="150000"/>
              </a:lnSpc>
            </a:pPr>
            <a:r>
              <a:rPr lang="en-US" sz="2400" b="0" i="0" u="none" strike="noStrike" baseline="0" dirty="0">
                <a:solidFill>
                  <a:srgbClr val="001932"/>
                </a:solidFill>
                <a:latin typeface="+mj-lt"/>
              </a:rPr>
              <a:t>If we set </a:t>
            </a:r>
            <a:r>
              <a:rPr lang="en-US" sz="2400" b="0" i="1" u="none" strike="noStrike" baseline="0" dirty="0">
                <a:solidFill>
                  <a:srgbClr val="001932"/>
                </a:solidFill>
                <a:latin typeface="+mj-lt"/>
              </a:rPr>
              <a:t>L</a:t>
            </a:r>
            <a:r>
              <a:rPr lang="en-US" sz="2400" b="0" i="0" u="none" strike="noStrike" baseline="0" dirty="0">
                <a:solidFill>
                  <a:srgbClr val="001932"/>
                </a:solidFill>
                <a:latin typeface="+mj-lt"/>
              </a:rPr>
              <a:t>(</a:t>
            </a:r>
            <a:r>
              <a:rPr lang="en-US" sz="2400" b="0" i="1" u="none" strike="noStrike" baseline="0" dirty="0">
                <a:solidFill>
                  <a:srgbClr val="001932"/>
                </a:solidFill>
                <a:latin typeface="+mj-lt"/>
              </a:rPr>
              <a:t>x</a:t>
            </a:r>
            <a:r>
              <a:rPr lang="en-US" sz="2400" b="0" i="0" u="none" strike="noStrike" baseline="0" dirty="0">
                <a:solidFill>
                  <a:srgbClr val="001932"/>
                </a:solidFill>
                <a:latin typeface="+mj-lt"/>
              </a:rPr>
              <a:t>) = $2 and solve for </a:t>
            </a:r>
            <a:r>
              <a:rPr lang="en-US" sz="2400" b="0" i="1" u="none" strike="noStrike" baseline="0" dirty="0">
                <a:solidFill>
                  <a:srgbClr val="001932"/>
                </a:solidFill>
                <a:latin typeface="+mj-lt"/>
              </a:rPr>
              <a:t>x </a:t>
            </a:r>
            <a:r>
              <a:rPr lang="en-US" sz="2400" b="0" i="0" u="none" strike="noStrike" baseline="0" dirty="0">
                <a:solidFill>
                  <a:srgbClr val="001932"/>
                </a:solidFill>
                <a:latin typeface="+mj-lt"/>
              </a:rPr>
              <a:t>– </a:t>
            </a:r>
            <a:r>
              <a:rPr lang="en-US" sz="2400" b="0" i="1" u="none" strike="noStrike" baseline="0" dirty="0">
                <a:solidFill>
                  <a:srgbClr val="001932"/>
                </a:solidFill>
                <a:latin typeface="+mj-lt"/>
              </a:rPr>
              <a:t>T</a:t>
            </a:r>
            <a:r>
              <a:rPr lang="en-US" sz="2400" b="0" i="0" u="none" strike="noStrike" baseline="0" dirty="0">
                <a:solidFill>
                  <a:srgbClr val="001932"/>
                </a:solidFill>
                <a:latin typeface="+mj-lt"/>
              </a:rPr>
              <a:t>, we get:</a:t>
            </a:r>
          </a:p>
          <a:p>
            <a:pPr lvl="1" algn="ctr">
              <a:lnSpc>
                <a:spcPct val="150000"/>
              </a:lnSpc>
            </a:pPr>
            <a:r>
              <a:rPr lang="en-IN" sz="2400" b="0" i="0" u="none" strike="noStrike" baseline="0" dirty="0">
                <a:solidFill>
                  <a:srgbClr val="001932"/>
                </a:solidFill>
                <a:latin typeface="+mj-lt"/>
              </a:rPr>
              <a:t>2 = 125000(</a:t>
            </a:r>
            <a:r>
              <a:rPr lang="en-IN" sz="2400" b="0" i="1" u="none" strike="noStrike" baseline="0" dirty="0">
                <a:solidFill>
                  <a:srgbClr val="001932"/>
                </a:solidFill>
                <a:latin typeface="+mj-lt"/>
              </a:rPr>
              <a:t>x </a:t>
            </a:r>
            <a:r>
              <a:rPr lang="en-IN" sz="2400" b="0" i="0" u="none" strike="noStrike" baseline="0" dirty="0">
                <a:solidFill>
                  <a:srgbClr val="001932"/>
                </a:solidFill>
                <a:latin typeface="+mj-lt"/>
              </a:rPr>
              <a:t>– </a:t>
            </a:r>
            <a:r>
              <a:rPr lang="en-IN" sz="2400" b="0" i="1" u="none" strike="noStrike" baseline="0" dirty="0">
                <a:solidFill>
                  <a:srgbClr val="001932"/>
                </a:solidFill>
                <a:latin typeface="+mj-lt"/>
              </a:rPr>
              <a:t>T</a:t>
            </a:r>
            <a:r>
              <a:rPr lang="en-IN" sz="2400" b="0" i="0" u="none" strike="noStrike" baseline="0" dirty="0">
                <a:solidFill>
                  <a:srgbClr val="001932"/>
                </a:solidFill>
                <a:latin typeface="+mj-lt"/>
              </a:rPr>
              <a:t>)</a:t>
            </a:r>
            <a:r>
              <a:rPr lang="en-IN" sz="2400" b="0" i="0" u="none" strike="noStrike" baseline="30000" dirty="0">
                <a:solidFill>
                  <a:srgbClr val="001932"/>
                </a:solidFill>
                <a:latin typeface="+mj-lt"/>
              </a:rPr>
              <a:t>2</a:t>
            </a:r>
          </a:p>
          <a:p>
            <a:pPr lvl="1" algn="ctr">
              <a:lnSpc>
                <a:spcPct val="150000"/>
              </a:lnSpc>
            </a:pPr>
            <a:r>
              <a:rPr lang="en-IN" sz="2400" b="1" i="1" u="none" strike="noStrike" baseline="0" dirty="0">
                <a:solidFill>
                  <a:srgbClr val="001932"/>
                </a:solidFill>
                <a:latin typeface="+mj-lt"/>
              </a:rPr>
              <a:t>x – T </a:t>
            </a:r>
            <a:r>
              <a:rPr lang="en-IN" sz="2400" b="1" i="0" u="none" strike="noStrike" baseline="0" dirty="0">
                <a:solidFill>
                  <a:srgbClr val="001932"/>
                </a:solidFill>
                <a:latin typeface="+mj-lt"/>
              </a:rPr>
              <a:t>= 0.004</a:t>
            </a:r>
          </a:p>
          <a:p>
            <a:pPr algn="l">
              <a:lnSpc>
                <a:spcPct val="150000"/>
              </a:lnSpc>
            </a:pPr>
            <a:endParaRPr lang="en-US" sz="2400" b="0" i="0" u="none" strike="noStrike" baseline="0" dirty="0">
              <a:solidFill>
                <a:srgbClr val="001932"/>
              </a:solidFill>
              <a:latin typeface="+mj-lt"/>
            </a:endParaRPr>
          </a:p>
          <a:p>
            <a:pPr algn="just">
              <a:lnSpc>
                <a:spcPct val="150000"/>
              </a:lnSpc>
            </a:pPr>
            <a:r>
              <a:rPr lang="en-US" sz="2400" b="0" i="0" u="none" strike="noStrike" baseline="0" dirty="0">
                <a:solidFill>
                  <a:srgbClr val="001932"/>
                </a:solidFill>
                <a:latin typeface="+mj-lt"/>
              </a:rPr>
              <a:t>Therefore, if the dimension is more than 0.004 away from the target, it is more economical to adjust it at the factory and the specifications should be set as 0.500 ± 0.004.</a:t>
            </a:r>
            <a:endParaRPr lang="en-IN" sz="2400" dirty="0">
              <a:latin typeface="+mj-lt"/>
            </a:endParaRPr>
          </a:p>
        </p:txBody>
      </p:sp>
    </p:spTree>
    <p:extLst>
      <p:ext uri="{BB962C8B-B14F-4D97-AF65-F5344CB8AC3E}">
        <p14:creationId xmlns:p14="http://schemas.microsoft.com/office/powerpoint/2010/main" val="2671743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35346" y="2800623"/>
            <a:ext cx="8396795"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THANK YOU!!!</a:t>
            </a:r>
          </a:p>
        </p:txBody>
      </p:sp>
    </p:spTree>
    <p:extLst>
      <p:ext uri="{BB962C8B-B14F-4D97-AF65-F5344CB8AC3E}">
        <p14:creationId xmlns:p14="http://schemas.microsoft.com/office/powerpoint/2010/main" val="3061991155"/>
      </p:ext>
    </p:extLst>
  </p:cSld>
  <p:clrMapOvr>
    <a:masterClrMapping/>
  </p:clrMapOvr>
</p:sld>
</file>

<file path=ppt/theme/theme1.xml><?xml version="1.0" encoding="utf-8"?>
<a:theme xmlns:a="http://schemas.openxmlformats.org/drawingml/2006/main" name="1_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rita Digital Campus V1.0" id="{58E84EBF-3C9A-46FA-AC67-01E514AB1B2B}" vid="{BF34DAB5-A2D4-47C4-AD4E-D8DB5419BE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CA67C528DC284E8073580C98E8539C" ma:contentTypeVersion="10" ma:contentTypeDescription="Create a new document." ma:contentTypeScope="" ma:versionID="107b615047e9376b6c55e1e5aaead638">
  <xsd:schema xmlns:xsd="http://www.w3.org/2001/XMLSchema" xmlns:xs="http://www.w3.org/2001/XMLSchema" xmlns:p="http://schemas.microsoft.com/office/2006/metadata/properties" xmlns:ns2="0107a115-4623-4481-beee-bafad199008b" xmlns:ns3="7a2a247a-f6ec-4c8f-8314-d83500b08c54" targetNamespace="http://schemas.microsoft.com/office/2006/metadata/properties" ma:root="true" ma:fieldsID="508cbe6b2b3f672b12342e56415e841d" ns2:_="" ns3:_="">
    <xsd:import namespace="0107a115-4623-4481-beee-bafad199008b"/>
    <xsd:import namespace="7a2a247a-f6ec-4c8f-8314-d83500b08c5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07a115-4623-4481-beee-bafad19900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2a247a-f6ec-4c8f-8314-d83500b08c5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A29E35A-EF86-49DD-8023-556F66FCE6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07a115-4623-4481-beee-bafad199008b"/>
    <ds:schemaRef ds:uri="7a2a247a-f6ec-4c8f-8314-d83500b08c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309BE7-B587-43F4-8592-76B39C023D29}">
  <ds:schemaRefs>
    <ds:schemaRef ds:uri="http://schemas.microsoft.com/sharepoint/v3/contenttype/forms"/>
  </ds:schemaRefs>
</ds:datastoreItem>
</file>

<file path=customXml/itemProps3.xml><?xml version="1.0" encoding="utf-8"?>
<ds:datastoreItem xmlns:ds="http://schemas.openxmlformats.org/officeDocument/2006/customXml" ds:itemID="{532C674B-ACDE-455C-BA7E-ACC458E5BC04}">
  <ds:schemaRefs>
    <ds:schemaRef ds:uri="0107a115-4623-4481-beee-bafad199008b"/>
    <ds:schemaRef ds:uri="http://www.w3.org/XML/1998/namespace"/>
    <ds:schemaRef ds:uri="http://purl.org/dc/dcmitype/"/>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7a2a247a-f6ec-4c8f-8314-d83500b08c54"/>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46927</TotalTime>
  <Words>1105</Words>
  <Application>Microsoft Office PowerPoint</Application>
  <PresentationFormat>Widescreen</PresentationFormat>
  <Paragraphs>120</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ArialMT</vt:lpstr>
      <vt:lpstr>Calibri</vt:lpstr>
      <vt:lpstr>Gill Sans MT</vt:lpstr>
      <vt:lpstr>OpenSymbol</vt:lpstr>
      <vt:lpstr>Roboto</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Introduction and Research Interest</dc:title>
  <dc:creator>AICTE</dc:creator>
  <cp:lastModifiedBy>Dr. Sunil Kumar - MEE - ASE, Chennai Campus</cp:lastModifiedBy>
  <cp:revision>1088</cp:revision>
  <dcterms:created xsi:type="dcterms:W3CDTF">2019-07-04T04:21:14Z</dcterms:created>
  <dcterms:modified xsi:type="dcterms:W3CDTF">2024-09-11T03:37:07Z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0x010100A2CA67C528DC284E8073580C98E8539C</vt:lpwstr>
  </property>
</Properties>
</file>