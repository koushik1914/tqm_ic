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64" r:id="rId5"/>
    <p:sldId id="687" r:id="rId6"/>
    <p:sldId id="1167" r:id="rId7"/>
    <p:sldId id="1169" r:id="rId8"/>
    <p:sldId id="1168" r:id="rId9"/>
    <p:sldId id="1170" r:id="rId10"/>
    <p:sldId id="1171" r:id="rId11"/>
    <p:sldId id="1172" r:id="rId12"/>
    <p:sldId id="1173" r:id="rId13"/>
    <p:sldId id="1174" r:id="rId14"/>
    <p:sldId id="1175" r:id="rId15"/>
    <p:sldId id="1176" r:id="rId16"/>
    <p:sldId id="1177" r:id="rId17"/>
    <p:sldId id="1178" r:id="rId18"/>
    <p:sldId id="1179" r:id="rId19"/>
    <p:sldId id="1180" r:id="rId20"/>
    <p:sldId id="1181" r:id="rId21"/>
    <p:sldId id="1182" r:id="rId22"/>
    <p:sldId id="1183" r:id="rId23"/>
    <p:sldId id="11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 M - [Mechanical], Amrita Vishwa Vidyapeetham." initials="SKM[AVV" lastIdx="1" clrIdx="0">
    <p:extLst>
      <p:ext uri="{19B8F6BF-5375-455C-9EA6-DF929625EA0E}">
        <p15:presenceInfo xmlns:p15="http://schemas.microsoft.com/office/powerpoint/2012/main" userId="Sathish Kumar M - [Mechanical], Amrita Vishwa Vidyapeetham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87" y="5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7318B-7A8A-4299-AEA3-1411F41B9684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0EE7F-DECD-4B61-B42D-8BCEBAEC8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21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0EE7F-DECD-4B61-B42D-8BCEBAEC89F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1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86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024872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DAF3D3DE-4523-4272-BE59-8D2437F581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9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243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66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C636576-C435-4227-AE32-FBC777B3BD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39624" cy="6559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076A84-695B-4D81-B65B-036D08E1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97440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910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314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8314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9ECDAE0-0A74-4D72-8A95-D1CE68BB8C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733677" y="6002200"/>
            <a:ext cx="2120251" cy="6559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40324-116D-46BF-A0D8-ACBB1FA5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15728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5338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D5A8173-029E-4575-B1BE-7D44B32D74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356520" y="6017547"/>
            <a:ext cx="2457784" cy="6559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2D2E05-3817-4F9D-BBEF-1D4FF77C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76104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9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5BF30093-AF1A-473D-8459-D65A198D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77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AE8CF87-0C27-479A-9FCC-F0FA64D1A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4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484F575-B956-41D8-9BD9-542DF1FD66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82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33505" y="1525371"/>
            <a:ext cx="7724987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58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grpSp>
        <p:nvGrpSpPr>
          <p:cNvPr id="32" name="Group 31"/>
          <p:cNvGrpSpPr/>
          <p:nvPr userDrawn="1"/>
        </p:nvGrpSpPr>
        <p:grpSpPr>
          <a:xfrm rot="5400000">
            <a:off x="10284402" y="4422774"/>
            <a:ext cx="2399145" cy="286385"/>
            <a:chOff x="838200" y="6096000"/>
            <a:chExt cx="2639060" cy="260350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3" name="Flowchart: Connector 22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4" name="Flowchart: Connector 23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5" name="Flowchart: Connector 24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6" name="Flowchart: Connector 25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7" name="Flowchart: Connector 26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8" name="Flowchart: Connector 27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9" name="Flowchart: Connector 28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0" name="Flowchart: Connector 29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1" name="Flowchart: Connector 30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838200" y="6082983"/>
            <a:ext cx="2639060" cy="286385"/>
            <a:chOff x="838200" y="6096000"/>
            <a:chExt cx="2639060" cy="260350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34" name="Flowchart: Connector 33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5" name="Flowchart: Connector 34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6" name="Flowchart: Connector 35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7" name="Flowchart: Connector 36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8" name="Flowchart: Connector 37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9" name="Flowchart: Connector 38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0" name="Flowchart: Connector 39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1" name="Flowchart: Connector 40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2" name="Flowchart: Connector 41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3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937F8-66AD-4534-8544-87CB8628F672}"/>
              </a:ext>
            </a:extLst>
          </p:cNvPr>
          <p:cNvSpPr txBox="1"/>
          <p:nvPr/>
        </p:nvSpPr>
        <p:spPr>
          <a:xfrm>
            <a:off x="247305" y="248330"/>
            <a:ext cx="1128171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Quality Management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(19MEE347)</a:t>
            </a:r>
          </a:p>
          <a:p>
            <a:pPr algn="ctr"/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 – ISO 9000 - 2000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5C8B-5034-404C-99D8-7F9D1F7AD815}"/>
              </a:ext>
            </a:extLst>
          </p:cNvPr>
          <p:cNvSpPr txBox="1"/>
          <p:nvPr/>
        </p:nvSpPr>
        <p:spPr>
          <a:xfrm>
            <a:off x="1225553" y="4464869"/>
            <a:ext cx="9740893" cy="1323439"/>
          </a:xfrm>
          <a:prstGeom prst="rect">
            <a:avLst/>
          </a:prstGeom>
          <a:solidFill>
            <a:srgbClr val="AE123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Dr. </a:t>
            </a:r>
            <a:r>
              <a:rPr lang="en-IN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Sunil Kumar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3338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9000:2000 - Overview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467032" y="1049593"/>
            <a:ext cx="10977716" cy="44196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Quality system standards adopted in 1987 by International Organization for Standardization; revised in 1994 and 2000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Technical specifications and criteria to be used as rules, guidelines, or definitions of characteristics to ensure that materials, products, processes, and services are fit for their purpose.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93121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Objectives of ISO 9000 Standards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467032" y="1049593"/>
            <a:ext cx="10977716" cy="44196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Achieve, maintain, and improve product quality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Improve quality of operations to continually meet customers’ and stakeholders’ needs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Provide confidence to management, employees, customers, and stakeholders that quality requirements are fulfilled</a:t>
            </a:r>
          </a:p>
        </p:txBody>
      </p:sp>
    </p:spTree>
    <p:extLst>
      <p:ext uri="{BB962C8B-B14F-4D97-AF65-F5344CB8AC3E}">
        <p14:creationId xmlns:p14="http://schemas.microsoft.com/office/powerpoint/2010/main" val="52963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93121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9000 Key Characteristics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467032" y="1049593"/>
            <a:ext cx="10977716" cy="44196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Establishes a quality management system (QMS) to facilitates consistency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It is not prescriptive; does not tell you “how” to do anything; specifies “what” processes need to be in place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It is not a product standard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It is not TQM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It is site specific</a:t>
            </a:r>
          </a:p>
        </p:txBody>
      </p:sp>
    </p:spTree>
    <p:extLst>
      <p:ext uri="{BB962C8B-B14F-4D97-AF65-F5344CB8AC3E}">
        <p14:creationId xmlns:p14="http://schemas.microsoft.com/office/powerpoint/2010/main" val="164693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7129340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9000:2000 Standards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467032" y="1049593"/>
            <a:ext cx="10977716" cy="44196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ISO 9000:2000, Quality Management Systems – Fundamentals and Vocabulary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ISO 9001:2000, Quality Management Systems - Requirements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ISO 9004:2000, Quality Management Systems – Guidelines for Performance Improvement</a:t>
            </a:r>
          </a:p>
        </p:txBody>
      </p:sp>
    </p:spTree>
    <p:extLst>
      <p:ext uri="{BB962C8B-B14F-4D97-AF65-F5344CB8AC3E}">
        <p14:creationId xmlns:p14="http://schemas.microsoft.com/office/powerpoint/2010/main" val="17131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1146536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9000:2000 Quality Management Principles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706560"/>
            <a:ext cx="10977716" cy="6151439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Customer Focus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Leadership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Involvement of People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Process Approach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System Approach to Management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Continual Improvement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Factual Approach to Decision Making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Mutually Beneficial Supplier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75456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8471443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Structure of ISO 9000 Standards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1149693"/>
            <a:ext cx="10977716" cy="455861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21 elements organized into five major sections: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System Requirements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Management Responsibility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Resource Management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Product Realization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Measurement, Analysis, and Improvement</a:t>
            </a:r>
          </a:p>
        </p:txBody>
      </p:sp>
    </p:spTree>
    <p:extLst>
      <p:ext uri="{BB962C8B-B14F-4D97-AF65-F5344CB8AC3E}">
        <p14:creationId xmlns:p14="http://schemas.microsoft.com/office/powerpoint/2010/main" val="102003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191224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9001:2000 Requirements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2" y="1149693"/>
            <a:ext cx="10977716" cy="455861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System Requirements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Establish a quality management system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Document the quality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87650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191224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9001:2000 Requirements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824547"/>
            <a:ext cx="10977716" cy="5837281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Management Responsibility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Management Commitment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Customer Focus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Quality Policy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Planning 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Administration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Management Review</a:t>
            </a:r>
          </a:p>
          <a:p>
            <a:pPr lvl="1" algn="just">
              <a:lnSpc>
                <a:spcPct val="150000"/>
              </a:lnSpc>
            </a:pPr>
            <a:endParaRPr lang="en-US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6729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191224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9001:2000 Requirements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82454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Resource Management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Provision of Resources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Human Resources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Facilities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Work Environment</a:t>
            </a:r>
            <a:endParaRPr lang="en-US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3074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191224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9001:2000 Requirements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82454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Product and/or Service Realization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Planning of Realization Processes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Customer-Related Processes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Design and/or Development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Purchasing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Production and Service Operations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Control of Measuring and Monitoring Devices</a:t>
            </a:r>
          </a:p>
        </p:txBody>
      </p:sp>
    </p:spTree>
    <p:extLst>
      <p:ext uri="{BB962C8B-B14F-4D97-AF65-F5344CB8AC3E}">
        <p14:creationId xmlns:p14="http://schemas.microsoft.com/office/powerpoint/2010/main" val="2626974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191224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9001:2000 Requirements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82454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4000" dirty="0">
                <a:latin typeface="+mj-lt"/>
              </a:rPr>
              <a:t>Measurement, Analysis, and Improvement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Planning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Measurement and Monitoring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Control of Nonconformity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Analysis of Data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Improvement</a:t>
            </a:r>
          </a:p>
          <a:p>
            <a:pPr lvl="2" algn="just">
              <a:lnSpc>
                <a:spcPct val="150000"/>
              </a:lnSpc>
            </a:pPr>
            <a:endParaRPr lang="en-US" alt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0476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9695559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Documentation Levels of 9001:2000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82454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Manual (philosophy, policy, objectives, approach)</a:t>
            </a:r>
          </a:p>
          <a:p>
            <a:pPr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Procedures </a:t>
            </a:r>
          </a:p>
          <a:p>
            <a:pPr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Work instructions (department, product, process)</a:t>
            </a:r>
          </a:p>
          <a:p>
            <a:pPr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Records (proof and objective evidence)</a:t>
            </a:r>
          </a:p>
          <a:p>
            <a:pPr algn="just">
              <a:lnSpc>
                <a:spcPct val="150000"/>
              </a:lnSpc>
            </a:pPr>
            <a:r>
              <a:rPr lang="en-US" altLang="en-US" sz="3600" dirty="0">
                <a:latin typeface="+mj-lt"/>
              </a:rPr>
              <a:t>Ad-hoc, temporary documents</a:t>
            </a:r>
          </a:p>
        </p:txBody>
      </p:sp>
    </p:spTree>
    <p:extLst>
      <p:ext uri="{BB962C8B-B14F-4D97-AF65-F5344CB8AC3E}">
        <p14:creationId xmlns:p14="http://schemas.microsoft.com/office/powerpoint/2010/main" val="38277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722166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9000 Certification Process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82454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en-US" sz="3600" dirty="0">
                <a:latin typeface="+mj-lt"/>
              </a:rPr>
              <a:t>1. The company first implements the control and documentation procedures outlined in the series.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3600" dirty="0">
                <a:latin typeface="+mj-lt"/>
              </a:rPr>
              <a:t>2. It then involves a thorough audit by an independent certification organization (i.e., a Registrar) that is licensed to register quality systems by an accreditation body (e.g., Registrar Accreditation Board in U.S.)</a:t>
            </a:r>
          </a:p>
        </p:txBody>
      </p:sp>
    </p:spTree>
    <p:extLst>
      <p:ext uri="{BB962C8B-B14F-4D97-AF65-F5344CB8AC3E}">
        <p14:creationId xmlns:p14="http://schemas.microsoft.com/office/powerpoint/2010/main" val="2310810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722166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9000 Certification Process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82454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en-US" sz="3600" dirty="0">
                <a:latin typeface="+mj-lt"/>
              </a:rPr>
              <a:t>3. Upon compliance, it receives a registration certificate and its name is included in a published directory of registered suppliers.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3600" dirty="0">
                <a:latin typeface="+mj-lt"/>
              </a:rPr>
              <a:t>4. The systems will be continually verified by the registrar in periodic surveillance and full audits are conducted every few years.</a:t>
            </a:r>
          </a:p>
        </p:txBody>
      </p:sp>
    </p:spTree>
    <p:extLst>
      <p:ext uri="{BB962C8B-B14F-4D97-AF65-F5344CB8AC3E}">
        <p14:creationId xmlns:p14="http://schemas.microsoft.com/office/powerpoint/2010/main" val="2795159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6509907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9000 Certifications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119393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en-US" sz="3200" dirty="0">
                <a:latin typeface="+mj-lt"/>
              </a:rPr>
              <a:t>Through Dec. 2002, at least 561,747 ISO 9000 certifications have been issued in 159 countries and economies.  In North America, 53,806 certifications were issued.  In Europe, 292,970 certifications were issued – The ISO Survey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3200" dirty="0">
                <a:latin typeface="+mj-lt"/>
              </a:rPr>
              <a:t>Some beginning to question its usefulness</a:t>
            </a:r>
          </a:p>
        </p:txBody>
      </p:sp>
    </p:spTree>
    <p:extLst>
      <p:ext uri="{BB962C8B-B14F-4D97-AF65-F5344CB8AC3E}">
        <p14:creationId xmlns:p14="http://schemas.microsoft.com/office/powerpoint/2010/main" val="3805895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47144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Potential Benefits of Registration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119393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Documentation of quality management system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Reduction of variation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Help develop and expand business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Reduction or elimination of customer audit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Increased profitability/reduced costs</a:t>
            </a:r>
          </a:p>
        </p:txBody>
      </p:sp>
    </p:spTree>
    <p:extLst>
      <p:ext uri="{BB962C8B-B14F-4D97-AF65-F5344CB8AC3E}">
        <p14:creationId xmlns:p14="http://schemas.microsoft.com/office/powerpoint/2010/main" val="3246101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847144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Potential Benefits of Registration 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119393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Improved communication, both internal and external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Greater awareness of quality by employees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Provision of training to all employees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Ability to remain or become competitive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Elimination of duplication of quality systems</a:t>
            </a:r>
          </a:p>
        </p:txBody>
      </p:sp>
    </p:spTree>
    <p:extLst>
      <p:ext uri="{BB962C8B-B14F-4D97-AF65-F5344CB8AC3E}">
        <p14:creationId xmlns:p14="http://schemas.microsoft.com/office/powerpoint/2010/main" val="130392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7424307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Problems with Certification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3" y="1193938"/>
            <a:ext cx="10977716" cy="447012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Costs - application &amp; maintenance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Time - application &amp; maintenance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Level of internal expertise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Executive commitment</a:t>
            </a:r>
          </a:p>
          <a:p>
            <a:pPr algn="just">
              <a:lnSpc>
                <a:spcPct val="150000"/>
              </a:lnSpc>
            </a:pPr>
            <a:r>
              <a:rPr lang="en-US" altLang="en-US" sz="3200" dirty="0">
                <a:latin typeface="+mj-lt"/>
              </a:rPr>
              <a:t>Selection of registration</a:t>
            </a:r>
          </a:p>
        </p:txBody>
      </p:sp>
    </p:spTree>
    <p:extLst>
      <p:ext uri="{BB962C8B-B14F-4D97-AF65-F5344CB8AC3E}">
        <p14:creationId xmlns:p14="http://schemas.microsoft.com/office/powerpoint/2010/main" val="3086439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5346" y="2800623"/>
            <a:ext cx="839679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0619911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rita Digital Campus V1.0" id="{58E84EBF-3C9A-46FA-AC67-01E514AB1B2B}" vid="{BF34DAB5-A2D4-47C4-AD4E-D8DB5419BE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CA67C528DC284E8073580C98E8539C" ma:contentTypeVersion="10" ma:contentTypeDescription="Create a new document." ma:contentTypeScope="" ma:versionID="107b615047e9376b6c55e1e5aaead638">
  <xsd:schema xmlns:xsd="http://www.w3.org/2001/XMLSchema" xmlns:xs="http://www.w3.org/2001/XMLSchema" xmlns:p="http://schemas.microsoft.com/office/2006/metadata/properties" xmlns:ns2="0107a115-4623-4481-beee-bafad199008b" xmlns:ns3="7a2a247a-f6ec-4c8f-8314-d83500b08c54" targetNamespace="http://schemas.microsoft.com/office/2006/metadata/properties" ma:root="true" ma:fieldsID="508cbe6b2b3f672b12342e56415e841d" ns2:_="" ns3:_="">
    <xsd:import namespace="0107a115-4623-4481-beee-bafad199008b"/>
    <xsd:import namespace="7a2a247a-f6ec-4c8f-8314-d83500b08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7a115-4623-4481-beee-bafad19900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a247a-f6ec-4c8f-8314-d83500b08c5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29E35A-EF86-49DD-8023-556F66FCE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07a115-4623-4481-beee-bafad199008b"/>
    <ds:schemaRef ds:uri="7a2a247a-f6ec-4c8f-8314-d83500b08c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309BE7-B587-43F4-8592-76B39C023D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2C674B-ACDE-455C-BA7E-ACC458E5BC04}">
  <ds:schemaRefs>
    <ds:schemaRef ds:uri="0107a115-4623-4481-beee-bafad199008b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a2a247a-f6ec-4c8f-8314-d83500b08c54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46967</TotalTime>
  <Words>645</Words>
  <Application>Microsoft Office PowerPoint</Application>
  <PresentationFormat>Widescreen</PresentationFormat>
  <Paragraphs>108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Gill Sans MT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Introduction and Research Interest</dc:title>
  <dc:creator>AICTE</dc:creator>
  <cp:lastModifiedBy>Dr. Sunil Kumar - MEE - ASE, Chennai Campus</cp:lastModifiedBy>
  <cp:revision>1106</cp:revision>
  <dcterms:created xsi:type="dcterms:W3CDTF">2019-07-04T04:21:14Z</dcterms:created>
  <dcterms:modified xsi:type="dcterms:W3CDTF">2024-09-11T03:34:04Z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0x010100A2CA67C528DC284E8073580C98E8539C</vt:lpwstr>
  </property>
</Properties>
</file>