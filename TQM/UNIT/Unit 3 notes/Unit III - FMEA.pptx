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5"/>
  </p:notesMasterIdLst>
  <p:sldIdLst>
    <p:sldId id="264" r:id="rId5"/>
    <p:sldId id="687" r:id="rId6"/>
    <p:sldId id="1176" r:id="rId7"/>
    <p:sldId id="1167" r:id="rId8"/>
    <p:sldId id="1168" r:id="rId9"/>
    <p:sldId id="1186" r:id="rId10"/>
    <p:sldId id="1169" r:id="rId11"/>
    <p:sldId id="1170" r:id="rId12"/>
    <p:sldId id="1171" r:id="rId13"/>
    <p:sldId id="1188" r:id="rId14"/>
    <p:sldId id="1172" r:id="rId15"/>
    <p:sldId id="1174" r:id="rId16"/>
    <p:sldId id="1175" r:id="rId17"/>
    <p:sldId id="1177" r:id="rId18"/>
    <p:sldId id="1187" r:id="rId19"/>
    <p:sldId id="1189" r:id="rId20"/>
    <p:sldId id="1190" r:id="rId21"/>
    <p:sldId id="1191" r:id="rId22"/>
    <p:sldId id="1192" r:id="rId23"/>
    <p:sldId id="1193" r:id="rId24"/>
    <p:sldId id="1194" r:id="rId25"/>
    <p:sldId id="1195" r:id="rId26"/>
    <p:sldId id="1173" r:id="rId27"/>
    <p:sldId id="1178" r:id="rId28"/>
    <p:sldId id="1179" r:id="rId29"/>
    <p:sldId id="1180" r:id="rId30"/>
    <p:sldId id="1181" r:id="rId31"/>
    <p:sldId id="1182" r:id="rId32"/>
    <p:sldId id="1185" r:id="rId33"/>
    <p:sldId id="116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 M - [Mechanical], Amrita Vishwa Vidyapeetham." initials="SKM[AVV" lastIdx="1" clrIdx="0">
    <p:extLst>
      <p:ext uri="{19B8F6BF-5375-455C-9EA6-DF929625EA0E}">
        <p15:presenceInfo xmlns:p15="http://schemas.microsoft.com/office/powerpoint/2012/main" userId="Sathish Kumar M - [Mechanical], Amrita Vishwa Vidyapeetham.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2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87" y="5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7318B-7A8A-4299-AEA3-1411F41B9684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0EE7F-DECD-4B61-B42D-8BCEBAEC8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216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0EE7F-DECD-4B61-B42D-8BCEBAEC89F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18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86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024872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DAF3D3DE-4523-4272-BE59-8D2437F581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9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243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66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7C636576-C435-4227-AE32-FBC777B3BD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39624" cy="65598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0076A84-695B-4D81-B65B-036D08E1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97440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910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314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8314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C9ECDAE0-0A74-4D72-8A95-D1CE68BB8C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733677" y="6002200"/>
            <a:ext cx="2120251" cy="6559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D40324-116D-46BF-A0D8-ACBB1FA5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15728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5338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D5A8173-029E-4575-B1BE-7D44B32D74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356520" y="6017547"/>
            <a:ext cx="2457784" cy="6559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2D2E05-3817-4F9D-BBEF-1D4FF77C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76104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98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5BF30093-AF1A-473D-8459-D65A198D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77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AE8CF87-0C27-479A-9FCC-F0FA64D1A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34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484F575-B956-41D8-9BD9-542DF1FD66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82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33505" y="1525371"/>
            <a:ext cx="7724987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58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0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grpSp>
        <p:nvGrpSpPr>
          <p:cNvPr id="32" name="Group 31"/>
          <p:cNvGrpSpPr/>
          <p:nvPr userDrawn="1"/>
        </p:nvGrpSpPr>
        <p:grpSpPr>
          <a:xfrm rot="5400000">
            <a:off x="10284402" y="4422774"/>
            <a:ext cx="2399145" cy="286385"/>
            <a:chOff x="838200" y="6096000"/>
            <a:chExt cx="2639060" cy="260350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23" name="Flowchart: Connector 22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4" name="Flowchart: Connector 23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5" name="Flowchart: Connector 24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6" name="Flowchart: Connector 25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7" name="Flowchart: Connector 26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8" name="Flowchart: Connector 27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9" name="Flowchart: Connector 28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0" name="Flowchart: Connector 29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1" name="Flowchart: Connector 30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  <p:grpSp>
        <p:nvGrpSpPr>
          <p:cNvPr id="33" name="Group 32"/>
          <p:cNvGrpSpPr/>
          <p:nvPr userDrawn="1"/>
        </p:nvGrpSpPr>
        <p:grpSpPr>
          <a:xfrm>
            <a:off x="838200" y="6082983"/>
            <a:ext cx="2639060" cy="286385"/>
            <a:chOff x="838200" y="6096000"/>
            <a:chExt cx="2639060" cy="260350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34" name="Flowchart: Connector 33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5" name="Flowchart: Connector 34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6" name="Flowchart: Connector 35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7" name="Flowchart: Connector 36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8" name="Flowchart: Connector 37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9" name="Flowchart: Connector 38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0" name="Flowchart: Connector 39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1" name="Flowchart: Connector 40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2" name="Flowchart: Connector 41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035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6937F8-66AD-4534-8544-87CB8628F672}"/>
              </a:ext>
            </a:extLst>
          </p:cNvPr>
          <p:cNvSpPr txBox="1"/>
          <p:nvPr/>
        </p:nvSpPr>
        <p:spPr>
          <a:xfrm>
            <a:off x="247305" y="248330"/>
            <a:ext cx="1128171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Quality Management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(19MEE347)</a:t>
            </a:r>
          </a:p>
          <a:p>
            <a:pPr algn="ctr"/>
            <a:endParaRPr lang="en-IN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3 – Failure Mode and Effect Analysis</a:t>
            </a:r>
          </a:p>
          <a:p>
            <a:pPr algn="ctr"/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55C8B-5034-404C-99D8-7F9D1F7AD815}"/>
              </a:ext>
            </a:extLst>
          </p:cNvPr>
          <p:cNvSpPr txBox="1"/>
          <p:nvPr/>
        </p:nvSpPr>
        <p:spPr>
          <a:xfrm>
            <a:off x="1225553" y="4464869"/>
            <a:ext cx="9740893" cy="1323439"/>
          </a:xfrm>
          <a:prstGeom prst="rect">
            <a:avLst/>
          </a:prstGeom>
          <a:solidFill>
            <a:srgbClr val="AE123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Dr. </a:t>
            </a:r>
            <a:r>
              <a:rPr lang="en-IN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Sunil Kumar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63338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 - History</a:t>
            </a:r>
            <a:endParaRPr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53220C-350F-C63E-6050-9480DA82F34B}"/>
              </a:ext>
            </a:extLst>
          </p:cNvPr>
          <p:cNvSpPr txBox="1">
            <a:spLocks noChangeArrowheads="1"/>
          </p:cNvSpPr>
          <p:nvPr/>
        </p:nvSpPr>
        <p:spPr>
          <a:xfrm>
            <a:off x="875071" y="942975"/>
            <a:ext cx="10441858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en-US" sz="2400" dirty="0">
                <a:latin typeface="+mj-lt"/>
              </a:rPr>
              <a:t>First used in the 1960’s in the Aerospace  industry during the Apollo missions</a:t>
            </a: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en-US" sz="2400" dirty="0">
                <a:latin typeface="+mj-lt"/>
              </a:rPr>
              <a:t>In 1974, the Navy developed </a:t>
            </a:r>
            <a:r>
              <a:rPr lang="en-US" sz="2400" i="1" dirty="0">
                <a:latin typeface="+mj-lt"/>
              </a:rPr>
              <a:t>MIL-STD-1629 </a:t>
            </a:r>
            <a:r>
              <a:rPr lang="en-US" sz="2400" dirty="0">
                <a:latin typeface="+mj-lt"/>
              </a:rPr>
              <a:t>regarding the use of FMEA</a:t>
            </a: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en-US" sz="2400" dirty="0">
                <a:latin typeface="+mj-lt"/>
              </a:rPr>
              <a:t>In the late 1970’s, the automotive industry was driven by liability costs to use FMEA</a:t>
            </a: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en-US" sz="2400" dirty="0">
                <a:latin typeface="+mj-lt"/>
              </a:rPr>
              <a:t>Later, the automotive industry saw the advantages of using this tool to reduce risks related to poor quality</a:t>
            </a:r>
          </a:p>
        </p:txBody>
      </p:sp>
      <p:sp>
        <p:nvSpPr>
          <p:cNvPr id="3" name="AutoShape 2" descr="Performing FMEA and FMECA with Examples for Maintenance">
            <a:extLst>
              <a:ext uri="{FF2B5EF4-FFF2-40B4-BE49-F238E27FC236}">
                <a16:creationId xmlns:a16="http://schemas.microsoft.com/office/drawing/2014/main" id="{6F0E59A3-0792-DB4A-CF3E-92D4082182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 - Use</a:t>
            </a:r>
            <a:endParaRPr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D278CFE3-EDF9-7A27-6825-F8A6355A90E1}"/>
              </a:ext>
            </a:extLst>
          </p:cNvPr>
          <p:cNvSpPr txBox="1">
            <a:spLocks noChangeArrowheads="1"/>
          </p:cNvSpPr>
          <p:nvPr/>
        </p:nvSpPr>
        <p:spPr>
          <a:xfrm>
            <a:off x="911942" y="1226574"/>
            <a:ext cx="10368116" cy="3743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sz="2800" dirty="0">
                <a:latin typeface="+mj-lt"/>
              </a:rPr>
              <a:t>Allows us to identify areas of our process that most impact our customers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sz="2800" dirty="0">
                <a:latin typeface="+mj-lt"/>
              </a:rPr>
              <a:t>Helps us identify how our process is most likely to fail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sz="2800" dirty="0">
                <a:latin typeface="+mj-lt"/>
              </a:rPr>
              <a:t>Points to process failures that are most difficult to detect</a:t>
            </a:r>
          </a:p>
        </p:txBody>
      </p:sp>
    </p:spTree>
    <p:extLst>
      <p:ext uri="{BB962C8B-B14F-4D97-AF65-F5344CB8AC3E}">
        <p14:creationId xmlns:p14="http://schemas.microsoft.com/office/powerpoint/2010/main" val="15587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 – Applications</a:t>
            </a:r>
            <a:endParaRPr dirty="0"/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C8A165CF-4274-9EB6-4D57-3D9A95D2461C}"/>
              </a:ext>
            </a:extLst>
          </p:cNvPr>
          <p:cNvSpPr txBox="1">
            <a:spLocks noChangeArrowheads="1"/>
          </p:cNvSpPr>
          <p:nvPr/>
        </p:nvSpPr>
        <p:spPr>
          <a:xfrm>
            <a:off x="648930" y="1079090"/>
            <a:ext cx="10441858" cy="42450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sz="2800" dirty="0">
                <a:latin typeface="+mj-lt"/>
              </a:rPr>
              <a:t>Manufacturing: A manager is responsible for moving a manufacturing operation to a new facility. He wants to be sure the move goes as smoothly as possible and that there are no surprises.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sz="2800" dirty="0">
                <a:latin typeface="+mj-lt"/>
              </a:rPr>
              <a:t>Design: A design engineer wants to think of all the possible ways a product he is designing could fail so that he can build robustness into the product.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Font typeface="Wingdings 2" pitchFamily="18" charset="2"/>
              <a:buNone/>
            </a:pP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48107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What is a Failure Mode?</a:t>
            </a:r>
            <a:endParaRPr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8D6B9B8-76DD-9C26-2187-3F72FEA036C6}"/>
              </a:ext>
            </a:extLst>
          </p:cNvPr>
          <p:cNvSpPr txBox="1">
            <a:spLocks noChangeArrowheads="1"/>
          </p:cNvSpPr>
          <p:nvPr/>
        </p:nvSpPr>
        <p:spPr>
          <a:xfrm>
            <a:off x="259602" y="961104"/>
            <a:ext cx="10854813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800">
                <a:latin typeface="+mj-lt"/>
              </a:rPr>
              <a:t>A </a:t>
            </a:r>
            <a:r>
              <a:rPr lang="en-US" sz="2800" b="1">
                <a:latin typeface="+mj-lt"/>
              </a:rPr>
              <a:t>Failure Mode</a:t>
            </a:r>
            <a:r>
              <a:rPr lang="en-US" sz="2800">
                <a:latin typeface="+mj-lt"/>
              </a:rPr>
              <a:t> is:</a:t>
            </a:r>
          </a:p>
          <a:p>
            <a:pPr lvl="1" algn="just">
              <a:lnSpc>
                <a:spcPct val="150000"/>
              </a:lnSpc>
            </a:pPr>
            <a:r>
              <a:rPr lang="en-US" sz="2800">
                <a:latin typeface="+mj-lt"/>
              </a:rPr>
              <a:t>The way in which the component, subassembly, product, input, or process could fail to perform its intended function</a:t>
            </a:r>
          </a:p>
          <a:p>
            <a:pPr lvl="2" algn="just">
              <a:lnSpc>
                <a:spcPct val="150000"/>
              </a:lnSpc>
            </a:pPr>
            <a:r>
              <a:rPr lang="en-US" sz="2800">
                <a:latin typeface="+mj-lt"/>
              </a:rPr>
              <a:t>Failure modes may be the result of upstream operations or may cause downstream operations to fail</a:t>
            </a:r>
          </a:p>
          <a:p>
            <a:pPr lvl="1" algn="just">
              <a:lnSpc>
                <a:spcPct val="150000"/>
              </a:lnSpc>
            </a:pPr>
            <a:r>
              <a:rPr lang="en-US" sz="2800">
                <a:latin typeface="+mj-lt"/>
              </a:rPr>
              <a:t>Things that could go wrong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5145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AADDFF-F068-B687-E102-0F7B757B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FMEA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A854B0-8A53-C709-6EF7-A0602122C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1026" name="Picture 2" descr="Failure Modes &amp; Effects Analysis (FMEA): A Virtual 1/2 Day Workshop">
            <a:extLst>
              <a:ext uri="{FF2B5EF4-FFF2-40B4-BE49-F238E27FC236}">
                <a16:creationId xmlns:a16="http://schemas.microsoft.com/office/drawing/2014/main" id="{2F5DC337-666A-4883-A632-99760FF5A0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0" t="2667" r="18250" b="-167"/>
          <a:stretch/>
        </p:blipFill>
        <p:spPr bwMode="auto">
          <a:xfrm>
            <a:off x="3676650" y="1443103"/>
            <a:ext cx="4591050" cy="522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7958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1121464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31DB0-2B35-EC3D-5695-CB8A460A6606}"/>
              </a:ext>
            </a:extLst>
          </p:cNvPr>
          <p:cNvSpPr txBox="1"/>
          <p:nvPr/>
        </p:nvSpPr>
        <p:spPr>
          <a:xfrm>
            <a:off x="483008" y="824548"/>
            <a:ext cx="10991236" cy="1423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Wingdings 2" pitchFamily="18" charset="2"/>
              <a:buNone/>
            </a:pPr>
            <a:r>
              <a:rPr lang="en-US" sz="2000" b="1" dirty="0"/>
              <a:t>What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/>
              <a:t>Failure Modes &amp; Effects Analysis is a methodology to evaluate failure modes and their effects in designs and in processes. 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3DE8EF-AEC0-C61F-678B-AAC19C2CE3F6}"/>
              </a:ext>
            </a:extLst>
          </p:cNvPr>
          <p:cNvSpPr txBox="1">
            <a:spLocks noChangeArrowheads="1"/>
          </p:cNvSpPr>
          <p:nvPr/>
        </p:nvSpPr>
        <p:spPr>
          <a:xfrm>
            <a:off x="483008" y="2437593"/>
            <a:ext cx="10991235" cy="41480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+mj-lt"/>
              </a:rPr>
              <a:t>Why</a:t>
            </a:r>
          </a:p>
          <a:p>
            <a:pPr marL="630238" lvl="1" indent="-293688">
              <a:lnSpc>
                <a:spcPct val="150000"/>
              </a:lnSpc>
            </a:pPr>
            <a:r>
              <a:rPr lang="en-US" sz="2000" dirty="0">
                <a:latin typeface="+mj-lt"/>
              </a:rPr>
              <a:t>Methodology that facilitates process improvement</a:t>
            </a:r>
          </a:p>
          <a:p>
            <a:pPr marL="630238" lvl="1" indent="-293688">
              <a:lnSpc>
                <a:spcPct val="150000"/>
              </a:lnSpc>
            </a:pPr>
            <a:r>
              <a:rPr lang="en-US" sz="2000" dirty="0">
                <a:latin typeface="+mj-lt"/>
              </a:rPr>
              <a:t>Identifies and eliminates concerns early in the development of a process or design</a:t>
            </a:r>
          </a:p>
          <a:p>
            <a:pPr marL="630238" lvl="1" indent="-293688">
              <a:lnSpc>
                <a:spcPct val="150000"/>
              </a:lnSpc>
            </a:pPr>
            <a:r>
              <a:rPr lang="en-US" sz="2000" dirty="0">
                <a:latin typeface="+mj-lt"/>
              </a:rPr>
              <a:t>Improve internal and external customer satisfaction</a:t>
            </a:r>
          </a:p>
          <a:p>
            <a:pPr marL="630238" lvl="1" indent="-293688">
              <a:lnSpc>
                <a:spcPct val="150000"/>
              </a:lnSpc>
            </a:pPr>
            <a:r>
              <a:rPr lang="en-US" sz="2000" dirty="0">
                <a:latin typeface="+mj-lt"/>
              </a:rPr>
              <a:t>Focuses on prevention</a:t>
            </a:r>
          </a:p>
          <a:p>
            <a:pPr marL="630238" lvl="1" indent="-293688">
              <a:lnSpc>
                <a:spcPct val="150000"/>
              </a:lnSpc>
            </a:pPr>
            <a:r>
              <a:rPr lang="en-US" sz="2000" dirty="0">
                <a:latin typeface="+mj-lt"/>
              </a:rPr>
              <a:t>FMEA may be a customer requirement, may be required by an applicable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Quality System Standard</a:t>
            </a:r>
          </a:p>
        </p:txBody>
      </p:sp>
    </p:spTree>
    <p:extLst>
      <p:ext uri="{BB962C8B-B14F-4D97-AF65-F5344CB8AC3E}">
        <p14:creationId xmlns:p14="http://schemas.microsoft.com/office/powerpoint/2010/main" val="4023011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3663469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</a:t>
            </a:r>
            <a:endParaRPr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488B0CC-9625-23A8-4014-93D7ACF3DA68}"/>
              </a:ext>
            </a:extLst>
          </p:cNvPr>
          <p:cNvSpPr txBox="1">
            <a:spLocks noChangeArrowheads="1"/>
          </p:cNvSpPr>
          <p:nvPr/>
        </p:nvSpPr>
        <p:spPr>
          <a:xfrm>
            <a:off x="535857" y="824548"/>
            <a:ext cx="11120286" cy="5443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+mj-lt"/>
              </a:rPr>
              <a:t>How</a:t>
            </a:r>
          </a:p>
          <a:p>
            <a:pPr marL="630238" lvl="1" indent="-293688"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Team identifies potential failure modes for design functions or process requirements</a:t>
            </a:r>
          </a:p>
          <a:p>
            <a:pPr marL="915988" lvl="2" indent="-171450"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They assign severity to the effect of this failure mode</a:t>
            </a:r>
          </a:p>
          <a:p>
            <a:pPr marL="915988" lvl="2" indent="-171450"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They assign frequency of occurrence to the potential cause of failure and likelihood of detection</a:t>
            </a:r>
          </a:p>
          <a:p>
            <a:pPr marL="630238" lvl="1" indent="-293688"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Team calculates a Risk Priority Number by multiplying severity times frequency of occurrence times likelihood of detection</a:t>
            </a:r>
          </a:p>
          <a:p>
            <a:pPr marL="630238" lvl="1" indent="-293688"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Team uses ranking to focus process improvement efforts</a:t>
            </a:r>
          </a:p>
        </p:txBody>
      </p:sp>
    </p:spTree>
    <p:extLst>
      <p:ext uri="{BB962C8B-B14F-4D97-AF65-F5344CB8AC3E}">
        <p14:creationId xmlns:p14="http://schemas.microsoft.com/office/powerpoint/2010/main" val="1783680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4666359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 Form</a:t>
            </a:r>
            <a:endParaRPr dirty="0"/>
          </a:p>
        </p:txBody>
      </p:sp>
      <p:grpSp>
        <p:nvGrpSpPr>
          <p:cNvPr id="5" name="Group 22">
            <a:extLst>
              <a:ext uri="{FF2B5EF4-FFF2-40B4-BE49-F238E27FC236}">
                <a16:creationId xmlns:a16="http://schemas.microsoft.com/office/drawing/2014/main" id="{FD222DC7-32DA-CC7B-8F41-F887372C97CC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957281"/>
            <a:ext cx="10886768" cy="5762210"/>
            <a:chOff x="480" y="1164"/>
            <a:chExt cx="5136" cy="2919"/>
          </a:xfrm>
        </p:grpSpPr>
        <p:pic>
          <p:nvPicPr>
            <p:cNvPr id="6" name="Picture 17">
              <a:extLst>
                <a:ext uri="{FF2B5EF4-FFF2-40B4-BE49-F238E27FC236}">
                  <a16:creationId xmlns:a16="http://schemas.microsoft.com/office/drawing/2014/main" id="{1D022B79-BC37-5695-0B86-4CF80BC577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88" t="16667" r="20313" b="37500"/>
            <a:stretch>
              <a:fillRect/>
            </a:stretch>
          </p:blipFill>
          <p:spPr bwMode="auto">
            <a:xfrm>
              <a:off x="526" y="1164"/>
              <a:ext cx="5090" cy="2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B5914BF3-BFE4-E287-FA59-94FDCA916607}"/>
                </a:ext>
              </a:extLst>
            </p:cNvPr>
            <p:cNvSpPr>
              <a:spLocks/>
            </p:cNvSpPr>
            <p:nvPr/>
          </p:nvSpPr>
          <p:spPr bwMode="auto">
            <a:xfrm rot="5399446">
              <a:off x="1193" y="2671"/>
              <a:ext cx="285" cy="1620"/>
            </a:xfrm>
            <a:prstGeom prst="rightBrace">
              <a:avLst>
                <a:gd name="adj1" fmla="val 61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 b="1">
                <a:latin typeface="+mj-lt"/>
              </a:endParaRP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0EA81A43-ECDB-50B9-2C8C-6088A4A1BA6C}"/>
                </a:ext>
              </a:extLst>
            </p:cNvPr>
            <p:cNvSpPr>
              <a:spLocks/>
            </p:cNvSpPr>
            <p:nvPr/>
          </p:nvSpPr>
          <p:spPr bwMode="auto">
            <a:xfrm rot="5399446">
              <a:off x="2745" y="2693"/>
              <a:ext cx="330" cy="1527"/>
            </a:xfrm>
            <a:prstGeom prst="rightBrace">
              <a:avLst>
                <a:gd name="adj1" fmla="val 4965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 b="1">
                <a:latin typeface="+mj-lt"/>
              </a:endParaRPr>
            </a:p>
          </p:txBody>
        </p:sp>
        <p:sp>
          <p:nvSpPr>
            <p:cNvPr id="9" name="AutoShape 10">
              <a:extLst>
                <a:ext uri="{FF2B5EF4-FFF2-40B4-BE49-F238E27FC236}">
                  <a16:creationId xmlns:a16="http://schemas.microsoft.com/office/drawing/2014/main" id="{281010B8-D388-1513-C051-6ACE5071E3FF}"/>
                </a:ext>
              </a:extLst>
            </p:cNvPr>
            <p:cNvSpPr>
              <a:spLocks/>
            </p:cNvSpPr>
            <p:nvPr/>
          </p:nvSpPr>
          <p:spPr bwMode="auto">
            <a:xfrm rot="5399446">
              <a:off x="4548" y="2600"/>
              <a:ext cx="238" cy="1711"/>
            </a:xfrm>
            <a:prstGeom prst="rightBrace">
              <a:avLst>
                <a:gd name="adj1" fmla="val 7714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 b="1">
                <a:latin typeface="+mj-lt"/>
              </a:endParaRPr>
            </a:p>
          </p:txBody>
        </p:sp>
        <p:sp>
          <p:nvSpPr>
            <p:cNvPr id="10" name="AutoShape 11">
              <a:extLst>
                <a:ext uri="{FF2B5EF4-FFF2-40B4-BE49-F238E27FC236}">
                  <a16:creationId xmlns:a16="http://schemas.microsoft.com/office/drawing/2014/main" id="{0BCA9FF9-C1E4-9E77-AD1B-96A1A28E6DE8}"/>
                </a:ext>
              </a:extLst>
            </p:cNvPr>
            <p:cNvSpPr>
              <a:spLocks/>
            </p:cNvSpPr>
            <p:nvPr/>
          </p:nvSpPr>
          <p:spPr bwMode="auto">
            <a:xfrm rot="5399446">
              <a:off x="3597" y="3414"/>
              <a:ext cx="289" cy="138"/>
            </a:xfrm>
            <a:prstGeom prst="rightBrace">
              <a:avLst>
                <a:gd name="adj1" fmla="val 10731"/>
                <a:gd name="adj2" fmla="val 55556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 b="1">
                <a:latin typeface="+mj-lt"/>
              </a:endParaRP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68E0F6F4-3A1B-7C1A-537D-7735CC4B0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" y="3616"/>
              <a:ext cx="1058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pPr algn="ctr"/>
              <a:r>
                <a:rPr lang="en-US" sz="1600" b="1" dirty="0">
                  <a:latin typeface="+mj-lt"/>
                </a:rPr>
                <a:t>Identify failure modes and their effects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3CFB37BF-E59A-A1B8-922B-098D4D655D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7" y="3662"/>
              <a:ext cx="1059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pPr algn="ctr"/>
              <a:r>
                <a:rPr lang="en-US" sz="1600" b="1">
                  <a:latin typeface="+mj-lt"/>
                </a:rPr>
                <a:t>Identify causes of the failure modes</a:t>
              </a:r>
            </a:p>
            <a:p>
              <a:pPr algn="ctr"/>
              <a:r>
                <a:rPr lang="en-US" sz="1600" b="1">
                  <a:latin typeface="+mj-lt"/>
                </a:rPr>
                <a:t>and controls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0FC99C53-3C64-898E-C6CA-4F871CBEA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3662"/>
              <a:ext cx="555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pPr algn="ctr"/>
              <a:r>
                <a:rPr lang="en-US" sz="1600" b="1">
                  <a:latin typeface="+mj-lt"/>
                </a:rPr>
                <a:t>Prioritize</a:t>
              </a: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E586D346-715F-8F67-0F14-BD16DD238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2" y="3616"/>
              <a:ext cx="1058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pPr algn="ctr"/>
              <a:r>
                <a:rPr lang="en-US" sz="1600" b="1">
                  <a:latin typeface="+mj-lt"/>
                </a:rPr>
                <a:t>Determine and assess actions</a:t>
              </a:r>
            </a:p>
          </p:txBody>
        </p: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9EF29B63-8117-1945-12D1-A7B475B3411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80" y="1164"/>
              <a:ext cx="185" cy="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600" b="1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556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4666359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 Form</a:t>
            </a:r>
            <a:endParaRPr dirty="0"/>
          </a:p>
        </p:txBody>
      </p:sp>
      <p:pic>
        <p:nvPicPr>
          <p:cNvPr id="5122" name="Picture 2" descr="PFMEA worksheet">
            <a:extLst>
              <a:ext uri="{FF2B5EF4-FFF2-40B4-BE49-F238E27FC236}">
                <a16:creationId xmlns:a16="http://schemas.microsoft.com/office/drawing/2014/main" id="{419B300B-E961-E05B-3E88-DBAFAD7BA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1313"/>
            <a:ext cx="12192000" cy="36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288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3692966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</a:t>
            </a:r>
            <a:endParaRPr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226D82-0803-960F-3D93-3423E82C85EC}"/>
              </a:ext>
            </a:extLst>
          </p:cNvPr>
          <p:cNvSpPr txBox="1">
            <a:spLocks noChangeArrowheads="1"/>
          </p:cNvSpPr>
          <p:nvPr/>
        </p:nvSpPr>
        <p:spPr>
          <a:xfrm>
            <a:off x="781663" y="1143000"/>
            <a:ext cx="10618839" cy="39156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>
                <a:latin typeface="+mj-lt"/>
              </a:rPr>
              <a:t>A structured approach to:</a:t>
            </a:r>
          </a:p>
          <a:p>
            <a:pPr lvl="1">
              <a:lnSpc>
                <a:spcPct val="150000"/>
              </a:lnSpc>
            </a:pPr>
            <a:r>
              <a:rPr lang="en-US" sz="2400">
                <a:latin typeface="+mj-lt"/>
              </a:rPr>
              <a:t>Identifying the ways in which a product or process can fail</a:t>
            </a:r>
          </a:p>
          <a:p>
            <a:pPr lvl="1">
              <a:lnSpc>
                <a:spcPct val="150000"/>
              </a:lnSpc>
            </a:pPr>
            <a:r>
              <a:rPr lang="en-US" sz="2400">
                <a:latin typeface="+mj-lt"/>
              </a:rPr>
              <a:t>Estimating risk associated with specific causes</a:t>
            </a:r>
          </a:p>
          <a:p>
            <a:pPr lvl="1">
              <a:lnSpc>
                <a:spcPct val="150000"/>
              </a:lnSpc>
            </a:pPr>
            <a:r>
              <a:rPr lang="en-US" sz="2400">
                <a:latin typeface="+mj-lt"/>
              </a:rPr>
              <a:t>Prioritizing the actions that should be taken to reduce risk</a:t>
            </a:r>
          </a:p>
          <a:p>
            <a:pPr lvl="1">
              <a:lnSpc>
                <a:spcPct val="150000"/>
              </a:lnSpc>
            </a:pPr>
            <a:r>
              <a:rPr lang="en-US" sz="2400">
                <a:latin typeface="+mj-lt"/>
              </a:rPr>
              <a:t>Evaluating design validation plan (product) or current control plan (process)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1911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711459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When to Conduct an FMEA</a:t>
            </a:r>
            <a:endParaRPr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02A4BF3-E40A-A799-0256-1EB1BED57396}"/>
              </a:ext>
            </a:extLst>
          </p:cNvPr>
          <p:cNvSpPr txBox="1">
            <a:spLocks noChangeArrowheads="1"/>
          </p:cNvSpPr>
          <p:nvPr/>
        </p:nvSpPr>
        <p:spPr>
          <a:xfrm>
            <a:off x="667621" y="1208036"/>
            <a:ext cx="10880365" cy="3886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indent="-222250" algn="just">
              <a:lnSpc>
                <a:spcPct val="150000"/>
              </a:lnSpc>
              <a:spcBef>
                <a:spcPct val="50000"/>
              </a:spcBef>
            </a:pPr>
            <a:r>
              <a:rPr lang="en-US" sz="2400">
                <a:latin typeface="+mj-lt"/>
              </a:rPr>
              <a:t>Early in the process improvement investigation</a:t>
            </a:r>
          </a:p>
          <a:p>
            <a:pPr marL="222250" indent="-222250" algn="just">
              <a:lnSpc>
                <a:spcPct val="150000"/>
              </a:lnSpc>
              <a:spcBef>
                <a:spcPct val="50000"/>
              </a:spcBef>
            </a:pPr>
            <a:r>
              <a:rPr lang="en-US" sz="2400">
                <a:latin typeface="+mj-lt"/>
              </a:rPr>
              <a:t>When new systems, products, and processes are being designed</a:t>
            </a:r>
          </a:p>
          <a:p>
            <a:pPr marL="222250" indent="-222250" algn="just">
              <a:lnSpc>
                <a:spcPct val="150000"/>
              </a:lnSpc>
              <a:spcBef>
                <a:spcPct val="50000"/>
              </a:spcBef>
            </a:pPr>
            <a:r>
              <a:rPr lang="en-US" sz="2400">
                <a:latin typeface="+mj-lt"/>
              </a:rPr>
              <a:t>When existing designs or processes are being changed</a:t>
            </a:r>
          </a:p>
          <a:p>
            <a:pPr marL="222250" indent="-222250" algn="just">
              <a:lnSpc>
                <a:spcPct val="150000"/>
              </a:lnSpc>
              <a:spcBef>
                <a:spcPct val="50000"/>
              </a:spcBef>
            </a:pPr>
            <a:r>
              <a:rPr lang="en-US" sz="2400">
                <a:latin typeface="+mj-lt"/>
              </a:rPr>
              <a:t>When carry-over designs are used in new applications</a:t>
            </a:r>
          </a:p>
          <a:p>
            <a:pPr marL="222250" indent="-222250" algn="just">
              <a:lnSpc>
                <a:spcPct val="150000"/>
              </a:lnSpc>
              <a:spcBef>
                <a:spcPct val="50000"/>
              </a:spcBef>
            </a:pPr>
            <a:r>
              <a:rPr lang="en-US" sz="2400">
                <a:latin typeface="+mj-lt"/>
              </a:rPr>
              <a:t>After system, product, or process functions are defined, but before specific hardware is selected or released to manufacturing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87518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3692966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 - Types</a:t>
            </a:r>
            <a:endParaRPr dirty="0"/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37E60DFC-E7BF-8A3B-D6EF-D3A248B8407C}"/>
              </a:ext>
            </a:extLst>
          </p:cNvPr>
          <p:cNvSpPr txBox="1">
            <a:spLocks noChangeArrowheads="1"/>
          </p:cNvSpPr>
          <p:nvPr/>
        </p:nvSpPr>
        <p:spPr>
          <a:xfrm>
            <a:off x="641401" y="1281748"/>
            <a:ext cx="10909198" cy="3886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indent="-222250">
              <a:lnSpc>
                <a:spcPct val="150000"/>
              </a:lnSpc>
            </a:pPr>
            <a:r>
              <a:rPr lang="en-US" sz="2400" b="1" dirty="0">
                <a:latin typeface="+mj-lt"/>
              </a:rPr>
              <a:t>Design</a:t>
            </a:r>
          </a:p>
          <a:p>
            <a:pPr marL="568325" lvl="1" indent="-231775">
              <a:lnSpc>
                <a:spcPct val="150000"/>
              </a:lnSpc>
            </a:pPr>
            <a:r>
              <a:rPr lang="en-US" sz="2400" dirty="0">
                <a:latin typeface="+mj-lt"/>
              </a:rPr>
              <a:t>Analyzes product design before release to production, with a focus on product function</a:t>
            </a:r>
          </a:p>
          <a:p>
            <a:pPr marL="568325" lvl="1" indent="-231775">
              <a:lnSpc>
                <a:spcPct val="150000"/>
              </a:lnSpc>
            </a:pPr>
            <a:r>
              <a:rPr lang="en-US" sz="2400" dirty="0">
                <a:latin typeface="+mj-lt"/>
              </a:rPr>
              <a:t>Analyzes systems and subsystems in early concept and design stages</a:t>
            </a:r>
          </a:p>
          <a:p>
            <a:pPr marL="222250" indent="-222250">
              <a:lnSpc>
                <a:spcPct val="150000"/>
              </a:lnSpc>
            </a:pPr>
            <a:r>
              <a:rPr lang="en-US" sz="2400" b="1" dirty="0">
                <a:latin typeface="+mj-lt"/>
              </a:rPr>
              <a:t>Process</a:t>
            </a:r>
          </a:p>
          <a:p>
            <a:pPr marL="568325" lvl="1" indent="-231775">
              <a:lnSpc>
                <a:spcPct val="150000"/>
              </a:lnSpc>
            </a:pPr>
            <a:r>
              <a:rPr lang="en-US" sz="2400" dirty="0">
                <a:latin typeface="+mj-lt"/>
              </a:rPr>
              <a:t>Used to analyze manufacturing and assembly processes</a:t>
            </a:r>
          </a:p>
        </p:txBody>
      </p:sp>
    </p:spTree>
    <p:extLst>
      <p:ext uri="{BB962C8B-B14F-4D97-AF65-F5344CB8AC3E}">
        <p14:creationId xmlns:p14="http://schemas.microsoft.com/office/powerpoint/2010/main" val="1208854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5836397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 – A Team tool</a:t>
            </a:r>
            <a:endParaRPr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A185672-39F4-C6D6-0A82-FB900CF0FCAB}"/>
              </a:ext>
            </a:extLst>
          </p:cNvPr>
          <p:cNvSpPr txBox="1">
            <a:spLocks noChangeArrowheads="1"/>
          </p:cNvSpPr>
          <p:nvPr/>
        </p:nvSpPr>
        <p:spPr>
          <a:xfrm>
            <a:off x="498986" y="925461"/>
            <a:ext cx="11194026" cy="50070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0" indent="-222250">
              <a:lnSpc>
                <a:spcPct val="150000"/>
              </a:lnSpc>
              <a:tabLst>
                <a:tab pos="3660775" algn="l"/>
              </a:tabLst>
            </a:pPr>
            <a:r>
              <a:rPr lang="en-US" sz="2400">
                <a:latin typeface="+mj-lt"/>
              </a:rPr>
              <a:t>A team approach is necessary.</a:t>
            </a:r>
          </a:p>
          <a:p>
            <a:pPr marL="222250" indent="-222250">
              <a:lnSpc>
                <a:spcPct val="150000"/>
              </a:lnSpc>
              <a:tabLst>
                <a:tab pos="3660775" algn="l"/>
              </a:tabLst>
            </a:pPr>
            <a:r>
              <a:rPr lang="en-US" sz="2400">
                <a:latin typeface="+mj-lt"/>
              </a:rPr>
              <a:t>Team should be led by the Black Belt, a responsible manufacturing engineer or technical person, or other similar individual familiar with FMEA.</a:t>
            </a:r>
          </a:p>
          <a:p>
            <a:pPr marL="222250" indent="-222250">
              <a:lnSpc>
                <a:spcPct val="150000"/>
              </a:lnSpc>
              <a:tabLst>
                <a:tab pos="3660775" algn="l"/>
              </a:tabLst>
            </a:pPr>
            <a:r>
              <a:rPr lang="en-US" sz="2400">
                <a:latin typeface="+mj-lt"/>
              </a:rPr>
              <a:t>The following should be considered for team members:</a:t>
            </a:r>
          </a:p>
          <a:p>
            <a:pPr lvl="1" indent="-344488">
              <a:lnSpc>
                <a:spcPct val="150000"/>
              </a:lnSpc>
              <a:buFontTx/>
              <a:buNone/>
              <a:tabLst>
                <a:tab pos="3660775" algn="l"/>
              </a:tabLst>
            </a:pPr>
            <a:r>
              <a:rPr lang="en-US" sz="2400">
                <a:solidFill>
                  <a:srgbClr val="FFCC00"/>
                </a:solidFill>
                <a:latin typeface="+mj-lt"/>
              </a:rPr>
              <a:t>–  </a:t>
            </a:r>
            <a:r>
              <a:rPr lang="en-US" sz="2400">
                <a:latin typeface="+mj-lt"/>
              </a:rPr>
              <a:t>Design Engineers	 </a:t>
            </a:r>
            <a:r>
              <a:rPr lang="en-US" sz="2400">
                <a:solidFill>
                  <a:srgbClr val="FFCC00"/>
                </a:solidFill>
                <a:latin typeface="+mj-lt"/>
              </a:rPr>
              <a:t>–  </a:t>
            </a:r>
            <a:r>
              <a:rPr lang="en-US" sz="2400">
                <a:latin typeface="+mj-lt"/>
              </a:rPr>
              <a:t>Operators</a:t>
            </a:r>
          </a:p>
          <a:p>
            <a:pPr lvl="1" indent="-344488">
              <a:lnSpc>
                <a:spcPct val="150000"/>
              </a:lnSpc>
              <a:buFontTx/>
              <a:buNone/>
              <a:tabLst>
                <a:tab pos="3660775" algn="l"/>
              </a:tabLst>
            </a:pPr>
            <a:r>
              <a:rPr lang="en-US" sz="2400">
                <a:solidFill>
                  <a:srgbClr val="FFCC00"/>
                </a:solidFill>
                <a:latin typeface="+mj-lt"/>
              </a:rPr>
              <a:t>–  </a:t>
            </a:r>
            <a:r>
              <a:rPr lang="en-US" sz="2400">
                <a:latin typeface="+mj-lt"/>
              </a:rPr>
              <a:t>Process Engineers	 </a:t>
            </a:r>
            <a:r>
              <a:rPr lang="en-US" sz="2400">
                <a:solidFill>
                  <a:srgbClr val="FFCC00"/>
                </a:solidFill>
                <a:latin typeface="+mj-lt"/>
              </a:rPr>
              <a:t>–  </a:t>
            </a:r>
            <a:r>
              <a:rPr lang="en-US" sz="2400">
                <a:latin typeface="+mj-lt"/>
              </a:rPr>
              <a:t>Reliability</a:t>
            </a:r>
          </a:p>
          <a:p>
            <a:pPr lvl="1" indent="-344488">
              <a:lnSpc>
                <a:spcPct val="150000"/>
              </a:lnSpc>
              <a:buFontTx/>
              <a:buNone/>
              <a:tabLst>
                <a:tab pos="3660775" algn="l"/>
              </a:tabLst>
            </a:pPr>
            <a:r>
              <a:rPr lang="en-US" sz="2400">
                <a:solidFill>
                  <a:srgbClr val="FFCC00"/>
                </a:solidFill>
                <a:latin typeface="+mj-lt"/>
              </a:rPr>
              <a:t>–  </a:t>
            </a:r>
            <a:r>
              <a:rPr lang="en-US" sz="2400">
                <a:latin typeface="+mj-lt"/>
              </a:rPr>
              <a:t>Materials Suppliers	 </a:t>
            </a:r>
            <a:r>
              <a:rPr lang="en-US" sz="2400">
                <a:solidFill>
                  <a:srgbClr val="FFCC00"/>
                </a:solidFill>
                <a:latin typeface="+mj-lt"/>
              </a:rPr>
              <a:t>–  </a:t>
            </a:r>
            <a:r>
              <a:rPr lang="en-US" sz="2400">
                <a:latin typeface="+mj-lt"/>
              </a:rPr>
              <a:t>Suppliers</a:t>
            </a:r>
          </a:p>
          <a:p>
            <a:pPr lvl="1" indent="-344488">
              <a:lnSpc>
                <a:spcPct val="150000"/>
              </a:lnSpc>
              <a:buFontTx/>
              <a:buNone/>
              <a:tabLst>
                <a:tab pos="3660775" algn="l"/>
              </a:tabLst>
            </a:pPr>
            <a:r>
              <a:rPr lang="en-US" sz="2400">
                <a:solidFill>
                  <a:srgbClr val="FFCC00"/>
                </a:solidFill>
                <a:latin typeface="+mj-lt"/>
              </a:rPr>
              <a:t>– </a:t>
            </a:r>
            <a:r>
              <a:rPr lang="en-US" sz="2400">
                <a:latin typeface="+mj-lt"/>
              </a:rPr>
              <a:t>Customers</a:t>
            </a:r>
          </a:p>
          <a:p>
            <a:pPr marL="222250" indent="-222250">
              <a:lnSpc>
                <a:spcPct val="150000"/>
              </a:lnSpc>
              <a:tabLst>
                <a:tab pos="3660775" algn="l"/>
              </a:tabLst>
            </a:pP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5295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AADDFF-F068-B687-E102-0F7B757B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FMEA procedure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A854B0-8A53-C709-6EF7-A0602122C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3074" name="Picture 2" descr="Failure Mode and Effect Analysis atau FMEA">
            <a:extLst>
              <a:ext uri="{FF2B5EF4-FFF2-40B4-BE49-F238E27FC236}">
                <a16:creationId xmlns:a16="http://schemas.microsoft.com/office/drawing/2014/main" id="{D222E04F-91C4-D91C-CCC1-C03F30610E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" t="22777" r="4987" b="21389"/>
          <a:stretch/>
        </p:blipFill>
        <p:spPr bwMode="auto">
          <a:xfrm>
            <a:off x="2095229" y="1395620"/>
            <a:ext cx="7510814" cy="4554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1BE696-F4AE-CD77-E489-074796C3DB4F}"/>
              </a:ext>
            </a:extLst>
          </p:cNvPr>
          <p:cNvSpPr/>
          <p:nvPr/>
        </p:nvSpPr>
        <p:spPr>
          <a:xfrm>
            <a:off x="2533650" y="4019550"/>
            <a:ext cx="847725" cy="333375"/>
          </a:xfrm>
          <a:prstGeom prst="rect">
            <a:avLst/>
          </a:prstGeom>
          <a:solidFill>
            <a:srgbClr val="C52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Step 4: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01D548-BA0E-D2FA-EE5E-83CF9FDEB148}"/>
              </a:ext>
            </a:extLst>
          </p:cNvPr>
          <p:cNvSpPr/>
          <p:nvPr/>
        </p:nvSpPr>
        <p:spPr>
          <a:xfrm>
            <a:off x="2343150" y="2276475"/>
            <a:ext cx="847725" cy="333375"/>
          </a:xfrm>
          <a:prstGeom prst="rect">
            <a:avLst/>
          </a:prstGeom>
          <a:solidFill>
            <a:srgbClr val="C52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Step 5:</a:t>
            </a:r>
          </a:p>
        </p:txBody>
      </p:sp>
    </p:spTree>
    <p:extLst>
      <p:ext uri="{BB962C8B-B14F-4D97-AF65-F5344CB8AC3E}">
        <p14:creationId xmlns:p14="http://schemas.microsoft.com/office/powerpoint/2010/main" val="29966097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A672-0BC1-7A05-797E-C2967F3A4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diagram for a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A69BC-FFCD-314B-B154-F4607D0D5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6146" name="Picture 2" descr="tree diagram example">
            <a:extLst>
              <a:ext uri="{FF2B5EF4-FFF2-40B4-BE49-F238E27FC236}">
                <a16:creationId xmlns:a16="http://schemas.microsoft.com/office/drawing/2014/main" id="{979078FA-F76B-F093-9986-3663D6363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943" y="1501775"/>
            <a:ext cx="6506113" cy="407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945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0E0E-ABCC-C6EE-44D5-DAE97C4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SecondaryCustomFont"/>
              </a:rPr>
              <a:t>Step 1: Identify potential failure modes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EFC71-4D8A-5764-7B3B-BFC277BBA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ways in which an asset can malfunction: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part/system performs an unintended function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performance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functionality 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failure to complete the intended function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“hidden” failure modes that are not easy to spot: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cracking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electrical short circuit 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torque fatigue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excessive deformation</a:t>
            </a:r>
          </a:p>
        </p:txBody>
      </p:sp>
    </p:spTree>
    <p:extLst>
      <p:ext uri="{BB962C8B-B14F-4D97-AF65-F5344CB8AC3E}">
        <p14:creationId xmlns:p14="http://schemas.microsoft.com/office/powerpoint/2010/main" val="21777371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67B3-EB15-89AF-807F-50C6DE95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effectLst/>
                <a:latin typeface="SecondaryCustomFont"/>
              </a:rPr>
              <a:t>Step 2: </a:t>
            </a:r>
            <a:r>
              <a:rPr lang="en-US" b="1" i="0" dirty="0">
                <a:effectLst/>
                <a:latin typeface="SecondaryCustomFont"/>
              </a:rPr>
              <a:t>Do a failure effect and cause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E8CD5-18B4-73EC-84CA-91A3FE6B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00725" cy="399071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PrimaryCustomFont"/>
              </a:rPr>
              <a:t>Human error</a:t>
            </a:r>
            <a:r>
              <a:rPr lang="en-US" b="0" i="0" dirty="0">
                <a:effectLst/>
                <a:latin typeface="PrimaryCustomFont"/>
              </a:rPr>
              <a:t> (like using the wrong type of material for load-bearing walls)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PrimaryCustomFont"/>
              </a:rPr>
              <a:t>Material defects</a:t>
            </a:r>
            <a:r>
              <a:rPr lang="en-US" b="0" i="0" dirty="0">
                <a:effectLst/>
                <a:latin typeface="PrimaryCustomFont"/>
              </a:rPr>
              <a:t> (like low-quality material due to the manufacturer’s poor standards)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PrimaryCustomFont"/>
              </a:rPr>
              <a:t>Incorrect engineering requirements</a:t>
            </a:r>
            <a:r>
              <a:rPr lang="en-US" b="0" i="0" dirty="0">
                <a:effectLst/>
                <a:latin typeface="PrimaryCustomFont"/>
              </a:rPr>
              <a:t> (like failing to follow engineering standards that stipulate minimum area requirements for a steel frame support)</a:t>
            </a:r>
          </a:p>
        </p:txBody>
      </p:sp>
      <p:pic>
        <p:nvPicPr>
          <p:cNvPr id="7170" name="Picture 2" descr="Root cause diagram">
            <a:extLst>
              <a:ext uri="{FF2B5EF4-FFF2-40B4-BE49-F238E27FC236}">
                <a16:creationId xmlns:a16="http://schemas.microsoft.com/office/drawing/2014/main" id="{A48B1122-F08C-4639-887B-CCB26ACFD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813" y="1590675"/>
            <a:ext cx="3671887" cy="407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040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CAC8-642B-2494-CB7B-4A054AE1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SecondaryCustomFont"/>
              </a:rPr>
              <a:t>Step 3: Assign severity rankings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5FAC-581A-8E69-CF67-DEF2C9512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8194" name="Picture 2" descr="severity ranking in FMEA">
            <a:extLst>
              <a:ext uri="{FF2B5EF4-FFF2-40B4-BE49-F238E27FC236}">
                <a16:creationId xmlns:a16="http://schemas.microsoft.com/office/drawing/2014/main" id="{BF6A82F6-1A03-C7BA-3D08-77A8D3A81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336" y="2244463"/>
            <a:ext cx="714375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E098AC-E1BA-46A8-17E2-ADCDABA5BFA3}"/>
              </a:ext>
            </a:extLst>
          </p:cNvPr>
          <p:cNvSpPr txBox="1"/>
          <p:nvPr/>
        </p:nvSpPr>
        <p:spPr>
          <a:xfrm>
            <a:off x="981075" y="1388713"/>
            <a:ext cx="944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F0000"/>
                </a:solidFill>
                <a:effectLst/>
                <a:latin typeface="PrimaryCustomFont"/>
              </a:rPr>
              <a:t>0: This failure has no measurable impact.</a:t>
            </a:r>
          </a:p>
          <a:p>
            <a:pPr algn="l"/>
            <a:r>
              <a:rPr lang="en-US" b="0" i="0" dirty="0">
                <a:solidFill>
                  <a:srgbClr val="FF0000"/>
                </a:solidFill>
                <a:effectLst/>
                <a:latin typeface="PrimaryCustomFont"/>
              </a:rPr>
              <a:t>10: This failure would be dangerous and requires immediate intervention.</a:t>
            </a:r>
          </a:p>
        </p:txBody>
      </p:sp>
    </p:spTree>
    <p:extLst>
      <p:ext uri="{BB962C8B-B14F-4D97-AF65-F5344CB8AC3E}">
        <p14:creationId xmlns:p14="http://schemas.microsoft.com/office/powerpoint/2010/main" val="5662772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A2067-094E-502E-3065-71AF12E05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SecondaryCustomFont"/>
              </a:rPr>
              <a:t>Step 4: Assign occurrence rankings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D60B6-0375-CC96-7E20-28FF91520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PrimaryCustomFont"/>
              </a:rPr>
              <a:t>0: This failure is unlikely to ever happen.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PrimaryCustomFont"/>
              </a:rPr>
              <a:t>10: This failure is virtually guaranteed.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5159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1060-D688-3150-29C8-73E9D856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i="0" dirty="0">
                <a:effectLst/>
                <a:latin typeface="SecondaryCustomFont"/>
              </a:rPr>
              <a:t>Step 5: </a:t>
            </a:r>
            <a:r>
              <a:rPr lang="en-US" sz="3600" b="1" i="0" dirty="0">
                <a:effectLst/>
                <a:latin typeface="SecondaryCustomFont"/>
              </a:rPr>
              <a:t>Evaluate and assign failure detection rating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D7189-2F21-4A74-AA34-8EC889D55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900"/>
            <a:ext cx="10515600" cy="3990713"/>
          </a:xfrm>
        </p:spPr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PrimaryCustomFont"/>
              </a:rPr>
              <a:t>0: You are almost guaranteed to detect the failure early.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PrimaryCustomFont"/>
              </a:rPr>
              <a:t>10: Neither the failure nor its possible causes can be detected.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9218" name="Picture 2" descr="Detection rankings for FMEA">
            <a:extLst>
              <a:ext uri="{FF2B5EF4-FFF2-40B4-BE49-F238E27FC236}">
                <a16:creationId xmlns:a16="http://schemas.microsoft.com/office/drawing/2014/main" id="{E83FE2C2-12E2-5B79-0349-85E706829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836" y="2014538"/>
            <a:ext cx="594360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9977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4859-8CAA-D219-01EF-8AE2EE91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SecondaryCustomFont"/>
              </a:rPr>
              <a:t>Step 6: Calculate RPN</a:t>
            </a:r>
            <a:endParaRPr lang="en-IN" dirty="0"/>
          </a:p>
        </p:txBody>
      </p:sp>
      <p:pic>
        <p:nvPicPr>
          <p:cNvPr id="10242" name="Picture 2" descr="(RPN) risk priority number formula">
            <a:extLst>
              <a:ext uri="{FF2B5EF4-FFF2-40B4-BE49-F238E27FC236}">
                <a16:creationId xmlns:a16="http://schemas.microsoft.com/office/drawing/2014/main" id="{AA620337-B9C4-EF14-8F35-12968368F5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36" y="1592262"/>
            <a:ext cx="95250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E651D1-0804-0F1A-D7C6-AFEF5244C56D}"/>
              </a:ext>
            </a:extLst>
          </p:cNvPr>
          <p:cNvSpPr txBox="1"/>
          <p:nvPr/>
        </p:nvSpPr>
        <p:spPr>
          <a:xfrm>
            <a:off x="1276350" y="4996160"/>
            <a:ext cx="9336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F5052"/>
                </a:solidFill>
                <a:effectLst/>
                <a:latin typeface="PrimaryCustomFont"/>
              </a:rPr>
              <a:t>A moderately severe failure (5 out of 10) with a very low chance of occurrence (2 out of 10) but also high difficulty of detection (8 out of 10) has an </a:t>
            </a:r>
            <a:r>
              <a:rPr lang="en-US" b="1" i="0" dirty="0">
                <a:solidFill>
                  <a:srgbClr val="4F5052"/>
                </a:solidFill>
                <a:effectLst/>
                <a:latin typeface="PrimaryCustomFont"/>
              </a:rPr>
              <a:t>RPN of 80 (5 x 2 x 8)</a:t>
            </a:r>
            <a:r>
              <a:rPr lang="en-US" b="0" i="0" dirty="0">
                <a:solidFill>
                  <a:srgbClr val="4F5052"/>
                </a:solidFill>
                <a:effectLst/>
                <a:latin typeface="PrimaryCustomFont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39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 - Procedure</a:t>
            </a:r>
            <a:endParaRPr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CEA6471-75C0-4C06-0672-70DA6523389E}"/>
              </a:ext>
            </a:extLst>
          </p:cNvPr>
          <p:cNvSpPr txBox="1">
            <a:spLocks noChangeArrowheads="1"/>
          </p:cNvSpPr>
          <p:nvPr/>
        </p:nvSpPr>
        <p:spPr>
          <a:xfrm>
            <a:off x="259602" y="1043623"/>
            <a:ext cx="11418663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indent="-346075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sz="2200" dirty="0">
                <a:latin typeface="+mj-lt"/>
              </a:rPr>
              <a:t>1.	For each process input (start with high value inputs), determine the ways in which the input can go wrong (failure mode)</a:t>
            </a:r>
          </a:p>
          <a:p>
            <a:pPr marL="346075" indent="-346075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sz="2200" dirty="0">
                <a:latin typeface="+mj-lt"/>
              </a:rPr>
              <a:t>2.	For each failure mode, determine effects</a:t>
            </a:r>
          </a:p>
          <a:p>
            <a:pPr marL="742950" lvl="1">
              <a:lnSpc>
                <a:spcPct val="150000"/>
              </a:lnSpc>
            </a:pPr>
            <a:r>
              <a:rPr lang="en-US" sz="2200" dirty="0">
                <a:latin typeface="+mj-lt"/>
              </a:rPr>
              <a:t>Select a severity level for each effect</a:t>
            </a:r>
          </a:p>
          <a:p>
            <a:pPr marL="346075" indent="-346075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sz="2200" dirty="0">
                <a:latin typeface="+mj-lt"/>
              </a:rPr>
              <a:t>3.	Identify potential causes of each failure mode</a:t>
            </a:r>
          </a:p>
          <a:p>
            <a:pPr marL="742950" lvl="1">
              <a:lnSpc>
                <a:spcPct val="150000"/>
              </a:lnSpc>
            </a:pPr>
            <a:r>
              <a:rPr lang="en-US" sz="2200" dirty="0">
                <a:latin typeface="+mj-lt"/>
              </a:rPr>
              <a:t>Select an occurrence level for each cause</a:t>
            </a:r>
          </a:p>
          <a:p>
            <a:pPr marL="346075" indent="-346075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sz="2200" dirty="0">
                <a:latin typeface="+mj-lt"/>
              </a:rPr>
              <a:t>4.	List current controls for each cause</a:t>
            </a:r>
          </a:p>
          <a:p>
            <a:pPr marL="742950" lvl="1">
              <a:lnSpc>
                <a:spcPct val="150000"/>
              </a:lnSpc>
            </a:pPr>
            <a:r>
              <a:rPr lang="en-US" sz="2200" dirty="0">
                <a:latin typeface="+mj-lt"/>
              </a:rPr>
              <a:t>Select a detection level for each cause</a:t>
            </a:r>
          </a:p>
        </p:txBody>
      </p:sp>
    </p:spTree>
    <p:extLst>
      <p:ext uri="{BB962C8B-B14F-4D97-AF65-F5344CB8AC3E}">
        <p14:creationId xmlns:p14="http://schemas.microsoft.com/office/powerpoint/2010/main" val="2791195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 - Procedure</a:t>
            </a:r>
            <a:endParaRPr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CF67BD8B-BCB9-D026-27DD-76167977341A}"/>
              </a:ext>
            </a:extLst>
          </p:cNvPr>
          <p:cNvSpPr txBox="1">
            <a:spLocks noChangeArrowheads="1"/>
          </p:cNvSpPr>
          <p:nvPr/>
        </p:nvSpPr>
        <p:spPr>
          <a:xfrm>
            <a:off x="530942" y="824548"/>
            <a:ext cx="11135032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indent="-346075">
              <a:lnSpc>
                <a:spcPct val="150000"/>
              </a:lnSpc>
              <a:buFontTx/>
              <a:buNone/>
            </a:pPr>
            <a:r>
              <a:rPr lang="en-US" sz="2800" dirty="0">
                <a:latin typeface="+mj-lt"/>
              </a:rPr>
              <a:t>5.	Calculate the Risk Priority Number (RPN)</a:t>
            </a:r>
          </a:p>
          <a:p>
            <a:pPr marL="346075" indent="-346075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sz="2800" dirty="0">
                <a:latin typeface="+mj-lt"/>
              </a:rPr>
              <a:t>6.	Develop recommended actions, assign responsible persons, and take actions</a:t>
            </a:r>
          </a:p>
          <a:p>
            <a:pPr marL="742950" lvl="1">
              <a:lnSpc>
                <a:spcPct val="150000"/>
              </a:lnSpc>
            </a:pPr>
            <a:r>
              <a:rPr lang="en-US" sz="2400" dirty="0">
                <a:latin typeface="+mj-lt"/>
              </a:rPr>
              <a:t>Give priority to high RPNs</a:t>
            </a:r>
          </a:p>
          <a:p>
            <a:pPr marL="742950" lvl="1">
              <a:lnSpc>
                <a:spcPct val="150000"/>
              </a:lnSpc>
            </a:pPr>
            <a:r>
              <a:rPr lang="en-US" sz="2400" dirty="0">
                <a:latin typeface="+mj-lt"/>
              </a:rPr>
              <a:t>MUST look at severities rated a 10</a:t>
            </a:r>
          </a:p>
          <a:p>
            <a:pPr marL="346075" indent="-346075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sz="2800" dirty="0">
                <a:latin typeface="+mj-lt"/>
              </a:rPr>
              <a:t>7.	Assign the predicted severity, occurrence, and detection levels and compare RPNs</a:t>
            </a:r>
          </a:p>
        </p:txBody>
      </p:sp>
    </p:spTree>
    <p:extLst>
      <p:ext uri="{BB962C8B-B14F-4D97-AF65-F5344CB8AC3E}">
        <p14:creationId xmlns:p14="http://schemas.microsoft.com/office/powerpoint/2010/main" val="468726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7232579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FMEA – Inputs and Outputs</a:t>
            </a:r>
            <a:endParaRPr dirty="0"/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64A99C57-8017-A5C2-41D6-00C21476F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941" y="3124200"/>
            <a:ext cx="990600" cy="457200"/>
          </a:xfrm>
          <a:prstGeom prst="rightArrow">
            <a:avLst>
              <a:gd name="adj1" fmla="val 50000"/>
              <a:gd name="adj2" fmla="val 54167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latin typeface="+mj-lt"/>
            </a:endParaRP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75DA902C-8966-C729-C580-D6555DE96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341" y="3124200"/>
            <a:ext cx="990600" cy="457200"/>
          </a:xfrm>
          <a:prstGeom prst="rightArrow">
            <a:avLst>
              <a:gd name="adj1" fmla="val 50000"/>
              <a:gd name="adj2" fmla="val 54167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latin typeface="+mj-lt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A25F94-3C91-3ECF-8DE6-17D014AD0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9541" y="2895600"/>
            <a:ext cx="1676400" cy="914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latin typeface="+mj-lt"/>
              </a:rPr>
              <a:t>FMEA</a:t>
            </a:r>
            <a:endParaRPr lang="en-US" sz="2400">
              <a:latin typeface="+mj-lt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A6DCD00-AFD0-9F19-B9BF-2719C2257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741" y="2057400"/>
            <a:ext cx="2286000" cy="27432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>
                <a:latin typeface="+mj-lt"/>
              </a:rPr>
              <a:t>Brainstorming</a:t>
            </a:r>
          </a:p>
          <a:p>
            <a:pPr algn="ctr"/>
            <a:r>
              <a:rPr lang="en-US" sz="2400">
                <a:latin typeface="+mj-lt"/>
              </a:rPr>
              <a:t>C&amp;E Matrix</a:t>
            </a:r>
          </a:p>
          <a:p>
            <a:pPr algn="ctr"/>
            <a:r>
              <a:rPr lang="en-US" sz="2400">
                <a:latin typeface="+mj-lt"/>
              </a:rPr>
              <a:t>Process Map</a:t>
            </a:r>
          </a:p>
          <a:p>
            <a:pPr algn="ctr"/>
            <a:r>
              <a:rPr lang="en-US" sz="2400">
                <a:latin typeface="+mj-lt"/>
              </a:rPr>
              <a:t>Process History</a:t>
            </a:r>
          </a:p>
          <a:p>
            <a:pPr algn="ctr"/>
            <a:r>
              <a:rPr lang="en-US" sz="2400">
                <a:latin typeface="+mj-lt"/>
              </a:rPr>
              <a:t>Procedures</a:t>
            </a:r>
          </a:p>
          <a:p>
            <a:pPr algn="ctr"/>
            <a:r>
              <a:rPr lang="en-US" sz="2400">
                <a:latin typeface="+mj-lt"/>
              </a:rPr>
              <a:t>Knowledge</a:t>
            </a:r>
          </a:p>
          <a:p>
            <a:pPr algn="ctr"/>
            <a:r>
              <a:rPr lang="en-US" sz="2400">
                <a:latin typeface="+mj-lt"/>
              </a:rPr>
              <a:t>Experience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DDFB4D0-A0B7-9D0C-F46E-ED4E1B94B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941" y="2057400"/>
            <a:ext cx="2286000" cy="27432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>
                <a:latin typeface="+mj-lt"/>
              </a:rPr>
              <a:t>List of actions to prevent causes or detect failure modes</a:t>
            </a:r>
          </a:p>
          <a:p>
            <a:pPr algn="ctr"/>
            <a:endParaRPr lang="en-US" sz="2400">
              <a:latin typeface="+mj-lt"/>
            </a:endParaRPr>
          </a:p>
          <a:p>
            <a:pPr algn="ctr"/>
            <a:r>
              <a:rPr lang="en-US" sz="2400">
                <a:latin typeface="+mj-lt"/>
              </a:rPr>
              <a:t>History of actions taken</a:t>
            </a: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520B52DB-2473-7799-89E4-EFA109FCE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441" y="1472625"/>
            <a:ext cx="1752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 dirty="0">
                <a:latin typeface="+mj-lt"/>
              </a:rPr>
              <a:t>Inputs</a:t>
            </a:r>
            <a:endParaRPr lang="en-US" sz="3200" dirty="0">
              <a:latin typeface="+mj-lt"/>
            </a:endParaRP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522D41DF-96AF-7408-512D-37CA83DC0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4641" y="1472624"/>
            <a:ext cx="1752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 dirty="0">
                <a:latin typeface="+mj-lt"/>
              </a:rPr>
              <a:t>Outputs</a:t>
            </a: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49430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7232579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Failure Modes and Effects</a:t>
            </a:r>
            <a:endParaRPr dirty="0"/>
          </a:p>
        </p:txBody>
      </p:sp>
      <p:sp>
        <p:nvSpPr>
          <p:cNvPr id="3" name="Rectangle 1046">
            <a:extLst>
              <a:ext uri="{FF2B5EF4-FFF2-40B4-BE49-F238E27FC236}">
                <a16:creationId xmlns:a16="http://schemas.microsoft.com/office/drawing/2014/main" id="{F874083B-92FD-9E38-F973-1993C186ABE2}"/>
              </a:ext>
            </a:extLst>
          </p:cNvPr>
          <p:cNvSpPr txBox="1">
            <a:spLocks noChangeArrowheads="1"/>
          </p:cNvSpPr>
          <p:nvPr/>
        </p:nvSpPr>
        <p:spPr>
          <a:xfrm>
            <a:off x="1120876" y="1143000"/>
            <a:ext cx="10279627" cy="6283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/>
            <a:r>
              <a:rPr lang="en-US" sz="2400" dirty="0">
                <a:latin typeface="+mj-lt"/>
              </a:rPr>
              <a:t>The relationship between failure modes and effects is not always 1 to 1.</a:t>
            </a:r>
          </a:p>
        </p:txBody>
      </p:sp>
      <p:sp>
        <p:nvSpPr>
          <p:cNvPr id="11" name="Rectangle 1028">
            <a:extLst>
              <a:ext uri="{FF2B5EF4-FFF2-40B4-BE49-F238E27FC236}">
                <a16:creationId xmlns:a16="http://schemas.microsoft.com/office/drawing/2014/main" id="{1F166EDD-AFB1-D9B2-5B5D-F0CDF746A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263" y="2267222"/>
            <a:ext cx="2045111" cy="628377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Failure Mode 1</a:t>
            </a:r>
          </a:p>
        </p:txBody>
      </p:sp>
      <p:sp>
        <p:nvSpPr>
          <p:cNvPr id="12" name="Rectangle 1029">
            <a:extLst>
              <a:ext uri="{FF2B5EF4-FFF2-40B4-BE49-F238E27FC236}">
                <a16:creationId xmlns:a16="http://schemas.microsoft.com/office/drawing/2014/main" id="{FFF290E2-AC6D-6CD8-5C44-78F6443B8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263" y="2800622"/>
            <a:ext cx="2045111" cy="628377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Failure Mode 2</a:t>
            </a:r>
          </a:p>
        </p:txBody>
      </p:sp>
      <p:sp>
        <p:nvSpPr>
          <p:cNvPr id="13" name="Rectangle 1030">
            <a:extLst>
              <a:ext uri="{FF2B5EF4-FFF2-40B4-BE49-F238E27FC236}">
                <a16:creationId xmlns:a16="http://schemas.microsoft.com/office/drawing/2014/main" id="{E54C58EC-F216-4AA5-01C4-B3E48BF92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63" y="2267222"/>
            <a:ext cx="2045111" cy="62837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Effect 1</a:t>
            </a:r>
          </a:p>
        </p:txBody>
      </p:sp>
      <p:sp>
        <p:nvSpPr>
          <p:cNvPr id="14" name="Rectangle 1031">
            <a:extLst>
              <a:ext uri="{FF2B5EF4-FFF2-40B4-BE49-F238E27FC236}">
                <a16:creationId xmlns:a16="http://schemas.microsoft.com/office/drawing/2014/main" id="{77C9EF2E-786C-0749-56E2-E53D9A398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63" y="2800622"/>
            <a:ext cx="2045111" cy="62837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Effect 2</a:t>
            </a:r>
          </a:p>
        </p:txBody>
      </p:sp>
      <p:cxnSp>
        <p:nvCxnSpPr>
          <p:cNvPr id="15" name="AutoShape 1032">
            <a:extLst>
              <a:ext uri="{FF2B5EF4-FFF2-40B4-BE49-F238E27FC236}">
                <a16:creationId xmlns:a16="http://schemas.microsoft.com/office/drawing/2014/main" id="{CCEED105-C10D-3783-5C1C-C60B96C8AFD3}"/>
              </a:ext>
            </a:extLst>
          </p:cNvPr>
          <p:cNvCxnSpPr>
            <a:cxnSpLocks noChangeShapeType="1"/>
            <a:stCxn id="11" idx="3"/>
            <a:endCxn id="13" idx="1"/>
          </p:cNvCxnSpPr>
          <p:nvPr/>
        </p:nvCxnSpPr>
        <p:spPr bwMode="auto">
          <a:xfrm>
            <a:off x="4960374" y="2581411"/>
            <a:ext cx="1002889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033">
            <a:extLst>
              <a:ext uri="{FF2B5EF4-FFF2-40B4-BE49-F238E27FC236}">
                <a16:creationId xmlns:a16="http://schemas.microsoft.com/office/drawing/2014/main" id="{C011CA08-F4ED-0158-42CC-B1E16BEDF069}"/>
              </a:ext>
            </a:extLst>
          </p:cNvPr>
          <p:cNvCxnSpPr>
            <a:cxnSpLocks noChangeShapeType="1"/>
            <a:stCxn id="12" idx="3"/>
            <a:endCxn id="14" idx="1"/>
          </p:cNvCxnSpPr>
          <p:nvPr/>
        </p:nvCxnSpPr>
        <p:spPr bwMode="auto">
          <a:xfrm>
            <a:off x="4960374" y="3114811"/>
            <a:ext cx="1002889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034">
            <a:extLst>
              <a:ext uri="{FF2B5EF4-FFF2-40B4-BE49-F238E27FC236}">
                <a16:creationId xmlns:a16="http://schemas.microsoft.com/office/drawing/2014/main" id="{2028C9C7-DC5D-BEFB-9527-4BF27A97B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263" y="3562622"/>
            <a:ext cx="2045111" cy="628377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Failure Mode 1</a:t>
            </a:r>
          </a:p>
        </p:txBody>
      </p:sp>
      <p:sp>
        <p:nvSpPr>
          <p:cNvPr id="18" name="Rectangle 1035">
            <a:extLst>
              <a:ext uri="{FF2B5EF4-FFF2-40B4-BE49-F238E27FC236}">
                <a16:creationId xmlns:a16="http://schemas.microsoft.com/office/drawing/2014/main" id="{F857EC81-7503-2315-798E-693AE2AA8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263" y="4096022"/>
            <a:ext cx="2045111" cy="628377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Failure Mode 2</a:t>
            </a:r>
          </a:p>
        </p:txBody>
      </p:sp>
      <p:sp>
        <p:nvSpPr>
          <p:cNvPr id="19" name="Rectangle 1036">
            <a:extLst>
              <a:ext uri="{FF2B5EF4-FFF2-40B4-BE49-F238E27FC236}">
                <a16:creationId xmlns:a16="http://schemas.microsoft.com/office/drawing/2014/main" id="{97B77C1F-B16C-9255-E1CC-C34A2776F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63" y="3791222"/>
            <a:ext cx="2045111" cy="62837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Effect 1</a:t>
            </a:r>
          </a:p>
        </p:txBody>
      </p:sp>
      <p:cxnSp>
        <p:nvCxnSpPr>
          <p:cNvPr id="20" name="AutoShape 1037">
            <a:extLst>
              <a:ext uri="{FF2B5EF4-FFF2-40B4-BE49-F238E27FC236}">
                <a16:creationId xmlns:a16="http://schemas.microsoft.com/office/drawing/2014/main" id="{0C74D916-CC00-66FA-E3C1-3F33BE3B41D0}"/>
              </a:ext>
            </a:extLst>
          </p:cNvPr>
          <p:cNvCxnSpPr>
            <a:cxnSpLocks noChangeShapeType="1"/>
            <a:stCxn id="17" idx="3"/>
            <a:endCxn id="19" idx="1"/>
          </p:cNvCxnSpPr>
          <p:nvPr/>
        </p:nvCxnSpPr>
        <p:spPr bwMode="auto">
          <a:xfrm>
            <a:off x="4960374" y="3876811"/>
            <a:ext cx="1002889" cy="2286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1038">
            <a:extLst>
              <a:ext uri="{FF2B5EF4-FFF2-40B4-BE49-F238E27FC236}">
                <a16:creationId xmlns:a16="http://schemas.microsoft.com/office/drawing/2014/main" id="{5DC02B7F-11A1-4A95-A90A-DB07B71AE1D0}"/>
              </a:ext>
            </a:extLst>
          </p:cNvPr>
          <p:cNvCxnSpPr>
            <a:cxnSpLocks noChangeShapeType="1"/>
            <a:stCxn id="18" idx="3"/>
            <a:endCxn id="19" idx="1"/>
          </p:cNvCxnSpPr>
          <p:nvPr/>
        </p:nvCxnSpPr>
        <p:spPr bwMode="auto">
          <a:xfrm flipV="1">
            <a:off x="4960374" y="4105411"/>
            <a:ext cx="1002889" cy="3048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Rectangle 1039">
            <a:extLst>
              <a:ext uri="{FF2B5EF4-FFF2-40B4-BE49-F238E27FC236}">
                <a16:creationId xmlns:a16="http://schemas.microsoft.com/office/drawing/2014/main" id="{618345F7-9260-7D99-795A-2F8017A30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263" y="5010422"/>
            <a:ext cx="2045111" cy="628377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Failure Mode 1</a:t>
            </a:r>
          </a:p>
        </p:txBody>
      </p:sp>
      <p:sp>
        <p:nvSpPr>
          <p:cNvPr id="23" name="Rectangle 1040">
            <a:extLst>
              <a:ext uri="{FF2B5EF4-FFF2-40B4-BE49-F238E27FC236}">
                <a16:creationId xmlns:a16="http://schemas.microsoft.com/office/drawing/2014/main" id="{1E8D8BD9-4715-008C-AC2F-F0F1632CD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63" y="4781822"/>
            <a:ext cx="2045111" cy="62837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Effect 1</a:t>
            </a:r>
          </a:p>
        </p:txBody>
      </p:sp>
      <p:sp>
        <p:nvSpPr>
          <p:cNvPr id="24" name="Rectangle 1041">
            <a:extLst>
              <a:ext uri="{FF2B5EF4-FFF2-40B4-BE49-F238E27FC236}">
                <a16:creationId xmlns:a16="http://schemas.microsoft.com/office/drawing/2014/main" id="{31860969-13D3-F212-D6F4-09E514B46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63" y="5315222"/>
            <a:ext cx="2045111" cy="62837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Effect 2</a:t>
            </a:r>
          </a:p>
        </p:txBody>
      </p:sp>
      <p:cxnSp>
        <p:nvCxnSpPr>
          <p:cNvPr id="25" name="AutoShape 1042">
            <a:extLst>
              <a:ext uri="{FF2B5EF4-FFF2-40B4-BE49-F238E27FC236}">
                <a16:creationId xmlns:a16="http://schemas.microsoft.com/office/drawing/2014/main" id="{6D28300E-105F-A448-0B9B-D71AAFB6393C}"/>
              </a:ext>
            </a:extLst>
          </p:cNvPr>
          <p:cNvCxnSpPr>
            <a:cxnSpLocks noChangeShapeType="1"/>
            <a:stCxn id="22" idx="3"/>
            <a:endCxn id="23" idx="1"/>
          </p:cNvCxnSpPr>
          <p:nvPr/>
        </p:nvCxnSpPr>
        <p:spPr bwMode="auto">
          <a:xfrm flipV="1">
            <a:off x="4960374" y="5096011"/>
            <a:ext cx="1002889" cy="2286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044">
            <a:extLst>
              <a:ext uri="{FF2B5EF4-FFF2-40B4-BE49-F238E27FC236}">
                <a16:creationId xmlns:a16="http://schemas.microsoft.com/office/drawing/2014/main" id="{FBC0C8A5-2B3A-476F-FED4-AB3AFACC2D8C}"/>
              </a:ext>
            </a:extLst>
          </p:cNvPr>
          <p:cNvCxnSpPr>
            <a:cxnSpLocks noChangeShapeType="1"/>
            <a:stCxn id="22" idx="3"/>
            <a:endCxn id="24" idx="1"/>
          </p:cNvCxnSpPr>
          <p:nvPr/>
        </p:nvCxnSpPr>
        <p:spPr bwMode="auto">
          <a:xfrm>
            <a:off x="4960374" y="5324611"/>
            <a:ext cx="1002889" cy="3048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46299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948908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Severity, Occurrence, and Detection</a:t>
            </a:r>
            <a:endParaRPr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C64F0F0-C9AF-7B2C-52E7-28FD87DA55B1}"/>
              </a:ext>
            </a:extLst>
          </p:cNvPr>
          <p:cNvSpPr txBox="1">
            <a:spLocks noChangeArrowheads="1"/>
          </p:cNvSpPr>
          <p:nvPr/>
        </p:nvSpPr>
        <p:spPr>
          <a:xfrm>
            <a:off x="870154" y="1143000"/>
            <a:ext cx="9660193" cy="34437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Severity</a:t>
            </a:r>
          </a:p>
          <a:p>
            <a:pPr marL="630238" lvl="1" indent="-293688"/>
            <a:r>
              <a:rPr lang="en-US" sz="2000" dirty="0">
                <a:latin typeface="+mj-lt"/>
              </a:rPr>
              <a:t>Importance of the effect on customer requirements</a:t>
            </a:r>
          </a:p>
          <a:p>
            <a:pPr marL="630238" lvl="1" indent="-293688"/>
            <a:r>
              <a:rPr lang="en-US" sz="2000" dirty="0">
                <a:latin typeface="+mj-lt"/>
              </a:rPr>
              <a:t>Often can’t do anything about this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Occurrence</a:t>
            </a:r>
          </a:p>
          <a:p>
            <a:pPr marL="630238" lvl="1" indent="-293688"/>
            <a:r>
              <a:rPr lang="en-US" sz="2000" dirty="0">
                <a:latin typeface="+mj-lt"/>
              </a:rPr>
              <a:t>Frequency with which a given cause occurs and creates failure modes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Detection</a:t>
            </a:r>
          </a:p>
          <a:p>
            <a:pPr marL="630238" lvl="1" indent="-293688"/>
            <a:r>
              <a:rPr lang="en-US" sz="2000" dirty="0">
                <a:latin typeface="+mj-lt"/>
              </a:rPr>
              <a:t>The ability of the current control scheme to detect or prevent a given cause</a:t>
            </a:r>
          </a:p>
        </p:txBody>
      </p:sp>
      <p:pic>
        <p:nvPicPr>
          <p:cNvPr id="11266" name="Picture 2" descr="Failure Mode and Effect Analysis (FMEA) parameters for the Risk... |  Download Scientific Diagram">
            <a:extLst>
              <a:ext uri="{FF2B5EF4-FFF2-40B4-BE49-F238E27FC236}">
                <a16:creationId xmlns:a16="http://schemas.microsoft.com/office/drawing/2014/main" id="{E1D4F73E-7026-FD25-61C7-4E232889F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4457700"/>
            <a:ext cx="454410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219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4504127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Rating Scales</a:t>
            </a:r>
            <a:endParaRPr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A6E82EB-0C56-5964-5139-6C7F9EAD0909}"/>
              </a:ext>
            </a:extLst>
          </p:cNvPr>
          <p:cNvSpPr txBox="1">
            <a:spLocks noChangeArrowheads="1"/>
          </p:cNvSpPr>
          <p:nvPr/>
        </p:nvSpPr>
        <p:spPr>
          <a:xfrm>
            <a:off x="956187" y="995516"/>
            <a:ext cx="10279626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There are a wide variety of scoring “anchors”, both quantitative or qualitative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Two types of scales are 1-5 or 1-10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1-5 scale makes it easier for the teams to decide on scores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1-10 scale allows for better precision in estimates and a wide variation in scores (most common)</a:t>
            </a:r>
          </a:p>
        </p:txBody>
      </p:sp>
    </p:spTree>
    <p:extLst>
      <p:ext uri="{BB962C8B-B14F-4D97-AF65-F5344CB8AC3E}">
        <p14:creationId xmlns:p14="http://schemas.microsoft.com/office/powerpoint/2010/main" val="2895509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4504127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Rating Scales</a:t>
            </a:r>
            <a:endParaRPr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A1BF8C3-7394-BBB3-8009-CEC92D1F4D39}"/>
              </a:ext>
            </a:extLst>
          </p:cNvPr>
          <p:cNvSpPr txBox="1">
            <a:spLocks noChangeArrowheads="1"/>
          </p:cNvSpPr>
          <p:nvPr/>
        </p:nvSpPr>
        <p:spPr>
          <a:xfrm>
            <a:off x="1032387" y="1315064"/>
            <a:ext cx="7772400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latin typeface="+mj-lt"/>
              </a:rPr>
              <a:t>Severity</a:t>
            </a:r>
          </a:p>
          <a:p>
            <a:pPr lvl="1"/>
            <a:r>
              <a:rPr lang="en-US" sz="2400">
                <a:latin typeface="+mj-lt"/>
              </a:rPr>
              <a:t>1 = Not Severe, 10 = Very Severe</a:t>
            </a:r>
          </a:p>
          <a:p>
            <a:r>
              <a:rPr lang="en-US" sz="2400">
                <a:latin typeface="+mj-lt"/>
              </a:rPr>
              <a:t>Occurrence</a:t>
            </a:r>
          </a:p>
          <a:p>
            <a:pPr lvl="1"/>
            <a:r>
              <a:rPr lang="en-US" sz="2400">
                <a:latin typeface="+mj-lt"/>
              </a:rPr>
              <a:t>1 = Not Likely, 10 = Very Likely</a:t>
            </a:r>
          </a:p>
          <a:p>
            <a:r>
              <a:rPr lang="en-US" sz="2400">
                <a:latin typeface="+mj-lt"/>
              </a:rPr>
              <a:t>Detection</a:t>
            </a:r>
          </a:p>
          <a:p>
            <a:pPr lvl="1"/>
            <a:r>
              <a:rPr lang="en-US" sz="2400">
                <a:latin typeface="+mj-lt"/>
              </a:rPr>
              <a:t>1 = Likely to Detect, 10 = Not Likely to Detect</a:t>
            </a:r>
          </a:p>
          <a:p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494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5346" y="2800623"/>
            <a:ext cx="839679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0619911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rita Digital Campus V1.0" id="{58E84EBF-3C9A-46FA-AC67-01E514AB1B2B}" vid="{BF34DAB5-A2D4-47C4-AD4E-D8DB5419BE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CA67C528DC284E8073580C98E8539C" ma:contentTypeVersion="10" ma:contentTypeDescription="Create a new document." ma:contentTypeScope="" ma:versionID="107b615047e9376b6c55e1e5aaead638">
  <xsd:schema xmlns:xsd="http://www.w3.org/2001/XMLSchema" xmlns:xs="http://www.w3.org/2001/XMLSchema" xmlns:p="http://schemas.microsoft.com/office/2006/metadata/properties" xmlns:ns2="0107a115-4623-4481-beee-bafad199008b" xmlns:ns3="7a2a247a-f6ec-4c8f-8314-d83500b08c54" targetNamespace="http://schemas.microsoft.com/office/2006/metadata/properties" ma:root="true" ma:fieldsID="508cbe6b2b3f672b12342e56415e841d" ns2:_="" ns3:_="">
    <xsd:import namespace="0107a115-4623-4481-beee-bafad199008b"/>
    <xsd:import namespace="7a2a247a-f6ec-4c8f-8314-d83500b08c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07a115-4623-4481-beee-bafad19900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a247a-f6ec-4c8f-8314-d83500b08c5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2C674B-ACDE-455C-BA7E-ACC458E5BC04}">
  <ds:schemaRefs>
    <ds:schemaRef ds:uri="0107a115-4623-4481-beee-bafad199008b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a2a247a-f6ec-4c8f-8314-d83500b08c5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A29E35A-EF86-49DD-8023-556F66FCE6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07a115-4623-4481-beee-bafad199008b"/>
    <ds:schemaRef ds:uri="7a2a247a-f6ec-4c8f-8314-d83500b08c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309BE7-B587-43F4-8592-76B39C023D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47421</TotalTime>
  <Words>1239</Words>
  <Application>Microsoft Office PowerPoint</Application>
  <PresentationFormat>Widescreen</PresentationFormat>
  <Paragraphs>170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Gill Sans MT</vt:lpstr>
      <vt:lpstr>PrimaryCustomFont</vt:lpstr>
      <vt:lpstr>SecondaryCustomFont</vt:lpstr>
      <vt:lpstr>Times New Roman</vt:lpstr>
      <vt:lpstr>Wingdings 2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FMEA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FMEA procedure </vt:lpstr>
      <vt:lpstr>Tree diagram for a component</vt:lpstr>
      <vt:lpstr>Step 1: Identify potential failure modes</vt:lpstr>
      <vt:lpstr>Step 2: Do a failure effect and cause analysis</vt:lpstr>
      <vt:lpstr>Step 3: Assign severity rankings</vt:lpstr>
      <vt:lpstr>Step 4: Assign occurrence rankings</vt:lpstr>
      <vt:lpstr>Step 5: Evaluate and assign failure detection rating</vt:lpstr>
      <vt:lpstr>Step 6: Calculate RPN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Introduction and Research Interest</dc:title>
  <dc:creator>AICTE</dc:creator>
  <cp:lastModifiedBy>Dr. Sunil Kumar - MEE - ASE, Chennai Campus</cp:lastModifiedBy>
  <cp:revision>1233</cp:revision>
  <dcterms:created xsi:type="dcterms:W3CDTF">2019-07-04T04:21:14Z</dcterms:created>
  <dcterms:modified xsi:type="dcterms:W3CDTF">2024-09-11T03:33:01Z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0x010100A2CA67C528DC284E8073580C98E8539C</vt:lpwstr>
  </property>
</Properties>
</file>