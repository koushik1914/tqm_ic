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9"/>
  </p:notesMasterIdLst>
  <p:sldIdLst>
    <p:sldId id="264" r:id="rId5"/>
    <p:sldId id="1168" r:id="rId6"/>
    <p:sldId id="687" r:id="rId7"/>
    <p:sldId id="963" r:id="rId8"/>
    <p:sldId id="1259" r:id="rId9"/>
    <p:sldId id="1260" r:id="rId10"/>
    <p:sldId id="1261" r:id="rId11"/>
    <p:sldId id="1262" r:id="rId12"/>
    <p:sldId id="1263" r:id="rId13"/>
    <p:sldId id="1264" r:id="rId14"/>
    <p:sldId id="1265" r:id="rId15"/>
    <p:sldId id="1266" r:id="rId16"/>
    <p:sldId id="1267" r:id="rId17"/>
    <p:sldId id="1268" r:id="rId18"/>
    <p:sldId id="1270" r:id="rId19"/>
    <p:sldId id="1271" r:id="rId20"/>
    <p:sldId id="1272" r:id="rId21"/>
    <p:sldId id="1273" r:id="rId22"/>
    <p:sldId id="1269" r:id="rId23"/>
    <p:sldId id="1274" r:id="rId24"/>
    <p:sldId id="1275" r:id="rId25"/>
    <p:sldId id="1276" r:id="rId26"/>
    <p:sldId id="1277" r:id="rId27"/>
    <p:sldId id="1278" r:id="rId28"/>
    <p:sldId id="1279" r:id="rId29"/>
    <p:sldId id="1280" r:id="rId30"/>
    <p:sldId id="1281" r:id="rId31"/>
    <p:sldId id="1282" r:id="rId32"/>
    <p:sldId id="1283" r:id="rId33"/>
    <p:sldId id="1284" r:id="rId34"/>
    <p:sldId id="1285" r:id="rId35"/>
    <p:sldId id="1286" r:id="rId36"/>
    <p:sldId id="1287" r:id="rId37"/>
    <p:sldId id="128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thish Kumar M - [Mechanical], Amrita Vishwa Vidyapeetham." initials="SKM[AVV" lastIdx="1" clrIdx="0">
    <p:extLst>
      <p:ext uri="{19B8F6BF-5375-455C-9EA6-DF929625EA0E}">
        <p15:presenceInfo xmlns:p15="http://schemas.microsoft.com/office/powerpoint/2012/main" userId="Sathish Kumar M - [Mechanical], Amrita Vishwa Vidyapeetha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94061" autoAdjust="0"/>
  </p:normalViewPr>
  <p:slideViewPr>
    <p:cSldViewPr snapToGrid="0">
      <p:cViewPr varScale="1">
        <p:scale>
          <a:sx n="74" d="100"/>
          <a:sy n="74" d="100"/>
        </p:scale>
        <p:origin x="917" y="72"/>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57318B-7A8A-4299-AEA3-1411F41B9684}" type="datetimeFigureOut">
              <a:rPr lang="en-GB" smtClean="0"/>
              <a:t>05/09/2026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0EE7F-DECD-4B61-B42D-8BCEBAEC89FD}" type="slidenum">
              <a:rPr lang="en-GB" smtClean="0"/>
              <a:t>‹#›</a:t>
            </a:fld>
            <a:endParaRPr lang="en-GB"/>
          </a:p>
        </p:txBody>
      </p:sp>
    </p:spTree>
    <p:extLst>
      <p:ext uri="{BB962C8B-B14F-4D97-AF65-F5344CB8AC3E}">
        <p14:creationId xmlns:p14="http://schemas.microsoft.com/office/powerpoint/2010/main" val="4257216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BB0EE7F-DECD-4B61-B42D-8BCEBAEC89FD}" type="slidenum">
              <a:rPr lang="en-GB" smtClean="0"/>
              <a:t>1</a:t>
            </a:fld>
            <a:endParaRPr lang="en-GB"/>
          </a:p>
        </p:txBody>
      </p:sp>
    </p:spTree>
    <p:extLst>
      <p:ext uri="{BB962C8B-B14F-4D97-AF65-F5344CB8AC3E}">
        <p14:creationId xmlns:p14="http://schemas.microsoft.com/office/powerpoint/2010/main" val="129918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4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325486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024872"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5" name="Picture 4" descr="A close up of a logo&#10;&#10;Description automatically generated">
            <a:extLst>
              <a:ext uri="{FF2B5EF4-FFF2-40B4-BE49-F238E27FC236}">
                <a16:creationId xmlns:a16="http://schemas.microsoft.com/office/drawing/2014/main" id="{DAF3D3DE-4523-4272-BE59-8D2437F581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166879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0924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8066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6" name="Picture 5" descr="A close up of a logo&#10;&#10;Description automatically generated">
            <a:extLst>
              <a:ext uri="{FF2B5EF4-FFF2-40B4-BE49-F238E27FC236}">
                <a16:creationId xmlns:a16="http://schemas.microsoft.com/office/drawing/2014/main" id="{7C636576-C435-4227-AE32-FBC777B3BDE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39624" cy="655982"/>
          </a:xfrm>
          <a:prstGeom prst="rect">
            <a:avLst/>
          </a:prstGeom>
        </p:spPr>
      </p:pic>
      <p:sp>
        <p:nvSpPr>
          <p:cNvPr id="8" name="Title 1">
            <a:extLst>
              <a:ext uri="{FF2B5EF4-FFF2-40B4-BE49-F238E27FC236}">
                <a16:creationId xmlns:a16="http://schemas.microsoft.com/office/drawing/2014/main" id="{80076A84-695B-4D81-B65B-036D08E10D12}"/>
              </a:ext>
            </a:extLst>
          </p:cNvPr>
          <p:cNvSpPr>
            <a:spLocks noGrp="1"/>
          </p:cNvSpPr>
          <p:nvPr>
            <p:ph type="title"/>
          </p:nvPr>
        </p:nvSpPr>
        <p:spPr>
          <a:xfrm>
            <a:off x="838200" y="365126"/>
            <a:ext cx="9997440"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2271910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8314"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78314"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8" name="Picture 7" descr="A close up of a logo&#10;&#10;Description automatically generated">
            <a:extLst>
              <a:ext uri="{FF2B5EF4-FFF2-40B4-BE49-F238E27FC236}">
                <a16:creationId xmlns:a16="http://schemas.microsoft.com/office/drawing/2014/main" id="{C9ECDAE0-0A74-4D72-8A95-D1CE68BB8C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733677" y="6002200"/>
            <a:ext cx="2120251" cy="655982"/>
          </a:xfrm>
          <a:prstGeom prst="rect">
            <a:avLst/>
          </a:prstGeom>
        </p:spPr>
      </p:pic>
      <p:sp>
        <p:nvSpPr>
          <p:cNvPr id="10" name="Title 1">
            <a:extLst>
              <a:ext uri="{FF2B5EF4-FFF2-40B4-BE49-F238E27FC236}">
                <a16:creationId xmlns:a16="http://schemas.microsoft.com/office/drawing/2014/main" id="{92D40324-116D-46BF-A0D8-ACBB1FA58BAE}"/>
              </a:ext>
            </a:extLst>
          </p:cNvPr>
          <p:cNvSpPr>
            <a:spLocks noGrp="1"/>
          </p:cNvSpPr>
          <p:nvPr>
            <p:ph type="title"/>
          </p:nvPr>
        </p:nvSpPr>
        <p:spPr>
          <a:xfrm>
            <a:off x="838200" y="365126"/>
            <a:ext cx="10015728"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2305533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1D5A8173-029E-4575-B1BE-7D44B32D742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356520" y="6017547"/>
            <a:ext cx="2457784" cy="655982"/>
          </a:xfrm>
          <a:prstGeom prst="rect">
            <a:avLst/>
          </a:prstGeom>
        </p:spPr>
      </p:pic>
      <p:sp>
        <p:nvSpPr>
          <p:cNvPr id="6" name="Title 1">
            <a:extLst>
              <a:ext uri="{FF2B5EF4-FFF2-40B4-BE49-F238E27FC236}">
                <a16:creationId xmlns:a16="http://schemas.microsoft.com/office/drawing/2014/main" id="{FF2D2E05-3817-4F9D-BBEF-1D4FF77C6B84}"/>
              </a:ext>
            </a:extLst>
          </p:cNvPr>
          <p:cNvSpPr>
            <a:spLocks noGrp="1"/>
          </p:cNvSpPr>
          <p:nvPr>
            <p:ph type="title"/>
          </p:nvPr>
        </p:nvSpPr>
        <p:spPr>
          <a:xfrm>
            <a:off x="838200" y="365126"/>
            <a:ext cx="9976104"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19639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descr="A close up of a logo&#10;&#10;Description automatically generated">
            <a:extLst>
              <a:ext uri="{FF2B5EF4-FFF2-40B4-BE49-F238E27FC236}">
                <a16:creationId xmlns:a16="http://schemas.microsoft.com/office/drawing/2014/main" id="{5BF30093-AF1A-473D-8459-D65A198D7E3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2813677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p:cNvSpPr>
            <a:spLocks noGrp="1"/>
          </p:cNvSpPr>
          <p:nvPr>
            <p:ph idx="1"/>
          </p:nvPr>
        </p:nvSpPr>
        <p:spPr>
          <a:xfrm>
            <a:off x="5183188" y="987425"/>
            <a:ext cx="6172200" cy="4873625"/>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CAE8CF87-0C27-479A-9FCC-F0FA64D1A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910834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0484F575-B956-41D8-9BD9-542DF1FD66F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302182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33505" y="1525371"/>
            <a:ext cx="7724987" cy="6093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70589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p:cNvSpPr>
            <a:spLocks noGrp="1"/>
          </p:cNvSpPr>
          <p:nvPr>
            <p:ph type="body" idx="1"/>
          </p:nvPr>
        </p:nvSpPr>
        <p:spPr>
          <a:xfrm>
            <a:off x="838200" y="1825625"/>
            <a:ext cx="10515600" cy="39907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32" name="Group 31"/>
          <p:cNvGrpSpPr/>
          <p:nvPr userDrawn="1"/>
        </p:nvGrpSpPr>
        <p:grpSpPr>
          <a:xfrm rot="5400000">
            <a:off x="10284402" y="4422774"/>
            <a:ext cx="2399145" cy="286385"/>
            <a:chOff x="838200" y="6096000"/>
            <a:chExt cx="2639060" cy="260350"/>
          </a:xfrm>
          <a:effectLst>
            <a:outerShdw blurRad="50800" dist="38100" dir="13500000" algn="br" rotWithShape="0">
              <a:prstClr val="black">
                <a:alpha val="40000"/>
              </a:prstClr>
            </a:outerShdw>
          </a:effectLst>
        </p:grpSpPr>
        <p:sp>
          <p:nvSpPr>
            <p:cNvPr id="23" name="Flowchart: Connector 22"/>
            <p:cNvSpPr/>
            <p:nvPr userDrawn="1"/>
          </p:nvSpPr>
          <p:spPr>
            <a:xfrm>
              <a:off x="838200" y="6096000"/>
              <a:ext cx="289560" cy="26035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4" name="Flowchart: Connector 23"/>
            <p:cNvSpPr/>
            <p:nvPr userDrawn="1"/>
          </p:nvSpPr>
          <p:spPr>
            <a:xfrm>
              <a:off x="1127760" y="6096000"/>
              <a:ext cx="289560" cy="260350"/>
            </a:xfrm>
            <a:prstGeom prst="flowChartConnector">
              <a:avLst/>
            </a:prstGeom>
            <a:solidFill>
              <a:srgbClr val="3333FF"/>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5" name="Flowchart: Connector 24"/>
            <p:cNvSpPr/>
            <p:nvPr userDrawn="1"/>
          </p:nvSpPr>
          <p:spPr>
            <a:xfrm>
              <a:off x="1430020" y="6096000"/>
              <a:ext cx="289560" cy="260350"/>
            </a:xfrm>
            <a:prstGeom prst="flowChartConnector">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6" name="Flowchart: Connector 25"/>
            <p:cNvSpPr/>
            <p:nvPr userDrawn="1"/>
          </p:nvSpPr>
          <p:spPr>
            <a:xfrm>
              <a:off x="1729740" y="6096000"/>
              <a:ext cx="289560" cy="26035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7" name="Flowchart: Connector 26"/>
            <p:cNvSpPr/>
            <p:nvPr userDrawn="1"/>
          </p:nvSpPr>
          <p:spPr>
            <a:xfrm>
              <a:off x="2019300" y="6096000"/>
              <a:ext cx="289560" cy="260350"/>
            </a:xfrm>
            <a:prstGeom prst="flowChartConnector">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8" name="Flowchart: Connector 27"/>
            <p:cNvSpPr/>
            <p:nvPr userDrawn="1"/>
          </p:nvSpPr>
          <p:spPr>
            <a:xfrm>
              <a:off x="2308860" y="6096000"/>
              <a:ext cx="289560" cy="260350"/>
            </a:xfrm>
            <a:prstGeom prst="flowChartConnector">
              <a:avLst/>
            </a:prstGeom>
            <a:solidFill>
              <a:srgbClr val="FFFF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9" name="Flowchart: Connector 28"/>
            <p:cNvSpPr/>
            <p:nvPr userDrawn="1"/>
          </p:nvSpPr>
          <p:spPr>
            <a:xfrm>
              <a:off x="2600960" y="6096000"/>
              <a:ext cx="289560" cy="260350"/>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0" name="Flowchart: Connector 29"/>
            <p:cNvSpPr/>
            <p:nvPr userDrawn="1"/>
          </p:nvSpPr>
          <p:spPr>
            <a:xfrm>
              <a:off x="2900680" y="6096000"/>
              <a:ext cx="289560" cy="260350"/>
            </a:xfrm>
            <a:prstGeom prst="flowChartConnector">
              <a:avLst/>
            </a:prstGeom>
            <a:solidFill>
              <a:srgbClr val="FF99FF"/>
            </a:solidFill>
            <a:ln>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1" name="Flowchart: Connector 30"/>
            <p:cNvSpPr/>
            <p:nvPr userDrawn="1"/>
          </p:nvSpPr>
          <p:spPr>
            <a:xfrm>
              <a:off x="3187700" y="6096000"/>
              <a:ext cx="289560" cy="260350"/>
            </a:xfrm>
            <a:prstGeom prst="flowChartConnector">
              <a:avLst/>
            </a:prstGeom>
            <a:solidFill>
              <a:srgbClr val="00CCFF"/>
            </a:solidFill>
            <a:ln>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nvGrpSpPr>
          <p:cNvPr id="33" name="Group 32"/>
          <p:cNvGrpSpPr/>
          <p:nvPr userDrawn="1"/>
        </p:nvGrpSpPr>
        <p:grpSpPr>
          <a:xfrm>
            <a:off x="838200" y="6082983"/>
            <a:ext cx="2639060" cy="286385"/>
            <a:chOff x="838200" y="6096000"/>
            <a:chExt cx="2639060" cy="260350"/>
          </a:xfrm>
          <a:effectLst>
            <a:outerShdw blurRad="50800" dist="38100" dir="16200000" rotWithShape="0">
              <a:prstClr val="black">
                <a:alpha val="40000"/>
              </a:prstClr>
            </a:outerShdw>
          </a:effectLst>
        </p:grpSpPr>
        <p:sp>
          <p:nvSpPr>
            <p:cNvPr id="34" name="Flowchart: Connector 33"/>
            <p:cNvSpPr/>
            <p:nvPr userDrawn="1"/>
          </p:nvSpPr>
          <p:spPr>
            <a:xfrm>
              <a:off x="838200" y="6096000"/>
              <a:ext cx="289560" cy="26035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5" name="Flowchart: Connector 34"/>
            <p:cNvSpPr/>
            <p:nvPr userDrawn="1"/>
          </p:nvSpPr>
          <p:spPr>
            <a:xfrm>
              <a:off x="1127760" y="6096000"/>
              <a:ext cx="289560" cy="260350"/>
            </a:xfrm>
            <a:prstGeom prst="flowChartConnector">
              <a:avLst/>
            </a:prstGeom>
            <a:solidFill>
              <a:srgbClr val="3333FF"/>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6" name="Flowchart: Connector 35"/>
            <p:cNvSpPr/>
            <p:nvPr userDrawn="1"/>
          </p:nvSpPr>
          <p:spPr>
            <a:xfrm>
              <a:off x="1430020" y="6096000"/>
              <a:ext cx="289560" cy="260350"/>
            </a:xfrm>
            <a:prstGeom prst="flowChartConnector">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7" name="Flowchart: Connector 36"/>
            <p:cNvSpPr/>
            <p:nvPr userDrawn="1"/>
          </p:nvSpPr>
          <p:spPr>
            <a:xfrm>
              <a:off x="1729740" y="6096000"/>
              <a:ext cx="289560" cy="26035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8" name="Flowchart: Connector 37"/>
            <p:cNvSpPr/>
            <p:nvPr userDrawn="1"/>
          </p:nvSpPr>
          <p:spPr>
            <a:xfrm>
              <a:off x="2019300" y="6096000"/>
              <a:ext cx="289560" cy="260350"/>
            </a:xfrm>
            <a:prstGeom prst="flowChartConnector">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9" name="Flowchart: Connector 38"/>
            <p:cNvSpPr/>
            <p:nvPr userDrawn="1"/>
          </p:nvSpPr>
          <p:spPr>
            <a:xfrm>
              <a:off x="2308860" y="6096000"/>
              <a:ext cx="289560" cy="260350"/>
            </a:xfrm>
            <a:prstGeom prst="flowChartConnector">
              <a:avLst/>
            </a:prstGeom>
            <a:solidFill>
              <a:srgbClr val="FFFF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0" name="Flowchart: Connector 39"/>
            <p:cNvSpPr/>
            <p:nvPr userDrawn="1"/>
          </p:nvSpPr>
          <p:spPr>
            <a:xfrm>
              <a:off x="2600960" y="6096000"/>
              <a:ext cx="289560" cy="260350"/>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1" name="Flowchart: Connector 40"/>
            <p:cNvSpPr/>
            <p:nvPr userDrawn="1"/>
          </p:nvSpPr>
          <p:spPr>
            <a:xfrm>
              <a:off x="2900680" y="6096000"/>
              <a:ext cx="289560" cy="260350"/>
            </a:xfrm>
            <a:prstGeom prst="flowChartConnector">
              <a:avLst/>
            </a:prstGeom>
            <a:solidFill>
              <a:srgbClr val="FF99FF"/>
            </a:solidFill>
            <a:ln>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2" name="Flowchart: Connector 41"/>
            <p:cNvSpPr/>
            <p:nvPr userDrawn="1"/>
          </p:nvSpPr>
          <p:spPr>
            <a:xfrm>
              <a:off x="3187700" y="6096000"/>
              <a:ext cx="289560" cy="260350"/>
            </a:xfrm>
            <a:prstGeom prst="flowChartConnector">
              <a:avLst/>
            </a:prstGeom>
            <a:solidFill>
              <a:srgbClr val="00CCFF"/>
            </a:solidFill>
            <a:ln>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Tree>
    <p:extLst>
      <p:ext uri="{BB962C8B-B14F-4D97-AF65-F5344CB8AC3E}">
        <p14:creationId xmlns:p14="http://schemas.microsoft.com/office/powerpoint/2010/main" val="4250354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Lst>
  <p:hf hdr="0"/>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hyperlink" Target="https://youtu.be/XK3cNcuvuMs" TargetMode="Externa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4.jpeg"/><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images.google.co.in/imgres?imgurl=http://www.upyourservice.com/library/CustomerServiceTrainingCultureArticle0021.GIF&amp;imgrefurl=http://www.upyourservice.com/library/CustomerServiceTrainingArticle0021.html&amp;h=756&amp;w=717&amp;sz=40&amp;hl=en&amp;start=14&amp;tbnid=zFbw5ViZimntQM:&amp;tbnh=142&amp;tbnw=135&amp;prev=/images?q=upset+customer&amp;svnum=10&amp;hl=en" TargetMode="Externa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6937F8-66AD-4534-8544-87CB8628F672}"/>
              </a:ext>
            </a:extLst>
          </p:cNvPr>
          <p:cNvSpPr txBox="1"/>
          <p:nvPr/>
        </p:nvSpPr>
        <p:spPr>
          <a:xfrm>
            <a:off x="247305" y="248330"/>
            <a:ext cx="11281718" cy="4216539"/>
          </a:xfrm>
          <a:prstGeom prst="rect">
            <a:avLst/>
          </a:prstGeom>
          <a:noFill/>
        </p:spPr>
        <p:txBody>
          <a:bodyPr wrap="square" rtlCol="0">
            <a:spAutoFit/>
          </a:bodyPr>
          <a:lstStyle/>
          <a:p>
            <a:pPr algn="ctr"/>
            <a:r>
              <a:rPr lang="en-IN" sz="4800" b="1" dirty="0">
                <a:solidFill>
                  <a:srgbClr val="800000"/>
                </a:solidFill>
                <a:latin typeface="Times New Roman" panose="02020603050405020304" pitchFamily="18" charset="0"/>
                <a:cs typeface="Times New Roman" panose="02020603050405020304" pitchFamily="18" charset="0"/>
              </a:rPr>
              <a:t>Welcome to </a:t>
            </a:r>
          </a:p>
          <a:p>
            <a:pPr algn="ctr"/>
            <a:r>
              <a:rPr lang="en-IN" sz="4800" b="1" dirty="0">
                <a:solidFill>
                  <a:srgbClr val="800000"/>
                </a:solidFill>
                <a:latin typeface="Times New Roman" panose="02020603050405020304" pitchFamily="18" charset="0"/>
                <a:cs typeface="Times New Roman" panose="02020603050405020304" pitchFamily="18" charset="0"/>
              </a:rPr>
              <a:t>Total Quality Management </a:t>
            </a:r>
          </a:p>
          <a:p>
            <a:pPr algn="ctr"/>
            <a:r>
              <a:rPr lang="en-IN" sz="4800" b="1" dirty="0">
                <a:solidFill>
                  <a:srgbClr val="800000"/>
                </a:solidFill>
                <a:latin typeface="Times New Roman" panose="02020603050405020304" pitchFamily="18" charset="0"/>
                <a:cs typeface="Times New Roman" panose="02020603050405020304" pitchFamily="18" charset="0"/>
              </a:rPr>
              <a:t>(19MEE347)</a:t>
            </a:r>
          </a:p>
          <a:p>
            <a:pPr algn="ctr"/>
            <a:endParaRPr lang="en-IN" sz="4400" b="1" dirty="0">
              <a:solidFill>
                <a:srgbClr val="FFC000"/>
              </a:solidFill>
              <a:latin typeface="Times New Roman" panose="02020603050405020304" pitchFamily="18" charset="0"/>
              <a:cs typeface="Times New Roman" panose="02020603050405020304" pitchFamily="18" charset="0"/>
            </a:endParaRPr>
          </a:p>
          <a:p>
            <a:pPr algn="ctr"/>
            <a:r>
              <a:rPr lang="en-IN" sz="4400" b="1" dirty="0">
                <a:solidFill>
                  <a:srgbClr val="FFC000"/>
                </a:solidFill>
                <a:latin typeface="Times New Roman" panose="02020603050405020304" pitchFamily="18" charset="0"/>
                <a:cs typeface="Times New Roman" panose="02020603050405020304" pitchFamily="18" charset="0"/>
              </a:rPr>
              <a:t>Unit 2</a:t>
            </a:r>
          </a:p>
          <a:p>
            <a:pPr algn="ct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655C8B-5034-404C-99D8-7F9D1F7AD815}"/>
              </a:ext>
            </a:extLst>
          </p:cNvPr>
          <p:cNvSpPr txBox="1"/>
          <p:nvPr/>
        </p:nvSpPr>
        <p:spPr>
          <a:xfrm>
            <a:off x="1225553" y="4464869"/>
            <a:ext cx="9740893" cy="1323439"/>
          </a:xfrm>
          <a:prstGeom prst="rect">
            <a:avLst/>
          </a:prstGeom>
          <a:solidFill>
            <a:srgbClr val="AE1237"/>
          </a:solidFill>
        </p:spPr>
        <p:txBody>
          <a:bodyPr wrap="square" rtlCol="0">
            <a:spAutoFit/>
          </a:bodyPr>
          <a:lstStyle/>
          <a:p>
            <a:pPr algn="ctr"/>
            <a:r>
              <a:rPr lang="en-IN" sz="4000" b="1" dirty="0">
                <a:solidFill>
                  <a:schemeClr val="bg1"/>
                </a:solidFill>
                <a:latin typeface="Times New Roman" panose="02020603050405020304" pitchFamily="18" charset="0"/>
                <a:cs typeface="Times New Roman" panose="02020603050405020304" pitchFamily="18" charset="0"/>
              </a:rPr>
              <a:t>Name: Dr. Sunil Kumar</a:t>
            </a:r>
          </a:p>
          <a:p>
            <a:pPr algn="ctr"/>
            <a:r>
              <a:rPr lang="en-IN" sz="4000" b="1" dirty="0">
                <a:solidFill>
                  <a:schemeClr val="bg1"/>
                </a:solidFill>
                <a:latin typeface="Times New Roman" panose="02020603050405020304" pitchFamily="18" charset="0"/>
                <a:cs typeface="Times New Roman" panose="02020603050405020304" pitchFamily="18" charset="0"/>
              </a:rPr>
              <a:t>Department of Mechanical Engineering</a:t>
            </a:r>
          </a:p>
        </p:txBody>
      </p:sp>
    </p:spTree>
    <p:extLst>
      <p:ext uri="{BB962C8B-B14F-4D97-AF65-F5344CB8AC3E}">
        <p14:creationId xmlns:p14="http://schemas.microsoft.com/office/powerpoint/2010/main" val="3663338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3B97D-EAA4-41FC-9360-8D33DCBA2485}"/>
              </a:ext>
            </a:extLst>
          </p:cNvPr>
          <p:cNvSpPr>
            <a:spLocks noGrp="1"/>
          </p:cNvSpPr>
          <p:nvPr>
            <p:ph type="title"/>
          </p:nvPr>
        </p:nvSpPr>
        <p:spPr/>
        <p:txBody>
          <a:bodyPr/>
          <a:lstStyle/>
          <a:p>
            <a:r>
              <a:rPr lang="en-IN" dirty="0"/>
              <a:t>CUSTOMER SATISFACTION</a:t>
            </a:r>
          </a:p>
        </p:txBody>
      </p:sp>
      <p:sp>
        <p:nvSpPr>
          <p:cNvPr id="3" name="Content Placeholder 2">
            <a:extLst>
              <a:ext uri="{FF2B5EF4-FFF2-40B4-BE49-F238E27FC236}">
                <a16:creationId xmlns:a16="http://schemas.microsoft.com/office/drawing/2014/main" id="{B618FF3D-32A8-ADEA-1C34-3E350DBB9F97}"/>
              </a:ext>
            </a:extLst>
          </p:cNvPr>
          <p:cNvSpPr>
            <a:spLocks noGrp="1"/>
          </p:cNvSpPr>
          <p:nvPr>
            <p:ph idx="1"/>
          </p:nvPr>
        </p:nvSpPr>
        <p:spPr/>
        <p:txBody>
          <a:bodyPr>
            <a:normAutofit fontScale="92500"/>
          </a:bodyPr>
          <a:lstStyle/>
          <a:p>
            <a:pPr marL="0" indent="0" algn="ctr">
              <a:buNone/>
            </a:pPr>
            <a:endParaRPr lang="en-US" sz="1800" b="0" i="0" dirty="0">
              <a:solidFill>
                <a:srgbClr val="242021"/>
              </a:solidFill>
              <a:effectLst/>
              <a:latin typeface="Times-Roman"/>
            </a:endParaRPr>
          </a:p>
          <a:p>
            <a:pPr marL="0" indent="0" algn="ctr">
              <a:buNone/>
            </a:pPr>
            <a:endParaRPr lang="en-US" dirty="0">
              <a:solidFill>
                <a:srgbClr val="242021"/>
              </a:solidFill>
              <a:latin typeface="Times-Roman"/>
            </a:endParaRPr>
          </a:p>
          <a:p>
            <a:pPr marL="0" indent="0" algn="ctr">
              <a:buNone/>
            </a:pPr>
            <a:r>
              <a:rPr lang="en-US" sz="3600" b="0" i="0" dirty="0">
                <a:solidFill>
                  <a:srgbClr val="242021"/>
                </a:solidFill>
                <a:effectLst/>
                <a:latin typeface="Times-Roman"/>
              </a:rPr>
              <a:t>“An organization’s success depends on how many customers it has, how much they buy, and how often they buy”.</a:t>
            </a:r>
          </a:p>
          <a:p>
            <a:pPr marL="0" indent="0" algn="ctr">
              <a:buNone/>
            </a:pPr>
            <a:endParaRPr lang="en-US" sz="3600" dirty="0">
              <a:solidFill>
                <a:srgbClr val="242021"/>
              </a:solidFill>
              <a:latin typeface="Times-Roman"/>
            </a:endParaRPr>
          </a:p>
          <a:p>
            <a:pPr marL="0" indent="0" algn="ctr">
              <a:buNone/>
            </a:pPr>
            <a:r>
              <a:rPr lang="en-US" sz="3600" dirty="0">
                <a:solidFill>
                  <a:srgbClr val="242021"/>
                </a:solidFill>
                <a:latin typeface="Times-Roman"/>
              </a:rPr>
              <a:t>“Manufacturing and service organizations are using customer satisfaction as the measure of quality.” </a:t>
            </a:r>
            <a:br>
              <a:rPr lang="en-US" dirty="0"/>
            </a:br>
            <a:br>
              <a:rPr lang="en-US" dirty="0"/>
            </a:br>
            <a:endParaRPr lang="en-IN" dirty="0"/>
          </a:p>
        </p:txBody>
      </p:sp>
    </p:spTree>
    <p:extLst>
      <p:ext uri="{BB962C8B-B14F-4D97-AF65-F5344CB8AC3E}">
        <p14:creationId xmlns:p14="http://schemas.microsoft.com/office/powerpoint/2010/main" val="3418594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3323046"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Introduction</a:t>
            </a:r>
            <a:endParaRPr dirty="0"/>
          </a:p>
        </p:txBody>
      </p:sp>
      <p:pic>
        <p:nvPicPr>
          <p:cNvPr id="11" name="Picture 6" descr="customer-satisfaction_345192624">
            <a:extLst>
              <a:ext uri="{FF2B5EF4-FFF2-40B4-BE49-F238E27FC236}">
                <a16:creationId xmlns:a16="http://schemas.microsoft.com/office/drawing/2014/main" id="{4B3F943A-0230-FBB1-C7AD-39D2436B2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8129" y="196171"/>
            <a:ext cx="6254268" cy="4690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5457BCB2-9522-C535-FEF6-2B78E2B6B988}"/>
              </a:ext>
            </a:extLst>
          </p:cNvPr>
          <p:cNvSpPr txBox="1"/>
          <p:nvPr/>
        </p:nvSpPr>
        <p:spPr>
          <a:xfrm>
            <a:off x="101012" y="1136477"/>
            <a:ext cx="5357205" cy="279724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altLang="en-US" sz="2400" dirty="0"/>
              <a:t>Customer satisfaction is a part of qualitative pillar of TQM. It is dynamic in nature and is subjective concept because it varies from person to person. </a:t>
            </a:r>
          </a:p>
        </p:txBody>
      </p:sp>
      <p:sp>
        <p:nvSpPr>
          <p:cNvPr id="15" name="TextBox 14">
            <a:extLst>
              <a:ext uri="{FF2B5EF4-FFF2-40B4-BE49-F238E27FC236}">
                <a16:creationId xmlns:a16="http://schemas.microsoft.com/office/drawing/2014/main" id="{F9B9F5B2-3218-3DFF-2759-9BDBD7963606}"/>
              </a:ext>
            </a:extLst>
          </p:cNvPr>
          <p:cNvSpPr txBox="1"/>
          <p:nvPr/>
        </p:nvSpPr>
        <p:spPr>
          <a:xfrm>
            <a:off x="77578" y="4245647"/>
            <a:ext cx="11672794" cy="168924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altLang="en-US" sz="2400" dirty="0"/>
              <a:t>Customer satisfaction has become one of the most integral or essential part of any business. In today's market, companies look at it as their business strategies or as their business requirement.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568399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 satisfaction</a:t>
            </a:r>
            <a:endParaRPr dirty="0"/>
          </a:p>
        </p:txBody>
      </p:sp>
      <p:sp>
        <p:nvSpPr>
          <p:cNvPr id="3" name="Rectangle 3">
            <a:extLst>
              <a:ext uri="{FF2B5EF4-FFF2-40B4-BE49-F238E27FC236}">
                <a16:creationId xmlns:a16="http://schemas.microsoft.com/office/drawing/2014/main" id="{21F5E0A5-2935-B15A-9FB5-9E9540F9EE25}"/>
              </a:ext>
            </a:extLst>
          </p:cNvPr>
          <p:cNvSpPr txBox="1">
            <a:spLocks noChangeArrowheads="1"/>
          </p:cNvSpPr>
          <p:nvPr/>
        </p:nvSpPr>
        <p:spPr>
          <a:xfrm>
            <a:off x="259603" y="935114"/>
            <a:ext cx="11681571" cy="49877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buFontTx/>
              <a:buNone/>
              <a:defRPr/>
            </a:pPr>
            <a:r>
              <a:rPr lang="en-US" sz="2800" b="1" dirty="0">
                <a:latin typeface="+mj-lt"/>
              </a:rPr>
              <a:t>Who is the customer?</a:t>
            </a:r>
          </a:p>
          <a:p>
            <a:pPr marL="609600" indent="-609600" algn="just">
              <a:buFontTx/>
              <a:buNone/>
              <a:defRPr/>
            </a:pPr>
            <a:r>
              <a:rPr lang="en-US" sz="2400" dirty="0">
                <a:latin typeface="+mj-lt"/>
              </a:rPr>
              <a:t>	One who uses the product or service, the one who purchases the product or service or the one who influences the product or service</a:t>
            </a:r>
            <a:r>
              <a:rPr lang="en-US" dirty="0">
                <a:latin typeface="+mj-lt"/>
              </a:rPr>
              <a:t>.</a:t>
            </a:r>
          </a:p>
          <a:p>
            <a:pPr marL="609600" indent="-609600">
              <a:buFont typeface="Wingdings" pitchFamily="2" charset="2"/>
              <a:buNone/>
              <a:defRPr/>
            </a:pPr>
            <a:r>
              <a:rPr lang="en-US" dirty="0">
                <a:latin typeface="+mj-lt"/>
              </a:rPr>
              <a:t>     </a:t>
            </a:r>
            <a:r>
              <a:rPr lang="en-US" sz="2800" u="sng" dirty="0">
                <a:latin typeface="+mj-lt"/>
              </a:rPr>
              <a:t>Two types of customers</a:t>
            </a:r>
            <a:r>
              <a:rPr lang="en-US" sz="2800" dirty="0">
                <a:latin typeface="+mj-lt"/>
              </a:rPr>
              <a:t>:</a:t>
            </a:r>
          </a:p>
          <a:p>
            <a:pPr marL="609600" indent="-609600">
              <a:buFont typeface="Wingdings" pitchFamily="2" charset="2"/>
              <a:buChar char="n"/>
              <a:defRPr/>
            </a:pPr>
            <a:r>
              <a:rPr lang="en-US" sz="2400" b="1" dirty="0">
                <a:latin typeface="+mj-lt"/>
              </a:rPr>
              <a:t>Internal customers</a:t>
            </a:r>
          </a:p>
          <a:p>
            <a:pPr marL="0" indent="0">
              <a:buFont typeface="Arial" panose="020B0604020202020204" pitchFamily="34" charset="0"/>
              <a:buNone/>
              <a:defRPr/>
            </a:pPr>
            <a:r>
              <a:rPr lang="en-US" sz="2400" dirty="0">
                <a:latin typeface="+mj-lt"/>
              </a:rPr>
              <a:t>	The customers inside the company are called internal customers.</a:t>
            </a:r>
          </a:p>
          <a:p>
            <a:pPr marL="0" indent="0">
              <a:buFont typeface="Arial" panose="020B0604020202020204" pitchFamily="34" charset="0"/>
              <a:buNone/>
              <a:defRPr/>
            </a:pPr>
            <a:r>
              <a:rPr lang="en-US" sz="2400" dirty="0">
                <a:latin typeface="+mj-lt"/>
              </a:rPr>
              <a:t>	(</a:t>
            </a:r>
            <a:r>
              <a:rPr lang="en-US" sz="2400" dirty="0" err="1">
                <a:latin typeface="+mj-lt"/>
              </a:rPr>
              <a:t>eg</a:t>
            </a:r>
            <a:r>
              <a:rPr lang="en-US" sz="2400" dirty="0">
                <a:latin typeface="+mj-lt"/>
              </a:rPr>
              <a:t>). Every department persons</a:t>
            </a:r>
          </a:p>
          <a:p>
            <a:pPr marL="609600" indent="-609600">
              <a:buFont typeface="Wingdings" pitchFamily="2" charset="2"/>
              <a:buChar char="n"/>
              <a:defRPr/>
            </a:pPr>
            <a:r>
              <a:rPr lang="en-US" sz="2400" b="1" dirty="0">
                <a:latin typeface="+mj-lt"/>
              </a:rPr>
              <a:t>External customers</a:t>
            </a:r>
          </a:p>
          <a:p>
            <a:pPr marL="0" indent="0">
              <a:buFont typeface="Arial" panose="020B0604020202020204" pitchFamily="34" charset="0"/>
              <a:buNone/>
              <a:defRPr/>
            </a:pPr>
            <a:r>
              <a:rPr lang="en-US" sz="2400" dirty="0">
                <a:latin typeface="+mj-lt"/>
              </a:rPr>
              <a:t>	The customers outside the company are called external customers.  </a:t>
            </a:r>
          </a:p>
          <a:p>
            <a:pPr marL="0" indent="0">
              <a:buFont typeface="Arial" panose="020B0604020202020204" pitchFamily="34" charset="0"/>
              <a:buNone/>
              <a:defRPr/>
            </a:pPr>
            <a:r>
              <a:rPr lang="en-US" sz="2400" dirty="0">
                <a:latin typeface="+mj-lt"/>
              </a:rPr>
              <a:t>	(</a:t>
            </a:r>
            <a:r>
              <a:rPr lang="en-US" sz="2400" dirty="0" err="1">
                <a:latin typeface="+mj-lt"/>
              </a:rPr>
              <a:t>eg</a:t>
            </a:r>
            <a:r>
              <a:rPr lang="en-US" sz="2400" dirty="0">
                <a:latin typeface="+mj-lt"/>
              </a:rPr>
              <a:t>). End user, Purchaser, Merchants, Suppliers</a:t>
            </a:r>
          </a:p>
          <a:p>
            <a:pPr marL="0" indent="0">
              <a:buFont typeface="Arial" panose="020B0604020202020204" pitchFamily="34" charset="0"/>
              <a:buNone/>
              <a:defRPr/>
            </a:pPr>
            <a:r>
              <a:rPr lang="en-US" sz="2400" b="1" dirty="0">
                <a:latin typeface="+mj-lt"/>
              </a:rPr>
              <a:t>	TQM</a:t>
            </a:r>
            <a:r>
              <a:rPr lang="en-US" sz="2400" dirty="0">
                <a:latin typeface="+mj-lt"/>
              </a:rPr>
              <a:t> is commitment to </a:t>
            </a:r>
            <a:r>
              <a:rPr lang="en-US" sz="2400" b="1" dirty="0">
                <a:latin typeface="+mj-lt"/>
              </a:rPr>
              <a:t>customer-focus </a:t>
            </a:r>
            <a:r>
              <a:rPr lang="en-US" sz="2400" dirty="0">
                <a:latin typeface="+mj-lt"/>
              </a:rPr>
              <a:t>- internal and external customers.</a:t>
            </a:r>
            <a:endParaRPr lang="en-US" dirty="0">
              <a:latin typeface="+mj-lt"/>
            </a:endParaRPr>
          </a:p>
        </p:txBody>
      </p:sp>
      <p:sp>
        <p:nvSpPr>
          <p:cNvPr id="5" name="TextBox 4">
            <a:extLst>
              <a:ext uri="{FF2B5EF4-FFF2-40B4-BE49-F238E27FC236}">
                <a16:creationId xmlns:a16="http://schemas.microsoft.com/office/drawing/2014/main" id="{30391347-F58B-82E7-A052-51BFC0B4EA36}"/>
              </a:ext>
            </a:extLst>
          </p:cNvPr>
          <p:cNvSpPr txBox="1"/>
          <p:nvPr/>
        </p:nvSpPr>
        <p:spPr>
          <a:xfrm>
            <a:off x="4514850" y="6033450"/>
            <a:ext cx="6096000" cy="646331"/>
          </a:xfrm>
          <a:prstGeom prst="rect">
            <a:avLst/>
          </a:prstGeom>
          <a:noFill/>
        </p:spPr>
        <p:txBody>
          <a:bodyPr wrap="square">
            <a:spAutoFit/>
          </a:bodyPr>
          <a:lstStyle/>
          <a:p>
            <a:r>
              <a:rPr lang="en-IN" dirty="0">
                <a:hlinkClick r:id="rId2"/>
              </a:rPr>
              <a:t>https://youtu.be/XK3cNcuvuMs</a:t>
            </a:r>
            <a:endParaRPr lang="en-IN" dirty="0"/>
          </a:p>
          <a:p>
            <a:endParaRPr lang="en-IN" dirty="0"/>
          </a:p>
        </p:txBody>
      </p:sp>
    </p:spTree>
    <p:extLst>
      <p:ext uri="{BB962C8B-B14F-4D97-AF65-F5344CB8AC3E}">
        <p14:creationId xmlns:p14="http://schemas.microsoft.com/office/powerpoint/2010/main" val="488478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7630784"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 satisfaction model</a:t>
            </a:r>
            <a:endParaRPr dirty="0"/>
          </a:p>
        </p:txBody>
      </p:sp>
      <p:sp>
        <p:nvSpPr>
          <p:cNvPr id="5" name="TextBox 4">
            <a:extLst>
              <a:ext uri="{FF2B5EF4-FFF2-40B4-BE49-F238E27FC236}">
                <a16:creationId xmlns:a16="http://schemas.microsoft.com/office/drawing/2014/main" id="{D6C2AE1B-4C8B-7D68-D0FA-B1E0F5316C7A}"/>
              </a:ext>
            </a:extLst>
          </p:cNvPr>
          <p:cNvSpPr txBox="1"/>
          <p:nvPr/>
        </p:nvSpPr>
        <p:spPr>
          <a:xfrm>
            <a:off x="259603" y="1032076"/>
            <a:ext cx="6098458" cy="523220"/>
          </a:xfrm>
          <a:prstGeom prst="rect">
            <a:avLst/>
          </a:prstGeom>
          <a:noFill/>
        </p:spPr>
        <p:txBody>
          <a:bodyPr wrap="square">
            <a:spAutoFit/>
          </a:bodyPr>
          <a:lstStyle/>
          <a:p>
            <a:r>
              <a:rPr lang="en-US" altLang="en-US" sz="2800" b="1" dirty="0" err="1">
                <a:latin typeface="+mj-lt"/>
              </a:rPr>
              <a:t>Teboul</a:t>
            </a:r>
            <a:r>
              <a:rPr lang="en-US" altLang="en-US" sz="2800" b="1" dirty="0">
                <a:latin typeface="+mj-lt"/>
              </a:rPr>
              <a:t> Model</a:t>
            </a:r>
            <a:endParaRPr lang="en-IN" sz="2800" dirty="0">
              <a:latin typeface="+mj-lt"/>
            </a:endParaRPr>
          </a:p>
        </p:txBody>
      </p:sp>
      <p:sp>
        <p:nvSpPr>
          <p:cNvPr id="7" name="Text Box 26">
            <a:extLst>
              <a:ext uri="{FF2B5EF4-FFF2-40B4-BE49-F238E27FC236}">
                <a16:creationId xmlns:a16="http://schemas.microsoft.com/office/drawing/2014/main" id="{E5DD1AFD-C893-B7E5-767A-3E53B96650A0}"/>
              </a:ext>
            </a:extLst>
          </p:cNvPr>
          <p:cNvSpPr txBox="1">
            <a:spLocks noChangeArrowheads="1"/>
          </p:cNvSpPr>
          <p:nvPr/>
        </p:nvSpPr>
        <p:spPr bwMode="auto">
          <a:xfrm>
            <a:off x="259603" y="5150347"/>
            <a:ext cx="1074665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400" b="1" dirty="0">
                <a:latin typeface="+mj-lt"/>
              </a:rPr>
              <a:t>Total satisfaction is achieved when offer matches the need i.e. circle is superimposed on the square.</a:t>
            </a:r>
          </a:p>
        </p:txBody>
      </p:sp>
      <p:grpSp>
        <p:nvGrpSpPr>
          <p:cNvPr id="20" name="Group 19">
            <a:extLst>
              <a:ext uri="{FF2B5EF4-FFF2-40B4-BE49-F238E27FC236}">
                <a16:creationId xmlns:a16="http://schemas.microsoft.com/office/drawing/2014/main" id="{E4E0205A-0B78-97BF-A276-F73618DA0188}"/>
              </a:ext>
            </a:extLst>
          </p:cNvPr>
          <p:cNvGrpSpPr/>
          <p:nvPr/>
        </p:nvGrpSpPr>
        <p:grpSpPr>
          <a:xfrm>
            <a:off x="2340078" y="1120548"/>
            <a:ext cx="7620000" cy="4038600"/>
            <a:chOff x="2340078" y="1120548"/>
            <a:chExt cx="7620000" cy="4038600"/>
          </a:xfrm>
        </p:grpSpPr>
        <p:sp>
          <p:nvSpPr>
            <p:cNvPr id="8" name="Rectangle 4">
              <a:extLst>
                <a:ext uri="{FF2B5EF4-FFF2-40B4-BE49-F238E27FC236}">
                  <a16:creationId xmlns:a16="http://schemas.microsoft.com/office/drawing/2014/main" id="{5CCAB738-29CB-6904-B78B-71A6145B40F3}"/>
                </a:ext>
              </a:extLst>
            </p:cNvPr>
            <p:cNvSpPr>
              <a:spLocks noChangeArrowheads="1"/>
            </p:cNvSpPr>
            <p:nvPr/>
          </p:nvSpPr>
          <p:spPr bwMode="auto">
            <a:xfrm>
              <a:off x="4549878" y="1349148"/>
              <a:ext cx="1219200" cy="990600"/>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2000" b="1">
                <a:latin typeface="+mj-lt"/>
              </a:endParaRPr>
            </a:p>
          </p:txBody>
        </p:sp>
        <p:sp>
          <p:nvSpPr>
            <p:cNvPr id="9" name="Oval 5">
              <a:extLst>
                <a:ext uri="{FF2B5EF4-FFF2-40B4-BE49-F238E27FC236}">
                  <a16:creationId xmlns:a16="http://schemas.microsoft.com/office/drawing/2014/main" id="{ED631C31-037E-C08E-AC09-EE7C7A6467F9}"/>
                </a:ext>
              </a:extLst>
            </p:cNvPr>
            <p:cNvSpPr>
              <a:spLocks noChangeArrowheads="1"/>
            </p:cNvSpPr>
            <p:nvPr/>
          </p:nvSpPr>
          <p:spPr bwMode="auto">
            <a:xfrm>
              <a:off x="8283678" y="1120548"/>
              <a:ext cx="1676400" cy="1600200"/>
            </a:xfrm>
            <a:prstGeom prst="ellipse">
              <a:avLst/>
            </a:prstGeom>
            <a:solidFill>
              <a:schemeClr val="hlink"/>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2000" b="1">
                <a:latin typeface="+mj-lt"/>
              </a:endParaRPr>
            </a:p>
          </p:txBody>
        </p:sp>
        <p:sp>
          <p:nvSpPr>
            <p:cNvPr id="10" name="Text Box 6">
              <a:extLst>
                <a:ext uri="{FF2B5EF4-FFF2-40B4-BE49-F238E27FC236}">
                  <a16:creationId xmlns:a16="http://schemas.microsoft.com/office/drawing/2014/main" id="{186E8B16-C671-1692-32AB-6B0ADA6BD0C1}"/>
                </a:ext>
              </a:extLst>
            </p:cNvPr>
            <p:cNvSpPr txBox="1">
              <a:spLocks noChangeArrowheads="1"/>
            </p:cNvSpPr>
            <p:nvPr/>
          </p:nvSpPr>
          <p:spPr bwMode="auto">
            <a:xfrm>
              <a:off x="2536723" y="2000225"/>
              <a:ext cx="27432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b="1" dirty="0">
                  <a:latin typeface="+mj-lt"/>
                </a:rPr>
                <a:t>Company offer</a:t>
              </a:r>
            </a:p>
            <a:p>
              <a:pPr>
                <a:spcBef>
                  <a:spcPct val="50000"/>
                </a:spcBef>
                <a:buFontTx/>
                <a:buNone/>
              </a:pPr>
              <a:r>
                <a:rPr lang="en-US" altLang="en-US" sz="2000" b="1" dirty="0">
                  <a:latin typeface="+mj-lt"/>
                </a:rPr>
                <a:t>(product or service)</a:t>
              </a:r>
            </a:p>
          </p:txBody>
        </p:sp>
        <p:sp>
          <p:nvSpPr>
            <p:cNvPr id="11" name="Text Box 7">
              <a:extLst>
                <a:ext uri="{FF2B5EF4-FFF2-40B4-BE49-F238E27FC236}">
                  <a16:creationId xmlns:a16="http://schemas.microsoft.com/office/drawing/2014/main" id="{FA772AF3-A76D-CB16-1278-774BCAB9593B}"/>
                </a:ext>
              </a:extLst>
            </p:cNvPr>
            <p:cNvSpPr txBox="1">
              <a:spLocks noChangeArrowheads="1"/>
            </p:cNvSpPr>
            <p:nvPr/>
          </p:nvSpPr>
          <p:spPr bwMode="auto">
            <a:xfrm>
              <a:off x="6932695" y="1625921"/>
              <a:ext cx="1524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b="1" dirty="0">
                  <a:latin typeface="+mj-lt"/>
                </a:rPr>
                <a:t>Customer needs</a:t>
              </a:r>
            </a:p>
          </p:txBody>
        </p:sp>
        <p:sp>
          <p:nvSpPr>
            <p:cNvPr id="13" name="Oval 9">
              <a:extLst>
                <a:ext uri="{FF2B5EF4-FFF2-40B4-BE49-F238E27FC236}">
                  <a16:creationId xmlns:a16="http://schemas.microsoft.com/office/drawing/2014/main" id="{6489B1C4-D455-2687-2279-EC3D5FCDC65E}"/>
                </a:ext>
              </a:extLst>
            </p:cNvPr>
            <p:cNvSpPr>
              <a:spLocks noChangeArrowheads="1"/>
            </p:cNvSpPr>
            <p:nvPr/>
          </p:nvSpPr>
          <p:spPr bwMode="auto">
            <a:xfrm>
              <a:off x="5845278" y="3558948"/>
              <a:ext cx="1676400" cy="1600200"/>
            </a:xfrm>
            <a:prstGeom prst="ellipse">
              <a:avLst/>
            </a:prstGeom>
            <a:solidFill>
              <a:schemeClr val="hlink"/>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2000" b="1">
                <a:latin typeface="+mj-lt"/>
              </a:endParaRPr>
            </a:p>
          </p:txBody>
        </p:sp>
        <p:sp>
          <p:nvSpPr>
            <p:cNvPr id="16" name="Line 22">
              <a:extLst>
                <a:ext uri="{FF2B5EF4-FFF2-40B4-BE49-F238E27FC236}">
                  <a16:creationId xmlns:a16="http://schemas.microsoft.com/office/drawing/2014/main" id="{12492B10-0CE8-1210-22A5-64537886C2C8}"/>
                </a:ext>
              </a:extLst>
            </p:cNvPr>
            <p:cNvSpPr>
              <a:spLocks noChangeShapeType="1"/>
            </p:cNvSpPr>
            <p:nvPr/>
          </p:nvSpPr>
          <p:spPr bwMode="auto">
            <a:xfrm flipH="1">
              <a:off x="6454878" y="3558948"/>
              <a:ext cx="1524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b="1">
                <a:latin typeface="+mj-lt"/>
              </a:endParaRPr>
            </a:p>
          </p:txBody>
        </p:sp>
        <p:sp>
          <p:nvSpPr>
            <p:cNvPr id="17" name="Text Box 23">
              <a:extLst>
                <a:ext uri="{FF2B5EF4-FFF2-40B4-BE49-F238E27FC236}">
                  <a16:creationId xmlns:a16="http://schemas.microsoft.com/office/drawing/2014/main" id="{F2AA005A-56F3-B645-6C01-697CC618A2EA}"/>
                </a:ext>
              </a:extLst>
            </p:cNvPr>
            <p:cNvSpPr txBox="1">
              <a:spLocks noChangeArrowheads="1"/>
            </p:cNvSpPr>
            <p:nvPr/>
          </p:nvSpPr>
          <p:spPr bwMode="auto">
            <a:xfrm>
              <a:off x="7940502" y="3141119"/>
              <a:ext cx="167639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b="1" dirty="0">
                  <a:latin typeface="+mj-lt"/>
                </a:rPr>
                <a:t>Customer satisfaction</a:t>
              </a:r>
            </a:p>
          </p:txBody>
        </p:sp>
        <p:sp>
          <p:nvSpPr>
            <p:cNvPr id="18" name="Text Box 24">
              <a:extLst>
                <a:ext uri="{FF2B5EF4-FFF2-40B4-BE49-F238E27FC236}">
                  <a16:creationId xmlns:a16="http://schemas.microsoft.com/office/drawing/2014/main" id="{2494E3FC-346C-31BD-4BDB-59568B55FD1E}"/>
                </a:ext>
              </a:extLst>
            </p:cNvPr>
            <p:cNvSpPr txBox="1">
              <a:spLocks noChangeArrowheads="1"/>
            </p:cNvSpPr>
            <p:nvPr/>
          </p:nvSpPr>
          <p:spPr bwMode="auto">
            <a:xfrm>
              <a:off x="2340078" y="3482748"/>
              <a:ext cx="1905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b="1">
                  <a:latin typeface="+mj-lt"/>
                </a:rPr>
                <a:t>Needs not fulfilled</a:t>
              </a:r>
            </a:p>
          </p:txBody>
        </p:sp>
        <p:sp>
          <p:nvSpPr>
            <p:cNvPr id="19" name="Line 25">
              <a:extLst>
                <a:ext uri="{FF2B5EF4-FFF2-40B4-BE49-F238E27FC236}">
                  <a16:creationId xmlns:a16="http://schemas.microsoft.com/office/drawing/2014/main" id="{25569826-9C0A-0717-369D-C927C15B5D71}"/>
                </a:ext>
              </a:extLst>
            </p:cNvPr>
            <p:cNvSpPr>
              <a:spLocks noChangeShapeType="1"/>
            </p:cNvSpPr>
            <p:nvPr/>
          </p:nvSpPr>
          <p:spPr bwMode="auto">
            <a:xfrm>
              <a:off x="4092678" y="3635148"/>
              <a:ext cx="1752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000" b="1">
                <a:latin typeface="+mj-lt"/>
              </a:endParaRPr>
            </a:p>
          </p:txBody>
        </p:sp>
        <p:sp>
          <p:nvSpPr>
            <p:cNvPr id="12" name="Rectangle 8">
              <a:extLst>
                <a:ext uri="{FF2B5EF4-FFF2-40B4-BE49-F238E27FC236}">
                  <a16:creationId xmlns:a16="http://schemas.microsoft.com/office/drawing/2014/main" id="{72439FE3-E312-FA8D-B5EB-D72C6225A438}"/>
                </a:ext>
              </a:extLst>
            </p:cNvPr>
            <p:cNvSpPr>
              <a:spLocks noChangeArrowheads="1"/>
            </p:cNvSpPr>
            <p:nvPr/>
          </p:nvSpPr>
          <p:spPr bwMode="auto">
            <a:xfrm>
              <a:off x="5483190" y="3299095"/>
              <a:ext cx="1219200" cy="990600"/>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000" b="1">
                <a:solidFill>
                  <a:schemeClr val="accent2"/>
                </a:solidFill>
                <a:latin typeface="+mj-lt"/>
              </a:endParaRPr>
            </a:p>
          </p:txBody>
        </p:sp>
      </p:grpSp>
    </p:spTree>
    <p:extLst>
      <p:ext uri="{BB962C8B-B14F-4D97-AF65-F5344CB8AC3E}">
        <p14:creationId xmlns:p14="http://schemas.microsoft.com/office/powerpoint/2010/main" val="722642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7630784"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 satisfaction model</a:t>
            </a:r>
            <a:endParaRPr dirty="0"/>
          </a:p>
        </p:txBody>
      </p:sp>
      <p:sp>
        <p:nvSpPr>
          <p:cNvPr id="5" name="TextBox 4">
            <a:extLst>
              <a:ext uri="{FF2B5EF4-FFF2-40B4-BE49-F238E27FC236}">
                <a16:creationId xmlns:a16="http://schemas.microsoft.com/office/drawing/2014/main" id="{D6C2AE1B-4C8B-7D68-D0FA-B1E0F5316C7A}"/>
              </a:ext>
            </a:extLst>
          </p:cNvPr>
          <p:cNvSpPr txBox="1"/>
          <p:nvPr/>
        </p:nvSpPr>
        <p:spPr>
          <a:xfrm>
            <a:off x="259603" y="1032076"/>
            <a:ext cx="2572087" cy="523220"/>
          </a:xfrm>
          <a:prstGeom prst="rect">
            <a:avLst/>
          </a:prstGeom>
          <a:noFill/>
        </p:spPr>
        <p:txBody>
          <a:bodyPr wrap="square">
            <a:spAutoFit/>
          </a:bodyPr>
          <a:lstStyle/>
          <a:p>
            <a:r>
              <a:rPr lang="en-US" altLang="en-US" sz="2800" b="1" dirty="0">
                <a:latin typeface="+mj-lt"/>
              </a:rPr>
              <a:t>Kano’s Model</a:t>
            </a:r>
            <a:endParaRPr lang="en-IN" sz="2800" dirty="0">
              <a:latin typeface="+mj-lt"/>
            </a:endParaRPr>
          </a:p>
        </p:txBody>
      </p:sp>
      <p:pic>
        <p:nvPicPr>
          <p:cNvPr id="3" name="Picture 2">
            <a:extLst>
              <a:ext uri="{FF2B5EF4-FFF2-40B4-BE49-F238E27FC236}">
                <a16:creationId xmlns:a16="http://schemas.microsoft.com/office/drawing/2014/main" id="{F69E7F4C-B663-7897-07A5-238AB8E4EE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7620" y="1293686"/>
            <a:ext cx="6827275" cy="46983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a:extLst>
              <a:ext uri="{FF2B5EF4-FFF2-40B4-BE49-F238E27FC236}">
                <a16:creationId xmlns:a16="http://schemas.microsoft.com/office/drawing/2014/main" id="{D313D255-C8A5-4B6D-2612-CDF8B1EBC973}"/>
              </a:ext>
            </a:extLst>
          </p:cNvPr>
          <p:cNvSpPr txBox="1"/>
          <p:nvPr/>
        </p:nvSpPr>
        <p:spPr>
          <a:xfrm>
            <a:off x="160210" y="3671488"/>
            <a:ext cx="4014223" cy="2154436"/>
          </a:xfrm>
          <a:prstGeom prst="rect">
            <a:avLst/>
          </a:prstGeom>
          <a:noFill/>
        </p:spPr>
        <p:txBody>
          <a:bodyPr wrap="square">
            <a:spAutoFit/>
          </a:bodyPr>
          <a:lstStyle/>
          <a:p>
            <a:pPr algn="just">
              <a:spcBef>
                <a:spcPts val="600"/>
              </a:spcBef>
              <a:defRPr/>
            </a:pPr>
            <a:r>
              <a:rPr lang="en-US" sz="1100" dirty="0">
                <a:latin typeface="+mj-lt"/>
              </a:rPr>
              <a:t>Understand, Integrate, and Priorities the things to attract the customers:</a:t>
            </a:r>
          </a:p>
          <a:p>
            <a:pPr algn="just">
              <a:spcBef>
                <a:spcPts val="600"/>
              </a:spcBef>
              <a:defRPr/>
            </a:pPr>
            <a:r>
              <a:rPr lang="en-US" sz="1100" dirty="0">
                <a:latin typeface="+mj-lt"/>
              </a:rPr>
              <a:t>Improve performances</a:t>
            </a:r>
          </a:p>
          <a:p>
            <a:pPr algn="just">
              <a:spcBef>
                <a:spcPts val="600"/>
              </a:spcBef>
              <a:defRPr/>
            </a:pPr>
            <a:r>
              <a:rPr lang="en-US" sz="1100" dirty="0">
                <a:latin typeface="+mj-lt"/>
              </a:rPr>
              <a:t>Differentiate from competitors</a:t>
            </a:r>
          </a:p>
          <a:p>
            <a:pPr algn="just">
              <a:spcBef>
                <a:spcPts val="600"/>
              </a:spcBef>
              <a:defRPr/>
            </a:pPr>
            <a:r>
              <a:rPr lang="en-US" sz="1100" dirty="0">
                <a:latin typeface="+mj-lt"/>
              </a:rPr>
              <a:t>Ensure Success.</a:t>
            </a:r>
          </a:p>
          <a:p>
            <a:pPr algn="just">
              <a:spcBef>
                <a:spcPts val="600"/>
              </a:spcBef>
              <a:defRPr/>
            </a:pPr>
            <a:r>
              <a:rPr lang="en-US" sz="1100" dirty="0">
                <a:latin typeface="+mj-lt"/>
              </a:rPr>
              <a:t>Bus Service</a:t>
            </a:r>
          </a:p>
          <a:p>
            <a:pPr algn="just">
              <a:spcBef>
                <a:spcPts val="600"/>
              </a:spcBef>
              <a:defRPr/>
            </a:pPr>
            <a:r>
              <a:rPr lang="en-US" sz="1100" dirty="0">
                <a:latin typeface="+mj-lt"/>
              </a:rPr>
              <a:t>Must be: Clean seats, blanket (for AC)</a:t>
            </a:r>
          </a:p>
          <a:p>
            <a:pPr algn="just">
              <a:spcBef>
                <a:spcPts val="600"/>
              </a:spcBef>
              <a:defRPr/>
            </a:pPr>
            <a:r>
              <a:rPr lang="en-US" sz="1100" dirty="0">
                <a:latin typeface="+mj-lt"/>
              </a:rPr>
              <a:t>More is better: Free wifie, surprise like birthday</a:t>
            </a:r>
          </a:p>
          <a:p>
            <a:pPr algn="just">
              <a:spcBef>
                <a:spcPts val="600"/>
              </a:spcBef>
              <a:defRPr/>
            </a:pPr>
            <a:r>
              <a:rPr lang="en-US" sz="1100" dirty="0">
                <a:latin typeface="+mj-lt"/>
              </a:rPr>
              <a:t>Exciters: Free Netflix/A-prime, drink</a:t>
            </a:r>
          </a:p>
        </p:txBody>
      </p:sp>
    </p:spTree>
    <p:extLst>
      <p:ext uri="{BB962C8B-B14F-4D97-AF65-F5344CB8AC3E}">
        <p14:creationId xmlns:p14="http://schemas.microsoft.com/office/powerpoint/2010/main" val="2553246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583639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 satisfaction</a:t>
            </a:r>
            <a:endParaRPr dirty="0"/>
          </a:p>
        </p:txBody>
      </p:sp>
      <p:sp>
        <p:nvSpPr>
          <p:cNvPr id="3" name="Rectangle 3">
            <a:extLst>
              <a:ext uri="{FF2B5EF4-FFF2-40B4-BE49-F238E27FC236}">
                <a16:creationId xmlns:a16="http://schemas.microsoft.com/office/drawing/2014/main" id="{B0C38668-E5BB-F762-4B5A-280059EC88B9}"/>
              </a:ext>
            </a:extLst>
          </p:cNvPr>
          <p:cNvSpPr txBox="1">
            <a:spLocks noChangeArrowheads="1"/>
          </p:cNvSpPr>
          <p:nvPr/>
        </p:nvSpPr>
        <p:spPr>
          <a:xfrm>
            <a:off x="516270" y="852685"/>
            <a:ext cx="11159459" cy="5837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600"/>
              </a:spcBef>
              <a:defRPr/>
            </a:pPr>
            <a:r>
              <a:rPr lang="en-US" sz="2800" dirty="0">
                <a:latin typeface="+mj-lt"/>
              </a:rPr>
              <a:t>Customer is the Boss or ’King’</a:t>
            </a:r>
          </a:p>
          <a:p>
            <a:pPr>
              <a:lnSpc>
                <a:spcPct val="150000"/>
              </a:lnSpc>
              <a:spcBef>
                <a:spcPts val="600"/>
              </a:spcBef>
              <a:defRPr/>
            </a:pPr>
            <a:r>
              <a:rPr lang="en-US" sz="2800" dirty="0">
                <a:latin typeface="+mj-lt"/>
              </a:rPr>
              <a:t>Customer dictates the market trends and direction</a:t>
            </a:r>
          </a:p>
          <a:p>
            <a:pPr>
              <a:lnSpc>
                <a:spcPct val="150000"/>
              </a:lnSpc>
              <a:spcBef>
                <a:spcPts val="600"/>
              </a:spcBef>
              <a:defRPr/>
            </a:pPr>
            <a:r>
              <a:rPr lang="en-US" sz="2800" dirty="0">
                <a:latin typeface="+mj-lt"/>
              </a:rPr>
              <a:t>Customer not only has needs to be supplied (basic performance functions)</a:t>
            </a:r>
          </a:p>
          <a:p>
            <a:pPr>
              <a:lnSpc>
                <a:spcPct val="150000"/>
              </a:lnSpc>
              <a:spcBef>
                <a:spcPts val="600"/>
              </a:spcBef>
              <a:defRPr/>
            </a:pPr>
            <a:r>
              <a:rPr lang="en-US" sz="2800" dirty="0">
                <a:latin typeface="+mj-lt"/>
              </a:rPr>
              <a:t>Also he wants what he needs (additional features satisfy him and influence his purchase decision)</a:t>
            </a:r>
          </a:p>
          <a:p>
            <a:pPr>
              <a:lnSpc>
                <a:spcPct val="150000"/>
              </a:lnSpc>
              <a:spcBef>
                <a:spcPts val="600"/>
              </a:spcBef>
              <a:defRPr/>
            </a:pPr>
            <a:r>
              <a:rPr lang="en-US" sz="2800" dirty="0">
                <a:latin typeface="+mj-lt"/>
              </a:rPr>
              <a:t>Hence the Suppliers and Manufacturers have to closely follow at the heel of the customer. </a:t>
            </a:r>
          </a:p>
        </p:txBody>
      </p:sp>
    </p:spTree>
    <p:extLst>
      <p:ext uri="{BB962C8B-B14F-4D97-AF65-F5344CB8AC3E}">
        <p14:creationId xmlns:p14="http://schemas.microsoft.com/office/powerpoint/2010/main" val="1604916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1124413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 satisfaction organizational diagram</a:t>
            </a:r>
            <a:endParaRPr dirty="0"/>
          </a:p>
        </p:txBody>
      </p:sp>
      <p:grpSp>
        <p:nvGrpSpPr>
          <p:cNvPr id="41" name="Group 40">
            <a:extLst>
              <a:ext uri="{FF2B5EF4-FFF2-40B4-BE49-F238E27FC236}">
                <a16:creationId xmlns:a16="http://schemas.microsoft.com/office/drawing/2014/main" id="{BBEC5353-8842-B6E6-9221-6CEA3C54EF02}"/>
              </a:ext>
            </a:extLst>
          </p:cNvPr>
          <p:cNvGrpSpPr/>
          <p:nvPr/>
        </p:nvGrpSpPr>
        <p:grpSpPr>
          <a:xfrm>
            <a:off x="3139701" y="1033618"/>
            <a:ext cx="5483942" cy="5406983"/>
            <a:chOff x="253180" y="1388807"/>
            <a:chExt cx="4699819" cy="4348310"/>
          </a:xfrm>
        </p:grpSpPr>
        <p:sp>
          <p:nvSpPr>
            <p:cNvPr id="19" name="Isosceles Triangle 18">
              <a:extLst>
                <a:ext uri="{FF2B5EF4-FFF2-40B4-BE49-F238E27FC236}">
                  <a16:creationId xmlns:a16="http://schemas.microsoft.com/office/drawing/2014/main" id="{6CDC5388-F3D0-5B99-8090-FAA37AF7B270}"/>
                </a:ext>
              </a:extLst>
            </p:cNvPr>
            <p:cNvSpPr/>
            <p:nvPr/>
          </p:nvSpPr>
          <p:spPr>
            <a:xfrm rot="10800000">
              <a:off x="253180" y="1388807"/>
              <a:ext cx="4699819" cy="4348310"/>
            </a:xfrm>
            <a:prstGeom prst="triangl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200"/>
            </a:p>
          </p:txBody>
        </p:sp>
        <p:cxnSp>
          <p:nvCxnSpPr>
            <p:cNvPr id="21" name="Straight Connector 20">
              <a:extLst>
                <a:ext uri="{FF2B5EF4-FFF2-40B4-BE49-F238E27FC236}">
                  <a16:creationId xmlns:a16="http://schemas.microsoft.com/office/drawing/2014/main" id="{1FC78482-CBDD-A423-EC61-3AF2318589AE}"/>
                </a:ext>
              </a:extLst>
            </p:cNvPr>
            <p:cNvCxnSpPr/>
            <p:nvPr/>
          </p:nvCxnSpPr>
          <p:spPr>
            <a:xfrm>
              <a:off x="714681" y="2303206"/>
              <a:ext cx="37725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38EBB68-F8CD-85A1-3BEB-84986AA034EC}"/>
                </a:ext>
              </a:extLst>
            </p:cNvPr>
            <p:cNvCxnSpPr>
              <a:cxnSpLocks/>
            </p:cNvCxnSpPr>
            <p:nvPr/>
          </p:nvCxnSpPr>
          <p:spPr>
            <a:xfrm>
              <a:off x="1200150" y="3148780"/>
              <a:ext cx="28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0786055-245A-5808-517B-82C636820B04}"/>
                </a:ext>
              </a:extLst>
            </p:cNvPr>
            <p:cNvCxnSpPr>
              <a:cxnSpLocks/>
            </p:cNvCxnSpPr>
            <p:nvPr/>
          </p:nvCxnSpPr>
          <p:spPr>
            <a:xfrm>
              <a:off x="1682750" y="3995622"/>
              <a:ext cx="1860550" cy="18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0FDF1E7-487E-E35A-A320-4AD5101A7226}"/>
                </a:ext>
              </a:extLst>
            </p:cNvPr>
            <p:cNvCxnSpPr>
              <a:cxnSpLocks/>
            </p:cNvCxnSpPr>
            <p:nvPr/>
          </p:nvCxnSpPr>
          <p:spPr>
            <a:xfrm>
              <a:off x="2108200" y="4817770"/>
              <a:ext cx="990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 Box 14">
              <a:extLst>
                <a:ext uri="{FF2B5EF4-FFF2-40B4-BE49-F238E27FC236}">
                  <a16:creationId xmlns:a16="http://schemas.microsoft.com/office/drawing/2014/main" id="{8FBA7326-38CA-53CD-CEC0-46938B1E09FE}"/>
                </a:ext>
              </a:extLst>
            </p:cNvPr>
            <p:cNvSpPr txBox="1">
              <a:spLocks noChangeArrowheads="1"/>
            </p:cNvSpPr>
            <p:nvPr/>
          </p:nvSpPr>
          <p:spPr bwMode="auto">
            <a:xfrm>
              <a:off x="1829860" y="1703929"/>
              <a:ext cx="1508099" cy="3465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200" dirty="0">
                  <a:latin typeface="+mj-lt"/>
                </a:rPr>
                <a:t>CUSTOMERS</a:t>
              </a:r>
            </a:p>
          </p:txBody>
        </p:sp>
        <p:sp>
          <p:nvSpPr>
            <p:cNvPr id="37" name="Text Box 15">
              <a:extLst>
                <a:ext uri="{FF2B5EF4-FFF2-40B4-BE49-F238E27FC236}">
                  <a16:creationId xmlns:a16="http://schemas.microsoft.com/office/drawing/2014/main" id="{C52C47B8-593F-AD44-9475-A06734EC7405}"/>
                </a:ext>
              </a:extLst>
            </p:cNvPr>
            <p:cNvSpPr txBox="1">
              <a:spLocks noChangeArrowheads="1"/>
            </p:cNvSpPr>
            <p:nvPr/>
          </p:nvSpPr>
          <p:spPr bwMode="auto">
            <a:xfrm>
              <a:off x="1782436" y="2591951"/>
              <a:ext cx="1602947" cy="3465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200" dirty="0">
                  <a:latin typeface="+mj-lt"/>
                </a:rPr>
                <a:t>Front-line Staff</a:t>
              </a:r>
            </a:p>
          </p:txBody>
        </p:sp>
        <p:sp>
          <p:nvSpPr>
            <p:cNvPr id="38" name="Text Box 16">
              <a:extLst>
                <a:ext uri="{FF2B5EF4-FFF2-40B4-BE49-F238E27FC236}">
                  <a16:creationId xmlns:a16="http://schemas.microsoft.com/office/drawing/2014/main" id="{DCAFA9E6-54B6-CB5C-77A9-C58DD6B40764}"/>
                </a:ext>
              </a:extLst>
            </p:cNvPr>
            <p:cNvSpPr txBox="1">
              <a:spLocks noChangeArrowheads="1"/>
            </p:cNvSpPr>
            <p:nvPr/>
          </p:nvSpPr>
          <p:spPr bwMode="auto">
            <a:xfrm>
              <a:off x="1593668" y="3257954"/>
              <a:ext cx="2014538" cy="618786"/>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200" dirty="0">
                  <a:latin typeface="+mj-lt"/>
                </a:rPr>
                <a:t>Functional </a:t>
              </a:r>
            </a:p>
            <a:p>
              <a:pPr algn="ctr" eaLnBrk="1" hangingPunct="1">
                <a:spcBef>
                  <a:spcPct val="0"/>
                </a:spcBef>
                <a:buFontTx/>
                <a:buNone/>
              </a:pPr>
              <a:r>
                <a:rPr lang="en-US" altLang="en-US" sz="2200" dirty="0">
                  <a:latin typeface="+mj-lt"/>
                </a:rPr>
                <a:t>Department Staff</a:t>
              </a:r>
            </a:p>
          </p:txBody>
        </p:sp>
        <p:sp>
          <p:nvSpPr>
            <p:cNvPr id="39" name="Text Box 18">
              <a:extLst>
                <a:ext uri="{FF2B5EF4-FFF2-40B4-BE49-F238E27FC236}">
                  <a16:creationId xmlns:a16="http://schemas.microsoft.com/office/drawing/2014/main" id="{6949A61E-13F5-DCD6-00A2-50A0E00FE3AB}"/>
                </a:ext>
              </a:extLst>
            </p:cNvPr>
            <p:cNvSpPr txBox="1">
              <a:spLocks noChangeArrowheads="1"/>
            </p:cNvSpPr>
            <p:nvPr/>
          </p:nvSpPr>
          <p:spPr bwMode="auto">
            <a:xfrm>
              <a:off x="1995794" y="4215704"/>
              <a:ext cx="1210288" cy="3465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200" dirty="0">
                  <a:latin typeface="+mj-lt"/>
                </a:rPr>
                <a:t>Sr. </a:t>
              </a:r>
              <a:r>
                <a:rPr lang="en-US" altLang="en-US" sz="2200" dirty="0" err="1">
                  <a:latin typeface="+mj-lt"/>
                </a:rPr>
                <a:t>Mgrs</a:t>
              </a:r>
              <a:endParaRPr lang="en-US" altLang="en-US" sz="2200" dirty="0">
                <a:latin typeface="+mj-lt"/>
              </a:endParaRPr>
            </a:p>
          </p:txBody>
        </p:sp>
        <p:sp>
          <p:nvSpPr>
            <p:cNvPr id="40" name="Text Box 17">
              <a:extLst>
                <a:ext uri="{FF2B5EF4-FFF2-40B4-BE49-F238E27FC236}">
                  <a16:creationId xmlns:a16="http://schemas.microsoft.com/office/drawing/2014/main" id="{A2FC3E04-07EB-E4EF-8C9E-AD41D682E556}"/>
                </a:ext>
              </a:extLst>
            </p:cNvPr>
            <p:cNvSpPr txBox="1">
              <a:spLocks noChangeArrowheads="1"/>
            </p:cNvSpPr>
            <p:nvPr/>
          </p:nvSpPr>
          <p:spPr bwMode="auto">
            <a:xfrm>
              <a:off x="2308928" y="4938861"/>
              <a:ext cx="650081" cy="3465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dirty="0">
                  <a:latin typeface="+mj-lt"/>
                </a:rPr>
                <a:t>CEO</a:t>
              </a:r>
            </a:p>
          </p:txBody>
        </p:sp>
      </p:grpSp>
    </p:spTree>
    <p:extLst>
      <p:ext uri="{BB962C8B-B14F-4D97-AF65-F5344CB8AC3E}">
        <p14:creationId xmlns:p14="http://schemas.microsoft.com/office/powerpoint/2010/main" val="75541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788150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What is Customer satisfaction?</a:t>
            </a:r>
            <a:endParaRPr dirty="0"/>
          </a:p>
        </p:txBody>
      </p:sp>
      <p:sp>
        <p:nvSpPr>
          <p:cNvPr id="5" name="Rectangle 3">
            <a:extLst>
              <a:ext uri="{FF2B5EF4-FFF2-40B4-BE49-F238E27FC236}">
                <a16:creationId xmlns:a16="http://schemas.microsoft.com/office/drawing/2014/main" id="{4C7E54F9-442D-03BA-156C-21A94E7D3B09}"/>
              </a:ext>
            </a:extLst>
          </p:cNvPr>
          <p:cNvSpPr txBox="1">
            <a:spLocks/>
          </p:cNvSpPr>
          <p:nvPr/>
        </p:nvSpPr>
        <p:spPr>
          <a:xfrm>
            <a:off x="800920" y="931606"/>
            <a:ext cx="7499350" cy="50119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3600" dirty="0">
                <a:latin typeface="+mj-lt"/>
              </a:rPr>
              <a:t>Is it due to Product quality?</a:t>
            </a:r>
          </a:p>
          <a:p>
            <a:pPr>
              <a:lnSpc>
                <a:spcPct val="150000"/>
              </a:lnSpc>
            </a:pPr>
            <a:r>
              <a:rPr lang="en-US" altLang="en-US" sz="3600" dirty="0">
                <a:latin typeface="+mj-lt"/>
              </a:rPr>
              <a:t>Is it due to pricing?</a:t>
            </a:r>
          </a:p>
          <a:p>
            <a:pPr>
              <a:lnSpc>
                <a:spcPct val="150000"/>
              </a:lnSpc>
            </a:pPr>
            <a:r>
              <a:rPr lang="en-US" altLang="en-US" sz="3600" dirty="0">
                <a:latin typeface="+mj-lt"/>
              </a:rPr>
              <a:t>Is it due to good customer service ?</a:t>
            </a:r>
          </a:p>
          <a:p>
            <a:pPr>
              <a:lnSpc>
                <a:spcPct val="150000"/>
              </a:lnSpc>
            </a:pPr>
            <a:r>
              <a:rPr lang="en-US" altLang="en-US" sz="3600" dirty="0">
                <a:latin typeface="+mj-lt"/>
              </a:rPr>
              <a:t>Is it due to company reputation?</a:t>
            </a:r>
          </a:p>
          <a:p>
            <a:pPr>
              <a:lnSpc>
                <a:spcPct val="150000"/>
              </a:lnSpc>
            </a:pPr>
            <a:r>
              <a:rPr lang="en-US" altLang="en-US" sz="3600" dirty="0">
                <a:latin typeface="+mj-lt"/>
              </a:rPr>
              <a:t>Is it something more?</a:t>
            </a:r>
          </a:p>
        </p:txBody>
      </p:sp>
    </p:spTree>
    <p:extLst>
      <p:ext uri="{BB962C8B-B14F-4D97-AF65-F5344CB8AC3E}">
        <p14:creationId xmlns:p14="http://schemas.microsoft.com/office/powerpoint/2010/main" val="1092621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493182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Integrated Quality</a:t>
            </a:r>
            <a:endParaRPr dirty="0"/>
          </a:p>
        </p:txBody>
      </p:sp>
      <p:grpSp>
        <p:nvGrpSpPr>
          <p:cNvPr id="3" name="Group 13">
            <a:extLst>
              <a:ext uri="{FF2B5EF4-FFF2-40B4-BE49-F238E27FC236}">
                <a16:creationId xmlns:a16="http://schemas.microsoft.com/office/drawing/2014/main" id="{14DEF835-01D3-340C-9FD3-74D7AD69731F}"/>
              </a:ext>
            </a:extLst>
          </p:cNvPr>
          <p:cNvGrpSpPr>
            <a:grpSpLocks/>
          </p:cNvGrpSpPr>
          <p:nvPr/>
        </p:nvGrpSpPr>
        <p:grpSpPr bwMode="auto">
          <a:xfrm>
            <a:off x="2227007" y="1163279"/>
            <a:ext cx="7564693" cy="4704121"/>
            <a:chOff x="609600" y="1447800"/>
            <a:chExt cx="7086600" cy="4419600"/>
          </a:xfrm>
        </p:grpSpPr>
        <p:sp>
          <p:nvSpPr>
            <p:cNvPr id="4" name="Oval 3">
              <a:extLst>
                <a:ext uri="{FF2B5EF4-FFF2-40B4-BE49-F238E27FC236}">
                  <a16:creationId xmlns:a16="http://schemas.microsoft.com/office/drawing/2014/main" id="{D0277BD9-DA83-3060-DB7E-374B02A1D81B}"/>
                </a:ext>
              </a:extLst>
            </p:cNvPr>
            <p:cNvSpPr>
              <a:spLocks noChangeArrowheads="1"/>
            </p:cNvSpPr>
            <p:nvPr/>
          </p:nvSpPr>
          <p:spPr bwMode="auto">
            <a:xfrm>
              <a:off x="838200" y="3124200"/>
              <a:ext cx="1600200" cy="1066800"/>
            </a:xfrm>
            <a:prstGeom prst="ellipse">
              <a:avLst/>
            </a:prstGeom>
            <a:gradFill rotWithShape="0">
              <a:gsLst>
                <a:gs pos="0">
                  <a:srgbClr val="FFFFFF"/>
                </a:gs>
                <a:gs pos="100000">
                  <a:srgbClr val="006600"/>
                </a:gs>
              </a:gsLst>
              <a:lin ang="18900000" scaled="1"/>
            </a:gradFill>
            <a:ln w="9525">
              <a:solidFill>
                <a:schemeClr val="tx1"/>
              </a:solidFill>
              <a:miter lim="800000"/>
              <a:headEnd/>
              <a:tailEnd/>
            </a:ln>
            <a:effectLst>
              <a:outerShdw dist="107763" dir="18900000" algn="ctr" rotWithShape="0">
                <a:schemeClr val="bg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a:latin typeface="+mj-lt"/>
                </a:rPr>
                <a:t>Quality</a:t>
              </a:r>
            </a:p>
          </p:txBody>
        </p:sp>
        <p:sp>
          <p:nvSpPr>
            <p:cNvPr id="6" name="AutoShape 4">
              <a:extLst>
                <a:ext uri="{FF2B5EF4-FFF2-40B4-BE49-F238E27FC236}">
                  <a16:creationId xmlns:a16="http://schemas.microsoft.com/office/drawing/2014/main" id="{5FA562F4-35DE-F1B6-2C26-DE674E99FC59}"/>
                </a:ext>
              </a:extLst>
            </p:cNvPr>
            <p:cNvSpPr>
              <a:spLocks noChangeArrowheads="1"/>
            </p:cNvSpPr>
            <p:nvPr/>
          </p:nvSpPr>
          <p:spPr bwMode="auto">
            <a:xfrm>
              <a:off x="685800" y="2057400"/>
              <a:ext cx="1905000" cy="1066800"/>
            </a:xfrm>
            <a:prstGeom prst="downArrowCallout">
              <a:avLst>
                <a:gd name="adj1" fmla="val 44643"/>
                <a:gd name="adj2" fmla="val 44643"/>
                <a:gd name="adj3" fmla="val 16667"/>
                <a:gd name="adj4" fmla="val 66667"/>
              </a:avLst>
            </a:prstGeom>
            <a:solidFill>
              <a:srgbClr val="99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dirty="0">
                  <a:latin typeface="+mj-lt"/>
                </a:rPr>
                <a:t>Customer</a:t>
              </a:r>
            </a:p>
            <a:p>
              <a:pPr algn="ctr" eaLnBrk="1" hangingPunct="1">
                <a:spcBef>
                  <a:spcPct val="0"/>
                </a:spcBef>
                <a:buFontTx/>
                <a:buNone/>
              </a:pPr>
              <a:r>
                <a:rPr lang="en-US" altLang="en-US" sz="2400" dirty="0">
                  <a:latin typeface="+mj-lt"/>
                </a:rPr>
                <a:t>Requirements</a:t>
              </a:r>
            </a:p>
          </p:txBody>
        </p:sp>
        <p:sp>
          <p:nvSpPr>
            <p:cNvPr id="7" name="AutoShape 5">
              <a:extLst>
                <a:ext uri="{FF2B5EF4-FFF2-40B4-BE49-F238E27FC236}">
                  <a16:creationId xmlns:a16="http://schemas.microsoft.com/office/drawing/2014/main" id="{F86D85D2-DC87-3DB2-EB75-47C8EA2B816C}"/>
                </a:ext>
              </a:extLst>
            </p:cNvPr>
            <p:cNvSpPr>
              <a:spLocks noChangeArrowheads="1"/>
            </p:cNvSpPr>
            <p:nvPr/>
          </p:nvSpPr>
          <p:spPr bwMode="auto">
            <a:xfrm>
              <a:off x="609600" y="4191000"/>
              <a:ext cx="2057400" cy="914400"/>
            </a:xfrm>
            <a:prstGeom prst="upArrowCallout">
              <a:avLst>
                <a:gd name="adj1" fmla="val 56250"/>
                <a:gd name="adj2" fmla="val 56250"/>
                <a:gd name="adj3" fmla="val 16667"/>
                <a:gd name="adj4" fmla="val 66667"/>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dirty="0">
                  <a:latin typeface="+mj-lt"/>
                </a:rPr>
                <a:t>Process Capability</a:t>
              </a:r>
            </a:p>
          </p:txBody>
        </p:sp>
        <p:sp>
          <p:nvSpPr>
            <p:cNvPr id="8" name="Oval 6">
              <a:extLst>
                <a:ext uri="{FF2B5EF4-FFF2-40B4-BE49-F238E27FC236}">
                  <a16:creationId xmlns:a16="http://schemas.microsoft.com/office/drawing/2014/main" id="{F038A12E-6D8C-4EBB-B2FA-A1E961520AE9}"/>
                </a:ext>
              </a:extLst>
            </p:cNvPr>
            <p:cNvSpPr>
              <a:spLocks noChangeArrowheads="1"/>
            </p:cNvSpPr>
            <p:nvPr/>
          </p:nvSpPr>
          <p:spPr bwMode="auto">
            <a:xfrm>
              <a:off x="3352800" y="3124200"/>
              <a:ext cx="1600200" cy="1066800"/>
            </a:xfrm>
            <a:prstGeom prst="ellipse">
              <a:avLst/>
            </a:prstGeom>
            <a:gradFill rotWithShape="0">
              <a:gsLst>
                <a:gs pos="0">
                  <a:srgbClr val="FFFFFF"/>
                </a:gs>
                <a:gs pos="100000">
                  <a:srgbClr val="FF3300"/>
                </a:gs>
              </a:gsLst>
              <a:lin ang="18900000" scaled="1"/>
            </a:gradFill>
            <a:ln w="9525">
              <a:solidFill>
                <a:schemeClr val="tx1"/>
              </a:solidFill>
              <a:miter lim="800000"/>
              <a:headEnd/>
              <a:tailEnd/>
            </a:ln>
            <a:effectLst>
              <a:outerShdw dist="107763" dir="18900000" algn="ctr" rotWithShape="0">
                <a:schemeClr val="bg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a:latin typeface="+mj-lt"/>
                </a:rPr>
                <a:t>Cost</a:t>
              </a:r>
            </a:p>
          </p:txBody>
        </p:sp>
        <p:sp>
          <p:nvSpPr>
            <p:cNvPr id="9" name="AutoShape 7">
              <a:extLst>
                <a:ext uri="{FF2B5EF4-FFF2-40B4-BE49-F238E27FC236}">
                  <a16:creationId xmlns:a16="http://schemas.microsoft.com/office/drawing/2014/main" id="{C88E4CE5-6A8C-47FC-9E5A-47C41FCC9236}"/>
                </a:ext>
              </a:extLst>
            </p:cNvPr>
            <p:cNvSpPr>
              <a:spLocks noChangeArrowheads="1"/>
            </p:cNvSpPr>
            <p:nvPr/>
          </p:nvSpPr>
          <p:spPr bwMode="auto">
            <a:xfrm>
              <a:off x="3200400" y="2057400"/>
              <a:ext cx="1905000" cy="1066800"/>
            </a:xfrm>
            <a:prstGeom prst="downArrowCallout">
              <a:avLst>
                <a:gd name="adj1" fmla="val 44643"/>
                <a:gd name="adj2" fmla="val 44643"/>
                <a:gd name="adj3" fmla="val 16667"/>
                <a:gd name="adj4" fmla="val 66667"/>
              </a:avLst>
            </a:prstGeom>
            <a:solidFill>
              <a:srgbClr val="99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latin typeface="+mj-lt"/>
                </a:rPr>
                <a:t>Selling Price</a:t>
              </a:r>
            </a:p>
          </p:txBody>
        </p:sp>
        <p:sp>
          <p:nvSpPr>
            <p:cNvPr id="10" name="AutoShape 8">
              <a:extLst>
                <a:ext uri="{FF2B5EF4-FFF2-40B4-BE49-F238E27FC236}">
                  <a16:creationId xmlns:a16="http://schemas.microsoft.com/office/drawing/2014/main" id="{F9F9BC7C-BBB0-7EF2-6214-983BB5FC2478}"/>
                </a:ext>
              </a:extLst>
            </p:cNvPr>
            <p:cNvSpPr>
              <a:spLocks noChangeArrowheads="1"/>
            </p:cNvSpPr>
            <p:nvPr/>
          </p:nvSpPr>
          <p:spPr bwMode="auto">
            <a:xfrm>
              <a:off x="3124200" y="4191000"/>
              <a:ext cx="2057400" cy="914400"/>
            </a:xfrm>
            <a:prstGeom prst="upArrowCallout">
              <a:avLst>
                <a:gd name="adj1" fmla="val 56250"/>
                <a:gd name="adj2" fmla="val 56250"/>
                <a:gd name="adj3" fmla="val 16667"/>
                <a:gd name="adj4" fmla="val 66667"/>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latin typeface="+mj-lt"/>
                </a:rPr>
                <a:t>Production Cost</a:t>
              </a:r>
            </a:p>
          </p:txBody>
        </p:sp>
        <p:sp>
          <p:nvSpPr>
            <p:cNvPr id="11" name="Oval 9">
              <a:extLst>
                <a:ext uri="{FF2B5EF4-FFF2-40B4-BE49-F238E27FC236}">
                  <a16:creationId xmlns:a16="http://schemas.microsoft.com/office/drawing/2014/main" id="{38E09662-F39C-842C-3563-A82902FEF833}"/>
                </a:ext>
              </a:extLst>
            </p:cNvPr>
            <p:cNvSpPr>
              <a:spLocks noChangeArrowheads="1"/>
            </p:cNvSpPr>
            <p:nvPr/>
          </p:nvSpPr>
          <p:spPr bwMode="auto">
            <a:xfrm>
              <a:off x="5867400" y="3124200"/>
              <a:ext cx="1600200" cy="1066800"/>
            </a:xfrm>
            <a:prstGeom prst="ellipse">
              <a:avLst/>
            </a:prstGeom>
            <a:gradFill rotWithShape="0">
              <a:gsLst>
                <a:gs pos="0">
                  <a:srgbClr val="FFFFFF"/>
                </a:gs>
                <a:gs pos="100000">
                  <a:schemeClr val="folHlink"/>
                </a:gs>
              </a:gsLst>
              <a:lin ang="18900000" scaled="1"/>
            </a:gradFill>
            <a:ln w="9525">
              <a:solidFill>
                <a:schemeClr val="tx1"/>
              </a:solidFill>
              <a:miter lim="800000"/>
              <a:headEnd/>
              <a:tailEnd/>
            </a:ln>
            <a:effectLst>
              <a:outerShdw dist="107763" dir="18900000" algn="ctr" rotWithShape="0">
                <a:schemeClr val="bg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a:latin typeface="+mj-lt"/>
                </a:rPr>
                <a:t>Delivery</a:t>
              </a:r>
            </a:p>
          </p:txBody>
        </p:sp>
        <p:sp>
          <p:nvSpPr>
            <p:cNvPr id="12" name="AutoShape 10">
              <a:extLst>
                <a:ext uri="{FF2B5EF4-FFF2-40B4-BE49-F238E27FC236}">
                  <a16:creationId xmlns:a16="http://schemas.microsoft.com/office/drawing/2014/main" id="{FF7CD4FD-E1DE-C413-BEBF-559B3A5823A9}"/>
                </a:ext>
              </a:extLst>
            </p:cNvPr>
            <p:cNvSpPr>
              <a:spLocks noChangeArrowheads="1"/>
            </p:cNvSpPr>
            <p:nvPr/>
          </p:nvSpPr>
          <p:spPr bwMode="auto">
            <a:xfrm>
              <a:off x="5715000" y="2057400"/>
              <a:ext cx="1905000" cy="1066800"/>
            </a:xfrm>
            <a:prstGeom prst="downArrowCallout">
              <a:avLst>
                <a:gd name="adj1" fmla="val 44643"/>
                <a:gd name="adj2" fmla="val 44643"/>
                <a:gd name="adj3" fmla="val 16667"/>
                <a:gd name="adj4" fmla="val 66667"/>
              </a:avLst>
            </a:prstGeom>
            <a:solidFill>
              <a:srgbClr val="99CC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latin typeface="+mj-lt"/>
                </a:rPr>
                <a:t>Customer </a:t>
              </a:r>
            </a:p>
            <a:p>
              <a:pPr algn="ctr" eaLnBrk="1" hangingPunct="1">
                <a:spcBef>
                  <a:spcPct val="0"/>
                </a:spcBef>
                <a:buFontTx/>
                <a:buNone/>
              </a:pPr>
              <a:r>
                <a:rPr lang="en-US" altLang="en-US" sz="2400">
                  <a:latin typeface="+mj-lt"/>
                </a:rPr>
                <a:t>Schedule</a:t>
              </a:r>
            </a:p>
          </p:txBody>
        </p:sp>
        <p:sp>
          <p:nvSpPr>
            <p:cNvPr id="13" name="AutoShape 11">
              <a:extLst>
                <a:ext uri="{FF2B5EF4-FFF2-40B4-BE49-F238E27FC236}">
                  <a16:creationId xmlns:a16="http://schemas.microsoft.com/office/drawing/2014/main" id="{7C0CF52E-F8A6-72DE-1635-F1315E6D23BB}"/>
                </a:ext>
              </a:extLst>
            </p:cNvPr>
            <p:cNvSpPr>
              <a:spLocks noChangeArrowheads="1"/>
            </p:cNvSpPr>
            <p:nvPr/>
          </p:nvSpPr>
          <p:spPr bwMode="auto">
            <a:xfrm>
              <a:off x="5638800" y="4191000"/>
              <a:ext cx="1981200" cy="914400"/>
            </a:xfrm>
            <a:prstGeom prst="upArrowCallout">
              <a:avLst>
                <a:gd name="adj1" fmla="val 54167"/>
                <a:gd name="adj2" fmla="val 54167"/>
                <a:gd name="adj3" fmla="val 16667"/>
                <a:gd name="adj4" fmla="val 66667"/>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latin typeface="+mj-lt"/>
                </a:rPr>
                <a:t>Process Speed</a:t>
              </a:r>
            </a:p>
          </p:txBody>
        </p:sp>
        <p:sp>
          <p:nvSpPr>
            <p:cNvPr id="14" name="Rectangle 12">
              <a:extLst>
                <a:ext uri="{FF2B5EF4-FFF2-40B4-BE49-F238E27FC236}">
                  <a16:creationId xmlns:a16="http://schemas.microsoft.com/office/drawing/2014/main" id="{3FF873C0-0D4F-BCF5-4ECC-E53582927BE7}"/>
                </a:ext>
              </a:extLst>
            </p:cNvPr>
            <p:cNvSpPr>
              <a:spLocks noChangeArrowheads="1"/>
            </p:cNvSpPr>
            <p:nvPr/>
          </p:nvSpPr>
          <p:spPr bwMode="auto">
            <a:xfrm>
              <a:off x="609600" y="5486400"/>
              <a:ext cx="7010400" cy="381000"/>
            </a:xfrm>
            <a:prstGeom prst="rect">
              <a:avLst/>
            </a:prstGeom>
            <a:gradFill rotWithShape="0">
              <a:gsLst>
                <a:gs pos="0">
                  <a:schemeClr val="bg1"/>
                </a:gs>
                <a:gs pos="100000">
                  <a:schemeClr val="accent1"/>
                </a:gs>
              </a:gsLst>
              <a:lin ang="5400000" scaled="1"/>
            </a:gra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mj-lt"/>
                </a:rPr>
                <a:t>Supplier</a:t>
              </a:r>
            </a:p>
          </p:txBody>
        </p:sp>
        <p:sp>
          <p:nvSpPr>
            <p:cNvPr id="15" name="Rectangle 13">
              <a:extLst>
                <a:ext uri="{FF2B5EF4-FFF2-40B4-BE49-F238E27FC236}">
                  <a16:creationId xmlns:a16="http://schemas.microsoft.com/office/drawing/2014/main" id="{E35DADB4-1FCE-25D9-D088-DA48BEF035C0}"/>
                </a:ext>
              </a:extLst>
            </p:cNvPr>
            <p:cNvSpPr>
              <a:spLocks noChangeArrowheads="1"/>
            </p:cNvSpPr>
            <p:nvPr/>
          </p:nvSpPr>
          <p:spPr bwMode="auto">
            <a:xfrm>
              <a:off x="685800" y="1447800"/>
              <a:ext cx="7010400" cy="381000"/>
            </a:xfrm>
            <a:prstGeom prst="rect">
              <a:avLst/>
            </a:prstGeom>
            <a:gradFill rotWithShape="0">
              <a:gsLst>
                <a:gs pos="0">
                  <a:srgbClr val="99CCFF"/>
                </a:gs>
                <a:gs pos="100000">
                  <a:schemeClr val="bg1"/>
                </a:gs>
              </a:gsLst>
              <a:lin ang="5400000" scaled="1"/>
            </a:gra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latin typeface="+mj-lt"/>
                </a:rPr>
                <a:t>Customer</a:t>
              </a:r>
            </a:p>
          </p:txBody>
        </p:sp>
      </p:grpSp>
    </p:spTree>
    <p:extLst>
      <p:ext uri="{BB962C8B-B14F-4D97-AF65-F5344CB8AC3E}">
        <p14:creationId xmlns:p14="http://schemas.microsoft.com/office/powerpoint/2010/main" val="1096891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2"/>
            <a:ext cx="7586540"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Internal / External Customer</a:t>
            </a:r>
            <a:endParaRPr dirty="0"/>
          </a:p>
        </p:txBody>
      </p:sp>
      <p:grpSp>
        <p:nvGrpSpPr>
          <p:cNvPr id="23" name="Group 27">
            <a:extLst>
              <a:ext uri="{FF2B5EF4-FFF2-40B4-BE49-F238E27FC236}">
                <a16:creationId xmlns:a16="http://schemas.microsoft.com/office/drawing/2014/main" id="{7E409397-AA7E-5A6B-5A72-460E77DC524E}"/>
              </a:ext>
            </a:extLst>
          </p:cNvPr>
          <p:cNvGrpSpPr>
            <a:grpSpLocks/>
          </p:cNvGrpSpPr>
          <p:nvPr/>
        </p:nvGrpSpPr>
        <p:grpSpPr bwMode="auto">
          <a:xfrm>
            <a:off x="2309812" y="1064649"/>
            <a:ext cx="7572375" cy="4968875"/>
            <a:chOff x="288" y="1152"/>
            <a:chExt cx="5088" cy="3091"/>
          </a:xfrm>
        </p:grpSpPr>
        <p:sp>
          <p:nvSpPr>
            <p:cNvPr id="24" name="AutoShape 4">
              <a:extLst>
                <a:ext uri="{FF2B5EF4-FFF2-40B4-BE49-F238E27FC236}">
                  <a16:creationId xmlns:a16="http://schemas.microsoft.com/office/drawing/2014/main" id="{C308DFE4-8ABC-ECB6-A1AA-E4409DD48412}"/>
                </a:ext>
              </a:extLst>
            </p:cNvPr>
            <p:cNvSpPr>
              <a:spLocks noChangeArrowheads="1"/>
            </p:cNvSpPr>
            <p:nvPr/>
          </p:nvSpPr>
          <p:spPr bwMode="auto">
            <a:xfrm>
              <a:off x="1824" y="1632"/>
              <a:ext cx="1968" cy="1680"/>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ar-AE" altLang="en-US" sz="1600">
                <a:latin typeface="+mj-lt"/>
                <a:ea typeface="Majalla UI"/>
              </a:endParaRPr>
            </a:p>
          </p:txBody>
        </p:sp>
        <p:sp>
          <p:nvSpPr>
            <p:cNvPr id="25" name="AutoShape 5">
              <a:extLst>
                <a:ext uri="{FF2B5EF4-FFF2-40B4-BE49-F238E27FC236}">
                  <a16:creationId xmlns:a16="http://schemas.microsoft.com/office/drawing/2014/main" id="{3AC79617-4CF3-85EF-F95A-F4A63CAD6CDD}"/>
                </a:ext>
              </a:extLst>
            </p:cNvPr>
            <p:cNvSpPr>
              <a:spLocks noChangeArrowheads="1"/>
            </p:cNvSpPr>
            <p:nvPr/>
          </p:nvSpPr>
          <p:spPr bwMode="auto">
            <a:xfrm>
              <a:off x="4272" y="2160"/>
              <a:ext cx="1104" cy="1152"/>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ar-AE" altLang="en-US" sz="1600">
                <a:latin typeface="+mj-lt"/>
                <a:ea typeface="Majalla UI"/>
              </a:endParaRPr>
            </a:p>
          </p:txBody>
        </p:sp>
        <p:sp>
          <p:nvSpPr>
            <p:cNvPr id="26" name="AutoShape 6">
              <a:extLst>
                <a:ext uri="{FF2B5EF4-FFF2-40B4-BE49-F238E27FC236}">
                  <a16:creationId xmlns:a16="http://schemas.microsoft.com/office/drawing/2014/main" id="{EB3508A6-856A-EDC2-A191-AA8B2A1C809B}"/>
                </a:ext>
              </a:extLst>
            </p:cNvPr>
            <p:cNvSpPr>
              <a:spLocks noChangeArrowheads="1"/>
            </p:cNvSpPr>
            <p:nvPr/>
          </p:nvSpPr>
          <p:spPr bwMode="auto">
            <a:xfrm>
              <a:off x="288" y="2160"/>
              <a:ext cx="1104" cy="1152"/>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ar-AE" altLang="en-US" sz="1600">
                <a:latin typeface="+mj-lt"/>
                <a:ea typeface="Majalla UI"/>
              </a:endParaRPr>
            </a:p>
          </p:txBody>
        </p:sp>
        <p:sp>
          <p:nvSpPr>
            <p:cNvPr id="27" name="Text Box 9">
              <a:extLst>
                <a:ext uri="{FF2B5EF4-FFF2-40B4-BE49-F238E27FC236}">
                  <a16:creationId xmlns:a16="http://schemas.microsoft.com/office/drawing/2014/main" id="{C893439F-FA7F-4506-C4AD-FCE724682AB4}"/>
                </a:ext>
              </a:extLst>
            </p:cNvPr>
            <p:cNvSpPr txBox="1">
              <a:spLocks noChangeArrowheads="1"/>
            </p:cNvSpPr>
            <p:nvPr/>
          </p:nvSpPr>
          <p:spPr bwMode="auto">
            <a:xfrm>
              <a:off x="480" y="2880"/>
              <a:ext cx="864"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600" b="1" dirty="0">
                  <a:latin typeface="+mj-lt"/>
                </a:rPr>
                <a:t>External Suppliers</a:t>
              </a:r>
            </a:p>
          </p:txBody>
        </p:sp>
        <p:sp>
          <p:nvSpPr>
            <p:cNvPr id="28" name="Line 10">
              <a:extLst>
                <a:ext uri="{FF2B5EF4-FFF2-40B4-BE49-F238E27FC236}">
                  <a16:creationId xmlns:a16="http://schemas.microsoft.com/office/drawing/2014/main" id="{60FB45D3-B5E4-2987-D767-BB9275ABE54D}"/>
                </a:ext>
              </a:extLst>
            </p:cNvPr>
            <p:cNvSpPr>
              <a:spLocks noChangeShapeType="1"/>
            </p:cNvSpPr>
            <p:nvPr/>
          </p:nvSpPr>
          <p:spPr bwMode="auto">
            <a:xfrm flipV="1">
              <a:off x="2832" y="2304"/>
              <a:ext cx="384"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latin typeface="+mj-lt"/>
              </a:endParaRPr>
            </a:p>
          </p:txBody>
        </p:sp>
        <p:sp>
          <p:nvSpPr>
            <p:cNvPr id="29" name="Line 11">
              <a:extLst>
                <a:ext uri="{FF2B5EF4-FFF2-40B4-BE49-F238E27FC236}">
                  <a16:creationId xmlns:a16="http://schemas.microsoft.com/office/drawing/2014/main" id="{85F885FA-7488-621F-99A1-2B6F530706EC}"/>
                </a:ext>
              </a:extLst>
            </p:cNvPr>
            <p:cNvSpPr>
              <a:spLocks noChangeShapeType="1"/>
            </p:cNvSpPr>
            <p:nvPr/>
          </p:nvSpPr>
          <p:spPr bwMode="auto">
            <a:xfrm flipH="1" flipV="1">
              <a:off x="2448" y="2304"/>
              <a:ext cx="384"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latin typeface="+mj-lt"/>
              </a:endParaRPr>
            </a:p>
          </p:txBody>
        </p:sp>
        <p:sp>
          <p:nvSpPr>
            <p:cNvPr id="30" name="Text Box 12">
              <a:extLst>
                <a:ext uri="{FF2B5EF4-FFF2-40B4-BE49-F238E27FC236}">
                  <a16:creationId xmlns:a16="http://schemas.microsoft.com/office/drawing/2014/main" id="{2DC17F2F-FB20-2925-A74C-48649F0C212A}"/>
                </a:ext>
              </a:extLst>
            </p:cNvPr>
            <p:cNvSpPr txBox="1">
              <a:spLocks noChangeArrowheads="1"/>
            </p:cNvSpPr>
            <p:nvPr/>
          </p:nvSpPr>
          <p:spPr bwMode="auto">
            <a:xfrm>
              <a:off x="2016" y="2880"/>
              <a:ext cx="720"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600" b="1">
                  <a:latin typeface="+mj-lt"/>
                </a:rPr>
                <a:t>Internal Suppliers</a:t>
              </a:r>
            </a:p>
          </p:txBody>
        </p:sp>
        <p:sp>
          <p:nvSpPr>
            <p:cNvPr id="31" name="Text Box 13">
              <a:extLst>
                <a:ext uri="{FF2B5EF4-FFF2-40B4-BE49-F238E27FC236}">
                  <a16:creationId xmlns:a16="http://schemas.microsoft.com/office/drawing/2014/main" id="{4CAE7F5F-8131-0921-920D-F6141D786747}"/>
                </a:ext>
              </a:extLst>
            </p:cNvPr>
            <p:cNvSpPr txBox="1">
              <a:spLocks noChangeArrowheads="1"/>
            </p:cNvSpPr>
            <p:nvPr/>
          </p:nvSpPr>
          <p:spPr bwMode="auto">
            <a:xfrm>
              <a:off x="2976" y="2880"/>
              <a:ext cx="720"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600" b="1">
                  <a:latin typeface="+mj-lt"/>
                </a:rPr>
                <a:t>Internal Suppliers</a:t>
              </a:r>
            </a:p>
          </p:txBody>
        </p:sp>
        <p:sp>
          <p:nvSpPr>
            <p:cNvPr id="32" name="Text Box 14">
              <a:extLst>
                <a:ext uri="{FF2B5EF4-FFF2-40B4-BE49-F238E27FC236}">
                  <a16:creationId xmlns:a16="http://schemas.microsoft.com/office/drawing/2014/main" id="{105D6A6A-B6F4-C473-E06D-D464C64334A0}"/>
                </a:ext>
              </a:extLst>
            </p:cNvPr>
            <p:cNvSpPr txBox="1">
              <a:spLocks noChangeArrowheads="1"/>
            </p:cNvSpPr>
            <p:nvPr/>
          </p:nvSpPr>
          <p:spPr bwMode="auto">
            <a:xfrm>
              <a:off x="4464" y="2894"/>
              <a:ext cx="864"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600" b="1" dirty="0">
                  <a:latin typeface="+mj-lt"/>
                </a:rPr>
                <a:t>External Customer </a:t>
              </a:r>
            </a:p>
          </p:txBody>
        </p:sp>
        <p:sp>
          <p:nvSpPr>
            <p:cNvPr id="33" name="AutoShape 16">
              <a:extLst>
                <a:ext uri="{FF2B5EF4-FFF2-40B4-BE49-F238E27FC236}">
                  <a16:creationId xmlns:a16="http://schemas.microsoft.com/office/drawing/2014/main" id="{44C981C1-392C-1A11-FEFA-225050A20A76}"/>
                </a:ext>
              </a:extLst>
            </p:cNvPr>
            <p:cNvSpPr>
              <a:spLocks noChangeArrowheads="1"/>
            </p:cNvSpPr>
            <p:nvPr/>
          </p:nvSpPr>
          <p:spPr bwMode="auto">
            <a:xfrm>
              <a:off x="816" y="1488"/>
              <a:ext cx="1824" cy="720"/>
            </a:xfrm>
            <a:prstGeom prst="curvedDownArrow">
              <a:avLst>
                <a:gd name="adj1" fmla="val 50667"/>
                <a:gd name="adj2" fmla="val 101333"/>
                <a:gd name="adj3" fmla="val 33333"/>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ar-AE" altLang="en-US" sz="1600">
                <a:latin typeface="+mj-lt"/>
                <a:ea typeface="Majalla UI"/>
              </a:endParaRPr>
            </a:p>
          </p:txBody>
        </p:sp>
        <p:sp>
          <p:nvSpPr>
            <p:cNvPr id="34" name="AutoShape 17">
              <a:extLst>
                <a:ext uri="{FF2B5EF4-FFF2-40B4-BE49-F238E27FC236}">
                  <a16:creationId xmlns:a16="http://schemas.microsoft.com/office/drawing/2014/main" id="{1C259FA9-DE2D-FFA3-42E8-AE4F8D2918CD}"/>
                </a:ext>
              </a:extLst>
            </p:cNvPr>
            <p:cNvSpPr>
              <a:spLocks noChangeArrowheads="1"/>
            </p:cNvSpPr>
            <p:nvPr/>
          </p:nvSpPr>
          <p:spPr bwMode="auto">
            <a:xfrm>
              <a:off x="3168" y="1488"/>
              <a:ext cx="1824" cy="720"/>
            </a:xfrm>
            <a:prstGeom prst="curvedDownArrow">
              <a:avLst>
                <a:gd name="adj1" fmla="val 50667"/>
                <a:gd name="adj2" fmla="val 101333"/>
                <a:gd name="adj3" fmla="val 33333"/>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ar-AE" altLang="en-US" sz="1600">
                <a:latin typeface="+mj-lt"/>
                <a:ea typeface="Majalla UI"/>
              </a:endParaRPr>
            </a:p>
          </p:txBody>
        </p:sp>
        <p:sp>
          <p:nvSpPr>
            <p:cNvPr id="35" name="AutoShape 18">
              <a:extLst>
                <a:ext uri="{FF2B5EF4-FFF2-40B4-BE49-F238E27FC236}">
                  <a16:creationId xmlns:a16="http://schemas.microsoft.com/office/drawing/2014/main" id="{351CA289-3502-7F7B-70DB-1CBE3A04D327}"/>
                </a:ext>
              </a:extLst>
            </p:cNvPr>
            <p:cNvSpPr>
              <a:spLocks noChangeArrowheads="1"/>
            </p:cNvSpPr>
            <p:nvPr/>
          </p:nvSpPr>
          <p:spPr bwMode="auto">
            <a:xfrm rot="10800000">
              <a:off x="3072" y="3312"/>
              <a:ext cx="1824" cy="720"/>
            </a:xfrm>
            <a:prstGeom prst="curvedDownArrow">
              <a:avLst>
                <a:gd name="adj1" fmla="val 50667"/>
                <a:gd name="adj2" fmla="val 101333"/>
                <a:gd name="adj3" fmla="val 33333"/>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ar-AE" altLang="en-US" sz="1600">
                <a:latin typeface="+mj-lt"/>
                <a:ea typeface="Majalla UI"/>
              </a:endParaRPr>
            </a:p>
          </p:txBody>
        </p:sp>
        <p:sp>
          <p:nvSpPr>
            <p:cNvPr id="36" name="AutoShape 19">
              <a:extLst>
                <a:ext uri="{FF2B5EF4-FFF2-40B4-BE49-F238E27FC236}">
                  <a16:creationId xmlns:a16="http://schemas.microsoft.com/office/drawing/2014/main" id="{9BFF6CD0-A0C0-C0B8-31C7-7F7E7E6328D5}"/>
                </a:ext>
              </a:extLst>
            </p:cNvPr>
            <p:cNvSpPr>
              <a:spLocks noChangeArrowheads="1"/>
            </p:cNvSpPr>
            <p:nvPr/>
          </p:nvSpPr>
          <p:spPr bwMode="auto">
            <a:xfrm rot="10800000">
              <a:off x="480" y="3312"/>
              <a:ext cx="1824" cy="720"/>
            </a:xfrm>
            <a:prstGeom prst="curvedDownArrow">
              <a:avLst>
                <a:gd name="adj1" fmla="val 50667"/>
                <a:gd name="adj2" fmla="val 101333"/>
                <a:gd name="adj3" fmla="val 33333"/>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ar-AE" altLang="en-US" sz="1600">
                <a:latin typeface="+mj-lt"/>
                <a:ea typeface="Majalla UI"/>
              </a:endParaRPr>
            </a:p>
          </p:txBody>
        </p:sp>
        <p:sp>
          <p:nvSpPr>
            <p:cNvPr id="37" name="Text Box 20">
              <a:extLst>
                <a:ext uri="{FF2B5EF4-FFF2-40B4-BE49-F238E27FC236}">
                  <a16:creationId xmlns:a16="http://schemas.microsoft.com/office/drawing/2014/main" id="{C1006FA0-DF22-3E28-2929-B83C75ECD618}"/>
                </a:ext>
              </a:extLst>
            </p:cNvPr>
            <p:cNvSpPr txBox="1">
              <a:spLocks noChangeArrowheads="1"/>
            </p:cNvSpPr>
            <p:nvPr/>
          </p:nvSpPr>
          <p:spPr bwMode="auto">
            <a:xfrm>
              <a:off x="1152" y="1161"/>
              <a:ext cx="115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600" b="1" dirty="0">
                  <a:latin typeface="+mj-lt"/>
                </a:rPr>
                <a:t>Improvements</a:t>
              </a:r>
            </a:p>
          </p:txBody>
        </p:sp>
        <p:sp>
          <p:nvSpPr>
            <p:cNvPr id="38" name="Text Box 21">
              <a:extLst>
                <a:ext uri="{FF2B5EF4-FFF2-40B4-BE49-F238E27FC236}">
                  <a16:creationId xmlns:a16="http://schemas.microsoft.com/office/drawing/2014/main" id="{9F499FBE-480F-2222-885D-2DECBA0FCE9D}"/>
                </a:ext>
              </a:extLst>
            </p:cNvPr>
            <p:cNvSpPr txBox="1">
              <a:spLocks noChangeArrowheads="1"/>
            </p:cNvSpPr>
            <p:nvPr/>
          </p:nvSpPr>
          <p:spPr bwMode="auto">
            <a:xfrm>
              <a:off x="3456" y="1152"/>
              <a:ext cx="11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600" b="1" dirty="0">
                  <a:latin typeface="+mj-lt"/>
                </a:rPr>
                <a:t>Improvements</a:t>
              </a:r>
            </a:p>
          </p:txBody>
        </p:sp>
        <p:sp>
          <p:nvSpPr>
            <p:cNvPr id="39" name="Text Box 22">
              <a:extLst>
                <a:ext uri="{FF2B5EF4-FFF2-40B4-BE49-F238E27FC236}">
                  <a16:creationId xmlns:a16="http://schemas.microsoft.com/office/drawing/2014/main" id="{52594BA2-B484-C1B1-71DA-936BDDAF5637}"/>
                </a:ext>
              </a:extLst>
            </p:cNvPr>
            <p:cNvSpPr txBox="1">
              <a:spLocks noChangeArrowheads="1"/>
            </p:cNvSpPr>
            <p:nvPr/>
          </p:nvSpPr>
          <p:spPr bwMode="auto">
            <a:xfrm>
              <a:off x="3552" y="4032"/>
              <a:ext cx="105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600" b="1">
                  <a:latin typeface="+mj-lt"/>
                </a:rPr>
                <a:t>Requirements</a:t>
              </a:r>
            </a:p>
          </p:txBody>
        </p:sp>
        <p:sp>
          <p:nvSpPr>
            <p:cNvPr id="40" name="Text Box 23">
              <a:extLst>
                <a:ext uri="{FF2B5EF4-FFF2-40B4-BE49-F238E27FC236}">
                  <a16:creationId xmlns:a16="http://schemas.microsoft.com/office/drawing/2014/main" id="{52B91F9F-FC49-F3B3-83AF-0130151813FD}"/>
                </a:ext>
              </a:extLst>
            </p:cNvPr>
            <p:cNvSpPr txBox="1">
              <a:spLocks noChangeArrowheads="1"/>
            </p:cNvSpPr>
            <p:nvPr/>
          </p:nvSpPr>
          <p:spPr bwMode="auto">
            <a:xfrm>
              <a:off x="960" y="4032"/>
              <a:ext cx="105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600" b="1">
                  <a:latin typeface="+mj-lt"/>
                </a:rPr>
                <a:t>Requirements</a:t>
              </a:r>
            </a:p>
          </p:txBody>
        </p:sp>
        <p:sp>
          <p:nvSpPr>
            <p:cNvPr id="41" name="Line 24">
              <a:extLst>
                <a:ext uri="{FF2B5EF4-FFF2-40B4-BE49-F238E27FC236}">
                  <a16:creationId xmlns:a16="http://schemas.microsoft.com/office/drawing/2014/main" id="{BC8677A6-C7CB-63BA-1673-4B037FBE0B10}"/>
                </a:ext>
              </a:extLst>
            </p:cNvPr>
            <p:cNvSpPr>
              <a:spLocks noChangeShapeType="1"/>
            </p:cNvSpPr>
            <p:nvPr/>
          </p:nvSpPr>
          <p:spPr bwMode="auto">
            <a:xfrm>
              <a:off x="1200" y="2736"/>
              <a:ext cx="8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latin typeface="+mj-lt"/>
              </a:endParaRPr>
            </a:p>
          </p:txBody>
        </p:sp>
        <p:sp>
          <p:nvSpPr>
            <p:cNvPr id="42" name="Line 25">
              <a:extLst>
                <a:ext uri="{FF2B5EF4-FFF2-40B4-BE49-F238E27FC236}">
                  <a16:creationId xmlns:a16="http://schemas.microsoft.com/office/drawing/2014/main" id="{91DB79BF-9AC4-1CA3-6239-654D5FA447C5}"/>
                </a:ext>
              </a:extLst>
            </p:cNvPr>
            <p:cNvSpPr>
              <a:spLocks noChangeShapeType="1"/>
            </p:cNvSpPr>
            <p:nvPr/>
          </p:nvSpPr>
          <p:spPr bwMode="auto">
            <a:xfrm>
              <a:off x="3552" y="2736"/>
              <a:ext cx="8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latin typeface="+mj-lt"/>
              </a:endParaRPr>
            </a:p>
          </p:txBody>
        </p:sp>
        <p:sp>
          <p:nvSpPr>
            <p:cNvPr id="43" name="Line 26">
              <a:extLst>
                <a:ext uri="{FF2B5EF4-FFF2-40B4-BE49-F238E27FC236}">
                  <a16:creationId xmlns:a16="http://schemas.microsoft.com/office/drawing/2014/main" id="{A6366D27-28EB-92B9-1178-C4226B6C6D06}"/>
                </a:ext>
              </a:extLst>
            </p:cNvPr>
            <p:cNvSpPr>
              <a:spLocks noChangeShapeType="1"/>
            </p:cNvSpPr>
            <p:nvPr/>
          </p:nvSpPr>
          <p:spPr bwMode="auto">
            <a:xfrm>
              <a:off x="2688" y="2736"/>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latin typeface="+mj-lt"/>
              </a:endParaRPr>
            </a:p>
          </p:txBody>
        </p:sp>
      </p:grpSp>
    </p:spTree>
    <p:extLst>
      <p:ext uri="{BB962C8B-B14F-4D97-AF65-F5344CB8AC3E}">
        <p14:creationId xmlns:p14="http://schemas.microsoft.com/office/powerpoint/2010/main" val="3699072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2"/>
            <a:ext cx="1003477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Internal customer / Supplier relationships</a:t>
            </a:r>
          </a:p>
        </p:txBody>
      </p:sp>
      <p:sp>
        <p:nvSpPr>
          <p:cNvPr id="3" name="Rectangle 3">
            <a:extLst>
              <a:ext uri="{FF2B5EF4-FFF2-40B4-BE49-F238E27FC236}">
                <a16:creationId xmlns:a16="http://schemas.microsoft.com/office/drawing/2014/main" id="{158217C4-3859-1A9E-68B3-879FD0CB609B}"/>
              </a:ext>
            </a:extLst>
          </p:cNvPr>
          <p:cNvSpPr txBox="1">
            <a:spLocks/>
          </p:cNvSpPr>
          <p:nvPr/>
        </p:nvSpPr>
        <p:spPr>
          <a:xfrm>
            <a:off x="259602" y="1024091"/>
            <a:ext cx="11199895" cy="480981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800" dirty="0">
                <a:latin typeface="+mj-lt"/>
              </a:rPr>
              <a:t>Questions asked by people to their internal customers</a:t>
            </a:r>
          </a:p>
          <a:p>
            <a:pPr lvl="1" indent="-282575">
              <a:lnSpc>
                <a:spcPct val="150000"/>
              </a:lnSpc>
              <a:buFont typeface="Wingdings 2" panose="05020102010507070707" pitchFamily="18" charset="2"/>
              <a:buChar char=""/>
            </a:pPr>
            <a:r>
              <a:rPr lang="en-US" altLang="en-US" sz="2800" b="1" dirty="0">
                <a:latin typeface="+mj-lt"/>
              </a:rPr>
              <a:t>What do you need from me?</a:t>
            </a:r>
          </a:p>
          <a:p>
            <a:pPr lvl="1" indent="-282575">
              <a:lnSpc>
                <a:spcPct val="150000"/>
              </a:lnSpc>
              <a:buFont typeface="Wingdings 2" panose="05020102010507070707" pitchFamily="18" charset="2"/>
              <a:buChar char=""/>
            </a:pPr>
            <a:r>
              <a:rPr lang="en-US" altLang="en-US" sz="2800" b="1" dirty="0">
                <a:latin typeface="+mj-lt"/>
              </a:rPr>
              <a:t>What do you do with my output?</a:t>
            </a:r>
          </a:p>
          <a:p>
            <a:pPr lvl="1" indent="-282575">
              <a:lnSpc>
                <a:spcPct val="150000"/>
              </a:lnSpc>
              <a:buFont typeface="Wingdings 2" panose="05020102010507070707" pitchFamily="18" charset="2"/>
              <a:buChar char=""/>
            </a:pPr>
            <a:r>
              <a:rPr lang="en-US" altLang="en-US" sz="2800" b="1" dirty="0">
                <a:latin typeface="+mj-lt"/>
              </a:rPr>
              <a:t>Are there any gaps between what you need and what you get?</a:t>
            </a:r>
          </a:p>
          <a:p>
            <a:pPr marL="0" indent="0">
              <a:lnSpc>
                <a:spcPct val="150000"/>
              </a:lnSpc>
              <a:buNone/>
            </a:pPr>
            <a:r>
              <a:rPr lang="en-US" altLang="en-US" sz="2800" dirty="0">
                <a:latin typeface="+mj-lt"/>
              </a:rPr>
              <a:t>Good team-work and inter - departmental harmony is required.  Also the leaders role in supervising the </a:t>
            </a:r>
            <a:r>
              <a:rPr lang="en-US" altLang="en-US" sz="2800" b="1" dirty="0">
                <a:latin typeface="+mj-lt"/>
              </a:rPr>
              <a:t>internal customer-supplier chain</a:t>
            </a:r>
            <a:r>
              <a:rPr lang="en-US" altLang="en-US" sz="2800" dirty="0">
                <a:latin typeface="+mj-lt"/>
              </a:rPr>
              <a:t>.</a:t>
            </a:r>
          </a:p>
        </p:txBody>
      </p:sp>
    </p:spTree>
    <p:extLst>
      <p:ext uri="{BB962C8B-B14F-4D97-AF65-F5344CB8AC3E}">
        <p14:creationId xmlns:p14="http://schemas.microsoft.com/office/powerpoint/2010/main" val="843479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2"/>
            <a:ext cx="11745585"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Service organizations and customer satisfaction</a:t>
            </a:r>
            <a:endParaRPr dirty="0"/>
          </a:p>
        </p:txBody>
      </p:sp>
      <p:sp>
        <p:nvSpPr>
          <p:cNvPr id="4" name="Rectangle 3">
            <a:extLst>
              <a:ext uri="{FF2B5EF4-FFF2-40B4-BE49-F238E27FC236}">
                <a16:creationId xmlns:a16="http://schemas.microsoft.com/office/drawing/2014/main" id="{05842CCC-48BA-0203-541A-49940DFBCFE7}"/>
              </a:ext>
            </a:extLst>
          </p:cNvPr>
          <p:cNvSpPr txBox="1">
            <a:spLocks/>
          </p:cNvSpPr>
          <p:nvPr/>
        </p:nvSpPr>
        <p:spPr>
          <a:xfrm>
            <a:off x="512559" y="824548"/>
            <a:ext cx="7599054" cy="52812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800" dirty="0">
                <a:latin typeface="+mj-lt"/>
              </a:rPr>
              <a:t>Difficult but not impossible</a:t>
            </a:r>
          </a:p>
          <a:p>
            <a:pPr>
              <a:lnSpc>
                <a:spcPct val="150000"/>
              </a:lnSpc>
            </a:pPr>
            <a:r>
              <a:rPr lang="en-US" altLang="en-US" sz="2800" dirty="0">
                <a:latin typeface="+mj-lt"/>
              </a:rPr>
              <a:t>Determine key performance indicators</a:t>
            </a:r>
          </a:p>
          <a:p>
            <a:pPr>
              <a:lnSpc>
                <a:spcPct val="150000"/>
              </a:lnSpc>
            </a:pPr>
            <a:r>
              <a:rPr lang="en-US" altLang="en-US" sz="2800" dirty="0">
                <a:latin typeface="+mj-lt"/>
              </a:rPr>
              <a:t>Set Targets – SMART goals</a:t>
            </a:r>
          </a:p>
          <a:p>
            <a:pPr>
              <a:lnSpc>
                <a:spcPct val="150000"/>
              </a:lnSpc>
            </a:pPr>
            <a:r>
              <a:rPr lang="en-US" altLang="en-US" sz="2800" dirty="0">
                <a:latin typeface="+mj-lt"/>
              </a:rPr>
              <a:t>Make teams </a:t>
            </a:r>
          </a:p>
          <a:p>
            <a:pPr>
              <a:lnSpc>
                <a:spcPct val="150000"/>
              </a:lnSpc>
            </a:pPr>
            <a:r>
              <a:rPr lang="en-US" altLang="en-US" sz="2800" dirty="0">
                <a:latin typeface="+mj-lt"/>
              </a:rPr>
              <a:t>Analyze them on a weekly basis</a:t>
            </a:r>
          </a:p>
          <a:p>
            <a:pPr>
              <a:lnSpc>
                <a:spcPct val="150000"/>
              </a:lnSpc>
            </a:pPr>
            <a:r>
              <a:rPr lang="en-US" altLang="en-US" sz="2800" dirty="0">
                <a:latin typeface="+mj-lt"/>
              </a:rPr>
              <a:t>Standardize </a:t>
            </a:r>
          </a:p>
          <a:p>
            <a:pPr>
              <a:lnSpc>
                <a:spcPct val="150000"/>
              </a:lnSpc>
            </a:pPr>
            <a:r>
              <a:rPr lang="en-US" altLang="en-US" sz="2800" dirty="0">
                <a:latin typeface="+mj-lt"/>
              </a:rPr>
              <a:t>Sustain</a:t>
            </a:r>
          </a:p>
        </p:txBody>
      </p:sp>
    </p:spTree>
    <p:extLst>
      <p:ext uri="{BB962C8B-B14F-4D97-AF65-F5344CB8AC3E}">
        <p14:creationId xmlns:p14="http://schemas.microsoft.com/office/powerpoint/2010/main" val="1419302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622968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Why Customers leave?</a:t>
            </a:r>
            <a:endParaRPr dirty="0"/>
          </a:p>
        </p:txBody>
      </p:sp>
      <p:graphicFrame>
        <p:nvGraphicFramePr>
          <p:cNvPr id="3" name="Object 3">
            <a:extLst>
              <a:ext uri="{FF2B5EF4-FFF2-40B4-BE49-F238E27FC236}">
                <a16:creationId xmlns:a16="http://schemas.microsoft.com/office/drawing/2014/main" id="{811390ED-6CBA-55E4-CC9D-0061A0A5E4F7}"/>
              </a:ext>
            </a:extLst>
          </p:cNvPr>
          <p:cNvGraphicFramePr>
            <a:graphicFrameLocks noChangeAspect="1"/>
          </p:cNvGraphicFramePr>
          <p:nvPr/>
        </p:nvGraphicFramePr>
        <p:xfrm>
          <a:off x="1383171" y="1029929"/>
          <a:ext cx="9928791" cy="4798142"/>
        </p:xfrm>
        <a:graphic>
          <a:graphicData uri="http://schemas.openxmlformats.org/presentationml/2006/ole">
            <mc:AlternateContent xmlns:mc="http://schemas.openxmlformats.org/markup-compatibility/2006">
              <mc:Choice xmlns:v="urn:schemas-microsoft-com:vml" Requires="v">
                <p:oleObj name="Chart" r:id="rId2" imgW="5181515" imgH="2504984" progId="Excel.Chart.8">
                  <p:embed/>
                </p:oleObj>
              </mc:Choice>
              <mc:Fallback>
                <p:oleObj name="Chart" r:id="rId2" imgW="5181515" imgH="2504984" progId="Excel.Chart.8">
                  <p:embed/>
                  <p:pic>
                    <p:nvPicPr>
                      <p:cNvPr id="3" name="Object 3">
                        <a:extLst>
                          <a:ext uri="{FF2B5EF4-FFF2-40B4-BE49-F238E27FC236}">
                            <a16:creationId xmlns:a16="http://schemas.microsoft.com/office/drawing/2014/main" id="{811390ED-6CBA-55E4-CC9D-0061A0A5E4F7}"/>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171" y="1029929"/>
                        <a:ext cx="9928791" cy="479814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505880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622968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Difference between…..</a:t>
            </a:r>
            <a:endParaRPr dirty="0"/>
          </a:p>
        </p:txBody>
      </p:sp>
      <p:grpSp>
        <p:nvGrpSpPr>
          <p:cNvPr id="18" name="Group 17">
            <a:extLst>
              <a:ext uri="{FF2B5EF4-FFF2-40B4-BE49-F238E27FC236}">
                <a16:creationId xmlns:a16="http://schemas.microsoft.com/office/drawing/2014/main" id="{61DA19EC-340E-1845-96B1-B6DB4F08AAAB}"/>
              </a:ext>
            </a:extLst>
          </p:cNvPr>
          <p:cNvGrpSpPr/>
          <p:nvPr/>
        </p:nvGrpSpPr>
        <p:grpSpPr>
          <a:xfrm>
            <a:off x="2871379" y="824549"/>
            <a:ext cx="5689600" cy="4894263"/>
            <a:chOff x="2871379" y="824549"/>
            <a:chExt cx="5689600" cy="4894263"/>
          </a:xfrm>
        </p:grpSpPr>
        <p:pic>
          <p:nvPicPr>
            <p:cNvPr id="3" name="Picture 2" descr="Filename: j0424492.wmf&#10;Keywords: angelic, angels, emoticons ...&#10;File Size: 57 KB">
              <a:extLst>
                <a:ext uri="{FF2B5EF4-FFF2-40B4-BE49-F238E27FC236}">
                  <a16:creationId xmlns:a16="http://schemas.microsoft.com/office/drawing/2014/main" id="{A8BE9E6D-4AC8-21E2-6947-7EBAE4F41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9291" y="824549"/>
              <a:ext cx="20161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descr="Filename: j0423848.wmf&#10;Keywords: bad, demons, devils ...&#10;File Size: 65 KB">
              <a:extLst>
                <a:ext uri="{FF2B5EF4-FFF2-40B4-BE49-F238E27FC236}">
                  <a16:creationId xmlns:a16="http://schemas.microsoft.com/office/drawing/2014/main" id="{E73DA83B-9848-A7DB-E2BC-EDA0EDE13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2854" y="2620012"/>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4" descr="Filename: j0425742.wmf&#10;Keywords: crowns, emoticons, emotions ...&#10;File Size: 68 KB">
              <a:extLst>
                <a:ext uri="{FF2B5EF4-FFF2-40B4-BE49-F238E27FC236}">
                  <a16:creationId xmlns:a16="http://schemas.microsoft.com/office/drawing/2014/main" id="{5212AA29-9DF0-DC1E-850D-FA34C62824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7279" y="4055112"/>
              <a:ext cx="166370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6">
              <a:extLst>
                <a:ext uri="{FF2B5EF4-FFF2-40B4-BE49-F238E27FC236}">
                  <a16:creationId xmlns:a16="http://schemas.microsoft.com/office/drawing/2014/main" id="{7A623037-C10C-4EC1-A61A-5C5DAC5F2A03}"/>
                </a:ext>
              </a:extLst>
            </p:cNvPr>
            <p:cNvSpPr txBox="1">
              <a:spLocks noChangeArrowheads="1"/>
            </p:cNvSpPr>
            <p:nvPr/>
          </p:nvSpPr>
          <p:spPr bwMode="auto">
            <a:xfrm>
              <a:off x="2871379" y="1534162"/>
              <a:ext cx="3314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b="1" dirty="0">
                  <a:latin typeface="+mj-lt"/>
                </a:rPr>
                <a:t>Good service</a:t>
              </a:r>
            </a:p>
          </p:txBody>
        </p:sp>
        <p:sp>
          <p:nvSpPr>
            <p:cNvPr id="16" name="Text Box 7">
              <a:extLst>
                <a:ext uri="{FF2B5EF4-FFF2-40B4-BE49-F238E27FC236}">
                  <a16:creationId xmlns:a16="http://schemas.microsoft.com/office/drawing/2014/main" id="{9C15BDC6-5850-F4EC-EB57-F8D31E15A695}"/>
                </a:ext>
              </a:extLst>
            </p:cNvPr>
            <p:cNvSpPr txBox="1">
              <a:spLocks noChangeArrowheads="1"/>
            </p:cNvSpPr>
            <p:nvPr/>
          </p:nvSpPr>
          <p:spPr bwMode="auto">
            <a:xfrm>
              <a:off x="2907891" y="3034349"/>
              <a:ext cx="3241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b="1" dirty="0">
                  <a:latin typeface="+mj-lt"/>
                </a:rPr>
                <a:t>Bad service</a:t>
              </a:r>
            </a:p>
          </p:txBody>
        </p:sp>
        <p:sp>
          <p:nvSpPr>
            <p:cNvPr id="17" name="Text Box 8">
              <a:extLst>
                <a:ext uri="{FF2B5EF4-FFF2-40B4-BE49-F238E27FC236}">
                  <a16:creationId xmlns:a16="http://schemas.microsoft.com/office/drawing/2014/main" id="{9E6E4C05-6863-CDBD-1CBB-9C2F26E30BEA}"/>
                </a:ext>
              </a:extLst>
            </p:cNvPr>
            <p:cNvSpPr txBox="1">
              <a:spLocks noChangeArrowheads="1"/>
            </p:cNvSpPr>
            <p:nvPr/>
          </p:nvSpPr>
          <p:spPr bwMode="auto">
            <a:xfrm>
              <a:off x="2879316" y="4664712"/>
              <a:ext cx="47529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b="1" dirty="0">
                  <a:latin typeface="+mj-lt"/>
                </a:rPr>
                <a:t>Excellent service</a:t>
              </a:r>
            </a:p>
          </p:txBody>
        </p:sp>
      </p:grpSp>
    </p:spTree>
    <p:extLst>
      <p:ext uri="{BB962C8B-B14F-4D97-AF65-F5344CB8AC3E}">
        <p14:creationId xmlns:p14="http://schemas.microsoft.com/office/powerpoint/2010/main" val="3540875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622968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Good Customer Service</a:t>
            </a:r>
            <a:endParaRPr dirty="0"/>
          </a:p>
        </p:txBody>
      </p:sp>
      <p:grpSp>
        <p:nvGrpSpPr>
          <p:cNvPr id="10" name="Group 9">
            <a:extLst>
              <a:ext uri="{FF2B5EF4-FFF2-40B4-BE49-F238E27FC236}">
                <a16:creationId xmlns:a16="http://schemas.microsoft.com/office/drawing/2014/main" id="{4D78C51D-F2CD-DB7C-1404-6CC146D9775F}"/>
              </a:ext>
            </a:extLst>
          </p:cNvPr>
          <p:cNvGrpSpPr/>
          <p:nvPr/>
        </p:nvGrpSpPr>
        <p:grpSpPr>
          <a:xfrm>
            <a:off x="1135626" y="510360"/>
            <a:ext cx="10332423" cy="5331608"/>
            <a:chOff x="1135626" y="510360"/>
            <a:chExt cx="10332423" cy="5331608"/>
          </a:xfrm>
        </p:grpSpPr>
        <p:sp>
          <p:nvSpPr>
            <p:cNvPr id="4" name="Rectangle 3">
              <a:extLst>
                <a:ext uri="{FF2B5EF4-FFF2-40B4-BE49-F238E27FC236}">
                  <a16:creationId xmlns:a16="http://schemas.microsoft.com/office/drawing/2014/main" id="{CBEEAA47-C1E3-B304-E75E-7EA44C32D21F}"/>
                </a:ext>
              </a:extLst>
            </p:cNvPr>
            <p:cNvSpPr txBox="1">
              <a:spLocks/>
            </p:cNvSpPr>
            <p:nvPr/>
          </p:nvSpPr>
          <p:spPr>
            <a:xfrm>
              <a:off x="1135626" y="1260987"/>
              <a:ext cx="8819535" cy="1219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altLang="en-US" sz="3200" dirty="0">
                  <a:latin typeface="+mj-lt"/>
                  <a:cs typeface="Times New Roman" panose="02020603050405020304" pitchFamily="18" charset="0"/>
                </a:rPr>
                <a:t>Good service is when the customer gets</a:t>
              </a:r>
            </a:p>
            <a:p>
              <a:pPr algn="ctr">
                <a:buFontTx/>
                <a:buNone/>
              </a:pPr>
              <a:r>
                <a:rPr lang="en-US" altLang="en-US" sz="3200" dirty="0">
                  <a:latin typeface="+mj-lt"/>
                  <a:cs typeface="Times New Roman" panose="02020603050405020304" pitchFamily="18" charset="0"/>
                </a:rPr>
                <a:t>treatment that meets his/her expectations.</a:t>
              </a:r>
              <a:endParaRPr lang="en-US" altLang="en-US" sz="3200" dirty="0">
                <a:latin typeface="+mj-lt"/>
              </a:endParaRPr>
            </a:p>
          </p:txBody>
        </p:sp>
        <p:pic>
          <p:nvPicPr>
            <p:cNvPr id="5" name="Picture 4">
              <a:extLst>
                <a:ext uri="{FF2B5EF4-FFF2-40B4-BE49-F238E27FC236}">
                  <a16:creationId xmlns:a16="http://schemas.microsoft.com/office/drawing/2014/main" id="{6B32886F-9911-BC30-51A0-FA15EDBBC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917122" y="2763556"/>
              <a:ext cx="2914650" cy="1843087"/>
            </a:xfrm>
            <a:prstGeom prst="rect">
              <a:avLst/>
            </a:prstGeo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5">
              <a:extLst>
                <a:ext uri="{FF2B5EF4-FFF2-40B4-BE49-F238E27FC236}">
                  <a16:creationId xmlns:a16="http://schemas.microsoft.com/office/drawing/2014/main" id="{0D2E1324-74EC-A2F4-654E-BB609A4B8B2B}"/>
                </a:ext>
              </a:extLst>
            </p:cNvPr>
            <p:cNvSpPr txBox="1">
              <a:spLocks noChangeArrowheads="1"/>
            </p:cNvSpPr>
            <p:nvPr/>
          </p:nvSpPr>
          <p:spPr bwMode="auto">
            <a:xfrm>
              <a:off x="2146890" y="4649506"/>
              <a:ext cx="220284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dirty="0">
                  <a:solidFill>
                    <a:srgbClr val="663300"/>
                  </a:solidFill>
                  <a:latin typeface="+mj-lt"/>
                </a:rPr>
                <a:t>Customer </a:t>
              </a:r>
            </a:p>
            <a:p>
              <a:pPr algn="ctr" eaLnBrk="1" hangingPunct="1">
                <a:spcBef>
                  <a:spcPct val="0"/>
                </a:spcBef>
                <a:buFontTx/>
                <a:buNone/>
              </a:pPr>
              <a:r>
                <a:rPr lang="en-US" altLang="en-US" sz="2800" b="1" dirty="0">
                  <a:solidFill>
                    <a:srgbClr val="663300"/>
                  </a:solidFill>
                  <a:latin typeface="+mj-lt"/>
                </a:rPr>
                <a:t>Expectation</a:t>
              </a:r>
            </a:p>
          </p:txBody>
        </p:sp>
        <p:sp>
          <p:nvSpPr>
            <p:cNvPr id="7" name="Text Box 6">
              <a:extLst>
                <a:ext uri="{FF2B5EF4-FFF2-40B4-BE49-F238E27FC236}">
                  <a16:creationId xmlns:a16="http://schemas.microsoft.com/office/drawing/2014/main" id="{1528074D-40EC-85C1-4038-61A8802DDFA1}"/>
                </a:ext>
              </a:extLst>
            </p:cNvPr>
            <p:cNvSpPr txBox="1">
              <a:spLocks noChangeArrowheads="1"/>
            </p:cNvSpPr>
            <p:nvPr/>
          </p:nvSpPr>
          <p:spPr bwMode="auto">
            <a:xfrm>
              <a:off x="6169306" y="4887861"/>
              <a:ext cx="293436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800" b="1" dirty="0">
                  <a:solidFill>
                    <a:srgbClr val="663300"/>
                  </a:solidFill>
                  <a:latin typeface="+mj-lt"/>
                </a:rPr>
                <a:t>What Customer receives</a:t>
              </a:r>
            </a:p>
          </p:txBody>
        </p:sp>
        <p:pic>
          <p:nvPicPr>
            <p:cNvPr id="8" name="Picture 7">
              <a:extLst>
                <a:ext uri="{FF2B5EF4-FFF2-40B4-BE49-F238E27FC236}">
                  <a16:creationId xmlns:a16="http://schemas.microsoft.com/office/drawing/2014/main" id="{47058CEB-07CC-1826-1C3E-2C29346FD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268064" y="2763556"/>
              <a:ext cx="2736850" cy="1885950"/>
            </a:xfrm>
            <a:prstGeom prst="rect">
              <a:avLst/>
            </a:prstGeo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Picture 8" descr="Filename: j0424492.wmf&#10;Keywords: angelic, angels, emoticons ...&#10;File Size: 57 KB">
              <a:extLst>
                <a:ext uri="{FF2B5EF4-FFF2-40B4-BE49-F238E27FC236}">
                  <a16:creationId xmlns:a16="http://schemas.microsoft.com/office/drawing/2014/main" id="{494987D7-871C-6B7F-C114-B9E75DD415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5161" y="510360"/>
              <a:ext cx="1512888"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722578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622968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Bad Customer Service</a:t>
            </a:r>
            <a:endParaRPr dirty="0"/>
          </a:p>
        </p:txBody>
      </p:sp>
      <p:grpSp>
        <p:nvGrpSpPr>
          <p:cNvPr id="16" name="Group 15">
            <a:extLst>
              <a:ext uri="{FF2B5EF4-FFF2-40B4-BE49-F238E27FC236}">
                <a16:creationId xmlns:a16="http://schemas.microsoft.com/office/drawing/2014/main" id="{2C7D430A-191E-9C0F-479E-D0CA62BB8A88}"/>
              </a:ext>
            </a:extLst>
          </p:cNvPr>
          <p:cNvGrpSpPr/>
          <p:nvPr/>
        </p:nvGrpSpPr>
        <p:grpSpPr>
          <a:xfrm>
            <a:off x="1179871" y="755175"/>
            <a:ext cx="9615948" cy="4897128"/>
            <a:chOff x="1179871" y="755175"/>
            <a:chExt cx="9615948" cy="4897128"/>
          </a:xfrm>
        </p:grpSpPr>
        <p:sp>
          <p:nvSpPr>
            <p:cNvPr id="3" name="Rectangle 3">
              <a:extLst>
                <a:ext uri="{FF2B5EF4-FFF2-40B4-BE49-F238E27FC236}">
                  <a16:creationId xmlns:a16="http://schemas.microsoft.com/office/drawing/2014/main" id="{365CB9B7-F096-9517-C96E-116470D0665F}"/>
                </a:ext>
              </a:extLst>
            </p:cNvPr>
            <p:cNvSpPr txBox="1">
              <a:spLocks/>
            </p:cNvSpPr>
            <p:nvPr/>
          </p:nvSpPr>
          <p:spPr>
            <a:xfrm>
              <a:off x="1179871" y="1259627"/>
              <a:ext cx="9011264" cy="1219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altLang="en-US" sz="2800" dirty="0">
                  <a:latin typeface="+mj-lt"/>
                  <a:cs typeface="Times New Roman" panose="02020603050405020304" pitchFamily="18" charset="0"/>
                </a:rPr>
                <a:t>Bad Service is when customer gets treatment</a:t>
              </a:r>
            </a:p>
            <a:p>
              <a:pPr algn="ctr">
                <a:buFontTx/>
                <a:buNone/>
              </a:pPr>
              <a:r>
                <a:rPr lang="en-US" altLang="en-US" sz="2800" dirty="0">
                  <a:latin typeface="+mj-lt"/>
                  <a:cs typeface="Times New Roman" panose="02020603050405020304" pitchFamily="18" charset="0"/>
                </a:rPr>
                <a:t>which is less than his/her expectations</a:t>
              </a:r>
            </a:p>
          </p:txBody>
        </p:sp>
        <p:pic>
          <p:nvPicPr>
            <p:cNvPr id="11" name="Picture 4">
              <a:extLst>
                <a:ext uri="{FF2B5EF4-FFF2-40B4-BE49-F238E27FC236}">
                  <a16:creationId xmlns:a16="http://schemas.microsoft.com/office/drawing/2014/main" id="{C5717BC2-E5A9-7582-B220-F67070BDD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406059" y="2655683"/>
              <a:ext cx="2878137" cy="1987550"/>
            </a:xfrm>
            <a:prstGeom prst="rect">
              <a:avLst/>
            </a:prstGeo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5">
              <a:extLst>
                <a:ext uri="{FF2B5EF4-FFF2-40B4-BE49-F238E27FC236}">
                  <a16:creationId xmlns:a16="http://schemas.microsoft.com/office/drawing/2014/main" id="{D9610743-D40D-43C9-887D-C49922998C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096000" y="2655683"/>
              <a:ext cx="2754312" cy="1944687"/>
            </a:xfrm>
            <a:prstGeom prst="rect">
              <a:avLst/>
            </a:prstGeo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 name="Text Box 6">
              <a:extLst>
                <a:ext uri="{FF2B5EF4-FFF2-40B4-BE49-F238E27FC236}">
                  <a16:creationId xmlns:a16="http://schemas.microsoft.com/office/drawing/2014/main" id="{AE711BEC-2B7B-9528-DEDC-214BA9665480}"/>
                </a:ext>
              </a:extLst>
            </p:cNvPr>
            <p:cNvSpPr txBox="1">
              <a:spLocks noChangeArrowheads="1"/>
            </p:cNvSpPr>
            <p:nvPr/>
          </p:nvSpPr>
          <p:spPr bwMode="auto">
            <a:xfrm>
              <a:off x="1743703" y="4698196"/>
              <a:ext cx="220284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dirty="0">
                  <a:solidFill>
                    <a:srgbClr val="663300"/>
                  </a:solidFill>
                  <a:latin typeface="+mj-lt"/>
                </a:rPr>
                <a:t>Customer </a:t>
              </a:r>
            </a:p>
            <a:p>
              <a:pPr algn="ctr" eaLnBrk="1" hangingPunct="1">
                <a:spcBef>
                  <a:spcPct val="0"/>
                </a:spcBef>
                <a:buFontTx/>
                <a:buNone/>
              </a:pPr>
              <a:r>
                <a:rPr lang="en-US" altLang="en-US" sz="2800" b="1" dirty="0">
                  <a:solidFill>
                    <a:srgbClr val="663300"/>
                  </a:solidFill>
                  <a:latin typeface="+mj-lt"/>
                </a:rPr>
                <a:t>Expectation</a:t>
              </a:r>
            </a:p>
          </p:txBody>
        </p:sp>
        <p:sp>
          <p:nvSpPr>
            <p:cNvPr id="14" name="Text Box 7">
              <a:extLst>
                <a:ext uri="{FF2B5EF4-FFF2-40B4-BE49-F238E27FC236}">
                  <a16:creationId xmlns:a16="http://schemas.microsoft.com/office/drawing/2014/main" id="{E770B768-A549-7397-6000-DD001CACD4DD}"/>
                </a:ext>
              </a:extLst>
            </p:cNvPr>
            <p:cNvSpPr txBox="1">
              <a:spLocks noChangeArrowheads="1"/>
            </p:cNvSpPr>
            <p:nvPr/>
          </p:nvSpPr>
          <p:spPr bwMode="auto">
            <a:xfrm>
              <a:off x="5988190" y="4698196"/>
              <a:ext cx="296993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800" b="1" dirty="0">
                  <a:solidFill>
                    <a:srgbClr val="663300"/>
                  </a:solidFill>
                  <a:latin typeface="+mj-lt"/>
                </a:rPr>
                <a:t>What Customer receives</a:t>
              </a:r>
            </a:p>
          </p:txBody>
        </p:sp>
        <p:pic>
          <p:nvPicPr>
            <p:cNvPr id="15" name="Picture 8" descr="Filename: j0423848.wmf&#10;Keywords: bad, demons, devils ...&#10;File Size: 65 KB">
              <a:extLst>
                <a:ext uri="{FF2B5EF4-FFF2-40B4-BE49-F238E27FC236}">
                  <a16:creationId xmlns:a16="http://schemas.microsoft.com/office/drawing/2014/main" id="{0A7F68A5-827B-AB5E-3E2E-10EF053DD1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1419" y="75517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5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7085094"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Excellent Customer Service</a:t>
            </a:r>
            <a:endParaRPr dirty="0"/>
          </a:p>
        </p:txBody>
      </p:sp>
      <p:grpSp>
        <p:nvGrpSpPr>
          <p:cNvPr id="18" name="Group 17">
            <a:extLst>
              <a:ext uri="{FF2B5EF4-FFF2-40B4-BE49-F238E27FC236}">
                <a16:creationId xmlns:a16="http://schemas.microsoft.com/office/drawing/2014/main" id="{192DA9AD-1067-A54C-9D14-C9B120855D6B}"/>
              </a:ext>
            </a:extLst>
          </p:cNvPr>
          <p:cNvGrpSpPr/>
          <p:nvPr/>
        </p:nvGrpSpPr>
        <p:grpSpPr>
          <a:xfrm>
            <a:off x="1830721" y="930811"/>
            <a:ext cx="8937523" cy="4996378"/>
            <a:chOff x="1712734" y="759722"/>
            <a:chExt cx="8937523" cy="4996378"/>
          </a:xfrm>
        </p:grpSpPr>
        <p:sp>
          <p:nvSpPr>
            <p:cNvPr id="4" name="Rectangle 3">
              <a:extLst>
                <a:ext uri="{FF2B5EF4-FFF2-40B4-BE49-F238E27FC236}">
                  <a16:creationId xmlns:a16="http://schemas.microsoft.com/office/drawing/2014/main" id="{5FEAF7A1-E177-AC89-3A00-65BA1CAAE001}"/>
                </a:ext>
              </a:extLst>
            </p:cNvPr>
            <p:cNvSpPr txBox="1">
              <a:spLocks/>
            </p:cNvSpPr>
            <p:nvPr/>
          </p:nvSpPr>
          <p:spPr>
            <a:xfrm>
              <a:off x="1712734" y="1231222"/>
              <a:ext cx="7758010" cy="13128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altLang="en-US" sz="2800" dirty="0">
                  <a:latin typeface="+mj-lt"/>
                </a:rPr>
                <a:t>When the customer gets a little more than what</a:t>
              </a:r>
            </a:p>
            <a:p>
              <a:pPr algn="ctr">
                <a:buFontTx/>
                <a:buNone/>
              </a:pPr>
              <a:r>
                <a:rPr lang="en-US" altLang="en-US" sz="2800" dirty="0">
                  <a:latin typeface="+mj-lt"/>
                </a:rPr>
                <a:t>he/she expected, Good Service becomes </a:t>
              </a:r>
            </a:p>
            <a:p>
              <a:pPr algn="ctr">
                <a:buFontTx/>
                <a:buNone/>
              </a:pPr>
              <a:r>
                <a:rPr lang="en-US" altLang="en-US" sz="2800" dirty="0">
                  <a:latin typeface="+mj-lt"/>
                </a:rPr>
                <a:t>Excellent Service</a:t>
              </a:r>
            </a:p>
          </p:txBody>
        </p:sp>
        <p:pic>
          <p:nvPicPr>
            <p:cNvPr id="5" name="Picture 4">
              <a:extLst>
                <a:ext uri="{FF2B5EF4-FFF2-40B4-BE49-F238E27FC236}">
                  <a16:creationId xmlns:a16="http://schemas.microsoft.com/office/drawing/2014/main" id="{61E01D96-5283-46C8-5950-DEC815660A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628576" y="2791734"/>
              <a:ext cx="1279525" cy="2087562"/>
            </a:xfrm>
            <a:prstGeom prst="rect">
              <a:avLst/>
            </a:prstGeo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5">
              <a:extLst>
                <a:ext uri="{FF2B5EF4-FFF2-40B4-BE49-F238E27FC236}">
                  <a16:creationId xmlns:a16="http://schemas.microsoft.com/office/drawing/2014/main" id="{077CADC2-8FF7-E34B-F825-7BAA1E4BF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9477" y="2885397"/>
              <a:ext cx="2808287"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EB5114F0-D14B-5CCC-139B-FE8E7792D9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3763" y="2888572"/>
              <a:ext cx="2520950"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7">
              <a:extLst>
                <a:ext uri="{FF2B5EF4-FFF2-40B4-BE49-F238E27FC236}">
                  <a16:creationId xmlns:a16="http://schemas.microsoft.com/office/drawing/2014/main" id="{1B3556C8-E133-F58F-66E9-DF432605D042}"/>
                </a:ext>
              </a:extLst>
            </p:cNvPr>
            <p:cNvSpPr txBox="1">
              <a:spLocks noChangeArrowheads="1"/>
            </p:cNvSpPr>
            <p:nvPr/>
          </p:nvSpPr>
          <p:spPr bwMode="auto">
            <a:xfrm>
              <a:off x="2418095" y="4925103"/>
              <a:ext cx="19127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dirty="0">
                  <a:solidFill>
                    <a:srgbClr val="663300"/>
                  </a:solidFill>
                  <a:latin typeface="+mj-lt"/>
                </a:rPr>
                <a:t>Customer </a:t>
              </a:r>
            </a:p>
            <a:p>
              <a:pPr algn="ctr" eaLnBrk="1" hangingPunct="1">
                <a:spcBef>
                  <a:spcPct val="0"/>
                </a:spcBef>
                <a:buFontTx/>
                <a:buNone/>
              </a:pPr>
              <a:r>
                <a:rPr lang="en-US" altLang="en-US" sz="2400" b="1" dirty="0">
                  <a:solidFill>
                    <a:srgbClr val="663300"/>
                  </a:solidFill>
                  <a:latin typeface="+mj-lt"/>
                </a:rPr>
                <a:t>Expectation</a:t>
              </a:r>
            </a:p>
          </p:txBody>
        </p:sp>
        <p:sp>
          <p:nvSpPr>
            <p:cNvPr id="9" name="Text Box 8">
              <a:extLst>
                <a:ext uri="{FF2B5EF4-FFF2-40B4-BE49-F238E27FC236}">
                  <a16:creationId xmlns:a16="http://schemas.microsoft.com/office/drawing/2014/main" id="{9E5E96C9-6E07-8244-6295-C4F55CDE9968}"/>
                </a:ext>
              </a:extLst>
            </p:cNvPr>
            <p:cNvSpPr txBox="1">
              <a:spLocks noChangeArrowheads="1"/>
            </p:cNvSpPr>
            <p:nvPr/>
          </p:nvSpPr>
          <p:spPr bwMode="auto">
            <a:xfrm>
              <a:off x="5560142" y="4925103"/>
              <a:ext cx="264457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400" b="1" dirty="0">
                  <a:solidFill>
                    <a:srgbClr val="663300"/>
                  </a:solidFill>
                  <a:latin typeface="+mj-lt"/>
                </a:rPr>
                <a:t>What Customer receives</a:t>
              </a:r>
            </a:p>
          </p:txBody>
        </p:sp>
        <p:sp>
          <p:nvSpPr>
            <p:cNvPr id="10" name="Text Box 9">
              <a:extLst>
                <a:ext uri="{FF2B5EF4-FFF2-40B4-BE49-F238E27FC236}">
                  <a16:creationId xmlns:a16="http://schemas.microsoft.com/office/drawing/2014/main" id="{13424A28-F224-DC53-FACD-73A5F77FD650}"/>
                </a:ext>
              </a:extLst>
            </p:cNvPr>
            <p:cNvSpPr txBox="1">
              <a:spLocks noChangeArrowheads="1"/>
            </p:cNvSpPr>
            <p:nvPr/>
          </p:nvSpPr>
          <p:spPr bwMode="auto">
            <a:xfrm>
              <a:off x="8403151" y="3514840"/>
              <a:ext cx="4844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4000" b="1" dirty="0">
                  <a:latin typeface="+mj-lt"/>
                </a:rPr>
                <a:t>+</a:t>
              </a:r>
            </a:p>
          </p:txBody>
        </p:sp>
        <p:pic>
          <p:nvPicPr>
            <p:cNvPr id="17" name="Picture 10" descr="Filename: j0425742.wmf&#10;Keywords: crowns, emoticons, emotions ...&#10;File Size: 68 KB">
              <a:extLst>
                <a:ext uri="{FF2B5EF4-FFF2-40B4-BE49-F238E27FC236}">
                  <a16:creationId xmlns:a16="http://schemas.microsoft.com/office/drawing/2014/main" id="{B40E65B7-94C0-CEAD-AC28-8D4267C49D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70744" y="759722"/>
              <a:ext cx="1179513"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523638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622968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Categories of Customer</a:t>
            </a:r>
            <a:endParaRPr dirty="0"/>
          </a:p>
        </p:txBody>
      </p:sp>
      <p:grpSp>
        <p:nvGrpSpPr>
          <p:cNvPr id="14" name="Group 13">
            <a:extLst>
              <a:ext uri="{FF2B5EF4-FFF2-40B4-BE49-F238E27FC236}">
                <a16:creationId xmlns:a16="http://schemas.microsoft.com/office/drawing/2014/main" id="{0B8A8B12-0347-C765-9D2C-0D16823C8389}"/>
              </a:ext>
            </a:extLst>
          </p:cNvPr>
          <p:cNvGrpSpPr/>
          <p:nvPr/>
        </p:nvGrpSpPr>
        <p:grpSpPr>
          <a:xfrm>
            <a:off x="3170211" y="952759"/>
            <a:ext cx="6392177" cy="4952482"/>
            <a:chOff x="755650" y="1125538"/>
            <a:chExt cx="7993063" cy="5472112"/>
          </a:xfrm>
        </p:grpSpPr>
        <p:sp>
          <p:nvSpPr>
            <p:cNvPr id="4" name="Text Box 3">
              <a:extLst>
                <a:ext uri="{FF2B5EF4-FFF2-40B4-BE49-F238E27FC236}">
                  <a16:creationId xmlns:a16="http://schemas.microsoft.com/office/drawing/2014/main" id="{F616997E-8099-74B7-7085-FB8B9D0577C6}"/>
                </a:ext>
              </a:extLst>
            </p:cNvPr>
            <p:cNvSpPr txBox="1">
              <a:spLocks noChangeArrowheads="1"/>
            </p:cNvSpPr>
            <p:nvPr/>
          </p:nvSpPr>
          <p:spPr bwMode="auto">
            <a:xfrm>
              <a:off x="827088" y="2205038"/>
              <a:ext cx="4249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dirty="0">
                  <a:latin typeface="+mj-lt"/>
                </a:rPr>
                <a:t>Angry customers</a:t>
              </a:r>
            </a:p>
          </p:txBody>
        </p:sp>
        <p:sp>
          <p:nvSpPr>
            <p:cNvPr id="5" name="Text Box 4">
              <a:extLst>
                <a:ext uri="{FF2B5EF4-FFF2-40B4-BE49-F238E27FC236}">
                  <a16:creationId xmlns:a16="http://schemas.microsoft.com/office/drawing/2014/main" id="{C64867C9-C4C0-9650-EF09-EFB564F934C8}"/>
                </a:ext>
              </a:extLst>
            </p:cNvPr>
            <p:cNvSpPr txBox="1">
              <a:spLocks noChangeArrowheads="1"/>
            </p:cNvSpPr>
            <p:nvPr/>
          </p:nvSpPr>
          <p:spPr bwMode="auto">
            <a:xfrm>
              <a:off x="827088" y="5492750"/>
              <a:ext cx="4249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latin typeface="+mj-lt"/>
                </a:rPr>
                <a:t>Passive customers</a:t>
              </a:r>
            </a:p>
          </p:txBody>
        </p:sp>
        <p:sp>
          <p:nvSpPr>
            <p:cNvPr id="6" name="Text Box 5">
              <a:extLst>
                <a:ext uri="{FF2B5EF4-FFF2-40B4-BE49-F238E27FC236}">
                  <a16:creationId xmlns:a16="http://schemas.microsoft.com/office/drawing/2014/main" id="{27169E2E-571A-1B2D-CF7C-B95E19A18528}"/>
                </a:ext>
              </a:extLst>
            </p:cNvPr>
            <p:cNvSpPr txBox="1">
              <a:spLocks noChangeArrowheads="1"/>
            </p:cNvSpPr>
            <p:nvPr/>
          </p:nvSpPr>
          <p:spPr bwMode="auto">
            <a:xfrm>
              <a:off x="827088" y="3835400"/>
              <a:ext cx="4249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latin typeface="+mj-lt"/>
                </a:rPr>
                <a:t>Demanding customers</a:t>
              </a:r>
            </a:p>
          </p:txBody>
        </p:sp>
        <p:pic>
          <p:nvPicPr>
            <p:cNvPr id="7" name="Picture 6">
              <a:hlinkClick r:id="rId2"/>
              <a:extLst>
                <a:ext uri="{FF2B5EF4-FFF2-40B4-BE49-F238E27FC236}">
                  <a16:creationId xmlns:a16="http://schemas.microsoft.com/office/drawing/2014/main" id="{A69696DB-3C3F-9001-0753-20D3973743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125538"/>
              <a:ext cx="198437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987542E7-0E1C-4FB1-56FE-3C199B55FB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338513"/>
              <a:ext cx="171132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lename: j0136877.wmf&#10;Keywords: balloons, bouquets, cartoons ...&#10;File Size: 30 KB">
              <a:extLst>
                <a:ext uri="{FF2B5EF4-FFF2-40B4-BE49-F238E27FC236}">
                  <a16:creationId xmlns:a16="http://schemas.microsoft.com/office/drawing/2014/main" id="{981F3BC8-FDD7-EC5D-78C3-CB4A53CEBA03}"/>
                </a:ext>
              </a:extLst>
            </p:cNvPr>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auto">
            <a:xfrm>
              <a:off x="5191125" y="4986338"/>
              <a:ext cx="1828800"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9">
              <a:extLst>
                <a:ext uri="{FF2B5EF4-FFF2-40B4-BE49-F238E27FC236}">
                  <a16:creationId xmlns:a16="http://schemas.microsoft.com/office/drawing/2014/main" id="{1ADB9FD5-88E2-D8D7-6D3C-B751A430330E}"/>
                </a:ext>
              </a:extLst>
            </p:cNvPr>
            <p:cNvSpPr>
              <a:spLocks noChangeShapeType="1"/>
            </p:cNvSpPr>
            <p:nvPr/>
          </p:nvSpPr>
          <p:spPr bwMode="auto">
            <a:xfrm>
              <a:off x="755650" y="3314700"/>
              <a:ext cx="7993063" cy="0"/>
            </a:xfrm>
            <a:prstGeom prst="line">
              <a:avLst/>
            </a:prstGeom>
            <a:noFill/>
            <a:ln w="349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Line 10">
              <a:extLst>
                <a:ext uri="{FF2B5EF4-FFF2-40B4-BE49-F238E27FC236}">
                  <a16:creationId xmlns:a16="http://schemas.microsoft.com/office/drawing/2014/main" id="{725B486E-7C49-E3EE-3CF9-646135F4B08B}"/>
                </a:ext>
              </a:extLst>
            </p:cNvPr>
            <p:cNvSpPr>
              <a:spLocks noChangeShapeType="1"/>
            </p:cNvSpPr>
            <p:nvPr/>
          </p:nvSpPr>
          <p:spPr bwMode="auto">
            <a:xfrm>
              <a:off x="755650" y="4984750"/>
              <a:ext cx="7993063" cy="0"/>
            </a:xfrm>
            <a:prstGeom prst="line">
              <a:avLst/>
            </a:prstGeom>
            <a:noFill/>
            <a:ln w="349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sp>
        <p:nvSpPr>
          <p:cNvPr id="12" name="TextBox 11">
            <a:extLst>
              <a:ext uri="{FF2B5EF4-FFF2-40B4-BE49-F238E27FC236}">
                <a16:creationId xmlns:a16="http://schemas.microsoft.com/office/drawing/2014/main" id="{8E131FAA-1BDD-7107-0DD1-04B085A2049A}"/>
              </a:ext>
            </a:extLst>
          </p:cNvPr>
          <p:cNvSpPr txBox="1"/>
          <p:nvPr/>
        </p:nvSpPr>
        <p:spPr>
          <a:xfrm>
            <a:off x="33785" y="2179488"/>
            <a:ext cx="6097656" cy="1815882"/>
          </a:xfrm>
          <a:prstGeom prst="rect">
            <a:avLst/>
          </a:prstGeom>
          <a:noFill/>
        </p:spPr>
        <p:txBody>
          <a:bodyPr wrap="square">
            <a:spAutoFit/>
          </a:bodyPr>
          <a:lstStyle/>
          <a:p>
            <a:pPr algn="l">
              <a:buFont typeface="+mj-lt"/>
              <a:buAutoNum type="arabicPeriod"/>
            </a:pPr>
            <a:r>
              <a:rPr lang="en-US" sz="1400" b="0" i="0" dirty="0">
                <a:solidFill>
                  <a:srgbClr val="1F1F1F"/>
                </a:solidFill>
                <a:effectLst/>
                <a:highlight>
                  <a:srgbClr val="FFFFFF"/>
                </a:highlight>
                <a:latin typeface="Google Sans"/>
              </a:rPr>
              <a:t>Stay calm.</a:t>
            </a:r>
          </a:p>
          <a:p>
            <a:pPr algn="l">
              <a:buFont typeface="+mj-lt"/>
              <a:buAutoNum type="arabicPeriod"/>
            </a:pPr>
            <a:r>
              <a:rPr lang="en-US" sz="1400" b="0" i="0" dirty="0">
                <a:solidFill>
                  <a:srgbClr val="1F1F1F"/>
                </a:solidFill>
                <a:effectLst/>
                <a:highlight>
                  <a:srgbClr val="FFFFFF"/>
                </a:highlight>
                <a:latin typeface="Google Sans"/>
              </a:rPr>
              <a:t>Be an active listener.</a:t>
            </a:r>
          </a:p>
          <a:p>
            <a:pPr algn="l">
              <a:buFont typeface="+mj-lt"/>
              <a:buAutoNum type="arabicPeriod"/>
            </a:pPr>
            <a:r>
              <a:rPr lang="en-US" sz="1400" b="0" i="0" dirty="0">
                <a:solidFill>
                  <a:srgbClr val="1F1F1F"/>
                </a:solidFill>
                <a:effectLst/>
                <a:highlight>
                  <a:srgbClr val="FFFFFF"/>
                </a:highlight>
                <a:latin typeface="Google Sans"/>
              </a:rPr>
              <a:t>Personalize the interaction.</a:t>
            </a:r>
          </a:p>
          <a:p>
            <a:pPr algn="l">
              <a:buFont typeface="+mj-lt"/>
              <a:buAutoNum type="arabicPeriod"/>
            </a:pPr>
            <a:r>
              <a:rPr lang="en-US" sz="1400" b="0" i="0" dirty="0">
                <a:solidFill>
                  <a:srgbClr val="1F1F1F"/>
                </a:solidFill>
                <a:effectLst/>
                <a:highlight>
                  <a:srgbClr val="FFFFFF"/>
                </a:highlight>
                <a:latin typeface="Google Sans"/>
              </a:rPr>
              <a:t>Acknowledge your customer's emotions.</a:t>
            </a:r>
          </a:p>
          <a:p>
            <a:pPr algn="l">
              <a:buFont typeface="+mj-lt"/>
              <a:buAutoNum type="arabicPeriod"/>
            </a:pPr>
            <a:r>
              <a:rPr lang="en-US" sz="1400" b="0" i="0" dirty="0">
                <a:solidFill>
                  <a:srgbClr val="1F1F1F"/>
                </a:solidFill>
                <a:effectLst/>
                <a:highlight>
                  <a:srgbClr val="FFFFFF"/>
                </a:highlight>
                <a:latin typeface="Google Sans"/>
              </a:rPr>
              <a:t>Use positive language.</a:t>
            </a:r>
          </a:p>
          <a:p>
            <a:pPr algn="l">
              <a:buFont typeface="+mj-lt"/>
              <a:buAutoNum type="arabicPeriod"/>
            </a:pPr>
            <a:r>
              <a:rPr lang="en-US" sz="1400" b="0" i="0" dirty="0">
                <a:solidFill>
                  <a:srgbClr val="1F1F1F"/>
                </a:solidFill>
                <a:effectLst/>
                <a:highlight>
                  <a:srgbClr val="FFFFFF"/>
                </a:highlight>
                <a:latin typeface="Google Sans"/>
              </a:rPr>
              <a:t>Restate what they told you.</a:t>
            </a:r>
          </a:p>
          <a:p>
            <a:pPr algn="l">
              <a:buFont typeface="+mj-lt"/>
              <a:buAutoNum type="arabicPeriod"/>
            </a:pPr>
            <a:r>
              <a:rPr lang="en-US" sz="1400" b="0" i="0" dirty="0">
                <a:solidFill>
                  <a:srgbClr val="1F1F1F"/>
                </a:solidFill>
                <a:effectLst/>
                <a:highlight>
                  <a:srgbClr val="FFFFFF"/>
                </a:highlight>
                <a:latin typeface="Google Sans"/>
              </a:rPr>
              <a:t>Build trust.</a:t>
            </a:r>
          </a:p>
          <a:p>
            <a:pPr algn="l">
              <a:buFont typeface="+mj-lt"/>
              <a:buAutoNum type="arabicPeriod"/>
            </a:pPr>
            <a:r>
              <a:rPr lang="en-US" sz="1400" b="0" i="0" dirty="0">
                <a:solidFill>
                  <a:srgbClr val="1F1F1F"/>
                </a:solidFill>
                <a:effectLst/>
                <a:highlight>
                  <a:srgbClr val="FFFFFF"/>
                </a:highlight>
                <a:latin typeface="Google Sans"/>
              </a:rPr>
              <a:t>Thank them.</a:t>
            </a:r>
          </a:p>
        </p:txBody>
      </p:sp>
      <p:sp>
        <p:nvSpPr>
          <p:cNvPr id="15" name="TextBox 14">
            <a:extLst>
              <a:ext uri="{FF2B5EF4-FFF2-40B4-BE49-F238E27FC236}">
                <a16:creationId xmlns:a16="http://schemas.microsoft.com/office/drawing/2014/main" id="{194B7C73-3209-F3D7-C3EC-6DA68AE50CE7}"/>
              </a:ext>
            </a:extLst>
          </p:cNvPr>
          <p:cNvSpPr txBox="1"/>
          <p:nvPr/>
        </p:nvSpPr>
        <p:spPr>
          <a:xfrm>
            <a:off x="9179689" y="1699701"/>
            <a:ext cx="2416037" cy="923330"/>
          </a:xfrm>
          <a:prstGeom prst="rect">
            <a:avLst/>
          </a:prstGeom>
          <a:noFill/>
        </p:spPr>
        <p:txBody>
          <a:bodyPr wrap="square">
            <a:spAutoFit/>
          </a:bodyPr>
          <a:lstStyle/>
          <a:p>
            <a:r>
              <a:rPr lang="en-IN" b="0" i="0" dirty="0">
                <a:solidFill>
                  <a:srgbClr val="1F1F1F"/>
                </a:solidFill>
                <a:effectLst/>
                <a:highlight>
                  <a:srgbClr val="FFFFFF"/>
                </a:highlight>
                <a:latin typeface="Google Sans"/>
              </a:rPr>
              <a:t>unreasonable requests and demand </a:t>
            </a:r>
          </a:p>
          <a:p>
            <a:r>
              <a:rPr lang="en-IN" dirty="0">
                <a:solidFill>
                  <a:srgbClr val="1F1F1F"/>
                </a:solidFill>
                <a:highlight>
                  <a:srgbClr val="FFFFFF"/>
                </a:highlight>
                <a:latin typeface="Google Sans"/>
              </a:rPr>
              <a:t>Ex. Deadline, Price, 1+1</a:t>
            </a:r>
            <a:endParaRPr lang="en-IN" dirty="0"/>
          </a:p>
        </p:txBody>
      </p:sp>
      <p:sp>
        <p:nvSpPr>
          <p:cNvPr id="17" name="TextBox 16">
            <a:extLst>
              <a:ext uri="{FF2B5EF4-FFF2-40B4-BE49-F238E27FC236}">
                <a16:creationId xmlns:a16="http://schemas.microsoft.com/office/drawing/2014/main" id="{8F5F0E66-12C2-D73A-5AA9-D86499BFEFAD}"/>
              </a:ext>
            </a:extLst>
          </p:cNvPr>
          <p:cNvSpPr txBox="1"/>
          <p:nvPr/>
        </p:nvSpPr>
        <p:spPr>
          <a:xfrm>
            <a:off x="9021790" y="2953681"/>
            <a:ext cx="2914650" cy="1569660"/>
          </a:xfrm>
          <a:prstGeom prst="rect">
            <a:avLst/>
          </a:prstGeom>
          <a:noFill/>
        </p:spPr>
        <p:txBody>
          <a:bodyPr wrap="square">
            <a:spAutoFit/>
          </a:bodyPr>
          <a:lstStyle/>
          <a:p>
            <a:r>
              <a:rPr lang="en-US" sz="1600" b="0" i="0" dirty="0">
                <a:solidFill>
                  <a:srgbClr val="040C28"/>
                </a:solidFill>
                <a:effectLst/>
                <a:latin typeface="Google Sans"/>
              </a:rPr>
              <a:t>They think their needs and demands are superior to everybody else's</a:t>
            </a:r>
            <a:r>
              <a:rPr lang="en-US" sz="1600" b="0" i="0" dirty="0">
                <a:solidFill>
                  <a:srgbClr val="1F1F1F"/>
                </a:solidFill>
                <a:effectLst/>
                <a:highlight>
                  <a:srgbClr val="FFFFFF"/>
                </a:highlight>
                <a:latin typeface="Google Sans"/>
              </a:rPr>
              <a:t>. They scream, complain, abuse and may often get physical to get what they want</a:t>
            </a:r>
            <a:endParaRPr lang="en-IN" sz="1600" dirty="0"/>
          </a:p>
        </p:txBody>
      </p:sp>
      <p:sp>
        <p:nvSpPr>
          <p:cNvPr id="19" name="TextBox 18">
            <a:extLst>
              <a:ext uri="{FF2B5EF4-FFF2-40B4-BE49-F238E27FC236}">
                <a16:creationId xmlns:a16="http://schemas.microsoft.com/office/drawing/2014/main" id="{EF0B899F-CF3D-D9D7-C0D8-E5E1D30F934C}"/>
              </a:ext>
            </a:extLst>
          </p:cNvPr>
          <p:cNvSpPr txBox="1"/>
          <p:nvPr/>
        </p:nvSpPr>
        <p:spPr>
          <a:xfrm>
            <a:off x="8648321" y="4673798"/>
            <a:ext cx="2731983" cy="1323439"/>
          </a:xfrm>
          <a:prstGeom prst="rect">
            <a:avLst/>
          </a:prstGeom>
          <a:noFill/>
        </p:spPr>
        <p:txBody>
          <a:bodyPr wrap="square">
            <a:spAutoFit/>
          </a:bodyPr>
          <a:lstStyle/>
          <a:p>
            <a:r>
              <a:rPr lang="en-US" sz="1600" b="0" i="0" dirty="0">
                <a:solidFill>
                  <a:srgbClr val="040C28"/>
                </a:solidFill>
                <a:effectLst/>
                <a:latin typeface="Google Sans"/>
              </a:rPr>
              <a:t>do not feel any loyalty towards your organization and are happy to switch brands or products as soon as a better option comes along</a:t>
            </a:r>
            <a:r>
              <a:rPr lang="en-US" sz="1600" b="0" i="0" dirty="0">
                <a:solidFill>
                  <a:srgbClr val="1F1F1F"/>
                </a:solidFill>
                <a:effectLst/>
                <a:highlight>
                  <a:srgbClr val="FFFFFF"/>
                </a:highlight>
                <a:latin typeface="Google Sans"/>
              </a:rPr>
              <a:t>.</a:t>
            </a:r>
            <a:endParaRPr lang="en-IN" sz="1600" dirty="0"/>
          </a:p>
        </p:txBody>
      </p:sp>
    </p:spTree>
    <p:extLst>
      <p:ext uri="{BB962C8B-B14F-4D97-AF65-F5344CB8AC3E}">
        <p14:creationId xmlns:p14="http://schemas.microsoft.com/office/powerpoint/2010/main" val="4282945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38295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 perception of quality</a:t>
            </a:r>
          </a:p>
        </p:txBody>
      </p:sp>
      <p:sp>
        <p:nvSpPr>
          <p:cNvPr id="3" name="Rectangle 3">
            <a:extLst>
              <a:ext uri="{FF2B5EF4-FFF2-40B4-BE49-F238E27FC236}">
                <a16:creationId xmlns:a16="http://schemas.microsoft.com/office/drawing/2014/main" id="{0582A660-CEF5-7F29-0F7D-00569CD6DD37}"/>
              </a:ext>
            </a:extLst>
          </p:cNvPr>
          <p:cNvSpPr txBox="1">
            <a:spLocks noChangeArrowheads="1"/>
          </p:cNvSpPr>
          <p:nvPr/>
        </p:nvSpPr>
        <p:spPr bwMode="auto">
          <a:xfrm>
            <a:off x="554985" y="1181100"/>
            <a:ext cx="1108203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buFontTx/>
              <a:buNone/>
            </a:pPr>
            <a:r>
              <a:rPr lang="en-US" altLang="en-US" sz="2800" dirty="0">
                <a:latin typeface="+mj-lt"/>
              </a:rPr>
              <a:t>	American Society for Quality Survey shows that important factors that influence purchasing are</a:t>
            </a:r>
          </a:p>
          <a:p>
            <a:pPr>
              <a:buFontTx/>
              <a:buNone/>
            </a:pPr>
            <a:endParaRPr lang="en-US" altLang="en-US" sz="2800" dirty="0">
              <a:latin typeface="+mj-lt"/>
            </a:endParaRPr>
          </a:p>
          <a:p>
            <a:pPr>
              <a:buFontTx/>
              <a:buAutoNum type="arabicPeriod"/>
            </a:pPr>
            <a:r>
              <a:rPr lang="en-US" altLang="en-US" sz="2800" dirty="0">
                <a:latin typeface="+mj-lt"/>
              </a:rPr>
              <a:t>PERFORMANCE – Fitness for use</a:t>
            </a:r>
          </a:p>
          <a:p>
            <a:pPr>
              <a:buFontTx/>
              <a:buAutoNum type="arabicPeriod"/>
            </a:pPr>
            <a:r>
              <a:rPr lang="en-US" altLang="en-US" sz="2800" dirty="0">
                <a:latin typeface="+mj-lt"/>
              </a:rPr>
              <a:t>FEATURES – Secondary characteristics</a:t>
            </a:r>
          </a:p>
          <a:p>
            <a:pPr>
              <a:buFontTx/>
              <a:buAutoNum type="arabicPeriod"/>
            </a:pPr>
            <a:r>
              <a:rPr lang="en-US" altLang="en-US" sz="2800" dirty="0">
                <a:latin typeface="+mj-lt"/>
              </a:rPr>
              <a:t>SERVICE – Good service at right time</a:t>
            </a:r>
          </a:p>
          <a:p>
            <a:pPr>
              <a:buFontTx/>
              <a:buAutoNum type="arabicPeriod"/>
            </a:pPr>
            <a:r>
              <a:rPr lang="en-US" altLang="en-US" sz="2800" dirty="0">
                <a:latin typeface="+mj-lt"/>
              </a:rPr>
              <a:t>WARRANTY – Organizations public promise of a quality product</a:t>
            </a:r>
          </a:p>
          <a:p>
            <a:pPr>
              <a:buFontTx/>
              <a:buAutoNum type="arabicPeriod"/>
            </a:pPr>
            <a:r>
              <a:rPr lang="en-US" altLang="en-US" sz="2800" dirty="0">
                <a:latin typeface="+mj-lt"/>
              </a:rPr>
              <a:t>PRICE – High quality products at lower prices</a:t>
            </a:r>
          </a:p>
          <a:p>
            <a:pPr>
              <a:buFontTx/>
              <a:buAutoNum type="arabicPeriod"/>
            </a:pPr>
            <a:r>
              <a:rPr lang="en-US" altLang="en-US" sz="2800" dirty="0">
                <a:latin typeface="+mj-lt"/>
              </a:rPr>
              <a:t>REPUTATION – willing to buy from reputed organization </a:t>
            </a:r>
          </a:p>
        </p:txBody>
      </p:sp>
    </p:spTree>
    <p:extLst>
      <p:ext uri="{BB962C8B-B14F-4D97-AF65-F5344CB8AC3E}">
        <p14:creationId xmlns:p14="http://schemas.microsoft.com/office/powerpoint/2010/main" val="64007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704084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Identifying customer needs</a:t>
            </a:r>
          </a:p>
        </p:txBody>
      </p:sp>
      <p:sp>
        <p:nvSpPr>
          <p:cNvPr id="4" name="Rectangle 3">
            <a:extLst>
              <a:ext uri="{FF2B5EF4-FFF2-40B4-BE49-F238E27FC236}">
                <a16:creationId xmlns:a16="http://schemas.microsoft.com/office/drawing/2014/main" id="{44349250-EDE1-7EC7-B65B-EC20E31A1E9C}"/>
              </a:ext>
            </a:extLst>
          </p:cNvPr>
          <p:cNvSpPr txBox="1">
            <a:spLocks noChangeArrowheads="1"/>
          </p:cNvSpPr>
          <p:nvPr/>
        </p:nvSpPr>
        <p:spPr>
          <a:xfrm>
            <a:off x="884801" y="928378"/>
            <a:ext cx="10422398" cy="5088963"/>
          </a:xfrm>
          <a:prstGeom prst="rect">
            <a:avLst/>
          </a:prstGeom>
        </p:spPr>
        <p:txBody>
          <a:bodyPr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96646" indent="-514350">
              <a:lnSpc>
                <a:spcPct val="160000"/>
              </a:lnSpc>
              <a:buFont typeface="+mj-lt"/>
              <a:buAutoNum type="arabicPeriod"/>
              <a:defRPr/>
            </a:pPr>
            <a:r>
              <a:rPr lang="en-US" sz="2800" dirty="0">
                <a:latin typeface="+mj-lt"/>
              </a:rPr>
              <a:t>Customer surveys, Market research programs and studies</a:t>
            </a:r>
          </a:p>
          <a:p>
            <a:pPr marL="596646" indent="-514350">
              <a:lnSpc>
                <a:spcPct val="160000"/>
              </a:lnSpc>
              <a:buFont typeface="+mj-lt"/>
              <a:buAutoNum type="arabicPeriod"/>
              <a:defRPr/>
            </a:pPr>
            <a:r>
              <a:rPr lang="en-US" sz="2800" dirty="0">
                <a:latin typeface="+mj-lt"/>
              </a:rPr>
              <a:t>Tracking customer complaints by letters and telephone</a:t>
            </a:r>
          </a:p>
          <a:p>
            <a:pPr marL="596646" indent="-514350">
              <a:lnSpc>
                <a:spcPct val="160000"/>
              </a:lnSpc>
              <a:buFont typeface="+mj-lt"/>
              <a:buAutoNum type="arabicPeriod"/>
              <a:defRPr/>
            </a:pPr>
            <a:r>
              <a:rPr lang="en-US" sz="2800" dirty="0">
                <a:latin typeface="+mj-lt"/>
              </a:rPr>
              <a:t>Customer meetings</a:t>
            </a:r>
          </a:p>
          <a:p>
            <a:pPr marL="596646" indent="-514350">
              <a:lnSpc>
                <a:spcPct val="160000"/>
              </a:lnSpc>
              <a:buFont typeface="+mj-lt"/>
              <a:buAutoNum type="arabicPeriod"/>
              <a:defRPr/>
            </a:pPr>
            <a:r>
              <a:rPr lang="en-US" sz="2800" dirty="0">
                <a:latin typeface="+mj-lt"/>
              </a:rPr>
              <a:t>Information on competitors products</a:t>
            </a:r>
          </a:p>
          <a:p>
            <a:pPr marL="596646" indent="-514350">
              <a:lnSpc>
                <a:spcPct val="160000"/>
              </a:lnSpc>
              <a:buFont typeface="+mj-lt"/>
              <a:buAutoNum type="arabicPeriod"/>
              <a:defRPr/>
            </a:pPr>
            <a:r>
              <a:rPr lang="en-US" sz="2800" dirty="0">
                <a:latin typeface="+mj-lt"/>
              </a:rPr>
              <a:t>Personal visits to customer locations</a:t>
            </a:r>
          </a:p>
          <a:p>
            <a:pPr marL="596646" indent="-514350">
              <a:lnSpc>
                <a:spcPct val="160000"/>
              </a:lnSpc>
              <a:buFont typeface="+mj-lt"/>
              <a:buAutoNum type="arabicPeriod"/>
              <a:defRPr/>
            </a:pPr>
            <a:r>
              <a:rPr lang="en-US" sz="2800" dirty="0">
                <a:latin typeface="+mj-lt"/>
              </a:rPr>
              <a:t>Employees with special knowledge of the customer</a:t>
            </a:r>
          </a:p>
        </p:txBody>
      </p:sp>
    </p:spTree>
    <p:extLst>
      <p:ext uri="{BB962C8B-B14F-4D97-AF65-F5344CB8AC3E}">
        <p14:creationId xmlns:p14="http://schemas.microsoft.com/office/powerpoint/2010/main" val="715045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704084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 Complaints</a:t>
            </a:r>
          </a:p>
        </p:txBody>
      </p:sp>
      <p:sp>
        <p:nvSpPr>
          <p:cNvPr id="3" name="Rectangle 3">
            <a:extLst>
              <a:ext uri="{FF2B5EF4-FFF2-40B4-BE49-F238E27FC236}">
                <a16:creationId xmlns:a16="http://schemas.microsoft.com/office/drawing/2014/main" id="{D24432F0-B0BD-88CB-DF37-D27296F9B95F}"/>
              </a:ext>
            </a:extLst>
          </p:cNvPr>
          <p:cNvSpPr txBox="1">
            <a:spLocks noChangeArrowheads="1"/>
          </p:cNvSpPr>
          <p:nvPr/>
        </p:nvSpPr>
        <p:spPr>
          <a:xfrm>
            <a:off x="259603" y="958696"/>
            <a:ext cx="11037661" cy="4676775"/>
          </a:xfrm>
          <a:prstGeom prst="rect">
            <a:avLst/>
          </a:prstGeom>
        </p:spPr>
        <p:txBody>
          <a:bodyPr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2296" indent="0" algn="just">
              <a:lnSpc>
                <a:spcPct val="160000"/>
              </a:lnSpc>
              <a:buFont typeface="Arial" panose="020B0604020202020204" pitchFamily="34" charset="0"/>
              <a:buNone/>
              <a:defRPr/>
            </a:pPr>
            <a:r>
              <a:rPr lang="en-US" sz="2400" b="1" dirty="0">
                <a:latin typeface="+mj-lt"/>
              </a:rPr>
              <a:t>A customer complaint may be defined as an </a:t>
            </a:r>
            <a:r>
              <a:rPr lang="en-US" sz="2400" b="1" dirty="0">
                <a:solidFill>
                  <a:srgbClr val="00B0F0"/>
                </a:solidFill>
                <a:latin typeface="+mj-lt"/>
              </a:rPr>
              <a:t>expression of dissatisfaction with a product or service</a:t>
            </a:r>
            <a:r>
              <a:rPr lang="en-US" sz="2400" b="1" dirty="0">
                <a:latin typeface="+mj-lt"/>
              </a:rPr>
              <a:t>, either orally or in writing, from an internal or external customer. </a:t>
            </a:r>
          </a:p>
          <a:p>
            <a:pPr marL="82296" indent="0" algn="just">
              <a:lnSpc>
                <a:spcPct val="160000"/>
              </a:lnSpc>
              <a:buFont typeface="Arial" panose="020B0604020202020204" pitchFamily="34" charset="0"/>
              <a:buNone/>
              <a:defRPr/>
            </a:pPr>
            <a:r>
              <a:rPr lang="en-US" sz="2800" b="1" dirty="0">
                <a:solidFill>
                  <a:srgbClr val="C00000"/>
                </a:solidFill>
                <a:latin typeface="+mj-lt"/>
              </a:rPr>
              <a:t>Why is it necessary?</a:t>
            </a:r>
          </a:p>
          <a:p>
            <a:pPr marL="2782888" indent="-342900" algn="just">
              <a:lnSpc>
                <a:spcPct val="160000"/>
              </a:lnSpc>
              <a:defRPr/>
            </a:pPr>
            <a:r>
              <a:rPr lang="en-US" sz="2400" dirty="0">
                <a:latin typeface="+mj-lt"/>
              </a:rPr>
              <a:t>To discover customer dissatisfaction, </a:t>
            </a:r>
          </a:p>
          <a:p>
            <a:pPr marL="2782888" indent="-342900" algn="just">
              <a:lnSpc>
                <a:spcPct val="160000"/>
              </a:lnSpc>
              <a:defRPr/>
            </a:pPr>
            <a:r>
              <a:rPr lang="en-US" sz="2400" dirty="0">
                <a:latin typeface="+mj-lt"/>
              </a:rPr>
              <a:t>To identify customer needs, </a:t>
            </a:r>
          </a:p>
          <a:p>
            <a:pPr marL="2782888" indent="-342900" algn="just">
              <a:lnSpc>
                <a:spcPct val="160000"/>
              </a:lnSpc>
              <a:defRPr/>
            </a:pPr>
            <a:r>
              <a:rPr lang="en-US" sz="2400" dirty="0">
                <a:latin typeface="+mj-lt"/>
              </a:rPr>
              <a:t>To discover relative priorities of quality, </a:t>
            </a:r>
          </a:p>
          <a:p>
            <a:pPr marL="2782888" indent="-342900" algn="just">
              <a:lnSpc>
                <a:spcPct val="160000"/>
              </a:lnSpc>
              <a:defRPr/>
            </a:pPr>
            <a:r>
              <a:rPr lang="en-US" sz="2400" dirty="0">
                <a:latin typeface="+mj-lt"/>
              </a:rPr>
              <a:t>To compare performance with the competition and </a:t>
            </a:r>
          </a:p>
          <a:p>
            <a:pPr marL="2782888" indent="-342900" algn="just">
              <a:lnSpc>
                <a:spcPct val="160000"/>
              </a:lnSpc>
              <a:defRPr/>
            </a:pPr>
            <a:r>
              <a:rPr lang="en-US" sz="2400" dirty="0">
                <a:latin typeface="+mj-lt"/>
              </a:rPr>
              <a:t>To determine opportunities, for improvement.</a:t>
            </a:r>
          </a:p>
        </p:txBody>
      </p:sp>
    </p:spTree>
    <p:extLst>
      <p:ext uri="{BB962C8B-B14F-4D97-AF65-F5344CB8AC3E}">
        <p14:creationId xmlns:p14="http://schemas.microsoft.com/office/powerpoint/2010/main" val="3480721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304650"/>
            <a:ext cx="11789829" cy="1243930"/>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Various tools for collecting customer feedback or customer complaint</a:t>
            </a:r>
          </a:p>
        </p:txBody>
      </p:sp>
      <p:sp>
        <p:nvSpPr>
          <p:cNvPr id="5" name="Rectangle 3">
            <a:extLst>
              <a:ext uri="{FF2B5EF4-FFF2-40B4-BE49-F238E27FC236}">
                <a16:creationId xmlns:a16="http://schemas.microsoft.com/office/drawing/2014/main" id="{7D9DCE4A-3FBC-D655-B75B-0E873F3D745B}"/>
              </a:ext>
            </a:extLst>
          </p:cNvPr>
          <p:cNvSpPr txBox="1">
            <a:spLocks noChangeArrowheads="1"/>
          </p:cNvSpPr>
          <p:nvPr/>
        </p:nvSpPr>
        <p:spPr>
          <a:xfrm>
            <a:off x="412955" y="1548580"/>
            <a:ext cx="11297263" cy="4630994"/>
          </a:xfrm>
          <a:prstGeom prst="rect">
            <a:avLst/>
          </a:prstGeom>
        </p:spPr>
        <p:txBody>
          <a:bodyPr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2296" indent="0" algn="just">
              <a:lnSpc>
                <a:spcPct val="160000"/>
              </a:lnSpc>
              <a:buFont typeface="Arial" panose="020B0604020202020204" pitchFamily="34" charset="0"/>
              <a:buNone/>
              <a:defRPr/>
            </a:pPr>
            <a:r>
              <a:rPr lang="en-US" sz="2400" dirty="0">
                <a:solidFill>
                  <a:srgbClr val="FF0000"/>
                </a:solidFill>
                <a:latin typeface="+mj-lt"/>
              </a:rPr>
              <a:t>1. Customer cards or comment cards </a:t>
            </a:r>
            <a:r>
              <a:rPr lang="en-US" sz="2400" dirty="0">
                <a:latin typeface="+mj-lt"/>
              </a:rPr>
              <a:t>– question and answer type, normally attached to the warranty card.</a:t>
            </a:r>
          </a:p>
          <a:p>
            <a:pPr marL="82296" indent="0" algn="just">
              <a:lnSpc>
                <a:spcPct val="160000"/>
              </a:lnSpc>
              <a:buFont typeface="Arial" panose="020B0604020202020204" pitchFamily="34" charset="0"/>
              <a:buNone/>
              <a:defRPr/>
            </a:pPr>
            <a:r>
              <a:rPr lang="en-US" sz="2400" dirty="0">
                <a:solidFill>
                  <a:srgbClr val="FF0000"/>
                </a:solidFill>
                <a:latin typeface="+mj-lt"/>
              </a:rPr>
              <a:t>2. Customer questionnaire – </a:t>
            </a:r>
            <a:r>
              <a:rPr lang="en-US" sz="2400" dirty="0">
                <a:latin typeface="+mj-lt"/>
              </a:rPr>
              <a:t>survey through website, E-mail, telephone.</a:t>
            </a:r>
          </a:p>
          <a:p>
            <a:pPr marL="82296" indent="0" algn="just">
              <a:lnSpc>
                <a:spcPct val="160000"/>
              </a:lnSpc>
              <a:buFont typeface="Arial" panose="020B0604020202020204" pitchFamily="34" charset="0"/>
              <a:buNone/>
              <a:defRPr/>
            </a:pPr>
            <a:r>
              <a:rPr lang="en-US" sz="2400" dirty="0">
                <a:solidFill>
                  <a:srgbClr val="FF0000"/>
                </a:solidFill>
                <a:latin typeface="+mj-lt"/>
              </a:rPr>
              <a:t>3. Post–transaction surveys – </a:t>
            </a:r>
            <a:r>
              <a:rPr lang="en-US" sz="2400" dirty="0">
                <a:latin typeface="+mj-lt"/>
              </a:rPr>
              <a:t>conducted immediately after a customer service interaction.</a:t>
            </a:r>
          </a:p>
          <a:p>
            <a:pPr marL="82296" indent="0" algn="just">
              <a:lnSpc>
                <a:spcPct val="160000"/>
              </a:lnSpc>
              <a:buFont typeface="Arial" panose="020B0604020202020204" pitchFamily="34" charset="0"/>
              <a:buNone/>
              <a:defRPr/>
            </a:pPr>
            <a:r>
              <a:rPr lang="en-US" sz="2400" dirty="0">
                <a:solidFill>
                  <a:srgbClr val="FF0000"/>
                </a:solidFill>
                <a:latin typeface="+mj-lt"/>
              </a:rPr>
              <a:t>4. Reports or Feedback cards – </a:t>
            </a:r>
            <a:r>
              <a:rPr lang="en-US" sz="2400" dirty="0">
                <a:latin typeface="+mj-lt"/>
              </a:rPr>
              <a:t>physical paper cards or forms with one or more survey questions designed to collect customer feedback.</a:t>
            </a:r>
          </a:p>
        </p:txBody>
      </p:sp>
    </p:spTree>
    <p:extLst>
      <p:ext uri="{BB962C8B-B14F-4D97-AF65-F5344CB8AC3E}">
        <p14:creationId xmlns:p14="http://schemas.microsoft.com/office/powerpoint/2010/main" val="1367796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316098"/>
            <a:ext cx="11789829" cy="1243930"/>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Various tools for collecting customer feedback or customer complaint</a:t>
            </a:r>
          </a:p>
        </p:txBody>
      </p:sp>
      <p:sp>
        <p:nvSpPr>
          <p:cNvPr id="5" name="Rectangle 3">
            <a:extLst>
              <a:ext uri="{FF2B5EF4-FFF2-40B4-BE49-F238E27FC236}">
                <a16:creationId xmlns:a16="http://schemas.microsoft.com/office/drawing/2014/main" id="{7D9DCE4A-3FBC-D655-B75B-0E873F3D745B}"/>
              </a:ext>
            </a:extLst>
          </p:cNvPr>
          <p:cNvSpPr txBox="1">
            <a:spLocks noChangeArrowheads="1"/>
          </p:cNvSpPr>
          <p:nvPr/>
        </p:nvSpPr>
        <p:spPr>
          <a:xfrm>
            <a:off x="259603" y="1935968"/>
            <a:ext cx="11450615" cy="3535684"/>
          </a:xfrm>
          <a:prstGeom prst="rect">
            <a:avLst/>
          </a:prstGeom>
        </p:spPr>
        <p:txBody>
          <a:bodyPr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2296" indent="0" algn="just">
              <a:lnSpc>
                <a:spcPct val="160000"/>
              </a:lnSpc>
              <a:buFont typeface="Arial" panose="020B0604020202020204" pitchFamily="34" charset="0"/>
              <a:buNone/>
              <a:defRPr/>
            </a:pPr>
            <a:r>
              <a:rPr lang="en-US" sz="2400" dirty="0">
                <a:solidFill>
                  <a:srgbClr val="FF0000"/>
                </a:solidFill>
                <a:latin typeface="+mj-lt"/>
              </a:rPr>
              <a:t>5. Social media – </a:t>
            </a:r>
            <a:r>
              <a:rPr lang="en-US" sz="2400" dirty="0">
                <a:latin typeface="+mj-lt"/>
              </a:rPr>
              <a:t>social networks, online communities, blogs, and discussion boards can be used to collect customer feedback.</a:t>
            </a:r>
          </a:p>
          <a:p>
            <a:pPr marL="82296" indent="0" algn="just">
              <a:lnSpc>
                <a:spcPct val="160000"/>
              </a:lnSpc>
              <a:buFont typeface="Arial" panose="020B0604020202020204" pitchFamily="34" charset="0"/>
              <a:buNone/>
              <a:defRPr/>
            </a:pPr>
            <a:r>
              <a:rPr lang="en-US" sz="2400" dirty="0">
                <a:solidFill>
                  <a:srgbClr val="FF0000"/>
                </a:solidFill>
                <a:latin typeface="+mj-lt"/>
              </a:rPr>
              <a:t>6. Toll-free telephone numbers – </a:t>
            </a:r>
            <a:r>
              <a:rPr lang="en-US" sz="2400" dirty="0">
                <a:latin typeface="+mj-lt"/>
              </a:rPr>
              <a:t>Effective tool for receiving customer feedback.</a:t>
            </a:r>
          </a:p>
          <a:p>
            <a:pPr marL="82296" indent="0" algn="just">
              <a:lnSpc>
                <a:spcPct val="160000"/>
              </a:lnSpc>
              <a:buFont typeface="Arial" panose="020B0604020202020204" pitchFamily="34" charset="0"/>
              <a:buNone/>
              <a:defRPr/>
            </a:pPr>
            <a:r>
              <a:rPr lang="en-US" sz="2400" dirty="0">
                <a:solidFill>
                  <a:srgbClr val="FF0000"/>
                </a:solidFill>
                <a:latin typeface="+mj-lt"/>
              </a:rPr>
              <a:t>7. Customer visits – </a:t>
            </a:r>
            <a:r>
              <a:rPr lang="en-US" sz="2400" dirty="0">
                <a:latin typeface="+mj-lt"/>
              </a:rPr>
              <a:t>visit the customer's place to gather information and feedback on the product.</a:t>
            </a:r>
          </a:p>
          <a:p>
            <a:pPr marL="82296" indent="0" algn="just">
              <a:lnSpc>
                <a:spcPct val="160000"/>
              </a:lnSpc>
              <a:buFont typeface="Arial" panose="020B0604020202020204" pitchFamily="34" charset="0"/>
              <a:buNone/>
              <a:defRPr/>
            </a:pPr>
            <a:endParaRPr lang="en-US" sz="2400" dirty="0">
              <a:latin typeface="+mj-lt"/>
            </a:endParaRPr>
          </a:p>
          <a:p>
            <a:pPr marL="82296" indent="0" algn="just">
              <a:lnSpc>
                <a:spcPct val="160000"/>
              </a:lnSpc>
              <a:buFont typeface="Arial" panose="020B0604020202020204" pitchFamily="34" charset="0"/>
              <a:buNone/>
              <a:defRPr/>
            </a:pPr>
            <a:endParaRPr lang="en-US" sz="2400" dirty="0">
              <a:latin typeface="+mj-lt"/>
            </a:endParaRPr>
          </a:p>
          <a:p>
            <a:pPr marL="82296" indent="0" algn="just">
              <a:lnSpc>
                <a:spcPct val="160000"/>
              </a:lnSpc>
              <a:buFont typeface="Arial" panose="020B0604020202020204" pitchFamily="34" charset="0"/>
              <a:buNone/>
              <a:defRPr/>
            </a:pPr>
            <a:r>
              <a:rPr lang="en-US" sz="2400" dirty="0">
                <a:latin typeface="+mj-lt"/>
              </a:rPr>
              <a:t>  </a:t>
            </a:r>
          </a:p>
        </p:txBody>
      </p:sp>
    </p:spTree>
    <p:extLst>
      <p:ext uri="{BB962C8B-B14F-4D97-AF65-F5344CB8AC3E}">
        <p14:creationId xmlns:p14="http://schemas.microsoft.com/office/powerpoint/2010/main" val="3803224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1085" y="284662"/>
            <a:ext cx="1178982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 satisfaction / dissatisfaction feedback</a:t>
            </a:r>
          </a:p>
        </p:txBody>
      </p:sp>
      <p:sp>
        <p:nvSpPr>
          <p:cNvPr id="3" name="Rectangle 3">
            <a:extLst>
              <a:ext uri="{FF2B5EF4-FFF2-40B4-BE49-F238E27FC236}">
                <a16:creationId xmlns:a16="http://schemas.microsoft.com/office/drawing/2014/main" id="{B8CBE04A-C76E-77A3-78B6-D2BC6180AEC1}"/>
              </a:ext>
            </a:extLst>
          </p:cNvPr>
          <p:cNvSpPr txBox="1">
            <a:spLocks/>
          </p:cNvSpPr>
          <p:nvPr/>
        </p:nvSpPr>
        <p:spPr>
          <a:xfrm>
            <a:off x="452129" y="1196003"/>
            <a:ext cx="11538785" cy="47033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en-US" sz="2400" dirty="0">
                <a:latin typeface="+mj-lt"/>
              </a:rPr>
              <a:t>Customer feedback has to be continuously sought and monitored - </a:t>
            </a:r>
            <a:r>
              <a:rPr lang="en-US" altLang="en-US" sz="2400" dirty="0">
                <a:solidFill>
                  <a:srgbClr val="C00000"/>
                </a:solidFill>
                <a:latin typeface="+mj-lt"/>
              </a:rPr>
              <a:t>not one-time only</a:t>
            </a:r>
            <a:r>
              <a:rPr lang="en-US" altLang="en-US" sz="2400" dirty="0">
                <a:latin typeface="+mj-lt"/>
              </a:rPr>
              <a:t>! (Pro-active! Complaints are a reactive method of finding out there is a problem)</a:t>
            </a:r>
          </a:p>
          <a:p>
            <a:pPr algn="just">
              <a:lnSpc>
                <a:spcPct val="150000"/>
              </a:lnSpc>
            </a:pPr>
            <a:r>
              <a:rPr lang="en-US" altLang="en-US" sz="2400" dirty="0">
                <a:latin typeface="+mj-lt"/>
              </a:rPr>
              <a:t>Customer feedback can </a:t>
            </a:r>
            <a:r>
              <a:rPr lang="en-US" altLang="en-US" sz="2400" dirty="0">
                <a:solidFill>
                  <a:srgbClr val="C00000"/>
                </a:solidFill>
                <a:latin typeface="+mj-lt"/>
              </a:rPr>
              <a:t>be related to Manufacturer</a:t>
            </a:r>
          </a:p>
          <a:p>
            <a:pPr algn="just">
              <a:lnSpc>
                <a:spcPct val="150000"/>
              </a:lnSpc>
            </a:pPr>
            <a:r>
              <a:rPr lang="en-US" altLang="en-US" sz="2400" dirty="0">
                <a:latin typeface="+mj-lt"/>
              </a:rPr>
              <a:t>Performance comparison </a:t>
            </a:r>
            <a:r>
              <a:rPr lang="en-US" altLang="en-US" sz="2400" dirty="0">
                <a:solidFill>
                  <a:srgbClr val="C00000"/>
                </a:solidFill>
                <a:latin typeface="+mj-lt"/>
              </a:rPr>
              <a:t>with competitors</a:t>
            </a:r>
            <a:r>
              <a:rPr lang="en-US" altLang="en-US" sz="2400" dirty="0">
                <a:latin typeface="+mj-lt"/>
              </a:rPr>
              <a:t> can be known</a:t>
            </a:r>
          </a:p>
          <a:p>
            <a:pPr algn="just">
              <a:lnSpc>
                <a:spcPct val="150000"/>
              </a:lnSpc>
            </a:pPr>
            <a:r>
              <a:rPr lang="en-US" altLang="en-US" sz="2400" dirty="0">
                <a:latin typeface="+mj-lt"/>
              </a:rPr>
              <a:t>Customers </a:t>
            </a:r>
            <a:r>
              <a:rPr lang="en-US" altLang="en-US" sz="2400" dirty="0">
                <a:solidFill>
                  <a:srgbClr val="C00000"/>
                </a:solidFill>
                <a:latin typeface="+mj-lt"/>
              </a:rPr>
              <a:t>needs can be identified</a:t>
            </a:r>
          </a:p>
          <a:p>
            <a:pPr algn="just">
              <a:lnSpc>
                <a:spcPct val="150000"/>
              </a:lnSpc>
            </a:pPr>
            <a:r>
              <a:rPr lang="en-US" altLang="en-US" sz="2400" dirty="0">
                <a:solidFill>
                  <a:srgbClr val="C00000"/>
                </a:solidFill>
                <a:latin typeface="+mj-lt"/>
              </a:rPr>
              <a:t>Relative priorities </a:t>
            </a:r>
            <a:r>
              <a:rPr lang="en-US" altLang="en-US" sz="2400" dirty="0">
                <a:latin typeface="+mj-lt"/>
              </a:rPr>
              <a:t>of quality can be obtained from the feedback</a:t>
            </a:r>
          </a:p>
          <a:p>
            <a:pPr algn="just">
              <a:lnSpc>
                <a:spcPct val="150000"/>
              </a:lnSpc>
            </a:pPr>
            <a:r>
              <a:rPr lang="en-US" altLang="en-US" sz="2400" dirty="0">
                <a:latin typeface="+mj-lt"/>
              </a:rPr>
              <a:t>Areas for </a:t>
            </a:r>
            <a:r>
              <a:rPr lang="en-US" altLang="en-US" sz="2400" dirty="0">
                <a:solidFill>
                  <a:srgbClr val="C00000"/>
                </a:solidFill>
                <a:latin typeface="+mj-lt"/>
              </a:rPr>
              <a:t>improvement</a:t>
            </a:r>
            <a:r>
              <a:rPr lang="en-US" altLang="en-US" sz="2400" dirty="0">
                <a:latin typeface="+mj-lt"/>
              </a:rPr>
              <a:t> can be noted.</a:t>
            </a:r>
          </a:p>
          <a:p>
            <a:pPr algn="just">
              <a:lnSpc>
                <a:spcPct val="150000"/>
              </a:lnSpc>
            </a:pPr>
            <a:endParaRPr lang="en-US" altLang="en-US" sz="2400" dirty="0">
              <a:latin typeface="+mj-lt"/>
            </a:endParaRPr>
          </a:p>
        </p:txBody>
      </p:sp>
    </p:spTree>
    <p:extLst>
      <p:ext uri="{BB962C8B-B14F-4D97-AF65-F5344CB8AC3E}">
        <p14:creationId xmlns:p14="http://schemas.microsoft.com/office/powerpoint/2010/main" val="3552099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1086" y="284662"/>
            <a:ext cx="777779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Customers - Handle with care</a:t>
            </a:r>
          </a:p>
        </p:txBody>
      </p:sp>
      <p:sp>
        <p:nvSpPr>
          <p:cNvPr id="4" name="Rectangle 3">
            <a:extLst>
              <a:ext uri="{FF2B5EF4-FFF2-40B4-BE49-F238E27FC236}">
                <a16:creationId xmlns:a16="http://schemas.microsoft.com/office/drawing/2014/main" id="{6ED1C9D7-3C6D-42EB-DD8E-111551841661}"/>
              </a:ext>
            </a:extLst>
          </p:cNvPr>
          <p:cNvSpPr txBox="1">
            <a:spLocks noChangeArrowheads="1"/>
          </p:cNvSpPr>
          <p:nvPr/>
        </p:nvSpPr>
        <p:spPr>
          <a:xfrm>
            <a:off x="351503" y="1097832"/>
            <a:ext cx="11488993" cy="4662335"/>
          </a:xfrm>
          <a:prstGeom prst="rect">
            <a:avLst/>
          </a:prstGeom>
        </p:spPr>
        <p:txBody>
          <a:bodyPr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5760" indent="-283464" algn="just">
              <a:lnSpc>
                <a:spcPct val="150000"/>
              </a:lnSpc>
              <a:buFont typeface="Wingdings 2"/>
              <a:buChar char=""/>
              <a:defRPr/>
            </a:pPr>
            <a:r>
              <a:rPr lang="en-US" sz="2800" dirty="0">
                <a:latin typeface="+mj-lt"/>
              </a:rPr>
              <a:t>Employers don’t pay wages but it is the </a:t>
            </a:r>
            <a:r>
              <a:rPr lang="en-US" sz="2800" dirty="0">
                <a:solidFill>
                  <a:srgbClr val="C00000"/>
                </a:solidFill>
                <a:latin typeface="+mj-lt"/>
              </a:rPr>
              <a:t>customer who pays the wages!</a:t>
            </a:r>
          </a:p>
          <a:p>
            <a:pPr marL="365760" indent="-283464" algn="just">
              <a:lnSpc>
                <a:spcPct val="150000"/>
              </a:lnSpc>
              <a:buFont typeface="Wingdings 2"/>
              <a:buChar char=""/>
              <a:defRPr/>
            </a:pPr>
            <a:r>
              <a:rPr lang="en-US" sz="2800" dirty="0">
                <a:latin typeface="+mj-lt"/>
              </a:rPr>
              <a:t>So take </a:t>
            </a:r>
            <a:r>
              <a:rPr lang="en-US" sz="2800" dirty="0">
                <a:solidFill>
                  <a:srgbClr val="C00000"/>
                </a:solidFill>
                <a:latin typeface="+mj-lt"/>
              </a:rPr>
              <a:t>good care </a:t>
            </a:r>
            <a:r>
              <a:rPr lang="en-US" sz="2800" dirty="0">
                <a:latin typeface="+mj-lt"/>
              </a:rPr>
              <a:t>of your customers.</a:t>
            </a:r>
          </a:p>
          <a:p>
            <a:pPr marL="365760" indent="-283464" algn="just">
              <a:lnSpc>
                <a:spcPct val="150000"/>
              </a:lnSpc>
              <a:buFont typeface="Wingdings 2"/>
              <a:buChar char=""/>
              <a:defRPr/>
            </a:pPr>
            <a:r>
              <a:rPr lang="en-US" sz="2800" dirty="0">
                <a:latin typeface="+mj-lt"/>
              </a:rPr>
              <a:t>Customer-care centers </a:t>
            </a:r>
            <a:r>
              <a:rPr lang="en-US" sz="2800" dirty="0">
                <a:solidFill>
                  <a:srgbClr val="C00000"/>
                </a:solidFill>
                <a:latin typeface="+mj-lt"/>
              </a:rPr>
              <a:t>not just </a:t>
            </a:r>
            <a:r>
              <a:rPr lang="en-US" sz="2800" dirty="0">
                <a:latin typeface="+mj-lt"/>
              </a:rPr>
              <a:t>profit-centers!</a:t>
            </a:r>
          </a:p>
          <a:p>
            <a:pPr marL="365760" indent="-283464" algn="just">
              <a:lnSpc>
                <a:spcPct val="150000"/>
              </a:lnSpc>
              <a:buFont typeface="Wingdings 2"/>
              <a:buChar char=""/>
              <a:defRPr/>
            </a:pPr>
            <a:r>
              <a:rPr lang="en-US" sz="2800" dirty="0">
                <a:latin typeface="+mj-lt"/>
              </a:rPr>
              <a:t>The entire organization must in effect revolve around the customer – whether the customer is </a:t>
            </a:r>
            <a:r>
              <a:rPr lang="en-US" sz="2800" dirty="0">
                <a:solidFill>
                  <a:srgbClr val="C00000"/>
                </a:solidFill>
                <a:latin typeface="+mj-lt"/>
              </a:rPr>
              <a:t>being well served </a:t>
            </a:r>
            <a:r>
              <a:rPr lang="en-US" sz="2800" dirty="0">
                <a:latin typeface="+mj-lt"/>
              </a:rPr>
              <a:t>and if he is really pleased, contented and satisfied with the service you have to offer.</a:t>
            </a:r>
          </a:p>
        </p:txBody>
      </p:sp>
    </p:spTree>
    <p:extLst>
      <p:ext uri="{BB962C8B-B14F-4D97-AF65-F5344CB8AC3E}">
        <p14:creationId xmlns:p14="http://schemas.microsoft.com/office/powerpoint/2010/main" val="4069294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9286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Continuous Process Improvement</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101012" y="1136477"/>
            <a:ext cx="10281853" cy="58124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altLang="en-US" sz="2400" dirty="0"/>
              <a:t>Create a system for constant and continuous improvement</a:t>
            </a:r>
          </a:p>
        </p:txBody>
      </p:sp>
      <p:pic>
        <p:nvPicPr>
          <p:cNvPr id="3" name="Picture 1" descr="Feedback_process.png">
            <a:extLst>
              <a:ext uri="{FF2B5EF4-FFF2-40B4-BE49-F238E27FC236}">
                <a16:creationId xmlns:a16="http://schemas.microsoft.com/office/drawing/2014/main" id="{23FDD0D7-5523-7E38-CC76-C8FAB9D4FC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6012" y="1727477"/>
            <a:ext cx="741997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9286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Continuous Process Improvement</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263243" y="1136477"/>
            <a:ext cx="10281853" cy="581249"/>
          </a:xfrm>
          <a:prstGeom prst="rect">
            <a:avLst/>
          </a:prstGeom>
          <a:noFill/>
        </p:spPr>
        <p:txBody>
          <a:bodyPr wrap="square">
            <a:spAutoFit/>
          </a:bodyPr>
          <a:lstStyle/>
          <a:p>
            <a:pPr algn="just">
              <a:lnSpc>
                <a:spcPct val="150000"/>
              </a:lnSpc>
            </a:pPr>
            <a:r>
              <a:rPr lang="en-US" altLang="en-US" sz="2400" b="1" dirty="0"/>
              <a:t>Understand the Process:  Variations are Major Enemies</a:t>
            </a:r>
          </a:p>
        </p:txBody>
      </p:sp>
      <p:sp>
        <p:nvSpPr>
          <p:cNvPr id="4" name="Rectangle 3">
            <a:extLst>
              <a:ext uri="{FF2B5EF4-FFF2-40B4-BE49-F238E27FC236}">
                <a16:creationId xmlns:a16="http://schemas.microsoft.com/office/drawing/2014/main" id="{BEF1821E-DC81-6E9F-661E-86C099E3D9BB}"/>
              </a:ext>
            </a:extLst>
          </p:cNvPr>
          <p:cNvSpPr txBox="1">
            <a:spLocks noChangeArrowheads="1"/>
          </p:cNvSpPr>
          <p:nvPr/>
        </p:nvSpPr>
        <p:spPr>
          <a:xfrm>
            <a:off x="425245" y="1813129"/>
            <a:ext cx="1134151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en-US" sz="2400" dirty="0">
                <a:latin typeface="+mj-lt"/>
              </a:rPr>
              <a:t>Detecting mode (heavy dependence on inspection/testing/control): </a:t>
            </a:r>
          </a:p>
          <a:p>
            <a:pPr marL="0" indent="0">
              <a:lnSpc>
                <a:spcPct val="200000"/>
              </a:lnSpc>
              <a:buNone/>
            </a:pPr>
            <a:r>
              <a:rPr lang="en-US" sz="2400" dirty="0">
                <a:latin typeface="+mj-lt"/>
              </a:rPr>
              <a:t>	Fire fighting is not effective</a:t>
            </a:r>
          </a:p>
          <a:p>
            <a:pPr>
              <a:lnSpc>
                <a:spcPct val="200000"/>
              </a:lnSpc>
            </a:pPr>
            <a:r>
              <a:rPr lang="en-US" sz="2400" dirty="0">
                <a:latin typeface="+mj-lt"/>
              </a:rPr>
              <a:t>Preventive mode (emphasis on “do it right the first time and all the time): </a:t>
            </a:r>
          </a:p>
          <a:p>
            <a:pPr marL="0" indent="0" algn="just">
              <a:lnSpc>
                <a:spcPct val="200000"/>
              </a:lnSpc>
              <a:buNone/>
            </a:pPr>
            <a:r>
              <a:rPr lang="en-US" sz="2400" dirty="0">
                <a:latin typeface="+mj-lt"/>
              </a:rPr>
              <a:t>	Use FEEDBACK to take corrective actions so that the process can be continuously improved.</a:t>
            </a:r>
          </a:p>
        </p:txBody>
      </p:sp>
    </p:spTree>
    <p:extLst>
      <p:ext uri="{BB962C8B-B14F-4D97-AF65-F5344CB8AC3E}">
        <p14:creationId xmlns:p14="http://schemas.microsoft.com/office/powerpoint/2010/main" val="4056015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9286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Continuous Process Improvement</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259603" y="974245"/>
            <a:ext cx="11553855" cy="581249"/>
          </a:xfrm>
          <a:prstGeom prst="rect">
            <a:avLst/>
          </a:prstGeom>
          <a:noFill/>
        </p:spPr>
        <p:txBody>
          <a:bodyPr wrap="square">
            <a:spAutoFit/>
          </a:bodyPr>
          <a:lstStyle/>
          <a:p>
            <a:pPr algn="just">
              <a:lnSpc>
                <a:spcPct val="150000"/>
              </a:lnSpc>
            </a:pPr>
            <a:r>
              <a:rPr lang="en-US" altLang="en-US" sz="2400" b="1" dirty="0"/>
              <a:t>Deming’s PDSA Cycle: Embedded in the Continuing System </a:t>
            </a:r>
          </a:p>
        </p:txBody>
      </p:sp>
      <p:pic>
        <p:nvPicPr>
          <p:cNvPr id="3" name="Picture 5" descr="PDSA_ImprovementModel.gif">
            <a:extLst>
              <a:ext uri="{FF2B5EF4-FFF2-40B4-BE49-F238E27FC236}">
                <a16:creationId xmlns:a16="http://schemas.microsoft.com/office/drawing/2014/main" id="{47959252-889D-968A-B9F2-1087B2E8C5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90225" y="1705190"/>
            <a:ext cx="4811549" cy="4594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0877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9286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Continuous Process Improvement</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259604" y="974245"/>
            <a:ext cx="4740100" cy="581249"/>
          </a:xfrm>
          <a:prstGeom prst="rect">
            <a:avLst/>
          </a:prstGeom>
          <a:noFill/>
        </p:spPr>
        <p:txBody>
          <a:bodyPr wrap="square">
            <a:spAutoFit/>
          </a:bodyPr>
          <a:lstStyle/>
          <a:p>
            <a:pPr algn="just">
              <a:lnSpc>
                <a:spcPct val="150000"/>
              </a:lnSpc>
            </a:pPr>
            <a:r>
              <a:rPr lang="en-US" altLang="en-US" sz="2400" b="1" dirty="0"/>
              <a:t>Reasons for Collecting Data</a:t>
            </a:r>
          </a:p>
        </p:txBody>
      </p:sp>
      <p:sp>
        <p:nvSpPr>
          <p:cNvPr id="4" name="Rectangle 3">
            <a:extLst>
              <a:ext uri="{FF2B5EF4-FFF2-40B4-BE49-F238E27FC236}">
                <a16:creationId xmlns:a16="http://schemas.microsoft.com/office/drawing/2014/main" id="{79825E8C-8D43-8CDA-FE10-782862A3A0D7}"/>
              </a:ext>
            </a:extLst>
          </p:cNvPr>
          <p:cNvSpPr txBox="1">
            <a:spLocks noChangeArrowheads="1"/>
          </p:cNvSpPr>
          <p:nvPr/>
        </p:nvSpPr>
        <p:spPr>
          <a:xfrm>
            <a:off x="1026635" y="1705190"/>
            <a:ext cx="4253287" cy="33262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dirty="0">
                <a:latin typeface="+mj-lt"/>
              </a:rPr>
              <a:t>Provide objective information</a:t>
            </a:r>
          </a:p>
          <a:p>
            <a:pPr>
              <a:lnSpc>
                <a:spcPct val="150000"/>
              </a:lnSpc>
            </a:pPr>
            <a:r>
              <a:rPr lang="en-US" sz="2400" dirty="0">
                <a:latin typeface="+mj-lt"/>
              </a:rPr>
              <a:t>Increase info about the change        (Positive/negative)  </a:t>
            </a:r>
          </a:p>
          <a:p>
            <a:pPr>
              <a:lnSpc>
                <a:spcPct val="150000"/>
              </a:lnSpc>
            </a:pPr>
            <a:r>
              <a:rPr lang="en-US" sz="2400" dirty="0">
                <a:latin typeface="+mj-lt"/>
              </a:rPr>
              <a:t>Give some expectation of the change impact</a:t>
            </a:r>
          </a:p>
        </p:txBody>
      </p:sp>
      <p:sp>
        <p:nvSpPr>
          <p:cNvPr id="5" name="Rectangle 4">
            <a:extLst>
              <a:ext uri="{FF2B5EF4-FFF2-40B4-BE49-F238E27FC236}">
                <a16:creationId xmlns:a16="http://schemas.microsoft.com/office/drawing/2014/main" id="{951ABC45-8AB2-917E-F09E-986462217D93}"/>
              </a:ext>
            </a:extLst>
          </p:cNvPr>
          <p:cNvSpPr txBox="1">
            <a:spLocks noChangeArrowheads="1"/>
          </p:cNvSpPr>
          <p:nvPr/>
        </p:nvSpPr>
        <p:spPr>
          <a:xfrm>
            <a:off x="5827713" y="1684819"/>
            <a:ext cx="45699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a:latin typeface="+mj-lt"/>
              </a:rPr>
              <a:t>Show if the gains are retained</a:t>
            </a:r>
          </a:p>
          <a:p>
            <a:pPr>
              <a:lnSpc>
                <a:spcPct val="150000"/>
              </a:lnSpc>
            </a:pPr>
            <a:r>
              <a:rPr lang="en-US" sz="2400">
                <a:latin typeface="+mj-lt"/>
              </a:rPr>
              <a:t>Involve the staff in the changes</a:t>
            </a:r>
          </a:p>
          <a:p>
            <a:pPr>
              <a:lnSpc>
                <a:spcPct val="150000"/>
              </a:lnSpc>
            </a:pPr>
            <a:r>
              <a:rPr lang="en-US" sz="2400">
                <a:latin typeface="+mj-lt"/>
              </a:rPr>
              <a:t>Provide economic impacts </a:t>
            </a:r>
          </a:p>
          <a:p>
            <a:pPr>
              <a:lnSpc>
                <a:spcPct val="150000"/>
              </a:lnSpc>
            </a:pPr>
            <a:endParaRPr lang="en-US" sz="2400">
              <a:latin typeface="+mj-lt"/>
            </a:endParaRPr>
          </a:p>
          <a:p>
            <a:pPr>
              <a:lnSpc>
                <a:spcPct val="150000"/>
              </a:lnSpc>
              <a:buFont typeface="Wingdings" pitchFamily="2" charset="2"/>
              <a:buNone/>
            </a:pPr>
            <a:endParaRPr lang="en-US" sz="2400" dirty="0">
              <a:latin typeface="+mj-lt"/>
            </a:endParaRPr>
          </a:p>
        </p:txBody>
      </p:sp>
    </p:spTree>
    <p:extLst>
      <p:ext uri="{BB962C8B-B14F-4D97-AF65-F5344CB8AC3E}">
        <p14:creationId xmlns:p14="http://schemas.microsoft.com/office/powerpoint/2010/main" val="3108092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9286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Continuous Process Improvement</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259604" y="974245"/>
            <a:ext cx="4740100" cy="581249"/>
          </a:xfrm>
          <a:prstGeom prst="rect">
            <a:avLst/>
          </a:prstGeom>
          <a:noFill/>
        </p:spPr>
        <p:txBody>
          <a:bodyPr wrap="square">
            <a:spAutoFit/>
          </a:bodyPr>
          <a:lstStyle/>
          <a:p>
            <a:pPr algn="just">
              <a:lnSpc>
                <a:spcPct val="150000"/>
              </a:lnSpc>
            </a:pPr>
            <a:r>
              <a:rPr lang="en-US" altLang="en-US" sz="2400" b="1" dirty="0"/>
              <a:t>Model for Improvement</a:t>
            </a:r>
          </a:p>
        </p:txBody>
      </p:sp>
      <p:grpSp>
        <p:nvGrpSpPr>
          <p:cNvPr id="20" name="Group 19">
            <a:extLst>
              <a:ext uri="{FF2B5EF4-FFF2-40B4-BE49-F238E27FC236}">
                <a16:creationId xmlns:a16="http://schemas.microsoft.com/office/drawing/2014/main" id="{F6684E58-9C91-9FAB-0627-BADEEFE326B2}"/>
              </a:ext>
            </a:extLst>
          </p:cNvPr>
          <p:cNvGrpSpPr/>
          <p:nvPr/>
        </p:nvGrpSpPr>
        <p:grpSpPr>
          <a:xfrm>
            <a:off x="3962400" y="974245"/>
            <a:ext cx="4267200" cy="6096000"/>
            <a:chOff x="3962400" y="974245"/>
            <a:chExt cx="4267200" cy="6096000"/>
          </a:xfrm>
        </p:grpSpPr>
        <p:sp>
          <p:nvSpPr>
            <p:cNvPr id="3" name="AutoShape 2">
              <a:extLst>
                <a:ext uri="{FF2B5EF4-FFF2-40B4-BE49-F238E27FC236}">
                  <a16:creationId xmlns:a16="http://schemas.microsoft.com/office/drawing/2014/main" id="{D4F318E9-AF98-890A-9305-F3790C4CD343}"/>
                </a:ext>
              </a:extLst>
            </p:cNvPr>
            <p:cNvSpPr>
              <a:spLocks noChangeArrowheads="1"/>
            </p:cNvSpPr>
            <p:nvPr/>
          </p:nvSpPr>
          <p:spPr bwMode="auto">
            <a:xfrm>
              <a:off x="4343400" y="3641245"/>
              <a:ext cx="3505200" cy="3048000"/>
            </a:xfrm>
            <a:prstGeom prst="flowChar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 name="Text Box 3">
              <a:extLst>
                <a:ext uri="{FF2B5EF4-FFF2-40B4-BE49-F238E27FC236}">
                  <a16:creationId xmlns:a16="http://schemas.microsoft.com/office/drawing/2014/main" id="{24FF5EC5-C98E-74D2-2475-A88257EE970F}"/>
                </a:ext>
              </a:extLst>
            </p:cNvPr>
            <p:cNvSpPr txBox="1">
              <a:spLocks noChangeArrowheads="1"/>
            </p:cNvSpPr>
            <p:nvPr/>
          </p:nvSpPr>
          <p:spPr bwMode="auto">
            <a:xfrm>
              <a:off x="4443569" y="3646163"/>
              <a:ext cx="3009900"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sz="2400" b="1" dirty="0">
                <a:latin typeface="+mj-lt"/>
              </a:endParaRPr>
            </a:p>
            <a:p>
              <a:pPr>
                <a:spcBef>
                  <a:spcPct val="50000"/>
                </a:spcBef>
              </a:pPr>
              <a:r>
                <a:rPr lang="en-US" sz="2000" b="1" dirty="0">
                  <a:latin typeface="+mj-lt"/>
                </a:rPr>
                <a:t>        </a:t>
              </a:r>
              <a:r>
                <a:rPr lang="en-US" sz="2800" b="1" dirty="0">
                  <a:latin typeface="+mj-lt"/>
                </a:rPr>
                <a:t>Act        Plan</a:t>
              </a:r>
            </a:p>
            <a:p>
              <a:pPr>
                <a:spcBef>
                  <a:spcPct val="50000"/>
                </a:spcBef>
              </a:pPr>
              <a:endParaRPr lang="en-US" sz="2800" b="1" dirty="0">
                <a:latin typeface="+mj-lt"/>
              </a:endParaRPr>
            </a:p>
            <a:p>
              <a:pPr>
                <a:spcBef>
                  <a:spcPct val="50000"/>
                </a:spcBef>
              </a:pPr>
              <a:r>
                <a:rPr lang="en-US" sz="2800" b="1" dirty="0">
                  <a:latin typeface="+mj-lt"/>
                </a:rPr>
                <a:t>    Study       Do</a:t>
              </a:r>
            </a:p>
          </p:txBody>
        </p:sp>
        <p:sp>
          <p:nvSpPr>
            <p:cNvPr id="7" name="AutoShape 4">
              <a:extLst>
                <a:ext uri="{FF2B5EF4-FFF2-40B4-BE49-F238E27FC236}">
                  <a16:creationId xmlns:a16="http://schemas.microsoft.com/office/drawing/2014/main" id="{CA8753BE-97D4-1B21-5171-9941837FFAE0}"/>
                </a:ext>
              </a:extLst>
            </p:cNvPr>
            <p:cNvSpPr>
              <a:spLocks noChangeArrowheads="1"/>
            </p:cNvSpPr>
            <p:nvPr/>
          </p:nvSpPr>
          <p:spPr bwMode="auto">
            <a:xfrm>
              <a:off x="5562600" y="3298345"/>
              <a:ext cx="1066800" cy="685800"/>
            </a:xfrm>
            <a:prstGeom prst="rightArrow">
              <a:avLst>
                <a:gd name="adj1" fmla="val 50000"/>
                <a:gd name="adj2" fmla="val 3888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imes New Roman" charset="0"/>
              </a:endParaRPr>
            </a:p>
          </p:txBody>
        </p:sp>
        <p:sp>
          <p:nvSpPr>
            <p:cNvPr id="8" name="AutoShape 5">
              <a:extLst>
                <a:ext uri="{FF2B5EF4-FFF2-40B4-BE49-F238E27FC236}">
                  <a16:creationId xmlns:a16="http://schemas.microsoft.com/office/drawing/2014/main" id="{FDB87ECE-656C-1948-8A4D-433DC95C226C}"/>
                </a:ext>
              </a:extLst>
            </p:cNvPr>
            <p:cNvSpPr>
              <a:spLocks noChangeArrowheads="1"/>
            </p:cNvSpPr>
            <p:nvPr/>
          </p:nvSpPr>
          <p:spPr bwMode="auto">
            <a:xfrm>
              <a:off x="5638800" y="6384445"/>
              <a:ext cx="914400" cy="685800"/>
            </a:xfrm>
            <a:prstGeom prst="leftArrow">
              <a:avLst>
                <a:gd name="adj1" fmla="val 50000"/>
                <a:gd name="adj2"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 name="AutoShape 6">
              <a:extLst>
                <a:ext uri="{FF2B5EF4-FFF2-40B4-BE49-F238E27FC236}">
                  <a16:creationId xmlns:a16="http://schemas.microsoft.com/office/drawing/2014/main" id="{5D10D695-0967-4112-2DFC-A2C6826BF145}"/>
                </a:ext>
              </a:extLst>
            </p:cNvPr>
            <p:cNvSpPr>
              <a:spLocks noChangeArrowheads="1"/>
            </p:cNvSpPr>
            <p:nvPr/>
          </p:nvSpPr>
          <p:spPr bwMode="auto">
            <a:xfrm>
              <a:off x="3962400" y="4555645"/>
              <a:ext cx="685800" cy="990600"/>
            </a:xfrm>
            <a:prstGeom prst="upArrow">
              <a:avLst>
                <a:gd name="adj1" fmla="val 50000"/>
                <a:gd name="adj2" fmla="val 3611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 name="AutoShape 7">
              <a:extLst>
                <a:ext uri="{FF2B5EF4-FFF2-40B4-BE49-F238E27FC236}">
                  <a16:creationId xmlns:a16="http://schemas.microsoft.com/office/drawing/2014/main" id="{B59F0450-4794-BA46-F1FB-83443DE29678}"/>
                </a:ext>
              </a:extLst>
            </p:cNvPr>
            <p:cNvSpPr>
              <a:spLocks noChangeArrowheads="1"/>
            </p:cNvSpPr>
            <p:nvPr/>
          </p:nvSpPr>
          <p:spPr bwMode="auto">
            <a:xfrm>
              <a:off x="7620000" y="4784245"/>
              <a:ext cx="609600" cy="914400"/>
            </a:xfrm>
            <a:prstGeom prst="downArrow">
              <a:avLst>
                <a:gd name="adj1" fmla="val 50000"/>
                <a:gd name="adj2" fmla="val 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AutoShape 8">
              <a:extLst>
                <a:ext uri="{FF2B5EF4-FFF2-40B4-BE49-F238E27FC236}">
                  <a16:creationId xmlns:a16="http://schemas.microsoft.com/office/drawing/2014/main" id="{A5AA6EE6-F32C-3F19-02B9-944EF50477A1}"/>
                </a:ext>
              </a:extLst>
            </p:cNvPr>
            <p:cNvSpPr>
              <a:spLocks noChangeArrowheads="1"/>
            </p:cNvSpPr>
            <p:nvPr/>
          </p:nvSpPr>
          <p:spPr bwMode="auto">
            <a:xfrm rot="10800000">
              <a:off x="3981450" y="974245"/>
              <a:ext cx="4229100" cy="22860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latin typeface="Gill Sans MT (Body)"/>
              </a:endParaRPr>
            </a:p>
          </p:txBody>
        </p:sp>
        <p:sp>
          <p:nvSpPr>
            <p:cNvPr id="12" name="Line 9">
              <a:extLst>
                <a:ext uri="{FF2B5EF4-FFF2-40B4-BE49-F238E27FC236}">
                  <a16:creationId xmlns:a16="http://schemas.microsoft.com/office/drawing/2014/main" id="{CFDA0480-94D4-4CA0-14BD-FBBEA01B573B}"/>
                </a:ext>
              </a:extLst>
            </p:cNvPr>
            <p:cNvSpPr>
              <a:spLocks noChangeShapeType="1"/>
            </p:cNvSpPr>
            <p:nvPr/>
          </p:nvSpPr>
          <p:spPr bwMode="auto">
            <a:xfrm>
              <a:off x="4991100" y="2498245"/>
              <a:ext cx="2209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 name="Line 10">
              <a:extLst>
                <a:ext uri="{FF2B5EF4-FFF2-40B4-BE49-F238E27FC236}">
                  <a16:creationId xmlns:a16="http://schemas.microsoft.com/office/drawing/2014/main" id="{BEA5A387-F4BA-471B-2FD0-2C730C2C7808}"/>
                </a:ext>
              </a:extLst>
            </p:cNvPr>
            <p:cNvSpPr>
              <a:spLocks noChangeShapeType="1"/>
            </p:cNvSpPr>
            <p:nvPr/>
          </p:nvSpPr>
          <p:spPr bwMode="auto">
            <a:xfrm>
              <a:off x="5295900" y="1736245"/>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 name="Text Box 11">
              <a:extLst>
                <a:ext uri="{FF2B5EF4-FFF2-40B4-BE49-F238E27FC236}">
                  <a16:creationId xmlns:a16="http://schemas.microsoft.com/office/drawing/2014/main" id="{ABC4595E-A866-194A-CC93-B09A23548820}"/>
                </a:ext>
              </a:extLst>
            </p:cNvPr>
            <p:cNvSpPr txBox="1">
              <a:spLocks noChangeArrowheads="1"/>
            </p:cNvSpPr>
            <p:nvPr/>
          </p:nvSpPr>
          <p:spPr bwMode="auto">
            <a:xfrm>
              <a:off x="4971987" y="1048854"/>
              <a:ext cx="232361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2000" dirty="0">
                  <a:latin typeface="+mj-lt"/>
                </a:rPr>
                <a:t>What are we trying to accomplish?</a:t>
              </a:r>
            </a:p>
          </p:txBody>
        </p:sp>
        <p:sp>
          <p:nvSpPr>
            <p:cNvPr id="16" name="Text Box 12">
              <a:extLst>
                <a:ext uri="{FF2B5EF4-FFF2-40B4-BE49-F238E27FC236}">
                  <a16:creationId xmlns:a16="http://schemas.microsoft.com/office/drawing/2014/main" id="{8E903D41-8B92-813C-06D0-D61E102E3420}"/>
                </a:ext>
              </a:extLst>
            </p:cNvPr>
            <p:cNvSpPr txBox="1">
              <a:spLocks noChangeArrowheads="1"/>
            </p:cNvSpPr>
            <p:nvPr/>
          </p:nvSpPr>
          <p:spPr bwMode="auto">
            <a:xfrm>
              <a:off x="4668838" y="1736244"/>
              <a:ext cx="3048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dirty="0">
                  <a:latin typeface="+mj-lt"/>
                </a:rPr>
                <a:t>How will we know that a change is an improvement?</a:t>
              </a:r>
            </a:p>
          </p:txBody>
        </p:sp>
        <p:sp>
          <p:nvSpPr>
            <p:cNvPr id="17" name="Text Box 13">
              <a:extLst>
                <a:ext uri="{FF2B5EF4-FFF2-40B4-BE49-F238E27FC236}">
                  <a16:creationId xmlns:a16="http://schemas.microsoft.com/office/drawing/2014/main" id="{098E9B1A-EA46-D843-3FE5-F99F5094F899}"/>
                </a:ext>
              </a:extLst>
            </p:cNvPr>
            <p:cNvSpPr txBox="1">
              <a:spLocks noChangeArrowheads="1"/>
            </p:cNvSpPr>
            <p:nvPr/>
          </p:nvSpPr>
          <p:spPr bwMode="auto">
            <a:xfrm>
              <a:off x="4229100" y="2456254"/>
              <a:ext cx="3733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dirty="0">
                  <a:latin typeface="+mj-lt"/>
                </a:rPr>
                <a:t>What change can we make that will result in improvement?</a:t>
              </a:r>
            </a:p>
          </p:txBody>
        </p:sp>
        <p:cxnSp>
          <p:nvCxnSpPr>
            <p:cNvPr id="18" name="AutoShape 14">
              <a:extLst>
                <a:ext uri="{FF2B5EF4-FFF2-40B4-BE49-F238E27FC236}">
                  <a16:creationId xmlns:a16="http://schemas.microsoft.com/office/drawing/2014/main" id="{34733CE7-1714-A748-5D85-1A52552B77C6}"/>
                </a:ext>
              </a:extLst>
            </p:cNvPr>
            <p:cNvCxnSpPr>
              <a:cxnSpLocks noChangeShapeType="1"/>
              <a:stCxn id="3" idx="1"/>
            </p:cNvCxnSpPr>
            <p:nvPr/>
          </p:nvCxnSpPr>
          <p:spPr bwMode="auto">
            <a:xfrm rot="5400000" flipH="1">
              <a:off x="4186238" y="3417407"/>
              <a:ext cx="674688" cy="665163"/>
            </a:xfrm>
            <a:prstGeom prst="curvedConnector3">
              <a:avLst>
                <a:gd name="adj1" fmla="val 235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5">
              <a:extLst>
                <a:ext uri="{FF2B5EF4-FFF2-40B4-BE49-F238E27FC236}">
                  <a16:creationId xmlns:a16="http://schemas.microsoft.com/office/drawing/2014/main" id="{66D525D5-DA48-0F04-9E2B-615FB35F6166}"/>
                </a:ext>
              </a:extLst>
            </p:cNvPr>
            <p:cNvCxnSpPr>
              <a:cxnSpLocks noChangeShapeType="1"/>
              <a:endCxn id="3" idx="7"/>
            </p:cNvCxnSpPr>
            <p:nvPr/>
          </p:nvCxnSpPr>
          <p:spPr bwMode="auto">
            <a:xfrm rot="5400000">
              <a:off x="7216775" y="3455508"/>
              <a:ext cx="750888" cy="512762"/>
            </a:xfrm>
            <a:prstGeom prst="curvedConnector3">
              <a:avLst>
                <a:gd name="adj1" fmla="val 102324"/>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2183308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9286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Continuous Process Improvement</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259603" y="974245"/>
            <a:ext cx="6406667" cy="581249"/>
          </a:xfrm>
          <a:prstGeom prst="rect">
            <a:avLst/>
          </a:prstGeom>
          <a:noFill/>
        </p:spPr>
        <p:txBody>
          <a:bodyPr wrap="square">
            <a:spAutoFit/>
          </a:bodyPr>
          <a:lstStyle/>
          <a:p>
            <a:pPr algn="just">
              <a:lnSpc>
                <a:spcPct val="150000"/>
              </a:lnSpc>
            </a:pPr>
            <a:r>
              <a:rPr lang="en-US" altLang="en-US" sz="2400" b="1" dirty="0"/>
              <a:t>Problem Solving: A Continuous Effort</a:t>
            </a:r>
          </a:p>
        </p:txBody>
      </p:sp>
      <p:sp>
        <p:nvSpPr>
          <p:cNvPr id="4" name="Rectangle 3">
            <a:extLst>
              <a:ext uri="{FF2B5EF4-FFF2-40B4-BE49-F238E27FC236}">
                <a16:creationId xmlns:a16="http://schemas.microsoft.com/office/drawing/2014/main" id="{D3C81224-369C-7C13-A1C9-A543359BC1C3}"/>
              </a:ext>
            </a:extLst>
          </p:cNvPr>
          <p:cNvSpPr txBox="1">
            <a:spLocks noChangeArrowheads="1"/>
          </p:cNvSpPr>
          <p:nvPr/>
        </p:nvSpPr>
        <p:spPr>
          <a:xfrm>
            <a:off x="973392" y="1439719"/>
            <a:ext cx="10559845" cy="42211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FontTx/>
              <a:buAutoNum type="arabicPeriod"/>
            </a:pPr>
            <a:r>
              <a:rPr lang="en-US" sz="2800">
                <a:latin typeface="+mj-lt"/>
              </a:rPr>
              <a:t>Identify problems as an opportunity</a:t>
            </a:r>
          </a:p>
          <a:p>
            <a:pPr marL="609600" indent="-609600">
              <a:lnSpc>
                <a:spcPct val="150000"/>
              </a:lnSpc>
              <a:buFontTx/>
              <a:buAutoNum type="arabicPeriod"/>
            </a:pPr>
            <a:r>
              <a:rPr lang="en-US" sz="2800">
                <a:latin typeface="+mj-lt"/>
              </a:rPr>
              <a:t>Analyze the problem: to find root causes</a:t>
            </a:r>
          </a:p>
          <a:p>
            <a:pPr marL="609600" indent="-609600">
              <a:lnSpc>
                <a:spcPct val="150000"/>
              </a:lnSpc>
              <a:buFontTx/>
              <a:buAutoNum type="arabicPeriod"/>
            </a:pPr>
            <a:r>
              <a:rPr lang="en-US" sz="2800">
                <a:latin typeface="+mj-lt"/>
              </a:rPr>
              <a:t>Develop optimal and cost effective solutions</a:t>
            </a:r>
          </a:p>
          <a:p>
            <a:pPr marL="609600" indent="-609600">
              <a:lnSpc>
                <a:spcPct val="150000"/>
              </a:lnSpc>
              <a:buFontTx/>
              <a:buAutoNum type="arabicPeriod"/>
            </a:pPr>
            <a:r>
              <a:rPr lang="en-US" sz="2800">
                <a:latin typeface="+mj-lt"/>
              </a:rPr>
              <a:t>Implement changes: system wide </a:t>
            </a:r>
          </a:p>
          <a:p>
            <a:pPr marL="609600" indent="-609600">
              <a:lnSpc>
                <a:spcPct val="150000"/>
              </a:lnSpc>
              <a:buFontTx/>
              <a:buAutoNum type="arabicPeriod"/>
            </a:pPr>
            <a:r>
              <a:rPr lang="en-US" sz="2800">
                <a:latin typeface="+mj-lt"/>
              </a:rPr>
              <a:t>Study the results: worked or not? Need adjustment?</a:t>
            </a:r>
          </a:p>
          <a:p>
            <a:pPr marL="609600" indent="-609600">
              <a:lnSpc>
                <a:spcPct val="150000"/>
              </a:lnSpc>
              <a:buFontTx/>
              <a:buAutoNum type="arabicPeriod"/>
            </a:pPr>
            <a:r>
              <a:rPr lang="en-US" sz="2800">
                <a:latin typeface="+mj-lt"/>
              </a:rPr>
              <a:t>Standardize solution: Keep problems from reoccurring. </a:t>
            </a:r>
            <a:endParaRPr lang="en-US" sz="2800" dirty="0">
              <a:latin typeface="+mj-lt"/>
            </a:endParaRPr>
          </a:p>
        </p:txBody>
      </p:sp>
    </p:spTree>
    <p:extLst>
      <p:ext uri="{BB962C8B-B14F-4D97-AF65-F5344CB8AC3E}">
        <p14:creationId xmlns:p14="http://schemas.microsoft.com/office/powerpoint/2010/main" val="4230154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9286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Continuous Process Improvement</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259603" y="974245"/>
            <a:ext cx="10683700" cy="581249"/>
          </a:xfrm>
          <a:prstGeom prst="rect">
            <a:avLst/>
          </a:prstGeom>
          <a:noFill/>
        </p:spPr>
        <p:txBody>
          <a:bodyPr wrap="square">
            <a:spAutoFit/>
          </a:bodyPr>
          <a:lstStyle/>
          <a:p>
            <a:pPr algn="just">
              <a:lnSpc>
                <a:spcPct val="150000"/>
              </a:lnSpc>
            </a:pPr>
            <a:r>
              <a:rPr lang="en-US" altLang="en-US" sz="2400" b="1" dirty="0"/>
              <a:t>Process Improvement Strategy: Finding Cost Effective Solution</a:t>
            </a:r>
          </a:p>
        </p:txBody>
      </p:sp>
      <p:sp>
        <p:nvSpPr>
          <p:cNvPr id="3" name="Rectangle 3">
            <a:extLst>
              <a:ext uri="{FF2B5EF4-FFF2-40B4-BE49-F238E27FC236}">
                <a16:creationId xmlns:a16="http://schemas.microsoft.com/office/drawing/2014/main" id="{0E71FFDB-931D-F838-784C-0776878FF81C}"/>
              </a:ext>
            </a:extLst>
          </p:cNvPr>
          <p:cNvSpPr txBox="1">
            <a:spLocks noChangeArrowheads="1"/>
          </p:cNvSpPr>
          <p:nvPr/>
        </p:nvSpPr>
        <p:spPr>
          <a:xfrm>
            <a:off x="766915" y="1705190"/>
            <a:ext cx="9099755" cy="30077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dirty="0">
                <a:latin typeface="+mj-lt"/>
              </a:rPr>
              <a:t>Control existing process: </a:t>
            </a:r>
            <a:r>
              <a:rPr lang="en-US" sz="2400" i="1" dirty="0">
                <a:latin typeface="+mj-lt"/>
              </a:rPr>
              <a:t>i.e., </a:t>
            </a:r>
            <a:r>
              <a:rPr lang="en-US" sz="2400" dirty="0">
                <a:latin typeface="+mj-lt"/>
              </a:rPr>
              <a:t>statistical process control (SPC)</a:t>
            </a:r>
          </a:p>
          <a:p>
            <a:pPr>
              <a:lnSpc>
                <a:spcPct val="150000"/>
              </a:lnSpc>
            </a:pPr>
            <a:r>
              <a:rPr lang="en-US" sz="2400" dirty="0">
                <a:latin typeface="+mj-lt"/>
              </a:rPr>
              <a:t>Optimize the process: </a:t>
            </a:r>
            <a:r>
              <a:rPr lang="en-US" sz="2400" i="1" dirty="0">
                <a:latin typeface="+mj-lt"/>
              </a:rPr>
              <a:t>i.e., </a:t>
            </a:r>
            <a:r>
              <a:rPr lang="en-US" sz="2400" dirty="0">
                <a:latin typeface="+mj-lt"/>
              </a:rPr>
              <a:t>design of experiment (DOE)</a:t>
            </a:r>
          </a:p>
          <a:p>
            <a:pPr>
              <a:lnSpc>
                <a:spcPct val="150000"/>
              </a:lnSpc>
            </a:pPr>
            <a:r>
              <a:rPr lang="en-US" sz="2400" dirty="0">
                <a:latin typeface="+mj-lt"/>
              </a:rPr>
              <a:t>Change the system: hardware, software and </a:t>
            </a:r>
            <a:r>
              <a:rPr lang="en-US" sz="2400" dirty="0" err="1">
                <a:latin typeface="+mj-lt"/>
              </a:rPr>
              <a:t>brainware</a:t>
            </a:r>
            <a:endParaRPr lang="en-US" sz="2400" dirty="0">
              <a:latin typeface="+mj-lt"/>
            </a:endParaRPr>
          </a:p>
          <a:p>
            <a:pPr>
              <a:lnSpc>
                <a:spcPct val="150000"/>
              </a:lnSpc>
            </a:pPr>
            <a:r>
              <a:rPr lang="en-US" sz="2400" dirty="0">
                <a:latin typeface="+mj-lt"/>
              </a:rPr>
              <a:t>New system: machine, human, materials, method</a:t>
            </a:r>
          </a:p>
          <a:p>
            <a:pPr>
              <a:lnSpc>
                <a:spcPct val="150000"/>
              </a:lnSpc>
            </a:pPr>
            <a:endParaRPr lang="en-US" sz="2400" dirty="0">
              <a:latin typeface="+mj-lt"/>
            </a:endParaRPr>
          </a:p>
        </p:txBody>
      </p:sp>
    </p:spTree>
    <p:extLst>
      <p:ext uri="{BB962C8B-B14F-4D97-AF65-F5344CB8AC3E}">
        <p14:creationId xmlns:p14="http://schemas.microsoft.com/office/powerpoint/2010/main" val="1087683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89286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Continuous Process Improvement</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259603" y="974245"/>
            <a:ext cx="10683700" cy="581249"/>
          </a:xfrm>
          <a:prstGeom prst="rect">
            <a:avLst/>
          </a:prstGeom>
          <a:noFill/>
        </p:spPr>
        <p:txBody>
          <a:bodyPr wrap="square">
            <a:spAutoFit/>
          </a:bodyPr>
          <a:lstStyle/>
          <a:p>
            <a:pPr algn="just">
              <a:lnSpc>
                <a:spcPct val="150000"/>
              </a:lnSpc>
            </a:pPr>
            <a:r>
              <a:rPr lang="en-US" altLang="en-US" sz="2400" b="1" dirty="0"/>
              <a:t>Process Improvement Strategy: Finding Cost Effective Solution</a:t>
            </a:r>
          </a:p>
        </p:txBody>
      </p:sp>
      <p:sp>
        <p:nvSpPr>
          <p:cNvPr id="4" name="Content Placeholder 2">
            <a:extLst>
              <a:ext uri="{FF2B5EF4-FFF2-40B4-BE49-F238E27FC236}">
                <a16:creationId xmlns:a16="http://schemas.microsoft.com/office/drawing/2014/main" id="{3549876F-2B8E-ACB1-228F-3935FF399870}"/>
              </a:ext>
            </a:extLst>
          </p:cNvPr>
          <p:cNvSpPr txBox="1">
            <a:spLocks/>
          </p:cNvSpPr>
          <p:nvPr/>
        </p:nvSpPr>
        <p:spPr>
          <a:xfrm>
            <a:off x="766916" y="1667858"/>
            <a:ext cx="10176388"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a:latin typeface="+mj-lt"/>
              </a:rPr>
              <a:t>Build a quality (continuous improvement) culture.  Positive and Constructive.</a:t>
            </a:r>
          </a:p>
          <a:p>
            <a:pPr>
              <a:lnSpc>
                <a:spcPct val="150000"/>
              </a:lnSpc>
            </a:pPr>
            <a:r>
              <a:rPr lang="en-US" sz="2400">
                <a:latin typeface="+mj-lt"/>
              </a:rPr>
              <a:t>Drive out fear. </a:t>
            </a:r>
          </a:p>
          <a:p>
            <a:pPr>
              <a:lnSpc>
                <a:spcPct val="150000"/>
              </a:lnSpc>
            </a:pPr>
            <a:r>
              <a:rPr lang="en-US" sz="2400">
                <a:latin typeface="+mj-lt"/>
              </a:rPr>
              <a:t>Provide organization-structural assurance for continuing feedback system.</a:t>
            </a:r>
          </a:p>
          <a:p>
            <a:pPr>
              <a:lnSpc>
                <a:spcPct val="150000"/>
              </a:lnSpc>
            </a:pPr>
            <a:r>
              <a:rPr lang="en-US" sz="2400">
                <a:latin typeface="+mj-lt"/>
              </a:rPr>
              <a:t>Respond to customers needs and solve problems timely.</a:t>
            </a:r>
          </a:p>
          <a:p>
            <a:pPr>
              <a:lnSpc>
                <a:spcPct val="150000"/>
              </a:lnSpc>
            </a:pPr>
            <a:r>
              <a:rPr lang="en-US" sz="2400">
                <a:latin typeface="+mj-lt"/>
              </a:rPr>
              <a:t>Standardize the procedure and continuously improve it.</a:t>
            </a:r>
          </a:p>
          <a:p>
            <a:pPr>
              <a:lnSpc>
                <a:spcPct val="150000"/>
              </a:lnSpc>
            </a:pPr>
            <a:endParaRPr lang="en-US" sz="1600" dirty="0">
              <a:latin typeface="+mj-lt"/>
            </a:endParaRPr>
          </a:p>
        </p:txBody>
      </p:sp>
    </p:spTree>
    <p:extLst>
      <p:ext uri="{BB962C8B-B14F-4D97-AF65-F5344CB8AC3E}">
        <p14:creationId xmlns:p14="http://schemas.microsoft.com/office/powerpoint/2010/main" val="1761352789"/>
      </p:ext>
    </p:extLst>
  </p:cSld>
  <p:clrMapOvr>
    <a:masterClrMapping/>
  </p:clrMapOvr>
</p:sld>
</file>

<file path=ppt/theme/theme1.xml><?xml version="1.0" encoding="utf-8"?>
<a:theme xmlns:a="http://schemas.openxmlformats.org/drawingml/2006/main" name="1_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rita Digital Campus V1.0" id="{58E84EBF-3C9A-46FA-AC67-01E514AB1B2B}" vid="{BF34DAB5-A2D4-47C4-AD4E-D8DB5419BE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CA67C528DC284E8073580C98E8539C" ma:contentTypeVersion="10" ma:contentTypeDescription="Create a new document." ma:contentTypeScope="" ma:versionID="107b615047e9376b6c55e1e5aaead638">
  <xsd:schema xmlns:xsd="http://www.w3.org/2001/XMLSchema" xmlns:xs="http://www.w3.org/2001/XMLSchema" xmlns:p="http://schemas.microsoft.com/office/2006/metadata/properties" xmlns:ns2="0107a115-4623-4481-beee-bafad199008b" xmlns:ns3="7a2a247a-f6ec-4c8f-8314-d83500b08c54" targetNamespace="http://schemas.microsoft.com/office/2006/metadata/properties" ma:root="true" ma:fieldsID="508cbe6b2b3f672b12342e56415e841d" ns2:_="" ns3:_="">
    <xsd:import namespace="0107a115-4623-4481-beee-bafad199008b"/>
    <xsd:import namespace="7a2a247a-f6ec-4c8f-8314-d83500b08c5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07a115-4623-4481-beee-bafad19900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2a247a-f6ec-4c8f-8314-d83500b08c5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A29E35A-EF86-49DD-8023-556F66FCE6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07a115-4623-4481-beee-bafad199008b"/>
    <ds:schemaRef ds:uri="7a2a247a-f6ec-4c8f-8314-d83500b08c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309BE7-B587-43F4-8592-76B39C023D29}">
  <ds:schemaRefs>
    <ds:schemaRef ds:uri="http://schemas.microsoft.com/sharepoint/v3/contenttype/forms"/>
  </ds:schemaRefs>
</ds:datastoreItem>
</file>

<file path=customXml/itemProps3.xml><?xml version="1.0" encoding="utf-8"?>
<ds:datastoreItem xmlns:ds="http://schemas.openxmlformats.org/officeDocument/2006/customXml" ds:itemID="{532C674B-ACDE-455C-BA7E-ACC458E5BC04}">
  <ds:schemaRefs>
    <ds:schemaRef ds:uri="0107a115-4623-4481-beee-bafad199008b"/>
    <ds:schemaRef ds:uri="http://www.w3.org/XML/1998/namespace"/>
    <ds:schemaRef ds:uri="http://purl.org/dc/dcmitype/"/>
    <ds:schemaRef ds:uri="http://schemas.microsoft.com/office/2006/metadata/properties"/>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7a2a247a-f6ec-4c8f-8314-d83500b08c54"/>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48872</TotalTime>
  <Words>1538</Words>
  <Application>Microsoft Office PowerPoint</Application>
  <PresentationFormat>Widescreen</PresentationFormat>
  <Paragraphs>240</Paragraphs>
  <Slides>34</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5" baseType="lpstr">
      <vt:lpstr>Arial</vt:lpstr>
      <vt:lpstr>Calibri</vt:lpstr>
      <vt:lpstr>Gill Sans MT</vt:lpstr>
      <vt:lpstr>Gill Sans MT (Body)</vt:lpstr>
      <vt:lpstr>Google Sans</vt:lpstr>
      <vt:lpstr>Times New Roman</vt:lpstr>
      <vt:lpstr>Times-Roman</vt:lpstr>
      <vt:lpstr>Wingdings</vt:lpstr>
      <vt:lpstr>Wingdings 2</vt:lpstr>
      <vt:lpstr>1_Office Theme</vt:lpstr>
      <vt:lpstr>Chart</vt:lpstr>
      <vt:lpstr>PowerPoint Presentation</vt:lpstr>
      <vt:lpstr>CUSTOMER SATISFACTION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Introduction and Research Interest</dc:title>
  <dc:creator>AICTE</dc:creator>
  <cp:lastModifiedBy>Dr. Sunil Kumar - MEE - ASE, Chennai Campus</cp:lastModifiedBy>
  <cp:revision>975</cp:revision>
  <dcterms:created xsi:type="dcterms:W3CDTF">2019-07-04T04:21:14Z</dcterms:created>
  <dcterms:modified xsi:type="dcterms:W3CDTF">2026-09-05T16:13:58Z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0x010100A2CA67C528DC284E8073580C98E8539C</vt:lpwstr>
  </property>
</Properties>
</file>